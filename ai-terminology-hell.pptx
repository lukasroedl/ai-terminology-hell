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svg" ContentType="image/svg+xml"/>
  <Override PartName="/ppt/media/image2.svg" ContentType="image/svg+xml"/>
  <Override PartName="/ppt/media/image3.svg" ContentType="image/svg+xml"/>
  <Override PartName="/ppt/media/svg1.svg" ContentType="image/svg+xml"/>
  <Override PartName="/ppt/media/svg2.svg" ContentType="image/svg+xml"/>
  <Override PartName="/ppt/media/svg3.svg" ContentType="image/svg+xml"/>
  <Override PartName="/ppt/media/svg4.svg" ContentType="image/svg+xml"/>
  <Override PartName="/ppt/media/svg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7"/>
  </p:notesMasterIdLst>
  <p:sldIdLst>
    <p:sldId id="256" r:id="rId2"/>
    <p:sldId id="336" r:id="rId3"/>
    <p:sldId id="257" r:id="rId4"/>
    <p:sldId id="376" r:id="rId5"/>
    <p:sldId id="377" r:id="rId6"/>
    <p:sldId id="355" r:id="rId7"/>
    <p:sldId id="378" r:id="rId8"/>
    <p:sldId id="359" r:id="rId9"/>
    <p:sldId id="383" r:id="rId10"/>
    <p:sldId id="379" r:id="rId11"/>
    <p:sldId id="387" r:id="rId12"/>
    <p:sldId id="380" r:id="rId13"/>
    <p:sldId id="385" r:id="rId14"/>
    <p:sldId id="388" r:id="rId15"/>
    <p:sldId id="395" r:id="rId16"/>
    <p:sldId id="397" r:id="rId17"/>
    <p:sldId id="398" r:id="rId18"/>
    <p:sldId id="392" r:id="rId19"/>
    <p:sldId id="399" r:id="rId20"/>
    <p:sldId id="400" r:id="rId21"/>
    <p:sldId id="403" r:id="rId22"/>
    <p:sldId id="404" r:id="rId23"/>
    <p:sldId id="381" r:id="rId24"/>
    <p:sldId id="405" r:id="rId25"/>
    <p:sldId id="406" r:id="rId26"/>
    <p:sldId id="260" r:id="rId27"/>
    <p:sldId id="261" r:id="rId28"/>
    <p:sldId id="262" r:id="rId29"/>
    <p:sldId id="263" r:id="rId30"/>
    <p:sldId id="264" r:id="rId31"/>
    <p:sldId id="265" r:id="rId32"/>
    <p:sldId id="266" r:id="rId33"/>
    <p:sldId id="274" r:id="rId34"/>
    <p:sldId id="269" r:id="rId35"/>
    <p:sldId id="275" r:id="rId3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1D1CC"/>
    <a:srgbClr val="0B2B3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1348" autoAdjust="0"/>
    <p:restoredTop sz="95915"/>
  </p:normalViewPr>
  <p:slideViewPr>
    <p:cSldViewPr snapToGrid="0" snapToObjects="1">
      <p:cViewPr>
        <p:scale>
          <a:sx n="102" d="100"/>
          <a:sy n="102" d="100"/>
        </p:scale>
        <p:origin x="936" y="896"/>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35.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832701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every step in this story moves one decision from the engineer to the model.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Foundations. Note that only the last step is not a pure subset relationship.</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slide. Hand over from taxonomy to mechanics.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gaps are what everything that follows is answering.</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the ordering: RAG first, tool use generalised it, MCP standardised the plumbing.</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point: in classic RAG the model makes no decision at all.</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Tool use is itself a learned skill: when to call, which tool, how to shape arguments.</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Caveat when presenting: the MCP spec moves fast; check current details.</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the anchor diagram for the whole talk.</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MCP splits an AI system into three roles. The host owns the user experience and permissions, a client holds one connection per server, and each server exposes a focused capability through tools, resources and prompts.</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engineering and governance implication, not the taxonomy.</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slide. The deck references the AI Glossary for LE Teams, Q4 2024, the AI Microlesson Series on the MGF Data learning and development site, and the Merck Data learning resource.</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778DF0F-DD56-4C3E-2B48-35E3EF2B7E7F}"/>
              </a:ext>
            </a:extLst>
          </p:cNvPr>
          <p:cNvSpPr>
            <a:spLocks noGrp="1"/>
          </p:cNvSpPr>
          <p:nvPr>
            <p:ph type="dt" sz="half" idx="10"/>
          </p:nvPr>
        </p:nvSpPr>
        <p:spPr/>
        <p:txBody>
          <a:bodyPr/>
          <a:lstStyle/>
          <a:p>
            <a:fld id="{990A80E8-06B7-46C8-9730-7088A7D38457}" type="datetimeFigureOut">
              <a:rPr lang="en-US" smtClean="0"/>
              <a:t>9/24/26</a:t>
            </a:fld>
            <a:endParaRPr lang="en-US"/>
          </a:p>
        </p:txBody>
      </p:sp>
      <p:sp>
        <p:nvSpPr>
          <p:cNvPr id="3" name="Footer Placeholder 2">
            <a:extLst>
              <a:ext uri="{FF2B5EF4-FFF2-40B4-BE49-F238E27FC236}">
                <a16:creationId xmlns:a16="http://schemas.microsoft.com/office/drawing/2014/main" id="{589D5061-057E-E425-09A7-7A1D3F9C98E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A851C34-4DBC-B32C-EBC9-8A717994991F}"/>
              </a:ext>
            </a:extLst>
          </p:cNvPr>
          <p:cNvSpPr>
            <a:spLocks noGrp="1"/>
          </p:cNvSpPr>
          <p:nvPr>
            <p:ph type="sldNum" sz="quarter" idx="12"/>
          </p:nvPr>
        </p:nvSpPr>
        <p:spPr/>
        <p:txBody>
          <a:bodyPr/>
          <a:lstStyle/>
          <a:p>
            <a:fld id="{97B361D9-8D1E-49E3-A856-CA9B3D3BB66A}" type="slidenum">
              <a:rPr lang="en-US" smtClean="0"/>
              <a:t>‹Nr.›</a:t>
            </a:fld>
            <a:endParaRPr lang="en-US"/>
          </a:p>
        </p:txBody>
      </p:sp>
    </p:spTree>
    <p:extLst>
      <p:ext uri="{BB962C8B-B14F-4D97-AF65-F5344CB8AC3E}">
        <p14:creationId xmlns:p14="http://schemas.microsoft.com/office/powerpoint/2010/main" val="41271246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MAIN">
    <p:bg>
      <p:bgPr>
        <a:solidFill>
          <a:srgbClr val="F1F5F5"/>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6052198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sv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svg"/><Relationship Id="rId3" Type="http://schemas.openxmlformats.org/officeDocument/2006/relationships/image" Target="../media/image3.sv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svg1.svg"/><Relationship Id="rId3" Type="http://schemas.openxmlformats.org/officeDocument/2006/relationships/image" Target="../media/svg2.svg"/><Relationship Id="rId4" Type="http://schemas.openxmlformats.org/officeDocument/2006/relationships/image" Target="../media/svg3.svg"/><Relationship Id="rId5" Type="http://schemas.openxmlformats.org/officeDocument/2006/relationships/image" Target="../media/svg4.svg"/><Relationship Id="rId6" Type="http://schemas.openxmlformats.org/officeDocument/2006/relationships/image" Target="../media/svg5.sv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hyperlink" Target="https://evarooms.merckgroup.com/Organization/Legal-Compliance/PublishingImages/le-knowledge-base/le-expert-groups/digital-data-economy/AI%20Glossary%20for%20LE%20Teams%20Q4%2024.pdf" TargetMode="External"/><Relationship Id="rId4" Type="http://schemas.openxmlformats.org/officeDocument/2006/relationships/hyperlink" Target="https://evarooms.merckgroup.com/Topic/MGF-Data/learning-development/ai-microlesson-series" TargetMode="External"/><Relationship Id="rId5" Type="http://schemas.openxmlformats.org/officeDocument/2006/relationships/hyperlink" Target="https://evarooms.merckgroup.com/Topic/MerckData/learn"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5852160" y="-1371600"/>
            <a:ext cx="5120640" cy="5120640"/>
          </a:xfrm>
          <a:prstGeom prst="ellipse">
            <a:avLst/>
          </a:prstGeom>
          <a:solidFill>
            <a:srgbClr val="1B9AAA">
              <a:alpha val="18000"/>
            </a:srgbClr>
          </a:solidFill>
          <a:ln w="9525">
            <a:solidFill>
              <a:srgbClr val="1B9AAA"/>
            </a:solidFill>
            <a:prstDash val="solid"/>
          </a:ln>
        </p:spPr>
        <p:txBody>
          <a:bodyPr/>
          <a:lstStyle/>
          <a:p>
            <a:endParaRPr lang="en-US"/>
          </a:p>
        </p:txBody>
      </p:sp>
      <p:sp>
        <p:nvSpPr>
          <p:cNvPr id="3" name="Shape 1"/>
          <p:cNvSpPr/>
          <p:nvPr/>
        </p:nvSpPr>
        <p:spPr>
          <a:xfrm>
            <a:off x="6949440" y="2011680"/>
            <a:ext cx="3108960" cy="3108960"/>
          </a:xfrm>
          <a:prstGeom prst="ellipse">
            <a:avLst/>
          </a:prstGeom>
          <a:solidFill>
            <a:srgbClr val="06D6A0">
              <a:alpha val="12000"/>
            </a:srgbClr>
          </a:solidFill>
          <a:ln w="9525">
            <a:solidFill>
              <a:srgbClr val="06D6A0"/>
            </a:solidFill>
            <a:prstDash val="solid"/>
          </a:ln>
        </p:spPr>
        <p:txBody>
          <a:bodyPr/>
          <a:lstStyle/>
          <a:p>
            <a:endParaRPr lang="en-US"/>
          </a:p>
        </p:txBody>
      </p:sp>
      <p:sp>
        <p:nvSpPr>
          <p:cNvPr id="4" name="Text 2"/>
          <p:cNvSpPr/>
          <p:nvPr/>
        </p:nvSpPr>
        <p:spPr>
          <a:xfrm>
            <a:off x="731520" y="1234440"/>
            <a:ext cx="6400800" cy="274320"/>
          </a:xfrm>
          <a:prstGeom prst="rect">
            <a:avLst/>
          </a:prstGeom>
          <a:noFill/>
          <a:ln/>
        </p:spPr>
        <p:txBody>
          <a:bodyPr wrap="square" lIns="0" tIns="0" rIns="0" bIns="0" rtlCol="0" anchor="ctr"/>
          <a:lstStyle/>
          <a:p>
            <a:pPr marL="0" indent="0">
              <a:buNone/>
            </a:pPr>
            <a:r>
              <a:rPr lang="en-US" sz="1100" kern="0" spc="300" dirty="0">
                <a:solidFill>
                  <a:srgbClr val="06D6A0"/>
                </a:solidFill>
                <a:latin typeface="JetBrains Mono" pitchFamily="34" charset="0"/>
                <a:ea typeface="JetBrains Mono" pitchFamily="34" charset="-122"/>
                <a:cs typeface="JetBrains Mono" pitchFamily="34" charset="-120"/>
              </a:rPr>
              <a:t>A SHORT HISTORY OF AI</a:t>
            </a:r>
            <a:endParaRPr lang="en-US" sz="1100" dirty="0"/>
          </a:p>
        </p:txBody>
      </p:sp>
      <p:sp>
        <p:nvSpPr>
          <p:cNvPr id="5" name="Text 3"/>
          <p:cNvSpPr/>
          <p:nvPr/>
        </p:nvSpPr>
        <p:spPr>
          <a:xfrm>
            <a:off x="731520" y="1600200"/>
            <a:ext cx="6766560" cy="914400"/>
          </a:xfrm>
          <a:prstGeom prst="rect">
            <a:avLst/>
          </a:prstGeom>
          <a:noFill/>
          <a:ln/>
        </p:spPr>
        <p:txBody>
          <a:bodyPr wrap="square" lIns="0" tIns="0" rIns="0" bIns="0" rtlCol="0" anchor="ctr"/>
          <a:lstStyle/>
          <a:p>
            <a:pPr marL="0" indent="0">
              <a:buNone/>
            </a:pPr>
            <a:r>
              <a:rPr lang="en-US" sz="4400" dirty="0">
                <a:solidFill>
                  <a:srgbClr val="FFFFFF"/>
                </a:solidFill>
                <a:latin typeface="Oswald" pitchFamily="34" charset="0"/>
                <a:ea typeface="Oswald" pitchFamily="34" charset="-122"/>
                <a:cs typeface="Oswald" pitchFamily="34" charset="-120"/>
              </a:rPr>
              <a:t>From Generative AI to Agentic AI</a:t>
            </a:r>
            <a:endParaRPr lang="en-US" sz="4400" dirty="0"/>
          </a:p>
        </p:txBody>
      </p:sp>
      <p:sp>
        <p:nvSpPr>
          <p:cNvPr id="6" name="Text 4"/>
          <p:cNvSpPr/>
          <p:nvPr/>
        </p:nvSpPr>
        <p:spPr>
          <a:xfrm>
            <a:off x="749808" y="2606040"/>
            <a:ext cx="6035040" cy="731520"/>
          </a:xfrm>
          <a:prstGeom prst="rect">
            <a:avLst/>
          </a:prstGeom>
          <a:noFill/>
          <a:ln/>
        </p:spPr>
        <p:txBody>
          <a:bodyPr wrap="square" lIns="0" tIns="0" rIns="0" bIns="0" rtlCol="0" anchor="ctr"/>
          <a:lstStyle/>
          <a:p>
            <a:pPr marL="0" indent="0">
              <a:buNone/>
            </a:pPr>
            <a:r>
              <a:rPr lang="en-US" sz="1600" dirty="0">
                <a:solidFill>
                  <a:srgbClr val="AFC2CE"/>
                </a:solidFill>
                <a:latin typeface="Roboto" pitchFamily="34" charset="0"/>
                <a:ea typeface="Roboto" pitchFamily="34" charset="-122"/>
                <a:cs typeface="Roboto" pitchFamily="34" charset="-120"/>
              </a:rPr>
              <a:t>Welcome to terminology hell </a:t>
            </a:r>
            <a:r>
              <a:rPr lang="en-US" sz="1600" dirty="0">
                <a:solidFill>
                  <a:srgbClr val="AFC2CE"/>
                </a:solidFill>
                <a:latin typeface="Roboto" pitchFamily="34" charset="0"/>
                <a:ea typeface="Roboto" pitchFamily="34" charset="-122"/>
                <a:cs typeface="Roboto" pitchFamily="34" charset="-120"/>
                <a:sym typeface="Wingdings" panose="05000000000000000000" pitchFamily="2" charset="2"/>
              </a:rPr>
              <a:t> </a:t>
            </a:r>
            <a:endParaRPr lang="en-US" sz="1600" dirty="0"/>
          </a:p>
        </p:txBody>
      </p:sp>
      <p:sp>
        <p:nvSpPr>
          <p:cNvPr id="7" name="Shape 5"/>
          <p:cNvSpPr/>
          <p:nvPr/>
        </p:nvSpPr>
        <p:spPr>
          <a:xfrm>
            <a:off x="749808" y="3611880"/>
            <a:ext cx="822960" cy="41148"/>
          </a:xfrm>
          <a:prstGeom prst="rect">
            <a:avLst/>
          </a:prstGeom>
          <a:solidFill>
            <a:srgbClr val="06D6A0"/>
          </a:solidFill>
          <a:ln/>
        </p:spPr>
        <p:txBody>
          <a:bodyPr/>
          <a:lstStyle/>
          <a:p>
            <a:endParaRPr lang="en-US"/>
          </a:p>
        </p:txBody>
      </p:sp>
      <p:sp>
        <p:nvSpPr>
          <p:cNvPr id="8" name="Text 6"/>
          <p:cNvSpPr/>
          <p:nvPr/>
        </p:nvSpPr>
        <p:spPr>
          <a:xfrm>
            <a:off x="749808" y="3886200"/>
            <a:ext cx="6400800" cy="274320"/>
          </a:xfrm>
          <a:prstGeom prst="rect">
            <a:avLst/>
          </a:prstGeom>
          <a:noFill/>
          <a:ln/>
        </p:spPr>
        <p:txBody>
          <a:bodyPr wrap="square" lIns="0" tIns="0" rIns="0" bIns="0" rtlCol="0" anchor="ctr"/>
          <a:lstStyle/>
          <a:p>
            <a:pPr marL="0" indent="0">
              <a:buNone/>
            </a:pPr>
            <a:r>
              <a:rPr lang="en-US" sz="1000" dirty="0">
                <a:solidFill>
                  <a:srgbClr val="6B7B8C"/>
                </a:solidFill>
                <a:latin typeface="JetBrains Mono" pitchFamily="34" charset="0"/>
                <a:ea typeface="JetBrains Mono" pitchFamily="34" charset="-122"/>
                <a:cs typeface="JetBrains Mono" pitchFamily="34" charset="-120"/>
              </a:rPr>
              <a:t>Merck KGaA, Darmstadt, Germany  ·  myGPT Suite</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Oval 1"/>
          <p:cNvSpPr/>
          <p:nvPr/>
        </p:nvSpPr>
        <p:spPr>
          <a:xfrm>
            <a:off x="4160520" y="91439"/>
            <a:ext cx="4937760" cy="4937760"/>
          </a:xfrm>
          <a:prstGeom prst="ellipse">
            <a:avLst/>
          </a:prstGeom>
          <a:solidFill>
            <a:srgbClr val="1B9AAA">
              <a:alpha val="18000"/>
            </a:srgbClr>
          </a:solidFill>
          <a:ln w="9525">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7589520" y="3566160"/>
            <a:ext cx="2743200" cy="2743200"/>
          </a:xfrm>
          <a:prstGeom prst="ellipse">
            <a:avLst/>
          </a:prstGeom>
          <a:solidFill>
            <a:srgbClr val="06D6A0">
              <a:alpha val="12000"/>
            </a:srgbClr>
          </a:solidFill>
          <a:ln w="9525">
            <a:solidFill>
              <a:srgbClr val="06D6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234440"/>
            <a:ext cx="3108960" cy="274320"/>
          </a:xfrm>
          <a:prstGeom prst="rect">
            <a:avLst/>
          </a:prstGeom>
          <a:noFill/>
        </p:spPr>
        <p:txBody>
          <a:bodyPr wrap="square" lIns="0" tIns="0" rIns="0" bIns="0" anchor="t">
            <a:spAutoFit/>
          </a:bodyPr>
          <a:lstStyle/>
          <a:p>
            <a:pPr algn="l"/>
            <a:r>
              <a:rPr sz="1100" b="0" spc="300">
                <a:solidFill>
                  <a:srgbClr val="06D6A0"/>
                </a:solidFill>
                <a:latin typeface="JetBrains Mono"/>
              </a:rPr>
              <a:t>BEFORE WE START</a:t>
            </a:r>
          </a:p>
        </p:txBody>
      </p:sp>
      <p:sp>
        <p:nvSpPr>
          <p:cNvPr id="5" name="terminology-hell-title"/>
          <p:cNvSpPr txBox="1"/>
          <p:nvPr/>
        </p:nvSpPr>
        <p:spPr>
          <a:xfrm>
            <a:off x="731520" y="1554480"/>
            <a:ext cx="3108960" cy="1645920"/>
          </a:xfrm>
          <a:prstGeom prst="rect">
            <a:avLst/>
          </a:prstGeom>
          <a:noFill/>
        </p:spPr>
        <p:txBody>
          <a:bodyPr wrap="square" lIns="0" tIns="0" rIns="0" bIns="0" anchor="t">
            <a:spAutoFit/>
          </a:bodyPr>
          <a:lstStyle/>
          <a:p>
            <a:pPr algn="l"/>
            <a:r>
              <a:rPr sz="4800" b="0">
                <a:solidFill>
                  <a:srgbClr val="FFFFFF"/>
                </a:solidFill>
                <a:latin typeface="Oswald"/>
              </a:rPr>
              <a:t>Terminology</a:t>
            </a:r>
          </a:p>
          <a:p>
            <a:pPr algn="l"/>
            <a:r>
              <a:rPr sz="4800" b="0">
                <a:solidFill>
                  <a:srgbClr val="FFFFFF"/>
                </a:solidFill>
                <a:latin typeface="Oswald"/>
              </a:rPr>
              <a:t>hell</a:t>
            </a:r>
          </a:p>
        </p:txBody>
      </p:sp>
      <p:sp>
        <p:nvSpPr>
          <p:cNvPr id="6" name="TextBox 5"/>
          <p:cNvSpPr txBox="1"/>
          <p:nvPr/>
        </p:nvSpPr>
        <p:spPr>
          <a:xfrm>
            <a:off x="731520" y="3246120"/>
            <a:ext cx="3017520" cy="822960"/>
          </a:xfrm>
          <a:prstGeom prst="rect">
            <a:avLst/>
          </a:prstGeom>
          <a:noFill/>
        </p:spPr>
        <p:txBody>
          <a:bodyPr wrap="square" lIns="0" tIns="0" rIns="0" bIns="0" anchor="t">
            <a:spAutoFit/>
          </a:bodyPr>
          <a:lstStyle/>
          <a:p>
            <a:pPr algn="l"/>
            <a:r>
              <a:rPr sz="1400" b="0">
                <a:solidFill>
                  <a:srgbClr val="AFC2CE"/>
                </a:solidFill>
                <a:latin typeface="Roboto"/>
              </a:rPr>
              <a:t>All of these terms show up in this talk. By the end, each one will have its place in the story.</a:t>
            </a:r>
          </a:p>
        </p:txBody>
      </p:sp>
      <p:sp>
        <p:nvSpPr>
          <p:cNvPr id="7" name="Rectangle 6"/>
          <p:cNvSpPr/>
          <p:nvPr/>
        </p:nvSpPr>
        <p:spPr>
          <a:xfrm>
            <a:off x="731520" y="4206240"/>
            <a:ext cx="822960" cy="41148"/>
          </a:xfrm>
          <a:prstGeom prst="rect">
            <a:avLst/>
          </a:prstGeom>
          <a:solidFill>
            <a:srgbClr val="06D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rot="21360000">
            <a:off x="5486400" y="548640"/>
            <a:ext cx="609600" cy="711200"/>
          </a:xfrm>
          <a:prstGeom prst="rect">
            <a:avLst/>
          </a:prstGeom>
          <a:noFill/>
        </p:spPr>
        <p:txBody>
          <a:bodyPr wrap="none" lIns="0" tIns="0" rIns="0" bIns="0" anchor="t">
            <a:spAutoFit/>
          </a:bodyPr>
          <a:lstStyle/>
          <a:p>
            <a:pPr algn="l"/>
            <a:r>
              <a:rPr sz="4000" b="0">
                <a:solidFill>
                  <a:srgbClr val="1B9AAA"/>
                </a:solidFill>
                <a:latin typeface="Oswald"/>
              </a:rPr>
              <a:t>LLM</a:t>
            </a:r>
          </a:p>
        </p:txBody>
      </p:sp>
      <p:sp>
        <p:nvSpPr>
          <p:cNvPr id="9" name="TextBox 8"/>
          <p:cNvSpPr txBox="1"/>
          <p:nvPr/>
        </p:nvSpPr>
        <p:spPr>
          <a:xfrm>
            <a:off x="6355080" y="804672"/>
            <a:ext cx="419100" cy="213359"/>
          </a:xfrm>
          <a:prstGeom prst="rect">
            <a:avLst/>
          </a:prstGeom>
          <a:noFill/>
        </p:spPr>
        <p:txBody>
          <a:bodyPr wrap="none" lIns="0" tIns="0" rIns="0" bIns="0" anchor="t">
            <a:spAutoFit/>
          </a:bodyPr>
          <a:lstStyle/>
          <a:p>
            <a:pPr algn="l"/>
            <a:r>
              <a:rPr sz="1200" b="0">
                <a:solidFill>
                  <a:srgbClr val="8FA6B2"/>
                </a:solidFill>
                <a:latin typeface="JetBrains Mono"/>
              </a:rPr>
              <a:t>Token</a:t>
            </a:r>
          </a:p>
        </p:txBody>
      </p:sp>
      <p:sp>
        <p:nvSpPr>
          <p:cNvPr id="10" name="TextBox 9"/>
          <p:cNvSpPr txBox="1"/>
          <p:nvPr/>
        </p:nvSpPr>
        <p:spPr>
          <a:xfrm rot="240000">
            <a:off x="7040880" y="530352"/>
            <a:ext cx="518160" cy="604520"/>
          </a:xfrm>
          <a:prstGeom prst="rect">
            <a:avLst/>
          </a:prstGeom>
          <a:noFill/>
        </p:spPr>
        <p:txBody>
          <a:bodyPr wrap="none" lIns="0" tIns="0" rIns="0" bIns="0" anchor="t">
            <a:spAutoFit/>
          </a:bodyPr>
          <a:lstStyle/>
          <a:p>
            <a:pPr algn="l"/>
            <a:r>
              <a:rPr sz="3400" b="0">
                <a:solidFill>
                  <a:srgbClr val="FFFFFF"/>
                </a:solidFill>
                <a:latin typeface="Oswald"/>
              </a:rPr>
              <a:t>MCP</a:t>
            </a:r>
          </a:p>
        </p:txBody>
      </p:sp>
      <p:sp>
        <p:nvSpPr>
          <p:cNvPr id="11" name="TextBox 10"/>
          <p:cNvSpPr txBox="1"/>
          <p:nvPr/>
        </p:nvSpPr>
        <p:spPr>
          <a:xfrm rot="21120000">
            <a:off x="4572000" y="1417320"/>
            <a:ext cx="544830" cy="231140"/>
          </a:xfrm>
          <a:prstGeom prst="rect">
            <a:avLst/>
          </a:prstGeom>
          <a:noFill/>
        </p:spPr>
        <p:txBody>
          <a:bodyPr wrap="none" lIns="0" tIns="0" rIns="0" bIns="0" anchor="t">
            <a:spAutoFit/>
          </a:bodyPr>
          <a:lstStyle/>
          <a:p>
            <a:pPr algn="l"/>
            <a:r>
              <a:rPr sz="1300" b="0">
                <a:solidFill>
                  <a:srgbClr val="06D6A0"/>
                </a:solidFill>
                <a:latin typeface="JetBrains Mono"/>
              </a:rPr>
              <a:t>Prompt</a:t>
            </a:r>
          </a:p>
        </p:txBody>
      </p:sp>
      <p:sp>
        <p:nvSpPr>
          <p:cNvPr id="12" name="TextBox 11"/>
          <p:cNvSpPr txBox="1"/>
          <p:nvPr/>
        </p:nvSpPr>
        <p:spPr>
          <a:xfrm>
            <a:off x="5440680" y="1051560"/>
            <a:ext cx="609600" cy="1066800"/>
          </a:xfrm>
          <a:prstGeom prst="rect">
            <a:avLst/>
          </a:prstGeom>
          <a:noFill/>
        </p:spPr>
        <p:txBody>
          <a:bodyPr wrap="none" lIns="0" tIns="0" rIns="0" bIns="0" anchor="t">
            <a:spAutoFit/>
          </a:bodyPr>
          <a:lstStyle/>
          <a:p>
            <a:pPr algn="l"/>
            <a:r>
              <a:rPr sz="6000" b="0">
                <a:solidFill>
                  <a:srgbClr val="FFFFFF"/>
                </a:solidFill>
                <a:latin typeface="Oswald"/>
              </a:rPr>
              <a:t>AI</a:t>
            </a:r>
          </a:p>
        </p:txBody>
      </p:sp>
      <p:sp>
        <p:nvSpPr>
          <p:cNvPr id="13" name="TextBox 12"/>
          <p:cNvSpPr txBox="1"/>
          <p:nvPr/>
        </p:nvSpPr>
        <p:spPr>
          <a:xfrm>
            <a:off x="6583680" y="1143000"/>
            <a:ext cx="1452880" cy="391160"/>
          </a:xfrm>
          <a:prstGeom prst="rect">
            <a:avLst/>
          </a:prstGeom>
          <a:noFill/>
        </p:spPr>
        <p:txBody>
          <a:bodyPr wrap="none" lIns="0" tIns="0" rIns="0" bIns="0" anchor="t">
            <a:spAutoFit/>
          </a:bodyPr>
          <a:lstStyle/>
          <a:p>
            <a:pPr algn="l"/>
            <a:r>
              <a:rPr sz="2200" b="0">
                <a:solidFill>
                  <a:srgbClr val="AFC2CE"/>
                </a:solidFill>
                <a:latin typeface="Oswald"/>
              </a:rPr>
              <a:t>Deep Learning</a:t>
            </a:r>
          </a:p>
        </p:txBody>
      </p:sp>
      <p:sp>
        <p:nvSpPr>
          <p:cNvPr id="14" name="TextBox 13"/>
          <p:cNvSpPr txBox="1"/>
          <p:nvPr/>
        </p:nvSpPr>
        <p:spPr>
          <a:xfrm>
            <a:off x="6400800" y="1691640"/>
            <a:ext cx="1337056" cy="284479"/>
          </a:xfrm>
          <a:prstGeom prst="rect">
            <a:avLst/>
          </a:prstGeom>
          <a:noFill/>
        </p:spPr>
        <p:txBody>
          <a:bodyPr wrap="none" lIns="0" tIns="0" rIns="0" bIns="0" anchor="t">
            <a:spAutoFit/>
          </a:bodyPr>
          <a:lstStyle/>
          <a:p>
            <a:pPr algn="l"/>
            <a:r>
              <a:rPr sz="1600" b="0">
                <a:solidFill>
                  <a:srgbClr val="AFC2CE"/>
                </a:solidFill>
                <a:latin typeface="Roboto"/>
              </a:rPr>
              <a:t>Neural Network</a:t>
            </a:r>
          </a:p>
        </p:txBody>
      </p:sp>
      <p:sp>
        <p:nvSpPr>
          <p:cNvPr id="15" name="TextBox 14"/>
          <p:cNvSpPr txBox="1"/>
          <p:nvPr/>
        </p:nvSpPr>
        <p:spPr>
          <a:xfrm rot="180000">
            <a:off x="7909560" y="1554480"/>
            <a:ext cx="457200" cy="533400"/>
          </a:xfrm>
          <a:prstGeom prst="rect">
            <a:avLst/>
          </a:prstGeom>
          <a:noFill/>
        </p:spPr>
        <p:txBody>
          <a:bodyPr wrap="none" lIns="0" tIns="0" rIns="0" bIns="0" anchor="t">
            <a:spAutoFit/>
          </a:bodyPr>
          <a:lstStyle/>
          <a:p>
            <a:pPr algn="l"/>
            <a:r>
              <a:rPr sz="3000" b="0">
                <a:solidFill>
                  <a:srgbClr val="1B9AAA"/>
                </a:solidFill>
                <a:latin typeface="Oswald"/>
              </a:rPr>
              <a:t>GPT</a:t>
            </a:r>
          </a:p>
        </p:txBody>
      </p:sp>
      <p:sp>
        <p:nvSpPr>
          <p:cNvPr id="16" name="TextBox 15"/>
          <p:cNvSpPr txBox="1"/>
          <p:nvPr/>
        </p:nvSpPr>
        <p:spPr>
          <a:xfrm>
            <a:off x="4434840" y="1874519"/>
            <a:ext cx="922020" cy="195580"/>
          </a:xfrm>
          <a:prstGeom prst="rect">
            <a:avLst/>
          </a:prstGeom>
          <a:noFill/>
        </p:spPr>
        <p:txBody>
          <a:bodyPr wrap="none" lIns="0" tIns="0" rIns="0" bIns="0" anchor="t">
            <a:spAutoFit/>
          </a:bodyPr>
          <a:lstStyle/>
          <a:p>
            <a:pPr algn="l"/>
            <a:r>
              <a:rPr sz="1100" b="0">
                <a:solidFill>
                  <a:srgbClr val="06D6A0"/>
                </a:solidFill>
                <a:latin typeface="JetBrains Mono"/>
              </a:rPr>
              <a:t>Pre-training</a:t>
            </a:r>
          </a:p>
        </p:txBody>
      </p:sp>
      <p:sp>
        <p:nvSpPr>
          <p:cNvPr id="17" name="TextBox 16"/>
          <p:cNvSpPr txBox="1"/>
          <p:nvPr/>
        </p:nvSpPr>
        <p:spPr>
          <a:xfrm>
            <a:off x="4389120" y="2240280"/>
            <a:ext cx="691515" cy="195580"/>
          </a:xfrm>
          <a:prstGeom prst="rect">
            <a:avLst/>
          </a:prstGeom>
          <a:noFill/>
        </p:spPr>
        <p:txBody>
          <a:bodyPr wrap="none" lIns="0" tIns="0" rIns="0" bIns="0" anchor="t">
            <a:spAutoFit/>
          </a:bodyPr>
          <a:lstStyle/>
          <a:p>
            <a:pPr algn="l"/>
            <a:r>
              <a:rPr sz="1100" b="0">
                <a:solidFill>
                  <a:srgbClr val="8FA6B2"/>
                </a:solidFill>
                <a:latin typeface="JetBrains Mono"/>
              </a:rPr>
              <a:t>Embedding</a:t>
            </a:r>
          </a:p>
        </p:txBody>
      </p:sp>
      <p:sp>
        <p:nvSpPr>
          <p:cNvPr id="18" name="TextBox 17"/>
          <p:cNvSpPr txBox="1"/>
          <p:nvPr/>
        </p:nvSpPr>
        <p:spPr>
          <a:xfrm>
            <a:off x="5669280" y="2148840"/>
            <a:ext cx="1625600" cy="355600"/>
          </a:xfrm>
          <a:prstGeom prst="rect">
            <a:avLst/>
          </a:prstGeom>
          <a:noFill/>
        </p:spPr>
        <p:txBody>
          <a:bodyPr wrap="none" lIns="0" tIns="0" rIns="0" bIns="0" anchor="t">
            <a:spAutoFit/>
          </a:bodyPr>
          <a:lstStyle/>
          <a:p>
            <a:pPr algn="l"/>
            <a:r>
              <a:rPr sz="2000" b="0">
                <a:solidFill>
                  <a:srgbClr val="FFFFFF"/>
                </a:solidFill>
                <a:latin typeface="Oswald"/>
              </a:rPr>
              <a:t>Machine Learning</a:t>
            </a:r>
          </a:p>
        </p:txBody>
      </p:sp>
      <p:sp>
        <p:nvSpPr>
          <p:cNvPr id="19" name="TextBox 18"/>
          <p:cNvSpPr txBox="1"/>
          <p:nvPr/>
        </p:nvSpPr>
        <p:spPr>
          <a:xfrm>
            <a:off x="7406640" y="2176272"/>
            <a:ext cx="1117600" cy="355600"/>
          </a:xfrm>
          <a:prstGeom prst="rect">
            <a:avLst/>
          </a:prstGeom>
          <a:noFill/>
        </p:spPr>
        <p:txBody>
          <a:bodyPr wrap="none" lIns="0" tIns="0" rIns="0" bIns="0" anchor="t">
            <a:spAutoFit/>
          </a:bodyPr>
          <a:lstStyle/>
          <a:p>
            <a:pPr algn="l"/>
            <a:r>
              <a:rPr sz="2000" b="0">
                <a:solidFill>
                  <a:srgbClr val="AFC2CE"/>
                </a:solidFill>
                <a:latin typeface="Oswald"/>
              </a:rPr>
              <a:t>Transformer</a:t>
            </a:r>
          </a:p>
        </p:txBody>
      </p:sp>
      <p:sp>
        <p:nvSpPr>
          <p:cNvPr id="20" name="TextBox 19"/>
          <p:cNvSpPr txBox="1"/>
          <p:nvPr/>
        </p:nvSpPr>
        <p:spPr>
          <a:xfrm>
            <a:off x="4434840" y="2697480"/>
            <a:ext cx="1551939" cy="231140"/>
          </a:xfrm>
          <a:prstGeom prst="rect">
            <a:avLst/>
          </a:prstGeom>
          <a:noFill/>
        </p:spPr>
        <p:txBody>
          <a:bodyPr wrap="none" lIns="0" tIns="0" rIns="0" bIns="0" anchor="t">
            <a:spAutoFit/>
          </a:bodyPr>
          <a:lstStyle/>
          <a:p>
            <a:pPr algn="l"/>
            <a:r>
              <a:rPr sz="1300" b="0">
                <a:solidFill>
                  <a:srgbClr val="AFC2CE"/>
                </a:solidFill>
                <a:latin typeface="Roboto"/>
              </a:rPr>
              <a:t>Next-word prediction</a:t>
            </a:r>
          </a:p>
        </p:txBody>
      </p:sp>
      <p:sp>
        <p:nvSpPr>
          <p:cNvPr id="21" name="TextBox 20"/>
          <p:cNvSpPr txBox="1"/>
          <p:nvPr/>
        </p:nvSpPr>
        <p:spPr>
          <a:xfrm>
            <a:off x="6172200" y="2606040"/>
            <a:ext cx="812800" cy="568959"/>
          </a:xfrm>
          <a:prstGeom prst="rect">
            <a:avLst/>
          </a:prstGeom>
          <a:noFill/>
        </p:spPr>
        <p:txBody>
          <a:bodyPr wrap="none" lIns="0" tIns="0" rIns="0" bIns="0" anchor="t">
            <a:spAutoFit/>
          </a:bodyPr>
          <a:lstStyle/>
          <a:p>
            <a:pPr algn="l"/>
            <a:r>
              <a:rPr sz="3200" b="0">
                <a:solidFill>
                  <a:srgbClr val="1B9AAA"/>
                </a:solidFill>
                <a:latin typeface="Oswald"/>
              </a:rPr>
              <a:t>GenAI</a:t>
            </a:r>
          </a:p>
        </p:txBody>
      </p:sp>
      <p:sp>
        <p:nvSpPr>
          <p:cNvPr id="22" name="TextBox 21"/>
          <p:cNvSpPr txBox="1"/>
          <p:nvPr/>
        </p:nvSpPr>
        <p:spPr>
          <a:xfrm rot="300000">
            <a:off x="7498079" y="2606040"/>
            <a:ext cx="548640" cy="640080"/>
          </a:xfrm>
          <a:prstGeom prst="rect">
            <a:avLst/>
          </a:prstGeom>
          <a:noFill/>
        </p:spPr>
        <p:txBody>
          <a:bodyPr wrap="none" lIns="0" tIns="0" rIns="0" bIns="0" anchor="t">
            <a:spAutoFit/>
          </a:bodyPr>
          <a:lstStyle/>
          <a:p>
            <a:pPr algn="l"/>
            <a:r>
              <a:rPr sz="3600" b="0">
                <a:solidFill>
                  <a:srgbClr val="06D6A0"/>
                </a:solidFill>
                <a:latin typeface="Oswald"/>
              </a:rPr>
              <a:t>RAG</a:t>
            </a:r>
          </a:p>
        </p:txBody>
      </p:sp>
      <p:sp>
        <p:nvSpPr>
          <p:cNvPr id="23" name="TextBox 22"/>
          <p:cNvSpPr txBox="1"/>
          <p:nvPr/>
        </p:nvSpPr>
        <p:spPr>
          <a:xfrm>
            <a:off x="4663440" y="3246120"/>
            <a:ext cx="812800" cy="355600"/>
          </a:xfrm>
          <a:prstGeom prst="rect">
            <a:avLst/>
          </a:prstGeom>
          <a:noFill/>
        </p:spPr>
        <p:txBody>
          <a:bodyPr wrap="none" lIns="0" tIns="0" rIns="0" bIns="0" anchor="t">
            <a:spAutoFit/>
          </a:bodyPr>
          <a:lstStyle/>
          <a:p>
            <a:pPr algn="l"/>
            <a:r>
              <a:rPr sz="2000" b="0">
                <a:solidFill>
                  <a:srgbClr val="FFFFFF"/>
                </a:solidFill>
                <a:latin typeface="Oswald"/>
              </a:rPr>
              <a:t>Tool use</a:t>
            </a:r>
          </a:p>
        </p:txBody>
      </p:sp>
      <p:sp>
        <p:nvSpPr>
          <p:cNvPr id="24" name="TextBox 23"/>
          <p:cNvSpPr txBox="1"/>
          <p:nvPr/>
        </p:nvSpPr>
        <p:spPr>
          <a:xfrm>
            <a:off x="5760720" y="3246120"/>
            <a:ext cx="894080" cy="391160"/>
          </a:xfrm>
          <a:prstGeom prst="rect">
            <a:avLst/>
          </a:prstGeom>
          <a:noFill/>
        </p:spPr>
        <p:txBody>
          <a:bodyPr wrap="none" lIns="0" tIns="0" rIns="0" bIns="0" anchor="t">
            <a:spAutoFit/>
          </a:bodyPr>
          <a:lstStyle/>
          <a:p>
            <a:pPr algn="l"/>
            <a:r>
              <a:rPr sz="2200" b="0">
                <a:solidFill>
                  <a:srgbClr val="1B9AAA"/>
                </a:solidFill>
                <a:latin typeface="Oswald"/>
              </a:rPr>
              <a:t>AI Agent</a:t>
            </a:r>
          </a:p>
        </p:txBody>
      </p:sp>
      <p:sp>
        <p:nvSpPr>
          <p:cNvPr id="25" name="TextBox 24"/>
          <p:cNvSpPr txBox="1"/>
          <p:nvPr/>
        </p:nvSpPr>
        <p:spPr>
          <a:xfrm rot="21420000">
            <a:off x="6949440" y="3337560"/>
            <a:ext cx="775969" cy="231140"/>
          </a:xfrm>
          <a:prstGeom prst="rect">
            <a:avLst/>
          </a:prstGeom>
          <a:noFill/>
        </p:spPr>
        <p:txBody>
          <a:bodyPr wrap="none" lIns="0" tIns="0" rIns="0" bIns="0" anchor="t">
            <a:spAutoFit/>
          </a:bodyPr>
          <a:lstStyle/>
          <a:p>
            <a:pPr algn="l"/>
            <a:r>
              <a:rPr sz="1300" b="0">
                <a:solidFill>
                  <a:srgbClr val="AFC2CE"/>
                </a:solidFill>
                <a:latin typeface="Roboto"/>
              </a:rPr>
              <a:t>MCP Server</a:t>
            </a:r>
          </a:p>
        </p:txBody>
      </p:sp>
      <p:sp>
        <p:nvSpPr>
          <p:cNvPr id="26" name="TextBox 25"/>
          <p:cNvSpPr txBox="1"/>
          <p:nvPr/>
        </p:nvSpPr>
        <p:spPr>
          <a:xfrm rot="21360000">
            <a:off x="5029200" y="3840480"/>
            <a:ext cx="1163954" cy="266700"/>
          </a:xfrm>
          <a:prstGeom prst="rect">
            <a:avLst/>
          </a:prstGeom>
          <a:noFill/>
        </p:spPr>
        <p:txBody>
          <a:bodyPr wrap="none" lIns="0" tIns="0" rIns="0" bIns="0" anchor="t">
            <a:spAutoFit/>
          </a:bodyPr>
          <a:lstStyle/>
          <a:p>
            <a:pPr algn="l"/>
            <a:r>
              <a:rPr sz="1500" b="0">
                <a:solidFill>
                  <a:srgbClr val="06D6A0"/>
                </a:solidFill>
                <a:latin typeface="Roboto"/>
              </a:rPr>
              <a:t>Hallucination</a:t>
            </a:r>
          </a:p>
        </p:txBody>
      </p:sp>
      <p:sp>
        <p:nvSpPr>
          <p:cNvPr id="27" name="TextBox 26"/>
          <p:cNvSpPr txBox="1"/>
          <p:nvPr/>
        </p:nvSpPr>
        <p:spPr>
          <a:xfrm rot="21420000">
            <a:off x="6263640" y="3749039"/>
            <a:ext cx="1422400" cy="497839"/>
          </a:xfrm>
          <a:prstGeom prst="rect">
            <a:avLst/>
          </a:prstGeom>
          <a:noFill/>
        </p:spPr>
        <p:txBody>
          <a:bodyPr wrap="none" lIns="0" tIns="0" rIns="0" bIns="0" anchor="t">
            <a:spAutoFit/>
          </a:bodyPr>
          <a:lstStyle/>
          <a:p>
            <a:pPr algn="l"/>
            <a:r>
              <a:rPr sz="2800" b="0">
                <a:solidFill>
                  <a:srgbClr val="FFFFFF"/>
                </a:solidFill>
                <a:latin typeface="Oswald"/>
              </a:rPr>
              <a:t>Agentic AI</a:t>
            </a:r>
          </a:p>
        </p:txBody>
      </p:sp>
      <p:sp>
        <p:nvSpPr>
          <p:cNvPr id="28" name="TextBox 27"/>
          <p:cNvSpPr txBox="1"/>
          <p:nvPr/>
        </p:nvSpPr>
        <p:spPr>
          <a:xfrm>
            <a:off x="5394960" y="4343400"/>
            <a:ext cx="1173480" cy="213359"/>
          </a:xfrm>
          <a:prstGeom prst="rect">
            <a:avLst/>
          </a:prstGeom>
          <a:noFill/>
        </p:spPr>
        <p:txBody>
          <a:bodyPr wrap="none" lIns="0" tIns="0" rIns="0" bIns="0" anchor="t">
            <a:spAutoFit/>
          </a:bodyPr>
          <a:lstStyle/>
          <a:p>
            <a:pPr algn="l"/>
            <a:r>
              <a:rPr sz="1200" b="0">
                <a:solidFill>
                  <a:srgbClr val="AFC2CE"/>
                </a:solidFill>
                <a:latin typeface="JetBrains Mono"/>
              </a:rPr>
              <a:t>Context window</a:t>
            </a:r>
          </a:p>
        </p:txBody>
      </p:sp>
      <p:sp>
        <p:nvSpPr>
          <p:cNvPr id="29" name="TextBox 28"/>
          <p:cNvSpPr txBox="1"/>
          <p:nvPr/>
        </p:nvSpPr>
        <p:spPr>
          <a:xfrm>
            <a:off x="6675120" y="4315968"/>
            <a:ext cx="998855" cy="195580"/>
          </a:xfrm>
          <a:prstGeom prst="rect">
            <a:avLst/>
          </a:prstGeom>
          <a:noFill/>
        </p:spPr>
        <p:txBody>
          <a:bodyPr wrap="none" lIns="0" tIns="0" rIns="0" bIns="0" anchor="t">
            <a:spAutoFit/>
          </a:bodyPr>
          <a:lstStyle/>
          <a:p>
            <a:pPr algn="l"/>
            <a:r>
              <a:rPr sz="1100" b="0">
                <a:solidFill>
                  <a:srgbClr val="8FA6B2"/>
                </a:solidFill>
                <a:latin typeface="JetBrains Mono"/>
              </a:rPr>
              <a:t>Rule-based AI</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4F7F8"/>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0D1B2A"/>
          </a:solidFill>
          <a:ln/>
        </p:spPr>
        <p:txBody>
          <a:bodyPr/>
          <a:lstStyle/>
          <a:p>
            <a:endParaRPr lang="en-US"/>
          </a:p>
        </p:txBody>
      </p:sp>
      <p:sp>
        <p:nvSpPr>
          <p:cNvPr id="3" name="Text 1"/>
          <p:cNvSpPr/>
          <p:nvPr/>
        </p:nvSpPr>
        <p:spPr>
          <a:xfrm>
            <a:off x="566928" y="329184"/>
            <a:ext cx="8138160" cy="256032"/>
          </a:xfrm>
          <a:prstGeom prst="rect">
            <a:avLst/>
          </a:prstGeom>
          <a:noFill/>
          <a:ln/>
        </p:spPr>
        <p:txBody>
          <a:bodyPr wrap="square" lIns="0" tIns="0" rIns="0" bIns="0" rtlCol="0" anchor="ctr"/>
          <a:lstStyle/>
          <a:p>
            <a:pPr marL="0" indent="0">
              <a:buNone/>
            </a:pPr>
            <a:r>
              <a:rPr lang="en-US" sz="1050" kern="0" spc="200" dirty="0">
                <a:solidFill>
                  <a:srgbClr val="1B9AAA"/>
                </a:solidFill>
                <a:latin typeface="JetBrains Mono" pitchFamily="34" charset="0"/>
                <a:ea typeface="JetBrains Mono" pitchFamily="34" charset="-122"/>
                <a:cs typeface="JetBrains Mono" pitchFamily="34" charset="-120"/>
              </a:rPr>
              <a:t>FOUNDATIONS · 1955–2024</a:t>
            </a:r>
            <a:endParaRPr lang="en-US" sz="1050" dirty="0"/>
          </a:p>
        </p:txBody>
      </p:sp>
      <p:sp>
        <p:nvSpPr>
          <p:cNvPr id="4" name="Text 2"/>
          <p:cNvSpPr/>
          <p:nvPr/>
        </p:nvSpPr>
        <p:spPr>
          <a:xfrm>
            <a:off x="566928" y="603504"/>
            <a:ext cx="8138160" cy="658368"/>
          </a:xfrm>
          <a:prstGeom prst="rect">
            <a:avLst/>
          </a:prstGeom>
          <a:noFill/>
          <a:ln/>
        </p:spPr>
        <p:txBody>
          <a:bodyPr wrap="square" lIns="0" tIns="0" rIns="0" bIns="0" rtlCol="0" anchor="ctr"/>
          <a:lstStyle/>
          <a:p>
            <a:pPr marL="0" indent="0">
              <a:buNone/>
            </a:pPr>
            <a:r>
              <a:rPr lang="en-US" sz="3200" dirty="0">
                <a:solidFill>
                  <a:srgbClr val="0D1B2A"/>
                </a:solidFill>
                <a:latin typeface="Oswald" pitchFamily="34" charset="0"/>
                <a:ea typeface="Oswald" pitchFamily="34" charset="-122"/>
                <a:cs typeface="Oswald" pitchFamily="34" charset="-120"/>
              </a:rPr>
              <a:t>Five nested ideas, seventy years</a:t>
            </a:r>
            <a:endParaRPr lang="en-US" sz="3200" dirty="0"/>
          </a:p>
        </p:txBody>
      </p:sp>
      <p:sp>
        <p:nvSpPr>
          <p:cNvPr id="5" name="Shape 3"/>
          <p:cNvSpPr/>
          <p:nvPr/>
        </p:nvSpPr>
        <p:spPr>
          <a:xfrm>
            <a:off x="640080" y="1463040"/>
            <a:ext cx="3703320" cy="3127248"/>
          </a:xfrm>
          <a:prstGeom prst="rect">
            <a:avLst/>
          </a:prstGeom>
          <a:solidFill>
            <a:srgbClr val="1B9AAA">
              <a:alpha val="7000"/>
            </a:srgbClr>
          </a:solidFill>
          <a:ln w="9525">
            <a:solidFill>
              <a:srgbClr val="14293D"/>
            </a:solidFill>
            <a:prstDash val="solid"/>
          </a:ln>
        </p:spPr>
        <p:txBody>
          <a:bodyPr/>
          <a:lstStyle/>
          <a:p>
            <a:endParaRPr lang="en-US"/>
          </a:p>
        </p:txBody>
      </p:sp>
      <p:sp>
        <p:nvSpPr>
          <p:cNvPr id="6" name="Text 4"/>
          <p:cNvSpPr/>
          <p:nvPr/>
        </p:nvSpPr>
        <p:spPr>
          <a:xfrm>
            <a:off x="768096" y="1572768"/>
            <a:ext cx="3447288" cy="237744"/>
          </a:xfrm>
          <a:prstGeom prst="rect">
            <a:avLst/>
          </a:prstGeom>
          <a:noFill/>
          <a:ln/>
        </p:spPr>
        <p:txBody>
          <a:bodyPr wrap="square" lIns="0" tIns="0" rIns="0" bIns="0" rtlCol="0" anchor="ctr"/>
          <a:lstStyle/>
          <a:p>
            <a:pPr marL="0" indent="0">
              <a:buNone/>
            </a:pPr>
            <a:r>
              <a:rPr lang="en-US" sz="1200" dirty="0">
                <a:solidFill>
                  <a:srgbClr val="0D1B2A"/>
                </a:solidFill>
                <a:latin typeface="Oswald" pitchFamily="34" charset="0"/>
                <a:ea typeface="Oswald" pitchFamily="34" charset="-122"/>
                <a:cs typeface="Oswald" pitchFamily="34" charset="-120"/>
              </a:rPr>
              <a:t>Artificial Intelligence</a:t>
            </a:r>
            <a:endParaRPr lang="en-US" sz="1200" dirty="0"/>
          </a:p>
        </p:txBody>
      </p:sp>
      <p:sp>
        <p:nvSpPr>
          <p:cNvPr id="7" name="Shape 5"/>
          <p:cNvSpPr/>
          <p:nvPr/>
        </p:nvSpPr>
        <p:spPr>
          <a:xfrm>
            <a:off x="896112" y="1810512"/>
            <a:ext cx="3200400" cy="2542032"/>
          </a:xfrm>
          <a:prstGeom prst="rect">
            <a:avLst/>
          </a:prstGeom>
          <a:solidFill>
            <a:srgbClr val="1B9AAA">
              <a:alpha val="7000"/>
            </a:srgbClr>
          </a:solidFill>
          <a:ln w="9525">
            <a:solidFill>
              <a:srgbClr val="14293D"/>
            </a:solidFill>
            <a:prstDash val="solid"/>
          </a:ln>
        </p:spPr>
        <p:txBody>
          <a:bodyPr/>
          <a:lstStyle/>
          <a:p>
            <a:endParaRPr lang="en-US"/>
          </a:p>
        </p:txBody>
      </p:sp>
      <p:sp>
        <p:nvSpPr>
          <p:cNvPr id="8" name="Text 6"/>
          <p:cNvSpPr/>
          <p:nvPr/>
        </p:nvSpPr>
        <p:spPr>
          <a:xfrm>
            <a:off x="1024128" y="1920240"/>
            <a:ext cx="2944368" cy="237744"/>
          </a:xfrm>
          <a:prstGeom prst="rect">
            <a:avLst/>
          </a:prstGeom>
          <a:noFill/>
          <a:ln/>
        </p:spPr>
        <p:txBody>
          <a:bodyPr wrap="square" lIns="0" tIns="0" rIns="0" bIns="0" rtlCol="0" anchor="ctr"/>
          <a:lstStyle/>
          <a:p>
            <a:pPr marL="0" indent="0">
              <a:buNone/>
            </a:pPr>
            <a:r>
              <a:rPr lang="en-US" sz="1200" dirty="0">
                <a:solidFill>
                  <a:srgbClr val="0D1B2A"/>
                </a:solidFill>
                <a:latin typeface="Oswald" pitchFamily="34" charset="0"/>
                <a:ea typeface="Oswald" pitchFamily="34" charset="-122"/>
                <a:cs typeface="Oswald" pitchFamily="34" charset="-120"/>
              </a:rPr>
              <a:t>Machine Learning</a:t>
            </a:r>
            <a:endParaRPr lang="en-US" sz="1200" dirty="0"/>
          </a:p>
        </p:txBody>
      </p:sp>
      <p:sp>
        <p:nvSpPr>
          <p:cNvPr id="9" name="Shape 7"/>
          <p:cNvSpPr/>
          <p:nvPr/>
        </p:nvSpPr>
        <p:spPr>
          <a:xfrm>
            <a:off x="1152144" y="2157984"/>
            <a:ext cx="2697480" cy="1975104"/>
          </a:xfrm>
          <a:prstGeom prst="rect">
            <a:avLst/>
          </a:prstGeom>
          <a:solidFill>
            <a:srgbClr val="1B9AAA">
              <a:alpha val="7000"/>
            </a:srgbClr>
          </a:solidFill>
          <a:ln w="9525">
            <a:solidFill>
              <a:srgbClr val="14293D"/>
            </a:solidFill>
            <a:prstDash val="solid"/>
          </a:ln>
        </p:spPr>
        <p:txBody>
          <a:bodyPr/>
          <a:lstStyle/>
          <a:p>
            <a:endParaRPr lang="en-US"/>
          </a:p>
        </p:txBody>
      </p:sp>
      <p:sp>
        <p:nvSpPr>
          <p:cNvPr id="10" name="Text 8"/>
          <p:cNvSpPr/>
          <p:nvPr/>
        </p:nvSpPr>
        <p:spPr>
          <a:xfrm>
            <a:off x="1280160" y="2267712"/>
            <a:ext cx="2441448" cy="237744"/>
          </a:xfrm>
          <a:prstGeom prst="rect">
            <a:avLst/>
          </a:prstGeom>
          <a:noFill/>
          <a:ln/>
        </p:spPr>
        <p:txBody>
          <a:bodyPr wrap="square" lIns="0" tIns="0" rIns="0" bIns="0" rtlCol="0" anchor="ctr"/>
          <a:lstStyle/>
          <a:p>
            <a:pPr marL="0" indent="0">
              <a:buNone/>
            </a:pPr>
            <a:r>
              <a:rPr lang="en-US" sz="1200" dirty="0">
                <a:solidFill>
                  <a:srgbClr val="0D1B2A"/>
                </a:solidFill>
                <a:latin typeface="Oswald" pitchFamily="34" charset="0"/>
                <a:ea typeface="Oswald" pitchFamily="34" charset="-122"/>
                <a:cs typeface="Oswald" pitchFamily="34" charset="-120"/>
              </a:rPr>
              <a:t>Deep Learning</a:t>
            </a:r>
            <a:endParaRPr lang="en-US" sz="1200" dirty="0"/>
          </a:p>
        </p:txBody>
      </p:sp>
      <p:sp>
        <p:nvSpPr>
          <p:cNvPr id="11" name="Shape 9"/>
          <p:cNvSpPr/>
          <p:nvPr/>
        </p:nvSpPr>
        <p:spPr>
          <a:xfrm>
            <a:off x="1408176" y="2780465"/>
            <a:ext cx="1011890" cy="941832"/>
          </a:xfrm>
          <a:prstGeom prst="rect">
            <a:avLst/>
          </a:prstGeom>
          <a:solidFill>
            <a:srgbClr val="1B9AAA">
              <a:alpha val="7000"/>
            </a:srgbClr>
          </a:solidFill>
          <a:ln w="9525">
            <a:solidFill>
              <a:srgbClr val="14293D"/>
            </a:solidFill>
            <a:prstDash val="solid"/>
          </a:ln>
        </p:spPr>
        <p:txBody>
          <a:bodyPr/>
          <a:lstStyle/>
          <a:p>
            <a:endParaRPr lang="en-US"/>
          </a:p>
        </p:txBody>
      </p:sp>
      <p:sp>
        <p:nvSpPr>
          <p:cNvPr id="12" name="Text 10"/>
          <p:cNvSpPr/>
          <p:nvPr/>
        </p:nvSpPr>
        <p:spPr>
          <a:xfrm>
            <a:off x="1527048" y="2881049"/>
            <a:ext cx="1225296" cy="237744"/>
          </a:xfrm>
          <a:prstGeom prst="rect">
            <a:avLst/>
          </a:prstGeom>
          <a:noFill/>
          <a:ln/>
        </p:spPr>
        <p:txBody>
          <a:bodyPr wrap="square" lIns="0" tIns="0" rIns="0" bIns="0" rtlCol="0" anchor="ctr"/>
          <a:lstStyle/>
          <a:p>
            <a:pPr marL="0" indent="0">
              <a:buNone/>
            </a:pPr>
            <a:r>
              <a:rPr lang="en-US" sz="1100" dirty="0">
                <a:solidFill>
                  <a:srgbClr val="0D1B2A"/>
                </a:solidFill>
                <a:latin typeface="Oswald" pitchFamily="34" charset="0"/>
                <a:ea typeface="Oswald" pitchFamily="34" charset="-122"/>
                <a:cs typeface="Oswald" pitchFamily="34" charset="-120"/>
              </a:rPr>
              <a:t>Generative AI</a:t>
            </a:r>
            <a:endParaRPr lang="en-US" sz="1100" dirty="0"/>
          </a:p>
        </p:txBody>
      </p:sp>
      <p:sp>
        <p:nvSpPr>
          <p:cNvPr id="13" name="Shape 11"/>
          <p:cNvSpPr/>
          <p:nvPr/>
        </p:nvSpPr>
        <p:spPr>
          <a:xfrm>
            <a:off x="2548082" y="2789609"/>
            <a:ext cx="1011890" cy="941832"/>
          </a:xfrm>
          <a:prstGeom prst="rect">
            <a:avLst/>
          </a:prstGeom>
          <a:solidFill>
            <a:srgbClr val="06D6A0">
              <a:alpha val="18000"/>
            </a:srgbClr>
          </a:solidFill>
          <a:ln w="12700">
            <a:solidFill>
              <a:srgbClr val="0D1B2A"/>
            </a:solidFill>
            <a:prstDash val="solid"/>
          </a:ln>
        </p:spPr>
        <p:txBody>
          <a:bodyPr/>
          <a:lstStyle/>
          <a:p>
            <a:endParaRPr lang="en-US"/>
          </a:p>
        </p:txBody>
      </p:sp>
      <p:sp>
        <p:nvSpPr>
          <p:cNvPr id="14" name="Text 12"/>
          <p:cNvSpPr/>
          <p:nvPr/>
        </p:nvSpPr>
        <p:spPr>
          <a:xfrm>
            <a:off x="2638044" y="2881049"/>
            <a:ext cx="1280160" cy="237744"/>
          </a:xfrm>
          <a:prstGeom prst="rect">
            <a:avLst/>
          </a:prstGeom>
          <a:noFill/>
          <a:ln/>
        </p:spPr>
        <p:txBody>
          <a:bodyPr wrap="square" lIns="0" tIns="0" rIns="0" bIns="0" rtlCol="0" anchor="ctr"/>
          <a:lstStyle/>
          <a:p>
            <a:pPr marL="0" indent="0">
              <a:buNone/>
            </a:pPr>
            <a:r>
              <a:rPr lang="en-US" sz="1100" dirty="0">
                <a:solidFill>
                  <a:srgbClr val="0D1B2A"/>
                </a:solidFill>
                <a:latin typeface="Oswald" pitchFamily="34" charset="0"/>
                <a:ea typeface="Oswald" pitchFamily="34" charset="-122"/>
                <a:cs typeface="Oswald" pitchFamily="34" charset="-120"/>
              </a:rPr>
              <a:t>Agentic AI</a:t>
            </a:r>
            <a:endParaRPr lang="en-US" sz="1100" dirty="0"/>
          </a:p>
        </p:txBody>
      </p:sp>
      <p:sp>
        <p:nvSpPr>
          <p:cNvPr id="16" name="Shape 14"/>
          <p:cNvSpPr/>
          <p:nvPr/>
        </p:nvSpPr>
        <p:spPr>
          <a:xfrm>
            <a:off x="4617720" y="1463040"/>
            <a:ext cx="566928" cy="237744"/>
          </a:xfrm>
          <a:prstGeom prst="rect">
            <a:avLst/>
          </a:prstGeom>
          <a:solidFill>
            <a:srgbClr val="1B9AAA"/>
          </a:solidFill>
          <a:ln/>
        </p:spPr>
        <p:txBody>
          <a:bodyPr/>
          <a:lstStyle/>
          <a:p>
            <a:endParaRPr lang="en-US"/>
          </a:p>
        </p:txBody>
      </p:sp>
      <p:sp>
        <p:nvSpPr>
          <p:cNvPr id="17" name="Text 15"/>
          <p:cNvSpPr/>
          <p:nvPr/>
        </p:nvSpPr>
        <p:spPr>
          <a:xfrm>
            <a:off x="4617720" y="1495044"/>
            <a:ext cx="566928" cy="182880"/>
          </a:xfrm>
          <a:prstGeom prst="rect">
            <a:avLst/>
          </a:prstGeom>
          <a:noFill/>
          <a:ln/>
        </p:spPr>
        <p:txBody>
          <a:bodyPr wrap="square" lIns="0" tIns="0" rIns="0" bIns="0" rtlCol="0" anchor="ctr"/>
          <a:lstStyle/>
          <a:p>
            <a:pPr marL="0" indent="0" algn="ctr">
              <a:buNone/>
            </a:pPr>
            <a:r>
              <a:rPr lang="en-US" sz="950" dirty="0">
                <a:solidFill>
                  <a:srgbClr val="FFFFFF"/>
                </a:solidFill>
                <a:latin typeface="JetBrains Mono" pitchFamily="34" charset="0"/>
                <a:ea typeface="JetBrains Mono" pitchFamily="34" charset="-122"/>
                <a:cs typeface="JetBrains Mono" pitchFamily="34" charset="-120"/>
              </a:rPr>
              <a:t>1955</a:t>
            </a:r>
            <a:endParaRPr lang="en-US" sz="950" dirty="0"/>
          </a:p>
        </p:txBody>
      </p:sp>
      <p:sp>
        <p:nvSpPr>
          <p:cNvPr id="18" name="Text 16"/>
          <p:cNvSpPr/>
          <p:nvPr/>
        </p:nvSpPr>
        <p:spPr>
          <a:xfrm>
            <a:off x="5303520" y="1467612"/>
            <a:ext cx="3291840" cy="237744"/>
          </a:xfrm>
          <a:prstGeom prst="rect">
            <a:avLst/>
          </a:prstGeom>
          <a:noFill/>
          <a:ln/>
        </p:spPr>
        <p:txBody>
          <a:bodyPr wrap="square" lIns="0" tIns="0" rIns="0" bIns="0" rtlCol="0" anchor="ctr"/>
          <a:lstStyle/>
          <a:p>
            <a:pPr marL="0" indent="0">
              <a:buNone/>
            </a:pPr>
            <a:r>
              <a:rPr lang="en-US" sz="1400" dirty="0">
                <a:solidFill>
                  <a:srgbClr val="0D1B2A"/>
                </a:solidFill>
                <a:latin typeface="Oswald" pitchFamily="34" charset="0"/>
                <a:ea typeface="Oswald" pitchFamily="34" charset="-122"/>
                <a:cs typeface="Oswald" pitchFamily="34" charset="-120"/>
              </a:rPr>
              <a:t>Artificial Intelligence</a:t>
            </a:r>
            <a:endParaRPr lang="en-US" sz="1400" dirty="0"/>
          </a:p>
        </p:txBody>
      </p:sp>
      <p:sp>
        <p:nvSpPr>
          <p:cNvPr id="19" name="Text 17"/>
          <p:cNvSpPr/>
          <p:nvPr/>
        </p:nvSpPr>
        <p:spPr>
          <a:xfrm>
            <a:off x="5303520" y="1728216"/>
            <a:ext cx="3310128" cy="365760"/>
          </a:xfrm>
          <a:prstGeom prst="rect">
            <a:avLst/>
          </a:prstGeom>
          <a:noFill/>
          <a:ln/>
        </p:spPr>
        <p:txBody>
          <a:bodyPr wrap="square" lIns="0" tIns="0" rIns="0" bIns="0" rtlCol="0" anchor="ctr"/>
          <a:lstStyle/>
          <a:p>
            <a:pPr marL="0" indent="0">
              <a:buNone/>
            </a:pPr>
            <a:r>
              <a:rPr lang="en-US" sz="950" dirty="0">
                <a:solidFill>
                  <a:srgbClr val="6B7B8C"/>
                </a:solidFill>
                <a:latin typeface="Roboto" pitchFamily="34" charset="0"/>
                <a:ea typeface="Roboto" pitchFamily="34" charset="-122"/>
                <a:cs typeface="Roboto" pitchFamily="34" charset="-120"/>
              </a:rPr>
              <a:t>The overarching field: machines performing tasks that require human-like intelligence.</a:t>
            </a:r>
            <a:endParaRPr lang="en-US" sz="950" dirty="0"/>
          </a:p>
        </p:txBody>
      </p:sp>
      <p:sp>
        <p:nvSpPr>
          <p:cNvPr id="20" name="Shape 18"/>
          <p:cNvSpPr/>
          <p:nvPr/>
        </p:nvSpPr>
        <p:spPr>
          <a:xfrm>
            <a:off x="4617720" y="2103120"/>
            <a:ext cx="566928" cy="237744"/>
          </a:xfrm>
          <a:prstGeom prst="rect">
            <a:avLst/>
          </a:prstGeom>
          <a:solidFill>
            <a:srgbClr val="1B9AAA"/>
          </a:solidFill>
          <a:ln/>
        </p:spPr>
        <p:txBody>
          <a:bodyPr/>
          <a:lstStyle/>
          <a:p>
            <a:endParaRPr lang="en-US"/>
          </a:p>
        </p:txBody>
      </p:sp>
      <p:sp>
        <p:nvSpPr>
          <p:cNvPr id="21" name="Text 19"/>
          <p:cNvSpPr/>
          <p:nvPr/>
        </p:nvSpPr>
        <p:spPr>
          <a:xfrm>
            <a:off x="4617720" y="2135124"/>
            <a:ext cx="566928" cy="182880"/>
          </a:xfrm>
          <a:prstGeom prst="rect">
            <a:avLst/>
          </a:prstGeom>
          <a:noFill/>
          <a:ln/>
        </p:spPr>
        <p:txBody>
          <a:bodyPr wrap="square" lIns="0" tIns="0" rIns="0" bIns="0" rtlCol="0" anchor="ctr"/>
          <a:lstStyle/>
          <a:p>
            <a:pPr marL="0" indent="0" algn="ctr">
              <a:buNone/>
            </a:pPr>
            <a:r>
              <a:rPr lang="en-US" sz="950" dirty="0">
                <a:solidFill>
                  <a:srgbClr val="FFFFFF"/>
                </a:solidFill>
                <a:latin typeface="JetBrains Mono" pitchFamily="34" charset="0"/>
                <a:ea typeface="JetBrains Mono" pitchFamily="34" charset="-122"/>
                <a:cs typeface="JetBrains Mono" pitchFamily="34" charset="-120"/>
              </a:rPr>
              <a:t>1959</a:t>
            </a:r>
            <a:endParaRPr lang="en-US" sz="950" dirty="0"/>
          </a:p>
        </p:txBody>
      </p:sp>
      <p:sp>
        <p:nvSpPr>
          <p:cNvPr id="22" name="Text 20"/>
          <p:cNvSpPr/>
          <p:nvPr/>
        </p:nvSpPr>
        <p:spPr>
          <a:xfrm>
            <a:off x="5303520" y="2107692"/>
            <a:ext cx="3291840" cy="237744"/>
          </a:xfrm>
          <a:prstGeom prst="rect">
            <a:avLst/>
          </a:prstGeom>
          <a:noFill/>
          <a:ln/>
        </p:spPr>
        <p:txBody>
          <a:bodyPr wrap="square" lIns="0" tIns="0" rIns="0" bIns="0" rtlCol="0" anchor="ctr"/>
          <a:lstStyle/>
          <a:p>
            <a:pPr marL="0" indent="0">
              <a:buNone/>
            </a:pPr>
            <a:r>
              <a:rPr lang="en-US" sz="1400" dirty="0">
                <a:solidFill>
                  <a:srgbClr val="0D1B2A"/>
                </a:solidFill>
                <a:latin typeface="Oswald" pitchFamily="34" charset="0"/>
                <a:ea typeface="Oswald" pitchFamily="34" charset="-122"/>
                <a:cs typeface="Oswald" pitchFamily="34" charset="-120"/>
              </a:rPr>
              <a:t>Machine Learning</a:t>
            </a:r>
            <a:endParaRPr lang="en-US" sz="1400" dirty="0"/>
          </a:p>
        </p:txBody>
      </p:sp>
      <p:sp>
        <p:nvSpPr>
          <p:cNvPr id="23" name="Text 21"/>
          <p:cNvSpPr/>
          <p:nvPr/>
        </p:nvSpPr>
        <p:spPr>
          <a:xfrm>
            <a:off x="5303520" y="2368296"/>
            <a:ext cx="3310128" cy="365760"/>
          </a:xfrm>
          <a:prstGeom prst="rect">
            <a:avLst/>
          </a:prstGeom>
          <a:noFill/>
          <a:ln/>
        </p:spPr>
        <p:txBody>
          <a:bodyPr wrap="square" lIns="0" tIns="0" rIns="0" bIns="0" rtlCol="0" anchor="ctr"/>
          <a:lstStyle/>
          <a:p>
            <a:pPr marL="0" indent="0">
              <a:buNone/>
            </a:pPr>
            <a:r>
              <a:rPr lang="en-US" sz="950" dirty="0">
                <a:solidFill>
                  <a:srgbClr val="6B7B8C"/>
                </a:solidFill>
                <a:latin typeface="Roboto" pitchFamily="34" charset="0"/>
                <a:ea typeface="Roboto" pitchFamily="34" charset="-122"/>
                <a:cs typeface="Roboto" pitchFamily="34" charset="-120"/>
              </a:rPr>
              <a:t>A subset of AI: learning from data instead of explicit programming, to predict, classify or detect patterns.</a:t>
            </a:r>
            <a:endParaRPr lang="en-US" sz="950" dirty="0"/>
          </a:p>
        </p:txBody>
      </p:sp>
      <p:sp>
        <p:nvSpPr>
          <p:cNvPr id="24" name="Shape 22"/>
          <p:cNvSpPr/>
          <p:nvPr/>
        </p:nvSpPr>
        <p:spPr>
          <a:xfrm>
            <a:off x="4617720" y="2743200"/>
            <a:ext cx="566928" cy="237744"/>
          </a:xfrm>
          <a:prstGeom prst="rect">
            <a:avLst/>
          </a:prstGeom>
          <a:solidFill>
            <a:srgbClr val="1B9AAA"/>
          </a:solidFill>
          <a:ln/>
        </p:spPr>
        <p:txBody>
          <a:bodyPr/>
          <a:lstStyle/>
          <a:p>
            <a:endParaRPr lang="en-US"/>
          </a:p>
        </p:txBody>
      </p:sp>
      <p:sp>
        <p:nvSpPr>
          <p:cNvPr id="25" name="Text 23"/>
          <p:cNvSpPr/>
          <p:nvPr/>
        </p:nvSpPr>
        <p:spPr>
          <a:xfrm>
            <a:off x="4617720" y="2775204"/>
            <a:ext cx="566928" cy="182880"/>
          </a:xfrm>
          <a:prstGeom prst="rect">
            <a:avLst/>
          </a:prstGeom>
          <a:noFill/>
          <a:ln/>
        </p:spPr>
        <p:txBody>
          <a:bodyPr wrap="square" lIns="0" tIns="0" rIns="0" bIns="0" rtlCol="0" anchor="ctr"/>
          <a:lstStyle/>
          <a:p>
            <a:pPr marL="0" indent="0" algn="ctr">
              <a:buNone/>
            </a:pPr>
            <a:r>
              <a:rPr lang="en-US" sz="950" dirty="0">
                <a:solidFill>
                  <a:srgbClr val="FFFFFF"/>
                </a:solidFill>
                <a:latin typeface="JetBrains Mono" pitchFamily="34" charset="0"/>
                <a:ea typeface="JetBrains Mono" pitchFamily="34" charset="-122"/>
                <a:cs typeface="JetBrains Mono" pitchFamily="34" charset="-120"/>
              </a:rPr>
              <a:t>2012</a:t>
            </a:r>
            <a:endParaRPr lang="en-US" sz="950" dirty="0"/>
          </a:p>
        </p:txBody>
      </p:sp>
      <p:sp>
        <p:nvSpPr>
          <p:cNvPr id="26" name="Text 24"/>
          <p:cNvSpPr/>
          <p:nvPr/>
        </p:nvSpPr>
        <p:spPr>
          <a:xfrm>
            <a:off x="5303520" y="2747772"/>
            <a:ext cx="3291840" cy="237744"/>
          </a:xfrm>
          <a:prstGeom prst="rect">
            <a:avLst/>
          </a:prstGeom>
          <a:noFill/>
          <a:ln/>
        </p:spPr>
        <p:txBody>
          <a:bodyPr wrap="square" lIns="0" tIns="0" rIns="0" bIns="0" rtlCol="0" anchor="ctr"/>
          <a:lstStyle/>
          <a:p>
            <a:pPr marL="0" indent="0">
              <a:buNone/>
            </a:pPr>
            <a:r>
              <a:rPr lang="en-US" sz="1400" dirty="0">
                <a:solidFill>
                  <a:srgbClr val="0D1B2A"/>
                </a:solidFill>
                <a:latin typeface="Oswald" pitchFamily="34" charset="0"/>
                <a:ea typeface="Oswald" pitchFamily="34" charset="-122"/>
                <a:cs typeface="Oswald" pitchFamily="34" charset="-120"/>
              </a:rPr>
              <a:t>Deep Learning</a:t>
            </a:r>
            <a:endParaRPr lang="en-US" sz="1400" dirty="0"/>
          </a:p>
        </p:txBody>
      </p:sp>
      <p:sp>
        <p:nvSpPr>
          <p:cNvPr id="27" name="Text 25"/>
          <p:cNvSpPr/>
          <p:nvPr/>
        </p:nvSpPr>
        <p:spPr>
          <a:xfrm>
            <a:off x="5303520" y="3008376"/>
            <a:ext cx="3310128" cy="365760"/>
          </a:xfrm>
          <a:prstGeom prst="rect">
            <a:avLst/>
          </a:prstGeom>
          <a:noFill/>
          <a:ln/>
        </p:spPr>
        <p:txBody>
          <a:bodyPr wrap="square" lIns="0" tIns="0" rIns="0" bIns="0" rtlCol="0" anchor="ctr"/>
          <a:lstStyle/>
          <a:p>
            <a:pPr marL="0" indent="0">
              <a:buNone/>
            </a:pPr>
            <a:r>
              <a:rPr lang="en-US" sz="950" dirty="0">
                <a:solidFill>
                  <a:srgbClr val="6B7B8C"/>
                </a:solidFill>
                <a:latin typeface="Roboto" pitchFamily="34" charset="0"/>
                <a:ea typeface="Roboto" pitchFamily="34" charset="-122"/>
                <a:cs typeface="Roboto" pitchFamily="34" charset="-120"/>
              </a:rPr>
              <a:t>A subset of ML using many-layered neural networks to find complex patterns in large, unstructured data — text, images, audio, video.</a:t>
            </a:r>
            <a:endParaRPr lang="en-US" sz="950" dirty="0"/>
          </a:p>
        </p:txBody>
      </p:sp>
      <p:sp>
        <p:nvSpPr>
          <p:cNvPr id="28" name="Shape 26"/>
          <p:cNvSpPr/>
          <p:nvPr/>
        </p:nvSpPr>
        <p:spPr>
          <a:xfrm>
            <a:off x="4617720" y="3383280"/>
            <a:ext cx="566928" cy="237744"/>
          </a:xfrm>
          <a:prstGeom prst="rect">
            <a:avLst/>
          </a:prstGeom>
          <a:solidFill>
            <a:srgbClr val="1B9AAA"/>
          </a:solidFill>
          <a:ln/>
        </p:spPr>
        <p:txBody>
          <a:bodyPr/>
          <a:lstStyle/>
          <a:p>
            <a:endParaRPr lang="en-US"/>
          </a:p>
        </p:txBody>
      </p:sp>
      <p:sp>
        <p:nvSpPr>
          <p:cNvPr id="29" name="Text 27"/>
          <p:cNvSpPr/>
          <p:nvPr/>
        </p:nvSpPr>
        <p:spPr>
          <a:xfrm>
            <a:off x="4617720" y="3415284"/>
            <a:ext cx="566928" cy="182880"/>
          </a:xfrm>
          <a:prstGeom prst="rect">
            <a:avLst/>
          </a:prstGeom>
          <a:noFill/>
          <a:ln/>
        </p:spPr>
        <p:txBody>
          <a:bodyPr wrap="square" lIns="0" tIns="0" rIns="0" bIns="0" rtlCol="0" anchor="ctr"/>
          <a:lstStyle/>
          <a:p>
            <a:pPr marL="0" indent="0" algn="ctr">
              <a:buNone/>
            </a:pPr>
            <a:r>
              <a:rPr lang="en-US" sz="950" dirty="0">
                <a:solidFill>
                  <a:srgbClr val="FFFFFF"/>
                </a:solidFill>
                <a:latin typeface="JetBrains Mono" pitchFamily="34" charset="0"/>
                <a:ea typeface="JetBrains Mono" pitchFamily="34" charset="-122"/>
                <a:cs typeface="JetBrains Mono" pitchFamily="34" charset="-120"/>
              </a:rPr>
              <a:t>2018</a:t>
            </a:r>
            <a:endParaRPr lang="en-US" sz="950" dirty="0"/>
          </a:p>
        </p:txBody>
      </p:sp>
      <p:sp>
        <p:nvSpPr>
          <p:cNvPr id="30" name="Text 28"/>
          <p:cNvSpPr/>
          <p:nvPr/>
        </p:nvSpPr>
        <p:spPr>
          <a:xfrm>
            <a:off x="5303520" y="3387852"/>
            <a:ext cx="3291840" cy="237744"/>
          </a:xfrm>
          <a:prstGeom prst="rect">
            <a:avLst/>
          </a:prstGeom>
          <a:noFill/>
          <a:ln/>
        </p:spPr>
        <p:txBody>
          <a:bodyPr wrap="square" lIns="0" tIns="0" rIns="0" bIns="0" rtlCol="0" anchor="ctr"/>
          <a:lstStyle/>
          <a:p>
            <a:pPr marL="0" indent="0">
              <a:buNone/>
            </a:pPr>
            <a:r>
              <a:rPr lang="en-US" sz="1400" dirty="0">
                <a:solidFill>
                  <a:srgbClr val="0D1B2A"/>
                </a:solidFill>
                <a:latin typeface="Oswald" pitchFamily="34" charset="0"/>
                <a:ea typeface="Oswald" pitchFamily="34" charset="-122"/>
                <a:cs typeface="Oswald" pitchFamily="34" charset="-120"/>
              </a:rPr>
              <a:t>Generative AI</a:t>
            </a:r>
            <a:endParaRPr lang="en-US" sz="1400" dirty="0"/>
          </a:p>
        </p:txBody>
      </p:sp>
      <p:sp>
        <p:nvSpPr>
          <p:cNvPr id="31" name="Text 29"/>
          <p:cNvSpPr/>
          <p:nvPr/>
        </p:nvSpPr>
        <p:spPr>
          <a:xfrm>
            <a:off x="5303520" y="3648456"/>
            <a:ext cx="3310128" cy="365760"/>
          </a:xfrm>
          <a:prstGeom prst="rect">
            <a:avLst/>
          </a:prstGeom>
          <a:noFill/>
          <a:ln/>
        </p:spPr>
        <p:txBody>
          <a:bodyPr wrap="square" lIns="0" tIns="0" rIns="0" bIns="0" rtlCol="0" anchor="ctr"/>
          <a:lstStyle/>
          <a:p>
            <a:pPr marL="0" indent="0">
              <a:buNone/>
            </a:pPr>
            <a:r>
              <a:rPr lang="en-US" sz="950" dirty="0">
                <a:solidFill>
                  <a:srgbClr val="6B7B8C"/>
                </a:solidFill>
                <a:latin typeface="Roboto" pitchFamily="34" charset="0"/>
                <a:ea typeface="Roboto" pitchFamily="34" charset="-122"/>
                <a:cs typeface="Roboto" pitchFamily="34" charset="-120"/>
              </a:rPr>
              <a:t>A branch of AI that creates new content — text, images, video, audio, code — by learning patterns from massive datasets.</a:t>
            </a:r>
            <a:endParaRPr lang="en-US" sz="950" dirty="0"/>
          </a:p>
        </p:txBody>
      </p:sp>
      <p:sp>
        <p:nvSpPr>
          <p:cNvPr id="32" name="Shape 30"/>
          <p:cNvSpPr/>
          <p:nvPr/>
        </p:nvSpPr>
        <p:spPr>
          <a:xfrm>
            <a:off x="4617720" y="4023360"/>
            <a:ext cx="566928" cy="237744"/>
          </a:xfrm>
          <a:prstGeom prst="rect">
            <a:avLst/>
          </a:prstGeom>
          <a:solidFill>
            <a:srgbClr val="06D6A0"/>
          </a:solidFill>
          <a:ln/>
        </p:spPr>
        <p:txBody>
          <a:bodyPr/>
          <a:lstStyle/>
          <a:p>
            <a:endParaRPr lang="en-US"/>
          </a:p>
        </p:txBody>
      </p:sp>
      <p:sp>
        <p:nvSpPr>
          <p:cNvPr id="33" name="Text 31"/>
          <p:cNvSpPr/>
          <p:nvPr/>
        </p:nvSpPr>
        <p:spPr>
          <a:xfrm>
            <a:off x="4617720" y="4055364"/>
            <a:ext cx="566928" cy="182880"/>
          </a:xfrm>
          <a:prstGeom prst="rect">
            <a:avLst/>
          </a:prstGeom>
          <a:noFill/>
          <a:ln/>
        </p:spPr>
        <p:txBody>
          <a:bodyPr wrap="square" lIns="0" tIns="0" rIns="0" bIns="0" rtlCol="0" anchor="ctr"/>
          <a:lstStyle/>
          <a:p>
            <a:pPr marL="0" indent="0" algn="ctr">
              <a:buNone/>
            </a:pPr>
            <a:r>
              <a:rPr lang="en-US" sz="950" dirty="0">
                <a:solidFill>
                  <a:srgbClr val="0D1B2A"/>
                </a:solidFill>
                <a:latin typeface="JetBrains Mono" pitchFamily="34" charset="0"/>
                <a:ea typeface="JetBrains Mono" pitchFamily="34" charset="-122"/>
                <a:cs typeface="JetBrains Mono" pitchFamily="34" charset="-120"/>
              </a:rPr>
              <a:t>2024</a:t>
            </a:r>
            <a:endParaRPr lang="en-US" sz="950" dirty="0"/>
          </a:p>
        </p:txBody>
      </p:sp>
      <p:sp>
        <p:nvSpPr>
          <p:cNvPr id="34" name="Text 32"/>
          <p:cNvSpPr/>
          <p:nvPr/>
        </p:nvSpPr>
        <p:spPr>
          <a:xfrm>
            <a:off x="5303520" y="4027932"/>
            <a:ext cx="3291840" cy="237744"/>
          </a:xfrm>
          <a:prstGeom prst="rect">
            <a:avLst/>
          </a:prstGeom>
          <a:noFill/>
          <a:ln/>
        </p:spPr>
        <p:txBody>
          <a:bodyPr wrap="square" lIns="0" tIns="0" rIns="0" bIns="0" rtlCol="0" anchor="ctr"/>
          <a:lstStyle/>
          <a:p>
            <a:pPr marL="0" indent="0">
              <a:buNone/>
            </a:pPr>
            <a:r>
              <a:rPr lang="en-US" sz="1400" dirty="0">
                <a:solidFill>
                  <a:srgbClr val="0D1B2A"/>
                </a:solidFill>
                <a:latin typeface="Oswald" pitchFamily="34" charset="0"/>
                <a:ea typeface="Oswald" pitchFamily="34" charset="-122"/>
                <a:cs typeface="Oswald" pitchFamily="34" charset="-120"/>
              </a:rPr>
              <a:t>Agentic AI</a:t>
            </a:r>
            <a:endParaRPr lang="en-US" sz="1400" dirty="0"/>
          </a:p>
        </p:txBody>
      </p:sp>
      <p:sp>
        <p:nvSpPr>
          <p:cNvPr id="35" name="Text 33"/>
          <p:cNvSpPr/>
          <p:nvPr/>
        </p:nvSpPr>
        <p:spPr>
          <a:xfrm>
            <a:off x="5303520" y="4288536"/>
            <a:ext cx="3310128" cy="365760"/>
          </a:xfrm>
          <a:prstGeom prst="rect">
            <a:avLst/>
          </a:prstGeom>
          <a:noFill/>
          <a:ln/>
        </p:spPr>
        <p:txBody>
          <a:bodyPr wrap="square" lIns="0" tIns="0" rIns="0" bIns="0" rtlCol="0" anchor="ctr"/>
          <a:lstStyle/>
          <a:p>
            <a:pPr marL="0" indent="0">
              <a:buNone/>
            </a:pPr>
            <a:r>
              <a:rPr lang="en-US" sz="950" dirty="0">
                <a:solidFill>
                  <a:srgbClr val="6B7B8C"/>
                </a:solidFill>
                <a:latin typeface="Roboto" pitchFamily="34" charset="0"/>
                <a:ea typeface="Roboto" pitchFamily="34" charset="-122"/>
                <a:cs typeface="Roboto" pitchFamily="34" charset="-120"/>
              </a:rPr>
              <a:t>Builds on generative models by adding tool/API use, memory and planning in a closed loop, enabling autonomous goal pursuit beyond content creation.</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Oval 1"/>
          <p:cNvSpPr/>
          <p:nvPr/>
        </p:nvSpPr>
        <p:spPr>
          <a:xfrm>
            <a:off x="4572000" y="320040"/>
            <a:ext cx="4572000" cy="4572000"/>
          </a:xfrm>
          <a:prstGeom prst="ellipse">
            <a:avLst/>
          </a:prstGeom>
          <a:solidFill>
            <a:srgbClr val="1B9AAA">
              <a:alpha val="6000"/>
            </a:srgbClr>
          </a:solidFill>
          <a:ln w="635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 name="Connector 2"/>
          <p:cNvCxnSpPr/>
          <p:nvPr/>
        </p:nvCxnSpPr>
        <p:spPr>
          <a:xfrm>
            <a:off x="6309360" y="1234440"/>
            <a:ext cx="0" cy="25146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H="1">
            <a:off x="5349240" y="1485900"/>
            <a:ext cx="960120" cy="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349240" y="1485900"/>
            <a:ext cx="0" cy="25146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309360" y="1234440"/>
            <a:ext cx="0" cy="25146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309360" y="1485900"/>
            <a:ext cx="960120" cy="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269480" y="1485900"/>
            <a:ext cx="0" cy="25146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269480" y="2286000"/>
            <a:ext cx="0" cy="25146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6583680" y="2537460"/>
            <a:ext cx="685800" cy="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583680" y="2537460"/>
            <a:ext cx="0" cy="25146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583680" y="3337560"/>
            <a:ext cx="0" cy="25146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5715000" y="3589020"/>
            <a:ext cx="868680" cy="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715000" y="3589020"/>
            <a:ext cx="0" cy="25146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583680" y="3337560"/>
            <a:ext cx="0" cy="25146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583680" y="3589020"/>
            <a:ext cx="868680" cy="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7452360" y="3589020"/>
            <a:ext cx="0" cy="25146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309360" y="1485900"/>
            <a:ext cx="2194560" cy="0"/>
          </a:xfrm>
          <a:prstGeom prst="line">
            <a:avLst/>
          </a:prstGeom>
          <a:ln w="9525">
            <a:solidFill>
              <a:srgbClr val="8FA6B2"/>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8503920" y="1485900"/>
            <a:ext cx="0" cy="324612"/>
          </a:xfrm>
          <a:prstGeom prst="line">
            <a:avLst/>
          </a:prstGeom>
          <a:ln w="9525">
            <a:solidFill>
              <a:srgbClr val="8FA6B2"/>
            </a:solidFill>
            <a:prstDash val="dash"/>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8343900" y="1920240"/>
            <a:ext cx="64008" cy="64008"/>
          </a:xfrm>
          <a:prstGeom prst="ellipse">
            <a:avLst/>
          </a:prstGeom>
          <a:solidFill>
            <a:srgbClr val="8FA6B2">
              <a:alpha val="100000"/>
            </a:srgbClr>
          </a:solidFill>
          <a:ln w="6350">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8471916" y="1920240"/>
            <a:ext cx="64008" cy="64008"/>
          </a:xfrm>
          <a:prstGeom prst="ellipse">
            <a:avLst/>
          </a:prstGeom>
          <a:solidFill>
            <a:srgbClr val="8FA6B2">
              <a:alpha val="100000"/>
            </a:srgbClr>
          </a:solidFill>
          <a:ln w="6350">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8599932" y="1920240"/>
            <a:ext cx="64008" cy="64008"/>
          </a:xfrm>
          <a:prstGeom prst="ellipse">
            <a:avLst/>
          </a:prstGeom>
          <a:solidFill>
            <a:srgbClr val="8FA6B2">
              <a:alpha val="100000"/>
            </a:srgbClr>
          </a:solidFill>
          <a:ln w="6350">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3" name="Connector 22"/>
          <p:cNvCxnSpPr/>
          <p:nvPr/>
        </p:nvCxnSpPr>
        <p:spPr>
          <a:xfrm>
            <a:off x="7269480" y="2537460"/>
            <a:ext cx="1234440" cy="0"/>
          </a:xfrm>
          <a:prstGeom prst="line">
            <a:avLst/>
          </a:prstGeom>
          <a:ln w="9525">
            <a:solidFill>
              <a:srgbClr val="8FA6B2"/>
            </a:solidFill>
            <a:prstDash val="dash"/>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8503920" y="2537460"/>
            <a:ext cx="0" cy="324612"/>
          </a:xfrm>
          <a:prstGeom prst="line">
            <a:avLst/>
          </a:prstGeom>
          <a:ln w="9525">
            <a:solidFill>
              <a:srgbClr val="8FA6B2"/>
            </a:solidFill>
            <a:prstDash val="dash"/>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8343900" y="2971800"/>
            <a:ext cx="64008" cy="64008"/>
          </a:xfrm>
          <a:prstGeom prst="ellipse">
            <a:avLst/>
          </a:prstGeom>
          <a:solidFill>
            <a:srgbClr val="8FA6B2">
              <a:alpha val="100000"/>
            </a:srgbClr>
          </a:solidFill>
          <a:ln w="6350">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8471916" y="2971800"/>
            <a:ext cx="64008" cy="64008"/>
          </a:xfrm>
          <a:prstGeom prst="ellipse">
            <a:avLst/>
          </a:prstGeom>
          <a:solidFill>
            <a:srgbClr val="8FA6B2">
              <a:alpha val="100000"/>
            </a:srgbClr>
          </a:solidFill>
          <a:ln w="6350">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8599932" y="2971800"/>
            <a:ext cx="64008" cy="64008"/>
          </a:xfrm>
          <a:prstGeom prst="ellipse">
            <a:avLst/>
          </a:prstGeom>
          <a:solidFill>
            <a:srgbClr val="8FA6B2">
              <a:alpha val="100000"/>
            </a:srgbClr>
          </a:solidFill>
          <a:ln w="6350">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5509260" y="685800"/>
            <a:ext cx="1600200" cy="548640"/>
          </a:xfrm>
          <a:prstGeom prst="roundRect">
            <a:avLst>
              <a:gd name="adj" fmla="val 18000"/>
            </a:avLst>
          </a:prstGeom>
          <a:solidFill>
            <a:srgbClr val="06D6A0"/>
          </a:solidFill>
          <a:ln w="19050">
            <a:solidFill>
              <a:srgbClr val="06D6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509260" y="749808"/>
            <a:ext cx="1600200" cy="274320"/>
          </a:xfrm>
          <a:prstGeom prst="rect">
            <a:avLst/>
          </a:prstGeom>
          <a:noFill/>
        </p:spPr>
        <p:txBody>
          <a:bodyPr wrap="square" lIns="0" tIns="0" rIns="0" bIns="0" anchor="t">
            <a:spAutoFit/>
          </a:bodyPr>
          <a:lstStyle/>
          <a:p>
            <a:pPr algn="ctr"/>
            <a:r>
              <a:rPr sz="1300" b="0">
                <a:solidFill>
                  <a:srgbClr val="0D1B2A"/>
                </a:solidFill>
                <a:latin typeface="Oswald"/>
              </a:rPr>
              <a:t>Artificial Intelligence</a:t>
            </a:r>
          </a:p>
        </p:txBody>
      </p:sp>
      <p:sp>
        <p:nvSpPr>
          <p:cNvPr id="30" name="TextBox 29"/>
          <p:cNvSpPr txBox="1"/>
          <p:nvPr/>
        </p:nvSpPr>
        <p:spPr>
          <a:xfrm>
            <a:off x="5509260" y="1014983"/>
            <a:ext cx="1600200" cy="182880"/>
          </a:xfrm>
          <a:prstGeom prst="rect">
            <a:avLst/>
          </a:prstGeom>
          <a:noFill/>
        </p:spPr>
        <p:txBody>
          <a:bodyPr wrap="square" lIns="0" tIns="0" rIns="0" bIns="0" anchor="t">
            <a:spAutoFit/>
          </a:bodyPr>
          <a:lstStyle/>
          <a:p>
            <a:pPr algn="ctr"/>
            <a:r>
              <a:rPr sz="850" b="0" spc="100">
                <a:solidFill>
                  <a:srgbClr val="0D1B2A"/>
                </a:solidFill>
                <a:latin typeface="JetBrains Mono"/>
              </a:rPr>
              <a:t>1955</a:t>
            </a:r>
          </a:p>
        </p:txBody>
      </p:sp>
      <p:sp>
        <p:nvSpPr>
          <p:cNvPr id="31" name="Rounded Rectangle 30"/>
          <p:cNvSpPr/>
          <p:nvPr/>
        </p:nvSpPr>
        <p:spPr>
          <a:xfrm>
            <a:off x="4549140" y="1737360"/>
            <a:ext cx="1600200" cy="548640"/>
          </a:xfrm>
          <a:prstGeom prst="roundRect">
            <a:avLst>
              <a:gd name="adj" fmla="val 18000"/>
            </a:avLst>
          </a:prstGeom>
          <a:solidFill>
            <a:srgbClr val="0D1B2A"/>
          </a:solidFill>
          <a:ln w="9525">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549140" y="1801368"/>
            <a:ext cx="1600200" cy="274320"/>
          </a:xfrm>
          <a:prstGeom prst="rect">
            <a:avLst/>
          </a:prstGeom>
          <a:noFill/>
        </p:spPr>
        <p:txBody>
          <a:bodyPr wrap="square" lIns="0" tIns="0" rIns="0" bIns="0" anchor="t">
            <a:spAutoFit/>
          </a:bodyPr>
          <a:lstStyle/>
          <a:p>
            <a:pPr algn="ctr"/>
            <a:r>
              <a:rPr sz="1300" b="0">
                <a:solidFill>
                  <a:srgbClr val="8FA6B2"/>
                </a:solidFill>
                <a:latin typeface="Oswald"/>
              </a:rPr>
              <a:t>Rule-based AI</a:t>
            </a:r>
          </a:p>
        </p:txBody>
      </p:sp>
      <p:sp>
        <p:nvSpPr>
          <p:cNvPr id="33" name="TextBox 32"/>
          <p:cNvSpPr txBox="1"/>
          <p:nvPr/>
        </p:nvSpPr>
        <p:spPr>
          <a:xfrm>
            <a:off x="4549140" y="2066543"/>
            <a:ext cx="1600200" cy="182880"/>
          </a:xfrm>
          <a:prstGeom prst="rect">
            <a:avLst/>
          </a:prstGeom>
          <a:noFill/>
        </p:spPr>
        <p:txBody>
          <a:bodyPr wrap="square" lIns="0" tIns="0" rIns="0" bIns="0" anchor="t">
            <a:spAutoFit/>
          </a:bodyPr>
          <a:lstStyle/>
          <a:p>
            <a:pPr algn="ctr"/>
            <a:r>
              <a:rPr sz="850" b="0" spc="100">
                <a:solidFill>
                  <a:srgbClr val="8FA6B2"/>
                </a:solidFill>
                <a:latin typeface="JetBrains Mono"/>
              </a:rPr>
              <a:t>1950s</a:t>
            </a:r>
          </a:p>
        </p:txBody>
      </p:sp>
      <p:sp>
        <p:nvSpPr>
          <p:cNvPr id="34" name="Rounded Rectangle 33"/>
          <p:cNvSpPr/>
          <p:nvPr/>
        </p:nvSpPr>
        <p:spPr>
          <a:xfrm>
            <a:off x="6469380" y="1737360"/>
            <a:ext cx="1600200" cy="548640"/>
          </a:xfrm>
          <a:prstGeom prst="roundRect">
            <a:avLst>
              <a:gd name="adj" fmla="val 18000"/>
            </a:avLst>
          </a:prstGeom>
          <a:solidFill>
            <a:srgbClr val="0D1B2A"/>
          </a:solidFill>
          <a:ln w="9525">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469380" y="1801368"/>
            <a:ext cx="1600200" cy="274320"/>
          </a:xfrm>
          <a:prstGeom prst="rect">
            <a:avLst/>
          </a:prstGeom>
          <a:noFill/>
        </p:spPr>
        <p:txBody>
          <a:bodyPr wrap="square" lIns="0" tIns="0" rIns="0" bIns="0" anchor="t">
            <a:spAutoFit/>
          </a:bodyPr>
          <a:lstStyle/>
          <a:p>
            <a:pPr algn="ctr"/>
            <a:r>
              <a:rPr sz="1300" b="0">
                <a:solidFill>
                  <a:srgbClr val="8FA6B2"/>
                </a:solidFill>
                <a:latin typeface="Oswald"/>
              </a:rPr>
              <a:t>Machine Learning</a:t>
            </a:r>
          </a:p>
        </p:txBody>
      </p:sp>
      <p:sp>
        <p:nvSpPr>
          <p:cNvPr id="36" name="TextBox 35"/>
          <p:cNvSpPr txBox="1"/>
          <p:nvPr/>
        </p:nvSpPr>
        <p:spPr>
          <a:xfrm>
            <a:off x="6469380" y="2066543"/>
            <a:ext cx="1600200" cy="182880"/>
          </a:xfrm>
          <a:prstGeom prst="rect">
            <a:avLst/>
          </a:prstGeom>
          <a:noFill/>
        </p:spPr>
        <p:txBody>
          <a:bodyPr wrap="square" lIns="0" tIns="0" rIns="0" bIns="0" anchor="t">
            <a:spAutoFit/>
          </a:bodyPr>
          <a:lstStyle/>
          <a:p>
            <a:pPr algn="ctr"/>
            <a:r>
              <a:rPr sz="850" b="0" spc="100">
                <a:solidFill>
                  <a:srgbClr val="8FA6B2"/>
                </a:solidFill>
                <a:latin typeface="JetBrains Mono"/>
              </a:rPr>
              <a:t>1959</a:t>
            </a:r>
          </a:p>
        </p:txBody>
      </p:sp>
      <p:sp>
        <p:nvSpPr>
          <p:cNvPr id="37" name="Rounded Rectangle 36"/>
          <p:cNvSpPr/>
          <p:nvPr/>
        </p:nvSpPr>
        <p:spPr>
          <a:xfrm>
            <a:off x="5783580" y="2788920"/>
            <a:ext cx="1600200" cy="548640"/>
          </a:xfrm>
          <a:prstGeom prst="roundRect">
            <a:avLst>
              <a:gd name="adj" fmla="val 18000"/>
            </a:avLst>
          </a:prstGeom>
          <a:solidFill>
            <a:srgbClr val="0D1B2A"/>
          </a:solidFill>
          <a:ln w="9525">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5783580" y="2852927"/>
            <a:ext cx="1600200" cy="274320"/>
          </a:xfrm>
          <a:prstGeom prst="rect">
            <a:avLst/>
          </a:prstGeom>
          <a:noFill/>
        </p:spPr>
        <p:txBody>
          <a:bodyPr wrap="square" lIns="0" tIns="0" rIns="0" bIns="0" anchor="t">
            <a:spAutoFit/>
          </a:bodyPr>
          <a:lstStyle/>
          <a:p>
            <a:pPr algn="ctr"/>
            <a:r>
              <a:rPr sz="1300" b="0">
                <a:solidFill>
                  <a:srgbClr val="8FA6B2"/>
                </a:solidFill>
                <a:latin typeface="Oswald"/>
              </a:rPr>
              <a:t>Deep Learning</a:t>
            </a:r>
          </a:p>
        </p:txBody>
      </p:sp>
      <p:sp>
        <p:nvSpPr>
          <p:cNvPr id="39" name="TextBox 38"/>
          <p:cNvSpPr txBox="1"/>
          <p:nvPr/>
        </p:nvSpPr>
        <p:spPr>
          <a:xfrm>
            <a:off x="5783580" y="3118103"/>
            <a:ext cx="1600200" cy="182880"/>
          </a:xfrm>
          <a:prstGeom prst="rect">
            <a:avLst/>
          </a:prstGeom>
          <a:noFill/>
        </p:spPr>
        <p:txBody>
          <a:bodyPr wrap="square" lIns="0" tIns="0" rIns="0" bIns="0" anchor="t">
            <a:spAutoFit/>
          </a:bodyPr>
          <a:lstStyle/>
          <a:p>
            <a:pPr algn="ctr"/>
            <a:r>
              <a:rPr sz="850" b="0" spc="100">
                <a:solidFill>
                  <a:srgbClr val="8FA6B2"/>
                </a:solidFill>
                <a:latin typeface="JetBrains Mono"/>
              </a:rPr>
              <a:t>2012</a:t>
            </a:r>
          </a:p>
        </p:txBody>
      </p:sp>
      <p:sp>
        <p:nvSpPr>
          <p:cNvPr id="40" name="Rounded Rectangle 39"/>
          <p:cNvSpPr/>
          <p:nvPr/>
        </p:nvSpPr>
        <p:spPr>
          <a:xfrm>
            <a:off x="4914900" y="3840480"/>
            <a:ext cx="1600200" cy="548640"/>
          </a:xfrm>
          <a:prstGeom prst="roundRect">
            <a:avLst>
              <a:gd name="adj" fmla="val 18000"/>
            </a:avLst>
          </a:prstGeom>
          <a:solidFill>
            <a:srgbClr val="0D1B2A"/>
          </a:solidFill>
          <a:ln w="9525">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914900" y="3904488"/>
            <a:ext cx="1600200" cy="274320"/>
          </a:xfrm>
          <a:prstGeom prst="rect">
            <a:avLst/>
          </a:prstGeom>
          <a:noFill/>
        </p:spPr>
        <p:txBody>
          <a:bodyPr wrap="square" lIns="0" tIns="0" rIns="0" bIns="0" anchor="t">
            <a:spAutoFit/>
          </a:bodyPr>
          <a:lstStyle/>
          <a:p>
            <a:pPr algn="ctr"/>
            <a:r>
              <a:rPr sz="1300" b="0">
                <a:solidFill>
                  <a:srgbClr val="8FA6B2"/>
                </a:solidFill>
                <a:latin typeface="Oswald"/>
              </a:rPr>
              <a:t>Generative AI</a:t>
            </a:r>
          </a:p>
        </p:txBody>
      </p:sp>
      <p:sp>
        <p:nvSpPr>
          <p:cNvPr id="42" name="TextBox 41"/>
          <p:cNvSpPr txBox="1"/>
          <p:nvPr/>
        </p:nvSpPr>
        <p:spPr>
          <a:xfrm>
            <a:off x="4914900" y="4169664"/>
            <a:ext cx="1600200" cy="182880"/>
          </a:xfrm>
          <a:prstGeom prst="rect">
            <a:avLst/>
          </a:prstGeom>
          <a:noFill/>
        </p:spPr>
        <p:txBody>
          <a:bodyPr wrap="square" lIns="0" tIns="0" rIns="0" bIns="0" anchor="t">
            <a:spAutoFit/>
          </a:bodyPr>
          <a:lstStyle/>
          <a:p>
            <a:pPr algn="ctr"/>
            <a:r>
              <a:rPr sz="850" b="0" spc="100">
                <a:solidFill>
                  <a:srgbClr val="8FA6B2"/>
                </a:solidFill>
                <a:latin typeface="JetBrains Mono"/>
              </a:rPr>
              <a:t>2018</a:t>
            </a:r>
          </a:p>
        </p:txBody>
      </p:sp>
      <p:sp>
        <p:nvSpPr>
          <p:cNvPr id="43" name="Rounded Rectangle 42"/>
          <p:cNvSpPr/>
          <p:nvPr/>
        </p:nvSpPr>
        <p:spPr>
          <a:xfrm>
            <a:off x="6652260" y="3840480"/>
            <a:ext cx="1600200" cy="548640"/>
          </a:xfrm>
          <a:prstGeom prst="roundRect">
            <a:avLst>
              <a:gd name="adj" fmla="val 18000"/>
            </a:avLst>
          </a:prstGeom>
          <a:solidFill>
            <a:srgbClr val="0D1B2A"/>
          </a:solidFill>
          <a:ln w="9525">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652260" y="3904488"/>
            <a:ext cx="1600200" cy="274320"/>
          </a:xfrm>
          <a:prstGeom prst="rect">
            <a:avLst/>
          </a:prstGeom>
          <a:noFill/>
        </p:spPr>
        <p:txBody>
          <a:bodyPr wrap="square" lIns="0" tIns="0" rIns="0" bIns="0" anchor="t">
            <a:spAutoFit/>
          </a:bodyPr>
          <a:lstStyle/>
          <a:p>
            <a:pPr algn="ctr"/>
            <a:r>
              <a:rPr sz="1300" b="0">
                <a:solidFill>
                  <a:srgbClr val="8FA6B2"/>
                </a:solidFill>
                <a:latin typeface="Oswald"/>
              </a:rPr>
              <a:t>Agentic AI</a:t>
            </a:r>
          </a:p>
        </p:txBody>
      </p:sp>
      <p:sp>
        <p:nvSpPr>
          <p:cNvPr id="45" name="TextBox 44"/>
          <p:cNvSpPr txBox="1"/>
          <p:nvPr/>
        </p:nvSpPr>
        <p:spPr>
          <a:xfrm>
            <a:off x="6652260" y="4169664"/>
            <a:ext cx="1600200" cy="182880"/>
          </a:xfrm>
          <a:prstGeom prst="rect">
            <a:avLst/>
          </a:prstGeom>
          <a:noFill/>
        </p:spPr>
        <p:txBody>
          <a:bodyPr wrap="square" lIns="0" tIns="0" rIns="0" bIns="0" anchor="t">
            <a:spAutoFit/>
          </a:bodyPr>
          <a:lstStyle/>
          <a:p>
            <a:pPr algn="ctr"/>
            <a:r>
              <a:rPr sz="850" b="0" spc="100">
                <a:solidFill>
                  <a:srgbClr val="8FA6B2"/>
                </a:solidFill>
                <a:latin typeface="JetBrains Mono"/>
              </a:rPr>
              <a:t>2024</a:t>
            </a:r>
          </a:p>
        </p:txBody>
      </p:sp>
      <p:sp>
        <p:nvSpPr>
          <p:cNvPr id="46" name="TextBox 45"/>
          <p:cNvSpPr txBox="1"/>
          <p:nvPr/>
        </p:nvSpPr>
        <p:spPr>
          <a:xfrm>
            <a:off x="731520" y="960120"/>
            <a:ext cx="3657600" cy="274320"/>
          </a:xfrm>
          <a:prstGeom prst="rect">
            <a:avLst/>
          </a:prstGeom>
          <a:noFill/>
        </p:spPr>
        <p:txBody>
          <a:bodyPr wrap="square" lIns="0" tIns="0" rIns="0" bIns="0" anchor="t">
            <a:spAutoFit/>
          </a:bodyPr>
          <a:lstStyle/>
          <a:p>
            <a:pPr algn="l"/>
            <a:r>
              <a:rPr sz="1100" b="0" spc="300">
                <a:solidFill>
                  <a:srgbClr val="06D6A0"/>
                </a:solidFill>
                <a:latin typeface="JetBrains Mono"/>
              </a:rPr>
              <a:t>THE BIG PICTURE · SINCE 1955</a:t>
            </a:r>
          </a:p>
        </p:txBody>
      </p:sp>
      <p:sp>
        <p:nvSpPr>
          <p:cNvPr id="47" name="section-ai"/>
          <p:cNvSpPr txBox="1"/>
          <p:nvPr/>
        </p:nvSpPr>
        <p:spPr>
          <a:xfrm>
            <a:off x="731520" y="1234440"/>
            <a:ext cx="3657600" cy="1554480"/>
          </a:xfrm>
          <a:prstGeom prst="rect">
            <a:avLst/>
          </a:prstGeom>
          <a:noFill/>
        </p:spPr>
        <p:txBody>
          <a:bodyPr wrap="square" lIns="0" tIns="0" rIns="0" bIns="0" anchor="t">
            <a:spAutoFit/>
          </a:bodyPr>
          <a:lstStyle/>
          <a:p>
            <a:pPr algn="l"/>
            <a:r>
              <a:rPr sz="4800" b="0">
                <a:solidFill>
                  <a:srgbClr val="FFFFFF"/>
                </a:solidFill>
                <a:latin typeface="Oswald"/>
              </a:rPr>
              <a:t>Artificial</a:t>
            </a:r>
          </a:p>
          <a:p>
            <a:pPr algn="l"/>
            <a:r>
              <a:rPr sz="4800" b="0">
                <a:solidFill>
                  <a:srgbClr val="FFFFFF"/>
                </a:solidFill>
                <a:latin typeface="Oswald"/>
              </a:rPr>
              <a:t>Intelligence</a:t>
            </a:r>
          </a:p>
        </p:txBody>
      </p:sp>
      <p:sp>
        <p:nvSpPr>
          <p:cNvPr id="48" name="TextBox 47"/>
          <p:cNvSpPr txBox="1"/>
          <p:nvPr/>
        </p:nvSpPr>
        <p:spPr>
          <a:xfrm>
            <a:off x="731520" y="2834640"/>
            <a:ext cx="3566160" cy="502920"/>
          </a:xfrm>
          <a:prstGeom prst="rect">
            <a:avLst/>
          </a:prstGeom>
          <a:noFill/>
        </p:spPr>
        <p:txBody>
          <a:bodyPr wrap="square" lIns="0" tIns="0" rIns="0" bIns="0" anchor="t">
            <a:spAutoFit/>
          </a:bodyPr>
          <a:lstStyle/>
          <a:p>
            <a:pPr algn="l"/>
            <a:r>
              <a:rPr sz="1400" b="0">
                <a:solidFill>
                  <a:srgbClr val="AFC2CE"/>
                </a:solidFill>
                <a:latin typeface="Roboto"/>
              </a:rPr>
              <a:t>The big umbrella: machines doing tasks that normally need human intelligence.</a:t>
            </a:r>
          </a:p>
        </p:txBody>
      </p:sp>
      <p:sp>
        <p:nvSpPr>
          <p:cNvPr id="49" name="Rectangle 48"/>
          <p:cNvSpPr/>
          <p:nvPr/>
        </p:nvSpPr>
        <p:spPr>
          <a:xfrm>
            <a:off x="731520" y="3520440"/>
            <a:ext cx="822960" cy="41148"/>
          </a:xfrm>
          <a:prstGeom prst="rect">
            <a:avLst/>
          </a:prstGeom>
          <a:solidFill>
            <a:srgbClr val="06D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731520" y="3675887"/>
            <a:ext cx="2743200" cy="228600"/>
          </a:xfrm>
          <a:prstGeom prst="rect">
            <a:avLst/>
          </a:prstGeom>
          <a:noFill/>
        </p:spPr>
        <p:txBody>
          <a:bodyPr wrap="square" lIns="0" tIns="0" rIns="0" bIns="0" anchor="t">
            <a:spAutoFit/>
          </a:bodyPr>
          <a:lstStyle/>
          <a:p>
            <a:pPr algn="l"/>
            <a:r>
              <a:rPr sz="900" b="0" spc="100">
                <a:solidFill>
                  <a:srgbClr val="8FA6B2"/>
                </a:solidFill>
                <a:latin typeface="JetBrains Mono"/>
              </a:rPr>
              <a:t>THE FAMILY TREE</a:t>
            </a:r>
          </a:p>
        </p:txBody>
      </p:sp>
      <p:sp>
        <p:nvSpPr>
          <p:cNvPr id="51" name="TextBox 50"/>
          <p:cNvSpPr txBox="1"/>
          <p:nvPr/>
        </p:nvSpPr>
        <p:spPr>
          <a:xfrm>
            <a:off x="731520" y="3904487"/>
            <a:ext cx="3566160" cy="640080"/>
          </a:xfrm>
          <a:prstGeom prst="rect">
            <a:avLst/>
          </a:prstGeom>
          <a:noFill/>
        </p:spPr>
        <p:txBody>
          <a:bodyPr wrap="square" lIns="0" tIns="0" rIns="0" bIns="0" anchor="t">
            <a:spAutoFit/>
          </a:bodyPr>
          <a:lstStyle/>
          <a:p>
            <a:pPr algn="l"/>
            <a:r>
              <a:rPr sz="1100" b="0">
                <a:solidFill>
                  <a:srgbClr val="AFC2CE"/>
                </a:solidFill>
                <a:latin typeface="Roboto"/>
              </a:rPr>
              <a:t>Each part of this talk is one branch of AI. The highlighted box shows where we are.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Oval 1"/>
          <p:cNvSpPr/>
          <p:nvPr/>
        </p:nvSpPr>
        <p:spPr>
          <a:xfrm>
            <a:off x="4572000" y="320040"/>
            <a:ext cx="4572000" cy="4572000"/>
          </a:xfrm>
          <a:prstGeom prst="ellipse">
            <a:avLst/>
          </a:prstGeom>
          <a:solidFill>
            <a:srgbClr val="1B9AAA">
              <a:alpha val="6000"/>
            </a:srgbClr>
          </a:solidFill>
          <a:ln w="635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 name="Connector 2"/>
          <p:cNvCxnSpPr/>
          <p:nvPr/>
        </p:nvCxnSpPr>
        <p:spPr>
          <a:xfrm>
            <a:off x="6309360" y="1234440"/>
            <a:ext cx="0" cy="251460"/>
          </a:xfrm>
          <a:prstGeom prst="line">
            <a:avLst/>
          </a:prstGeom>
          <a:ln w="25400">
            <a:solidFill>
              <a:srgbClr val="1B9AAA"/>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H="1">
            <a:off x="5349240" y="1485900"/>
            <a:ext cx="960120" cy="0"/>
          </a:xfrm>
          <a:prstGeom prst="line">
            <a:avLst/>
          </a:prstGeom>
          <a:ln w="25400">
            <a:solidFill>
              <a:srgbClr val="1B9AAA"/>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349240" y="1485900"/>
            <a:ext cx="0" cy="251460"/>
          </a:xfrm>
          <a:prstGeom prst="line">
            <a:avLst/>
          </a:prstGeom>
          <a:ln w="25400">
            <a:solidFill>
              <a:srgbClr val="1B9AAA"/>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309360" y="1234440"/>
            <a:ext cx="0" cy="25146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309360" y="1485900"/>
            <a:ext cx="960120" cy="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269480" y="1485900"/>
            <a:ext cx="0" cy="25146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269480" y="2286000"/>
            <a:ext cx="0" cy="25146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6583680" y="2537460"/>
            <a:ext cx="685800" cy="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583680" y="2537460"/>
            <a:ext cx="0" cy="25146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583680" y="3337560"/>
            <a:ext cx="0" cy="25146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5715000" y="3589020"/>
            <a:ext cx="868680" cy="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715000" y="3589020"/>
            <a:ext cx="0" cy="25146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583680" y="3337560"/>
            <a:ext cx="0" cy="25146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583680" y="3589020"/>
            <a:ext cx="868680" cy="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7452360" y="3589020"/>
            <a:ext cx="0" cy="25146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309360" y="1485900"/>
            <a:ext cx="2194560" cy="0"/>
          </a:xfrm>
          <a:prstGeom prst="line">
            <a:avLst/>
          </a:prstGeom>
          <a:ln w="9525">
            <a:solidFill>
              <a:srgbClr val="8FA6B2"/>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8503920" y="1485900"/>
            <a:ext cx="0" cy="324612"/>
          </a:xfrm>
          <a:prstGeom prst="line">
            <a:avLst/>
          </a:prstGeom>
          <a:ln w="9525">
            <a:solidFill>
              <a:srgbClr val="8FA6B2"/>
            </a:solidFill>
            <a:prstDash val="dash"/>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8343900" y="1920240"/>
            <a:ext cx="64008" cy="64008"/>
          </a:xfrm>
          <a:prstGeom prst="ellipse">
            <a:avLst/>
          </a:prstGeom>
          <a:solidFill>
            <a:srgbClr val="8FA6B2">
              <a:alpha val="100000"/>
            </a:srgbClr>
          </a:solidFill>
          <a:ln w="6350">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8471916" y="1920240"/>
            <a:ext cx="64008" cy="64008"/>
          </a:xfrm>
          <a:prstGeom prst="ellipse">
            <a:avLst/>
          </a:prstGeom>
          <a:solidFill>
            <a:srgbClr val="8FA6B2">
              <a:alpha val="100000"/>
            </a:srgbClr>
          </a:solidFill>
          <a:ln w="6350">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8599932" y="1920240"/>
            <a:ext cx="64008" cy="64008"/>
          </a:xfrm>
          <a:prstGeom prst="ellipse">
            <a:avLst/>
          </a:prstGeom>
          <a:solidFill>
            <a:srgbClr val="8FA6B2">
              <a:alpha val="100000"/>
            </a:srgbClr>
          </a:solidFill>
          <a:ln w="6350">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3" name="Connector 22"/>
          <p:cNvCxnSpPr/>
          <p:nvPr/>
        </p:nvCxnSpPr>
        <p:spPr>
          <a:xfrm>
            <a:off x="7269480" y="2537460"/>
            <a:ext cx="1234440" cy="0"/>
          </a:xfrm>
          <a:prstGeom prst="line">
            <a:avLst/>
          </a:prstGeom>
          <a:ln w="9525">
            <a:solidFill>
              <a:srgbClr val="8FA6B2"/>
            </a:solidFill>
            <a:prstDash val="dash"/>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8503920" y="2537460"/>
            <a:ext cx="0" cy="324612"/>
          </a:xfrm>
          <a:prstGeom prst="line">
            <a:avLst/>
          </a:prstGeom>
          <a:ln w="9525">
            <a:solidFill>
              <a:srgbClr val="8FA6B2"/>
            </a:solidFill>
            <a:prstDash val="dash"/>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8343900" y="2971800"/>
            <a:ext cx="64008" cy="64008"/>
          </a:xfrm>
          <a:prstGeom prst="ellipse">
            <a:avLst/>
          </a:prstGeom>
          <a:solidFill>
            <a:srgbClr val="8FA6B2">
              <a:alpha val="100000"/>
            </a:srgbClr>
          </a:solidFill>
          <a:ln w="6350">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8471916" y="2971800"/>
            <a:ext cx="64008" cy="64008"/>
          </a:xfrm>
          <a:prstGeom prst="ellipse">
            <a:avLst/>
          </a:prstGeom>
          <a:solidFill>
            <a:srgbClr val="8FA6B2">
              <a:alpha val="100000"/>
            </a:srgbClr>
          </a:solidFill>
          <a:ln w="6350">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8599932" y="2971800"/>
            <a:ext cx="64008" cy="64008"/>
          </a:xfrm>
          <a:prstGeom prst="ellipse">
            <a:avLst/>
          </a:prstGeom>
          <a:solidFill>
            <a:srgbClr val="8FA6B2">
              <a:alpha val="100000"/>
            </a:srgbClr>
          </a:solidFill>
          <a:ln w="6350">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5509260" y="685800"/>
            <a:ext cx="1600200" cy="548640"/>
          </a:xfrm>
          <a:prstGeom prst="roundRect">
            <a:avLst>
              <a:gd name="adj" fmla="val 18000"/>
            </a:avLst>
          </a:prstGeom>
          <a:solidFill>
            <a:srgbClr val="14293D"/>
          </a:solidFill>
          <a:ln w="1905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509260" y="749808"/>
            <a:ext cx="1600200" cy="274320"/>
          </a:xfrm>
          <a:prstGeom prst="rect">
            <a:avLst/>
          </a:prstGeom>
          <a:noFill/>
        </p:spPr>
        <p:txBody>
          <a:bodyPr wrap="square" lIns="0" tIns="0" rIns="0" bIns="0" anchor="t">
            <a:spAutoFit/>
          </a:bodyPr>
          <a:lstStyle/>
          <a:p>
            <a:pPr algn="ctr"/>
            <a:r>
              <a:rPr sz="1300" b="0">
                <a:solidFill>
                  <a:srgbClr val="FFFFFF"/>
                </a:solidFill>
                <a:latin typeface="Oswald"/>
              </a:rPr>
              <a:t>Artificial Intelligence</a:t>
            </a:r>
          </a:p>
        </p:txBody>
      </p:sp>
      <p:sp>
        <p:nvSpPr>
          <p:cNvPr id="30" name="TextBox 29"/>
          <p:cNvSpPr txBox="1"/>
          <p:nvPr/>
        </p:nvSpPr>
        <p:spPr>
          <a:xfrm>
            <a:off x="5509260" y="1014983"/>
            <a:ext cx="1600200" cy="182880"/>
          </a:xfrm>
          <a:prstGeom prst="rect">
            <a:avLst/>
          </a:prstGeom>
          <a:noFill/>
        </p:spPr>
        <p:txBody>
          <a:bodyPr wrap="square" lIns="0" tIns="0" rIns="0" bIns="0" anchor="t">
            <a:spAutoFit/>
          </a:bodyPr>
          <a:lstStyle/>
          <a:p>
            <a:pPr algn="ctr"/>
            <a:r>
              <a:rPr sz="850" b="0" spc="100">
                <a:solidFill>
                  <a:srgbClr val="1B9AAA"/>
                </a:solidFill>
                <a:latin typeface="JetBrains Mono"/>
              </a:rPr>
              <a:t>1955</a:t>
            </a:r>
          </a:p>
        </p:txBody>
      </p:sp>
      <p:sp>
        <p:nvSpPr>
          <p:cNvPr id="31" name="Rounded Rectangle 30"/>
          <p:cNvSpPr/>
          <p:nvPr/>
        </p:nvSpPr>
        <p:spPr>
          <a:xfrm>
            <a:off x="4549140" y="1737360"/>
            <a:ext cx="1600200" cy="548640"/>
          </a:xfrm>
          <a:prstGeom prst="roundRect">
            <a:avLst>
              <a:gd name="adj" fmla="val 18000"/>
            </a:avLst>
          </a:prstGeom>
          <a:solidFill>
            <a:srgbClr val="06D6A0"/>
          </a:solidFill>
          <a:ln w="19050">
            <a:solidFill>
              <a:srgbClr val="06D6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549140" y="1801368"/>
            <a:ext cx="1600200" cy="274320"/>
          </a:xfrm>
          <a:prstGeom prst="rect">
            <a:avLst/>
          </a:prstGeom>
          <a:noFill/>
        </p:spPr>
        <p:txBody>
          <a:bodyPr wrap="square" lIns="0" tIns="0" rIns="0" bIns="0" anchor="t">
            <a:spAutoFit/>
          </a:bodyPr>
          <a:lstStyle/>
          <a:p>
            <a:pPr algn="ctr"/>
            <a:r>
              <a:rPr sz="1300" b="0">
                <a:solidFill>
                  <a:srgbClr val="0D1B2A"/>
                </a:solidFill>
                <a:latin typeface="Oswald"/>
              </a:rPr>
              <a:t>Rule-based AI</a:t>
            </a:r>
          </a:p>
        </p:txBody>
      </p:sp>
      <p:sp>
        <p:nvSpPr>
          <p:cNvPr id="33" name="TextBox 32"/>
          <p:cNvSpPr txBox="1"/>
          <p:nvPr/>
        </p:nvSpPr>
        <p:spPr>
          <a:xfrm>
            <a:off x="4549140" y="2066543"/>
            <a:ext cx="1600200" cy="182880"/>
          </a:xfrm>
          <a:prstGeom prst="rect">
            <a:avLst/>
          </a:prstGeom>
          <a:noFill/>
        </p:spPr>
        <p:txBody>
          <a:bodyPr wrap="square" lIns="0" tIns="0" rIns="0" bIns="0" anchor="t">
            <a:spAutoFit/>
          </a:bodyPr>
          <a:lstStyle/>
          <a:p>
            <a:pPr algn="ctr"/>
            <a:r>
              <a:rPr sz="850" b="0" spc="100">
                <a:solidFill>
                  <a:srgbClr val="0D1B2A"/>
                </a:solidFill>
                <a:latin typeface="JetBrains Mono"/>
              </a:rPr>
              <a:t>1950s</a:t>
            </a:r>
          </a:p>
        </p:txBody>
      </p:sp>
      <p:sp>
        <p:nvSpPr>
          <p:cNvPr id="34" name="Rounded Rectangle 33"/>
          <p:cNvSpPr/>
          <p:nvPr/>
        </p:nvSpPr>
        <p:spPr>
          <a:xfrm>
            <a:off x="6469380" y="1737360"/>
            <a:ext cx="1600200" cy="548640"/>
          </a:xfrm>
          <a:prstGeom prst="roundRect">
            <a:avLst>
              <a:gd name="adj" fmla="val 18000"/>
            </a:avLst>
          </a:prstGeom>
          <a:solidFill>
            <a:srgbClr val="0D1B2A"/>
          </a:solidFill>
          <a:ln w="9525">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469380" y="1801368"/>
            <a:ext cx="1600200" cy="274320"/>
          </a:xfrm>
          <a:prstGeom prst="rect">
            <a:avLst/>
          </a:prstGeom>
          <a:noFill/>
        </p:spPr>
        <p:txBody>
          <a:bodyPr wrap="square" lIns="0" tIns="0" rIns="0" bIns="0" anchor="t">
            <a:spAutoFit/>
          </a:bodyPr>
          <a:lstStyle/>
          <a:p>
            <a:pPr algn="ctr"/>
            <a:r>
              <a:rPr sz="1300" b="0">
                <a:solidFill>
                  <a:srgbClr val="8FA6B2"/>
                </a:solidFill>
                <a:latin typeface="Oswald"/>
              </a:rPr>
              <a:t>Machine Learning</a:t>
            </a:r>
          </a:p>
        </p:txBody>
      </p:sp>
      <p:sp>
        <p:nvSpPr>
          <p:cNvPr id="36" name="TextBox 35"/>
          <p:cNvSpPr txBox="1"/>
          <p:nvPr/>
        </p:nvSpPr>
        <p:spPr>
          <a:xfrm>
            <a:off x="6469380" y="2066543"/>
            <a:ext cx="1600200" cy="182880"/>
          </a:xfrm>
          <a:prstGeom prst="rect">
            <a:avLst/>
          </a:prstGeom>
          <a:noFill/>
        </p:spPr>
        <p:txBody>
          <a:bodyPr wrap="square" lIns="0" tIns="0" rIns="0" bIns="0" anchor="t">
            <a:spAutoFit/>
          </a:bodyPr>
          <a:lstStyle/>
          <a:p>
            <a:pPr algn="ctr"/>
            <a:r>
              <a:rPr sz="850" b="0" spc="100">
                <a:solidFill>
                  <a:srgbClr val="8FA6B2"/>
                </a:solidFill>
                <a:latin typeface="JetBrains Mono"/>
              </a:rPr>
              <a:t>1959</a:t>
            </a:r>
          </a:p>
        </p:txBody>
      </p:sp>
      <p:sp>
        <p:nvSpPr>
          <p:cNvPr id="37" name="Rounded Rectangle 36"/>
          <p:cNvSpPr/>
          <p:nvPr/>
        </p:nvSpPr>
        <p:spPr>
          <a:xfrm>
            <a:off x="5783580" y="2788920"/>
            <a:ext cx="1600200" cy="548640"/>
          </a:xfrm>
          <a:prstGeom prst="roundRect">
            <a:avLst>
              <a:gd name="adj" fmla="val 18000"/>
            </a:avLst>
          </a:prstGeom>
          <a:solidFill>
            <a:srgbClr val="0D1B2A"/>
          </a:solidFill>
          <a:ln w="9525">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5783580" y="2852927"/>
            <a:ext cx="1600200" cy="274320"/>
          </a:xfrm>
          <a:prstGeom prst="rect">
            <a:avLst/>
          </a:prstGeom>
          <a:noFill/>
        </p:spPr>
        <p:txBody>
          <a:bodyPr wrap="square" lIns="0" tIns="0" rIns="0" bIns="0" anchor="t">
            <a:spAutoFit/>
          </a:bodyPr>
          <a:lstStyle/>
          <a:p>
            <a:pPr algn="ctr"/>
            <a:r>
              <a:rPr sz="1300" b="0">
                <a:solidFill>
                  <a:srgbClr val="8FA6B2"/>
                </a:solidFill>
                <a:latin typeface="Oswald"/>
              </a:rPr>
              <a:t>Deep Learning</a:t>
            </a:r>
          </a:p>
        </p:txBody>
      </p:sp>
      <p:sp>
        <p:nvSpPr>
          <p:cNvPr id="39" name="TextBox 38"/>
          <p:cNvSpPr txBox="1"/>
          <p:nvPr/>
        </p:nvSpPr>
        <p:spPr>
          <a:xfrm>
            <a:off x="5783580" y="3118103"/>
            <a:ext cx="1600200" cy="182880"/>
          </a:xfrm>
          <a:prstGeom prst="rect">
            <a:avLst/>
          </a:prstGeom>
          <a:noFill/>
        </p:spPr>
        <p:txBody>
          <a:bodyPr wrap="square" lIns="0" tIns="0" rIns="0" bIns="0" anchor="t">
            <a:spAutoFit/>
          </a:bodyPr>
          <a:lstStyle/>
          <a:p>
            <a:pPr algn="ctr"/>
            <a:r>
              <a:rPr sz="850" b="0" spc="100">
                <a:solidFill>
                  <a:srgbClr val="8FA6B2"/>
                </a:solidFill>
                <a:latin typeface="JetBrains Mono"/>
              </a:rPr>
              <a:t>2012</a:t>
            </a:r>
          </a:p>
        </p:txBody>
      </p:sp>
      <p:sp>
        <p:nvSpPr>
          <p:cNvPr id="40" name="Rounded Rectangle 39"/>
          <p:cNvSpPr/>
          <p:nvPr/>
        </p:nvSpPr>
        <p:spPr>
          <a:xfrm>
            <a:off x="4914900" y="3840480"/>
            <a:ext cx="1600200" cy="548640"/>
          </a:xfrm>
          <a:prstGeom prst="roundRect">
            <a:avLst>
              <a:gd name="adj" fmla="val 18000"/>
            </a:avLst>
          </a:prstGeom>
          <a:solidFill>
            <a:srgbClr val="0D1B2A"/>
          </a:solidFill>
          <a:ln w="9525">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914900" y="3904488"/>
            <a:ext cx="1600200" cy="274320"/>
          </a:xfrm>
          <a:prstGeom prst="rect">
            <a:avLst/>
          </a:prstGeom>
          <a:noFill/>
        </p:spPr>
        <p:txBody>
          <a:bodyPr wrap="square" lIns="0" tIns="0" rIns="0" bIns="0" anchor="t">
            <a:spAutoFit/>
          </a:bodyPr>
          <a:lstStyle/>
          <a:p>
            <a:pPr algn="ctr"/>
            <a:r>
              <a:rPr sz="1300" b="0">
                <a:solidFill>
                  <a:srgbClr val="8FA6B2"/>
                </a:solidFill>
                <a:latin typeface="Oswald"/>
              </a:rPr>
              <a:t>Generative AI</a:t>
            </a:r>
          </a:p>
        </p:txBody>
      </p:sp>
      <p:sp>
        <p:nvSpPr>
          <p:cNvPr id="42" name="TextBox 41"/>
          <p:cNvSpPr txBox="1"/>
          <p:nvPr/>
        </p:nvSpPr>
        <p:spPr>
          <a:xfrm>
            <a:off x="4914900" y="4169664"/>
            <a:ext cx="1600200" cy="182880"/>
          </a:xfrm>
          <a:prstGeom prst="rect">
            <a:avLst/>
          </a:prstGeom>
          <a:noFill/>
        </p:spPr>
        <p:txBody>
          <a:bodyPr wrap="square" lIns="0" tIns="0" rIns="0" bIns="0" anchor="t">
            <a:spAutoFit/>
          </a:bodyPr>
          <a:lstStyle/>
          <a:p>
            <a:pPr algn="ctr"/>
            <a:r>
              <a:rPr sz="850" b="0" spc="100">
                <a:solidFill>
                  <a:srgbClr val="8FA6B2"/>
                </a:solidFill>
                <a:latin typeface="JetBrains Mono"/>
              </a:rPr>
              <a:t>2018</a:t>
            </a:r>
          </a:p>
        </p:txBody>
      </p:sp>
      <p:sp>
        <p:nvSpPr>
          <p:cNvPr id="43" name="Rounded Rectangle 42"/>
          <p:cNvSpPr/>
          <p:nvPr/>
        </p:nvSpPr>
        <p:spPr>
          <a:xfrm>
            <a:off x="6652260" y="3840480"/>
            <a:ext cx="1600200" cy="548640"/>
          </a:xfrm>
          <a:prstGeom prst="roundRect">
            <a:avLst>
              <a:gd name="adj" fmla="val 18000"/>
            </a:avLst>
          </a:prstGeom>
          <a:solidFill>
            <a:srgbClr val="0D1B2A"/>
          </a:solidFill>
          <a:ln w="9525">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652260" y="3904488"/>
            <a:ext cx="1600200" cy="274320"/>
          </a:xfrm>
          <a:prstGeom prst="rect">
            <a:avLst/>
          </a:prstGeom>
          <a:noFill/>
        </p:spPr>
        <p:txBody>
          <a:bodyPr wrap="square" lIns="0" tIns="0" rIns="0" bIns="0" anchor="t">
            <a:spAutoFit/>
          </a:bodyPr>
          <a:lstStyle/>
          <a:p>
            <a:pPr algn="ctr"/>
            <a:r>
              <a:rPr sz="1300" b="0">
                <a:solidFill>
                  <a:srgbClr val="8FA6B2"/>
                </a:solidFill>
                <a:latin typeface="Oswald"/>
              </a:rPr>
              <a:t>Agentic AI</a:t>
            </a:r>
          </a:p>
        </p:txBody>
      </p:sp>
      <p:sp>
        <p:nvSpPr>
          <p:cNvPr id="45" name="TextBox 44"/>
          <p:cNvSpPr txBox="1"/>
          <p:nvPr/>
        </p:nvSpPr>
        <p:spPr>
          <a:xfrm>
            <a:off x="6652260" y="4169664"/>
            <a:ext cx="1600200" cy="182880"/>
          </a:xfrm>
          <a:prstGeom prst="rect">
            <a:avLst/>
          </a:prstGeom>
          <a:noFill/>
        </p:spPr>
        <p:txBody>
          <a:bodyPr wrap="square" lIns="0" tIns="0" rIns="0" bIns="0" anchor="t">
            <a:spAutoFit/>
          </a:bodyPr>
          <a:lstStyle/>
          <a:p>
            <a:pPr algn="ctr"/>
            <a:r>
              <a:rPr sz="850" b="0" spc="100">
                <a:solidFill>
                  <a:srgbClr val="8FA6B2"/>
                </a:solidFill>
                <a:latin typeface="JetBrains Mono"/>
              </a:rPr>
              <a:t>2024</a:t>
            </a:r>
          </a:p>
        </p:txBody>
      </p:sp>
      <p:sp>
        <p:nvSpPr>
          <p:cNvPr id="46" name="TextBox 45"/>
          <p:cNvSpPr txBox="1"/>
          <p:nvPr/>
        </p:nvSpPr>
        <p:spPr>
          <a:xfrm>
            <a:off x="731520" y="960120"/>
            <a:ext cx="3657600" cy="274320"/>
          </a:xfrm>
          <a:prstGeom prst="rect">
            <a:avLst/>
          </a:prstGeom>
          <a:noFill/>
        </p:spPr>
        <p:txBody>
          <a:bodyPr wrap="square" lIns="0" tIns="0" rIns="0" bIns="0" anchor="t">
            <a:spAutoFit/>
          </a:bodyPr>
          <a:lstStyle/>
          <a:p>
            <a:pPr algn="l"/>
            <a:r>
              <a:rPr sz="1100" b="0" spc="300">
                <a:solidFill>
                  <a:srgbClr val="06D6A0"/>
                </a:solidFill>
                <a:latin typeface="JetBrains Mono"/>
              </a:rPr>
              <a:t>PART 1 OF 5 · SINCE THE 1950S</a:t>
            </a:r>
          </a:p>
        </p:txBody>
      </p:sp>
      <p:sp>
        <p:nvSpPr>
          <p:cNvPr id="47" name="section-rulebased"/>
          <p:cNvSpPr txBox="1"/>
          <p:nvPr/>
        </p:nvSpPr>
        <p:spPr>
          <a:xfrm>
            <a:off x="731520" y="1234440"/>
            <a:ext cx="3657600" cy="740664"/>
          </a:xfrm>
          <a:prstGeom prst="rect">
            <a:avLst/>
          </a:prstGeom>
          <a:noFill/>
        </p:spPr>
        <p:txBody>
          <a:bodyPr wrap="square" lIns="0" tIns="0" rIns="0" bIns="0" anchor="t">
            <a:spAutoFit/>
          </a:bodyPr>
          <a:lstStyle/>
          <a:p>
            <a:pPr algn="l"/>
            <a:r>
              <a:rPr sz="4800" b="0">
                <a:solidFill>
                  <a:srgbClr val="FFFFFF"/>
                </a:solidFill>
                <a:latin typeface="Oswald"/>
              </a:rPr>
              <a:t>Rule-based AI</a:t>
            </a:r>
          </a:p>
        </p:txBody>
      </p:sp>
      <p:sp>
        <p:nvSpPr>
          <p:cNvPr id="48" name="TextBox 47"/>
          <p:cNvSpPr txBox="1"/>
          <p:nvPr/>
        </p:nvSpPr>
        <p:spPr>
          <a:xfrm>
            <a:off x="731520" y="2834640"/>
            <a:ext cx="3566160" cy="502920"/>
          </a:xfrm>
          <a:prstGeom prst="rect">
            <a:avLst/>
          </a:prstGeom>
          <a:noFill/>
        </p:spPr>
        <p:txBody>
          <a:bodyPr wrap="square" lIns="0" tIns="0" rIns="0" bIns="0" anchor="t">
            <a:spAutoFit/>
          </a:bodyPr>
          <a:lstStyle/>
          <a:p>
            <a:pPr algn="l"/>
            <a:r>
              <a:rPr sz="1400" b="0">
                <a:solidFill>
                  <a:srgbClr val="AFC2CE"/>
                </a:solidFill>
                <a:latin typeface="Roboto"/>
              </a:rPr>
              <a:t>People write down their knowledge as rules, and the computer follows them.</a:t>
            </a:r>
          </a:p>
        </p:txBody>
      </p:sp>
      <p:sp>
        <p:nvSpPr>
          <p:cNvPr id="49" name="Rectangle 48"/>
          <p:cNvSpPr/>
          <p:nvPr/>
        </p:nvSpPr>
        <p:spPr>
          <a:xfrm>
            <a:off x="731520" y="3520440"/>
            <a:ext cx="822960" cy="41148"/>
          </a:xfrm>
          <a:prstGeom prst="rect">
            <a:avLst/>
          </a:prstGeom>
          <a:solidFill>
            <a:srgbClr val="06D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731520" y="3675887"/>
            <a:ext cx="2743200" cy="228600"/>
          </a:xfrm>
          <a:prstGeom prst="rect">
            <a:avLst/>
          </a:prstGeom>
          <a:noFill/>
        </p:spPr>
        <p:txBody>
          <a:bodyPr wrap="square" lIns="0" tIns="0" rIns="0" bIns="0" anchor="t">
            <a:spAutoFit/>
          </a:bodyPr>
          <a:lstStyle/>
          <a:p>
            <a:pPr algn="l"/>
            <a:r>
              <a:rPr sz="900" b="0" spc="100">
                <a:solidFill>
                  <a:srgbClr val="8FA6B2"/>
                </a:solidFill>
                <a:latin typeface="JetBrains Mono"/>
              </a:rPr>
              <a:t>IN THIS PART</a:t>
            </a:r>
          </a:p>
        </p:txBody>
      </p:sp>
      <p:sp>
        <p:nvSpPr>
          <p:cNvPr id="51" name="TextBox 50"/>
          <p:cNvSpPr txBox="1"/>
          <p:nvPr/>
        </p:nvSpPr>
        <p:spPr>
          <a:xfrm>
            <a:off x="731520" y="3904487"/>
            <a:ext cx="3566160" cy="640080"/>
          </a:xfrm>
          <a:prstGeom prst="rect">
            <a:avLst/>
          </a:prstGeom>
          <a:noFill/>
        </p:spPr>
        <p:txBody>
          <a:bodyPr wrap="square" lIns="0" tIns="0" rIns="0" bIns="0" anchor="t">
            <a:spAutoFit/>
          </a:bodyPr>
          <a:lstStyle/>
          <a:p>
            <a:pPr algn="l"/>
            <a:r>
              <a:rPr sz="1100" b="0">
                <a:solidFill>
                  <a:srgbClr val="AFC2CE"/>
                </a:solidFill>
                <a:latin typeface="Roboto"/>
              </a:rPr>
              <a:t>Early AI: humans write the rules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514350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329184"/>
            <a:ext cx="8138160" cy="274320"/>
          </a:xfrm>
          <a:prstGeom prst="rect">
            <a:avLst/>
          </a:prstGeom>
          <a:noFill/>
        </p:spPr>
        <p:txBody>
          <a:bodyPr wrap="square" lIns="0" tIns="0" rIns="0" bIns="0" anchor="t">
            <a:spAutoFit/>
          </a:bodyPr>
          <a:lstStyle/>
          <a:p>
            <a:pPr algn="l"/>
            <a:r>
              <a:rPr sz="1100" b="0" spc="300">
                <a:solidFill>
                  <a:srgbClr val="1B9AAA"/>
                </a:solidFill>
                <a:latin typeface="JetBrains Mono"/>
              </a:rPr>
              <a:t>FOUNDATIONS · STREAM 1 · 1950S–1980S</a:t>
            </a:r>
          </a:p>
        </p:txBody>
      </p:sp>
      <p:sp>
        <p:nvSpPr>
          <p:cNvPr id="4" name="slide-explicit-programming"/>
          <p:cNvSpPr txBox="1"/>
          <p:nvPr/>
        </p:nvSpPr>
        <p:spPr>
          <a:xfrm>
            <a:off x="566928" y="603504"/>
            <a:ext cx="8138160" cy="658368"/>
          </a:xfrm>
          <a:prstGeom prst="rect">
            <a:avLst/>
          </a:prstGeom>
          <a:noFill/>
        </p:spPr>
        <p:txBody>
          <a:bodyPr wrap="square" lIns="0" tIns="0" rIns="0" bIns="0" anchor="t">
            <a:spAutoFit/>
          </a:bodyPr>
          <a:lstStyle/>
          <a:p>
            <a:pPr algn="l"/>
            <a:r>
              <a:rPr sz="3200" b="0">
                <a:solidFill>
                  <a:srgbClr val="0D1B2A"/>
                </a:solidFill>
                <a:latin typeface="Oswald"/>
              </a:rPr>
              <a:t>Early AI: humans write the rules</a:t>
            </a:r>
          </a:p>
        </p:txBody>
      </p:sp>
      <p:sp>
        <p:nvSpPr>
          <p:cNvPr id="5" name="TextBox 4"/>
          <p:cNvSpPr txBox="1"/>
          <p:nvPr/>
        </p:nvSpPr>
        <p:spPr>
          <a:xfrm>
            <a:off x="566928" y="1298448"/>
            <a:ext cx="8138160" cy="457200"/>
          </a:xfrm>
          <a:prstGeom prst="rect">
            <a:avLst/>
          </a:prstGeom>
          <a:noFill/>
        </p:spPr>
        <p:txBody>
          <a:bodyPr wrap="square" lIns="0" tIns="0" rIns="0" bIns="0" anchor="t">
            <a:spAutoFit/>
          </a:bodyPr>
          <a:lstStyle/>
          <a:p>
            <a:pPr algn="l"/>
            <a:r>
              <a:rPr sz="1400" b="0">
                <a:solidFill>
                  <a:srgbClr val="14293D"/>
                </a:solidFill>
                <a:latin typeface="Roboto"/>
              </a:rPr>
              <a:t>Rule-based AI (also called symbolic AI) captures knowledge in hand-written IF–THEN rules.</a:t>
            </a:r>
          </a:p>
        </p:txBody>
      </p:sp>
      <p:sp>
        <p:nvSpPr>
          <p:cNvPr id="6" name="Rectangle 5"/>
          <p:cNvSpPr/>
          <p:nvPr/>
        </p:nvSpPr>
        <p:spPr>
          <a:xfrm>
            <a:off x="566928" y="1783080"/>
            <a:ext cx="5029200" cy="2743200"/>
          </a:xfrm>
          <a:prstGeom prst="rect">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7" name="Rectangle 6"/>
          <p:cNvSpPr/>
          <p:nvPr/>
        </p:nvSpPr>
        <p:spPr>
          <a:xfrm>
            <a:off x="566928" y="1783080"/>
            <a:ext cx="54864" cy="274320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1901952"/>
            <a:ext cx="3657600" cy="228600"/>
          </a:xfrm>
          <a:prstGeom prst="rect">
            <a:avLst/>
          </a:prstGeom>
          <a:noFill/>
        </p:spPr>
        <p:txBody>
          <a:bodyPr wrap="square" lIns="0" tIns="0" rIns="0" bIns="0" anchor="t">
            <a:spAutoFit/>
          </a:bodyPr>
          <a:lstStyle/>
          <a:p>
            <a:pPr algn="l"/>
            <a:r>
              <a:rPr sz="950" b="0" spc="100">
                <a:solidFill>
                  <a:srgbClr val="1B9AAA"/>
                </a:solidFill>
                <a:latin typeface="JetBrains Mono"/>
              </a:rPr>
              <a:t>EXAMPLE · IS THIS EMAIL SPAM?</a:t>
            </a:r>
          </a:p>
        </p:txBody>
      </p:sp>
      <p:sp>
        <p:nvSpPr>
          <p:cNvPr id="9" name="Rounded Rectangle 8"/>
          <p:cNvSpPr/>
          <p:nvPr/>
        </p:nvSpPr>
        <p:spPr>
          <a:xfrm>
            <a:off x="777240" y="2514599"/>
            <a:ext cx="2359151" cy="1481328"/>
          </a:xfrm>
          <a:prstGeom prst="roundRect">
            <a:avLst>
              <a:gd name="adj" fmla="val 18000"/>
            </a:avLst>
          </a:prstGeom>
          <a:solidFill>
            <a:srgbClr val="F4F7F8"/>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4400" y="2549946"/>
            <a:ext cx="932681" cy="215444"/>
          </a:xfrm>
          <a:prstGeom prst="rect">
            <a:avLst/>
          </a:prstGeom>
          <a:noFill/>
        </p:spPr>
        <p:txBody>
          <a:bodyPr wrap="square" lIns="0" tIns="0" rIns="0" bIns="0" anchor="t">
            <a:spAutoFit/>
          </a:bodyPr>
          <a:lstStyle/>
          <a:p>
            <a:pPr algn="l"/>
            <a:r>
              <a:rPr sz="700" b="0" spc="100" dirty="0">
                <a:solidFill>
                  <a:srgbClr val="1B9AAA"/>
                </a:solidFill>
                <a:latin typeface="JetBrains Mono"/>
              </a:rPr>
              <a:t>RULES</a:t>
            </a:r>
            <a:r>
              <a:rPr lang="de-DE" sz="700" b="0" spc="100" dirty="0">
                <a:solidFill>
                  <a:srgbClr val="1B9AAA"/>
                </a:solidFill>
                <a:latin typeface="JetBrains Mono"/>
              </a:rPr>
              <a:t> </a:t>
            </a:r>
            <a:r>
              <a:rPr sz="700" b="0" spc="100" dirty="0">
                <a:solidFill>
                  <a:srgbClr val="1B9AAA"/>
                </a:solidFill>
                <a:latin typeface="JetBrains Mono"/>
              </a:rPr>
              <a:t>WRITTEN BY HAND</a:t>
            </a:r>
          </a:p>
        </p:txBody>
      </p:sp>
      <p:sp>
        <p:nvSpPr>
          <p:cNvPr id="11" name="Rounded Rectangle 10"/>
          <p:cNvSpPr/>
          <p:nvPr/>
        </p:nvSpPr>
        <p:spPr>
          <a:xfrm>
            <a:off x="914400" y="2084832"/>
            <a:ext cx="1920240" cy="347472"/>
          </a:xfrm>
          <a:prstGeom prst="roundRect">
            <a:avLst>
              <a:gd name="adj" fmla="val 18000"/>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FFFFFF"/>
                </a:solidFill>
                <a:latin typeface="JetBrains Mono"/>
              </a:rPr>
              <a:t>New email</a:t>
            </a:r>
          </a:p>
        </p:txBody>
      </p:sp>
      <p:cxnSp>
        <p:nvCxnSpPr>
          <p:cNvPr id="12" name="Connector 11"/>
          <p:cNvCxnSpPr>
            <a:cxnSpLocks/>
            <a:endCxn id="13" idx="0"/>
          </p:cNvCxnSpPr>
          <p:nvPr/>
        </p:nvCxnSpPr>
        <p:spPr>
          <a:xfrm>
            <a:off x="1874520" y="2432304"/>
            <a:ext cx="0" cy="358041"/>
          </a:xfrm>
          <a:prstGeom prst="line">
            <a:avLst/>
          </a:prstGeom>
          <a:ln w="19050">
            <a:solidFill>
              <a:srgbClr val="1B9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914400" y="2790345"/>
            <a:ext cx="1920240" cy="347472"/>
          </a:xfrm>
          <a:prstGeom prst="roundRect">
            <a:avLst>
              <a:gd name="adj" fmla="val 18000"/>
            </a:avLst>
          </a:prstGeom>
          <a:solidFill>
            <a:srgbClr val="FFFFFF"/>
          </a:solidFill>
          <a:ln w="15875">
            <a:solidFill>
              <a:srgbClr val="1B9AAA"/>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b="1" dirty="0">
                <a:solidFill>
                  <a:srgbClr val="1B9AAA"/>
                </a:solidFill>
                <a:latin typeface="JetBrains Mono"/>
              </a:rPr>
              <a:t>IF </a:t>
            </a:r>
            <a:r>
              <a:rPr sz="900" b="1" dirty="0">
                <a:solidFill>
                  <a:srgbClr val="1B9AAA"/>
                </a:solidFill>
                <a:latin typeface="JetBrains Mono"/>
              </a:rPr>
              <a:t> </a:t>
            </a:r>
            <a:r>
              <a:rPr sz="1000" b="0" dirty="0">
                <a:solidFill>
                  <a:srgbClr val="0D1B2A"/>
                </a:solidFill>
                <a:latin typeface="Roboto"/>
              </a:rPr>
              <a:t>it says “free money”</a:t>
            </a:r>
            <a:endParaRPr sz="1050" b="0" dirty="0">
              <a:solidFill>
                <a:srgbClr val="0D1B2A"/>
              </a:solidFill>
              <a:latin typeface="Roboto"/>
            </a:endParaRPr>
          </a:p>
        </p:txBody>
      </p:sp>
      <p:sp>
        <p:nvSpPr>
          <p:cNvPr id="14" name="Rounded Rectangle 13"/>
          <p:cNvSpPr/>
          <p:nvPr/>
        </p:nvSpPr>
        <p:spPr>
          <a:xfrm>
            <a:off x="914400" y="3419856"/>
            <a:ext cx="1920240" cy="347472"/>
          </a:xfrm>
          <a:prstGeom prst="roundRect">
            <a:avLst>
              <a:gd name="adj" fmla="val 18000"/>
            </a:avLst>
          </a:prstGeom>
          <a:solidFill>
            <a:srgbClr val="FFFFFF"/>
          </a:solidFill>
          <a:ln w="15875">
            <a:solidFill>
              <a:srgbClr val="1B9AAA"/>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b="1" dirty="0">
                <a:solidFill>
                  <a:srgbClr val="1B9AAA"/>
                </a:solidFill>
                <a:latin typeface="JetBrains Mono"/>
              </a:rPr>
              <a:t>ELSE IF  </a:t>
            </a:r>
            <a:r>
              <a:rPr sz="1000" b="0" dirty="0">
                <a:solidFill>
                  <a:srgbClr val="0D1B2A"/>
                </a:solidFill>
                <a:latin typeface="Roboto"/>
              </a:rPr>
              <a:t>unknown sender + link</a:t>
            </a:r>
            <a:endParaRPr sz="1050" b="0" dirty="0">
              <a:solidFill>
                <a:srgbClr val="0D1B2A"/>
              </a:solidFill>
              <a:latin typeface="Roboto"/>
            </a:endParaRPr>
          </a:p>
        </p:txBody>
      </p:sp>
      <p:cxnSp>
        <p:nvCxnSpPr>
          <p:cNvPr id="15" name="Connector 14"/>
          <p:cNvCxnSpPr>
            <a:cxnSpLocks/>
            <a:stCxn id="13" idx="3"/>
            <a:endCxn id="17" idx="1"/>
          </p:cNvCxnSpPr>
          <p:nvPr/>
        </p:nvCxnSpPr>
        <p:spPr>
          <a:xfrm>
            <a:off x="2834640" y="2964081"/>
            <a:ext cx="571500" cy="5621"/>
          </a:xfrm>
          <a:prstGeom prst="line">
            <a:avLst/>
          </a:prstGeom>
          <a:ln w="19050">
            <a:solidFill>
              <a:srgbClr val="1B9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907791" y="2786571"/>
            <a:ext cx="365760" cy="182880"/>
          </a:xfrm>
          <a:prstGeom prst="rect">
            <a:avLst/>
          </a:prstGeom>
          <a:noFill/>
        </p:spPr>
        <p:txBody>
          <a:bodyPr wrap="square" lIns="0" tIns="0" rIns="0" bIns="0" anchor="t">
            <a:spAutoFit/>
          </a:bodyPr>
          <a:lstStyle/>
          <a:p>
            <a:pPr algn="l"/>
            <a:r>
              <a:rPr sz="900" b="0" dirty="0">
                <a:solidFill>
                  <a:srgbClr val="1B9AAA"/>
                </a:solidFill>
                <a:latin typeface="JetBrains Mono"/>
              </a:rPr>
              <a:t>yes</a:t>
            </a:r>
          </a:p>
        </p:txBody>
      </p:sp>
      <p:sp>
        <p:nvSpPr>
          <p:cNvPr id="17" name="Rounded Rectangle 16"/>
          <p:cNvSpPr/>
          <p:nvPr/>
        </p:nvSpPr>
        <p:spPr>
          <a:xfrm>
            <a:off x="3406140" y="2795966"/>
            <a:ext cx="1920240" cy="347472"/>
          </a:xfrm>
          <a:prstGeom prst="roundRect">
            <a:avLst>
              <a:gd name="adj" fmla="val 18000"/>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06D6A0"/>
                </a:solidFill>
                <a:latin typeface="JetBrains Mono"/>
              </a:rPr>
              <a:t>SPAM</a:t>
            </a:r>
          </a:p>
        </p:txBody>
      </p:sp>
      <p:cxnSp>
        <p:nvCxnSpPr>
          <p:cNvPr id="18" name="Connector 17"/>
          <p:cNvCxnSpPr>
            <a:cxnSpLocks/>
            <a:stCxn id="14" idx="3"/>
            <a:endCxn id="20" idx="1"/>
          </p:cNvCxnSpPr>
          <p:nvPr/>
        </p:nvCxnSpPr>
        <p:spPr>
          <a:xfrm>
            <a:off x="2834640" y="3593592"/>
            <a:ext cx="571500" cy="0"/>
          </a:xfrm>
          <a:prstGeom prst="line">
            <a:avLst/>
          </a:prstGeom>
          <a:ln w="19050">
            <a:solidFill>
              <a:srgbClr val="1B9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2907791" y="3396996"/>
            <a:ext cx="365760" cy="182880"/>
          </a:xfrm>
          <a:prstGeom prst="rect">
            <a:avLst/>
          </a:prstGeom>
          <a:noFill/>
        </p:spPr>
        <p:txBody>
          <a:bodyPr wrap="square" lIns="0" tIns="0" rIns="0" bIns="0" anchor="t">
            <a:spAutoFit/>
          </a:bodyPr>
          <a:lstStyle/>
          <a:p>
            <a:pPr algn="l"/>
            <a:r>
              <a:rPr sz="900" b="0" dirty="0">
                <a:solidFill>
                  <a:srgbClr val="1B9AAA"/>
                </a:solidFill>
                <a:latin typeface="JetBrains Mono"/>
              </a:rPr>
              <a:t>yes</a:t>
            </a:r>
          </a:p>
        </p:txBody>
      </p:sp>
      <p:sp>
        <p:nvSpPr>
          <p:cNvPr id="20" name="Rounded Rectangle 19"/>
          <p:cNvSpPr/>
          <p:nvPr/>
        </p:nvSpPr>
        <p:spPr>
          <a:xfrm>
            <a:off x="3406140" y="3419856"/>
            <a:ext cx="1920240" cy="347472"/>
          </a:xfrm>
          <a:prstGeom prst="roundRect">
            <a:avLst>
              <a:gd name="adj" fmla="val 18000"/>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06D6A0"/>
                </a:solidFill>
                <a:latin typeface="JetBrains Mono"/>
              </a:rPr>
              <a:t>SPAM</a:t>
            </a:r>
          </a:p>
        </p:txBody>
      </p:sp>
      <p:cxnSp>
        <p:nvCxnSpPr>
          <p:cNvPr id="21" name="Connector 20"/>
          <p:cNvCxnSpPr>
            <a:cxnSpLocks/>
            <a:stCxn id="13" idx="2"/>
            <a:endCxn id="14" idx="0"/>
          </p:cNvCxnSpPr>
          <p:nvPr/>
        </p:nvCxnSpPr>
        <p:spPr>
          <a:xfrm>
            <a:off x="1874520" y="3137817"/>
            <a:ext cx="0" cy="282039"/>
          </a:xfrm>
          <a:prstGeom prst="line">
            <a:avLst/>
          </a:prstGeom>
          <a:ln w="19050">
            <a:solidFill>
              <a:srgbClr val="1B9AA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nector 21"/>
          <p:cNvCxnSpPr>
            <a:cxnSpLocks/>
          </p:cNvCxnSpPr>
          <p:nvPr/>
        </p:nvCxnSpPr>
        <p:spPr>
          <a:xfrm>
            <a:off x="1874520" y="3767328"/>
            <a:ext cx="0" cy="365759"/>
          </a:xfrm>
          <a:prstGeom prst="line">
            <a:avLst/>
          </a:prstGeom>
          <a:ln w="19050">
            <a:solidFill>
              <a:srgbClr val="1B9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933957" y="3187396"/>
            <a:ext cx="365760" cy="182880"/>
          </a:xfrm>
          <a:prstGeom prst="rect">
            <a:avLst/>
          </a:prstGeom>
          <a:noFill/>
        </p:spPr>
        <p:txBody>
          <a:bodyPr wrap="square" lIns="0" tIns="0" rIns="0" bIns="0" anchor="t">
            <a:spAutoFit/>
          </a:bodyPr>
          <a:lstStyle/>
          <a:p>
            <a:pPr algn="l"/>
            <a:r>
              <a:rPr sz="900" b="0" dirty="0">
                <a:solidFill>
                  <a:srgbClr val="1B9AAA"/>
                </a:solidFill>
                <a:latin typeface="JetBrains Mono"/>
              </a:rPr>
              <a:t>no</a:t>
            </a:r>
          </a:p>
        </p:txBody>
      </p:sp>
      <p:sp>
        <p:nvSpPr>
          <p:cNvPr id="24" name="TextBox 23"/>
          <p:cNvSpPr txBox="1"/>
          <p:nvPr/>
        </p:nvSpPr>
        <p:spPr>
          <a:xfrm>
            <a:off x="1933957" y="3783139"/>
            <a:ext cx="365760" cy="182880"/>
          </a:xfrm>
          <a:prstGeom prst="rect">
            <a:avLst/>
          </a:prstGeom>
          <a:noFill/>
        </p:spPr>
        <p:txBody>
          <a:bodyPr wrap="square" lIns="0" tIns="0" rIns="0" bIns="0" anchor="t">
            <a:spAutoFit/>
          </a:bodyPr>
          <a:lstStyle/>
          <a:p>
            <a:pPr algn="l"/>
            <a:r>
              <a:rPr sz="900" b="0" dirty="0">
                <a:solidFill>
                  <a:srgbClr val="1B9AAA"/>
                </a:solidFill>
                <a:latin typeface="JetBrains Mono"/>
              </a:rPr>
              <a:t>no</a:t>
            </a:r>
          </a:p>
        </p:txBody>
      </p:sp>
      <p:sp>
        <p:nvSpPr>
          <p:cNvPr id="25" name="Rounded Rectangle 24"/>
          <p:cNvSpPr/>
          <p:nvPr/>
        </p:nvSpPr>
        <p:spPr>
          <a:xfrm>
            <a:off x="914399" y="4133087"/>
            <a:ext cx="1920240" cy="347472"/>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0D1B2A"/>
                </a:solidFill>
                <a:latin typeface="JetBrains Mono"/>
              </a:rPr>
              <a:t>NOT SPAM</a:t>
            </a:r>
          </a:p>
        </p:txBody>
      </p:sp>
      <p:sp>
        <p:nvSpPr>
          <p:cNvPr id="26" name="Rectangle 25"/>
          <p:cNvSpPr/>
          <p:nvPr/>
        </p:nvSpPr>
        <p:spPr>
          <a:xfrm>
            <a:off x="5760720" y="1783080"/>
            <a:ext cx="2944368" cy="1298448"/>
          </a:xfrm>
          <a:prstGeom prst="rect">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760720" y="1783080"/>
            <a:ext cx="54864" cy="1298448"/>
          </a:xfrm>
          <a:prstGeom prst="rect">
            <a:avLst/>
          </a:prstGeom>
          <a:solidFill>
            <a:srgbClr val="06D6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971032" y="1901952"/>
            <a:ext cx="3657600" cy="228600"/>
          </a:xfrm>
          <a:prstGeom prst="rect">
            <a:avLst/>
          </a:prstGeom>
          <a:noFill/>
        </p:spPr>
        <p:txBody>
          <a:bodyPr wrap="square" lIns="0" tIns="0" rIns="0" bIns="0" anchor="t">
            <a:spAutoFit/>
          </a:bodyPr>
          <a:lstStyle/>
          <a:p>
            <a:pPr algn="l"/>
            <a:r>
              <a:rPr sz="950" b="0" spc="100">
                <a:solidFill>
                  <a:srgbClr val="1B9AAA"/>
                </a:solidFill>
                <a:latin typeface="JetBrains Mono"/>
              </a:rPr>
              <a:t>WHERE IT BREAKS</a:t>
            </a:r>
          </a:p>
        </p:txBody>
      </p:sp>
      <p:sp>
        <p:nvSpPr>
          <p:cNvPr id="29" name="Rounded Rectangle 28"/>
          <p:cNvSpPr/>
          <p:nvPr/>
        </p:nvSpPr>
        <p:spPr>
          <a:xfrm>
            <a:off x="5971032" y="2157984"/>
            <a:ext cx="1965960" cy="292608"/>
          </a:xfrm>
          <a:prstGeom prst="roundRect">
            <a:avLst>
              <a:gd name="adj" fmla="val 18000"/>
            </a:avLst>
          </a:prstGeom>
          <a:solidFill>
            <a:srgbClr val="F4F7F8"/>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50">
                <a:solidFill>
                  <a:srgbClr val="0D1B2A"/>
                </a:solidFill>
                <a:latin typeface="Roboto"/>
              </a:rPr>
              <a:t>“Claim your prize today!”</a:t>
            </a:r>
          </a:p>
        </p:txBody>
      </p:sp>
      <p:sp>
        <p:nvSpPr>
          <p:cNvPr id="30" name="TextBox 29"/>
          <p:cNvSpPr txBox="1"/>
          <p:nvPr/>
        </p:nvSpPr>
        <p:spPr>
          <a:xfrm>
            <a:off x="8001000" y="2157984"/>
            <a:ext cx="228600" cy="292608"/>
          </a:xfrm>
          <a:prstGeom prst="rect">
            <a:avLst/>
          </a:prstGeom>
          <a:noFill/>
        </p:spPr>
        <p:txBody>
          <a:bodyPr wrap="square" lIns="0" tIns="0" rIns="0" bIns="0" anchor="ctr">
            <a:spAutoFit/>
          </a:bodyPr>
          <a:lstStyle/>
          <a:p>
            <a:pPr algn="l"/>
            <a:r>
              <a:rPr sz="1300" b="0">
                <a:solidFill>
                  <a:srgbClr val="6B7B8C"/>
                </a:solidFill>
                <a:latin typeface="Roboto"/>
              </a:rPr>
              <a:t>✗</a:t>
            </a:r>
          </a:p>
        </p:txBody>
      </p:sp>
      <p:sp>
        <p:nvSpPr>
          <p:cNvPr id="31" name="TextBox 30"/>
          <p:cNvSpPr txBox="1"/>
          <p:nvPr/>
        </p:nvSpPr>
        <p:spPr>
          <a:xfrm>
            <a:off x="5971032" y="2542032"/>
            <a:ext cx="2578608" cy="457200"/>
          </a:xfrm>
          <a:prstGeom prst="rect">
            <a:avLst/>
          </a:prstGeom>
          <a:noFill/>
        </p:spPr>
        <p:txBody>
          <a:bodyPr wrap="square" lIns="0" tIns="0" rIns="0" bIns="0" anchor="t">
            <a:spAutoFit/>
          </a:bodyPr>
          <a:lstStyle/>
          <a:p>
            <a:pPr algn="l"/>
            <a:r>
              <a:rPr sz="1000" b="0">
                <a:solidFill>
                  <a:srgbClr val="14293D"/>
                </a:solidFill>
                <a:latin typeface="Roboto"/>
              </a:rPr>
              <a:t>No rule matches, so it lands in the inbox. Every new trick needs a new rule.</a:t>
            </a:r>
          </a:p>
        </p:txBody>
      </p:sp>
      <p:sp>
        <p:nvSpPr>
          <p:cNvPr id="32" name="Rectangle 31"/>
          <p:cNvSpPr/>
          <p:nvPr/>
        </p:nvSpPr>
        <p:spPr>
          <a:xfrm>
            <a:off x="5760720" y="3227832"/>
            <a:ext cx="2944368" cy="1298448"/>
          </a:xfrm>
          <a:prstGeom prst="rect">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5760720" y="3227832"/>
            <a:ext cx="54864" cy="1298448"/>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971032" y="3346704"/>
            <a:ext cx="3657600" cy="228600"/>
          </a:xfrm>
          <a:prstGeom prst="rect">
            <a:avLst/>
          </a:prstGeom>
          <a:noFill/>
        </p:spPr>
        <p:txBody>
          <a:bodyPr wrap="square" lIns="0" tIns="0" rIns="0" bIns="0" anchor="t">
            <a:spAutoFit/>
          </a:bodyPr>
          <a:lstStyle/>
          <a:p>
            <a:pPr algn="l"/>
            <a:r>
              <a:rPr sz="950" b="0" spc="100">
                <a:solidFill>
                  <a:srgbClr val="1B9AAA"/>
                </a:solidFill>
                <a:latin typeface="JetBrains Mono"/>
              </a:rPr>
              <a:t>FAMOUS EXAMPLES</a:t>
            </a:r>
          </a:p>
        </p:txBody>
      </p:sp>
      <p:sp>
        <p:nvSpPr>
          <p:cNvPr id="35" name="TextBox 34"/>
          <p:cNvSpPr txBox="1"/>
          <p:nvPr/>
        </p:nvSpPr>
        <p:spPr>
          <a:xfrm>
            <a:off x="5971032" y="3602736"/>
            <a:ext cx="731520" cy="274320"/>
          </a:xfrm>
          <a:prstGeom prst="rect">
            <a:avLst/>
          </a:prstGeom>
          <a:noFill/>
        </p:spPr>
        <p:txBody>
          <a:bodyPr wrap="square" lIns="0" tIns="0" rIns="0" bIns="0" anchor="t">
            <a:spAutoFit/>
          </a:bodyPr>
          <a:lstStyle/>
          <a:p>
            <a:pPr algn="l"/>
            <a:r>
              <a:rPr sz="900" b="0">
                <a:solidFill>
                  <a:srgbClr val="1B9AAA"/>
                </a:solidFill>
                <a:latin typeface="JetBrains Mono"/>
              </a:rPr>
              <a:t>1956</a:t>
            </a:r>
          </a:p>
        </p:txBody>
      </p:sp>
      <p:sp>
        <p:nvSpPr>
          <p:cNvPr id="36" name="TextBox 35"/>
          <p:cNvSpPr txBox="1"/>
          <p:nvPr/>
        </p:nvSpPr>
        <p:spPr>
          <a:xfrm>
            <a:off x="6675120" y="3584448"/>
            <a:ext cx="1938527" cy="274320"/>
          </a:xfrm>
          <a:prstGeom prst="rect">
            <a:avLst/>
          </a:prstGeom>
          <a:noFill/>
        </p:spPr>
        <p:txBody>
          <a:bodyPr wrap="square" lIns="0" tIns="0" rIns="0" bIns="0" anchor="t">
            <a:spAutoFit/>
          </a:bodyPr>
          <a:lstStyle/>
          <a:p>
            <a:pPr algn="l"/>
            <a:r>
              <a:rPr sz="1000" b="0">
                <a:solidFill>
                  <a:srgbClr val="14293D"/>
                </a:solidFill>
                <a:latin typeface="Roboto"/>
              </a:rPr>
              <a:t>Logic Theorist proves theorems</a:t>
            </a:r>
          </a:p>
        </p:txBody>
      </p:sp>
      <p:sp>
        <p:nvSpPr>
          <p:cNvPr id="37" name="TextBox 36"/>
          <p:cNvSpPr txBox="1"/>
          <p:nvPr/>
        </p:nvSpPr>
        <p:spPr>
          <a:xfrm>
            <a:off x="5971032" y="3895344"/>
            <a:ext cx="731520" cy="274320"/>
          </a:xfrm>
          <a:prstGeom prst="rect">
            <a:avLst/>
          </a:prstGeom>
          <a:noFill/>
        </p:spPr>
        <p:txBody>
          <a:bodyPr wrap="square" lIns="0" tIns="0" rIns="0" bIns="0" anchor="t">
            <a:spAutoFit/>
          </a:bodyPr>
          <a:lstStyle/>
          <a:p>
            <a:pPr algn="l"/>
            <a:r>
              <a:rPr sz="900" b="0">
                <a:solidFill>
                  <a:srgbClr val="1B9AAA"/>
                </a:solidFill>
                <a:latin typeface="JetBrains Mono"/>
              </a:rPr>
              <a:t>1966</a:t>
            </a:r>
          </a:p>
        </p:txBody>
      </p:sp>
      <p:sp>
        <p:nvSpPr>
          <p:cNvPr id="38" name="TextBox 37"/>
          <p:cNvSpPr txBox="1"/>
          <p:nvPr/>
        </p:nvSpPr>
        <p:spPr>
          <a:xfrm>
            <a:off x="6675120" y="3877056"/>
            <a:ext cx="1938527" cy="274320"/>
          </a:xfrm>
          <a:prstGeom prst="rect">
            <a:avLst/>
          </a:prstGeom>
          <a:noFill/>
        </p:spPr>
        <p:txBody>
          <a:bodyPr wrap="square" lIns="0" tIns="0" rIns="0" bIns="0" anchor="t">
            <a:spAutoFit/>
          </a:bodyPr>
          <a:lstStyle/>
          <a:p>
            <a:pPr algn="l"/>
            <a:r>
              <a:rPr sz="1000" b="0">
                <a:solidFill>
                  <a:srgbClr val="14293D"/>
                </a:solidFill>
                <a:latin typeface="Roboto"/>
              </a:rPr>
              <a:t>ELIZA, a scripted chatbot</a:t>
            </a:r>
          </a:p>
        </p:txBody>
      </p:sp>
      <p:sp>
        <p:nvSpPr>
          <p:cNvPr id="39" name="TextBox 38"/>
          <p:cNvSpPr txBox="1"/>
          <p:nvPr/>
        </p:nvSpPr>
        <p:spPr>
          <a:xfrm>
            <a:off x="5971032" y="4187952"/>
            <a:ext cx="731520" cy="274320"/>
          </a:xfrm>
          <a:prstGeom prst="rect">
            <a:avLst/>
          </a:prstGeom>
          <a:noFill/>
        </p:spPr>
        <p:txBody>
          <a:bodyPr wrap="square" lIns="0" tIns="0" rIns="0" bIns="0" anchor="t">
            <a:spAutoFit/>
          </a:bodyPr>
          <a:lstStyle/>
          <a:p>
            <a:pPr algn="l"/>
            <a:r>
              <a:rPr sz="900" b="0">
                <a:solidFill>
                  <a:srgbClr val="1B9AAA"/>
                </a:solidFill>
                <a:latin typeface="JetBrains Mono"/>
              </a:rPr>
              <a:t>1970s–80s</a:t>
            </a:r>
          </a:p>
        </p:txBody>
      </p:sp>
      <p:sp>
        <p:nvSpPr>
          <p:cNvPr id="40" name="TextBox 39"/>
          <p:cNvSpPr txBox="1"/>
          <p:nvPr/>
        </p:nvSpPr>
        <p:spPr>
          <a:xfrm>
            <a:off x="6675120" y="4169664"/>
            <a:ext cx="1938527" cy="274320"/>
          </a:xfrm>
          <a:prstGeom prst="rect">
            <a:avLst/>
          </a:prstGeom>
          <a:noFill/>
        </p:spPr>
        <p:txBody>
          <a:bodyPr wrap="square" lIns="0" tIns="0" rIns="0" bIns="0" anchor="t">
            <a:spAutoFit/>
          </a:bodyPr>
          <a:lstStyle/>
          <a:p>
            <a:pPr algn="l"/>
            <a:r>
              <a:rPr sz="1000" b="0">
                <a:solidFill>
                  <a:srgbClr val="14293D"/>
                </a:solidFill>
                <a:latin typeface="Roboto"/>
              </a:rPr>
              <a:t>Expert systems, e.g. MYCIN</a:t>
            </a:r>
          </a:p>
        </p:txBody>
      </p:sp>
      <p:sp>
        <p:nvSpPr>
          <p:cNvPr id="41" name="Rectangle 40"/>
          <p:cNvSpPr/>
          <p:nvPr/>
        </p:nvSpPr>
        <p:spPr>
          <a:xfrm>
            <a:off x="566928" y="4681727"/>
            <a:ext cx="45720" cy="21945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713232" y="4663440"/>
            <a:ext cx="7991856" cy="274320"/>
          </a:xfrm>
          <a:prstGeom prst="rect">
            <a:avLst/>
          </a:prstGeom>
          <a:noFill/>
        </p:spPr>
        <p:txBody>
          <a:bodyPr wrap="square" lIns="0" tIns="0" rIns="0" bIns="0" anchor="t">
            <a:spAutoFit/>
          </a:bodyPr>
          <a:lstStyle/>
          <a:p>
            <a:pPr algn="l"/>
            <a:r>
              <a:rPr sz="1200" b="0">
                <a:solidFill>
                  <a:srgbClr val="0D1B2A"/>
                </a:solidFill>
                <a:latin typeface="Roboto"/>
              </a:rPr>
              <a:t>Rules + data → answers. Works for clear-cut problems, breaks on messy reality.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Oval 1"/>
          <p:cNvSpPr/>
          <p:nvPr/>
        </p:nvSpPr>
        <p:spPr>
          <a:xfrm>
            <a:off x="4572000" y="320040"/>
            <a:ext cx="4572000" cy="4572000"/>
          </a:xfrm>
          <a:prstGeom prst="ellipse">
            <a:avLst/>
          </a:prstGeom>
          <a:solidFill>
            <a:srgbClr val="1B9AAA">
              <a:alpha val="6000"/>
            </a:srgbClr>
          </a:solidFill>
          <a:ln w="635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 name="Connector 2"/>
          <p:cNvCxnSpPr/>
          <p:nvPr/>
        </p:nvCxnSpPr>
        <p:spPr>
          <a:xfrm>
            <a:off x="6309360" y="1234440"/>
            <a:ext cx="0" cy="25146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H="1">
            <a:off x="5349240" y="1485900"/>
            <a:ext cx="960120" cy="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349240" y="1485900"/>
            <a:ext cx="0" cy="25146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309360" y="1234440"/>
            <a:ext cx="0" cy="251460"/>
          </a:xfrm>
          <a:prstGeom prst="line">
            <a:avLst/>
          </a:prstGeom>
          <a:ln w="25400">
            <a:solidFill>
              <a:srgbClr val="1B9AAA"/>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309360" y="1485900"/>
            <a:ext cx="960120" cy="0"/>
          </a:xfrm>
          <a:prstGeom prst="line">
            <a:avLst/>
          </a:prstGeom>
          <a:ln w="25400">
            <a:solidFill>
              <a:srgbClr val="1B9AAA"/>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269480" y="1485900"/>
            <a:ext cx="0" cy="251460"/>
          </a:xfrm>
          <a:prstGeom prst="line">
            <a:avLst/>
          </a:prstGeom>
          <a:ln w="25400">
            <a:solidFill>
              <a:srgbClr val="1B9AAA"/>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269480" y="2286000"/>
            <a:ext cx="0" cy="25146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6583680" y="2537460"/>
            <a:ext cx="685800" cy="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583680" y="2537460"/>
            <a:ext cx="0" cy="25146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583680" y="3337560"/>
            <a:ext cx="0" cy="25146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5715000" y="3589020"/>
            <a:ext cx="868680" cy="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715000" y="3589020"/>
            <a:ext cx="0" cy="25146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583680" y="3337560"/>
            <a:ext cx="0" cy="25146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583680" y="3589020"/>
            <a:ext cx="868680" cy="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7452360" y="3589020"/>
            <a:ext cx="0" cy="25146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309360" y="1485900"/>
            <a:ext cx="2194560" cy="0"/>
          </a:xfrm>
          <a:prstGeom prst="line">
            <a:avLst/>
          </a:prstGeom>
          <a:ln w="9525">
            <a:solidFill>
              <a:srgbClr val="8FA6B2"/>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8503920" y="1485900"/>
            <a:ext cx="0" cy="324612"/>
          </a:xfrm>
          <a:prstGeom prst="line">
            <a:avLst/>
          </a:prstGeom>
          <a:ln w="9525">
            <a:solidFill>
              <a:srgbClr val="8FA6B2"/>
            </a:solidFill>
            <a:prstDash val="dash"/>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8343900" y="1920240"/>
            <a:ext cx="64008" cy="64008"/>
          </a:xfrm>
          <a:prstGeom prst="ellipse">
            <a:avLst/>
          </a:prstGeom>
          <a:solidFill>
            <a:srgbClr val="8FA6B2">
              <a:alpha val="100000"/>
            </a:srgbClr>
          </a:solidFill>
          <a:ln w="6350">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8471916" y="1920240"/>
            <a:ext cx="64008" cy="64008"/>
          </a:xfrm>
          <a:prstGeom prst="ellipse">
            <a:avLst/>
          </a:prstGeom>
          <a:solidFill>
            <a:srgbClr val="8FA6B2">
              <a:alpha val="100000"/>
            </a:srgbClr>
          </a:solidFill>
          <a:ln w="6350">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8599932" y="1920240"/>
            <a:ext cx="64008" cy="64008"/>
          </a:xfrm>
          <a:prstGeom prst="ellipse">
            <a:avLst/>
          </a:prstGeom>
          <a:solidFill>
            <a:srgbClr val="8FA6B2">
              <a:alpha val="100000"/>
            </a:srgbClr>
          </a:solidFill>
          <a:ln w="6350">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3" name="Connector 22"/>
          <p:cNvCxnSpPr/>
          <p:nvPr/>
        </p:nvCxnSpPr>
        <p:spPr>
          <a:xfrm>
            <a:off x="7269480" y="2537460"/>
            <a:ext cx="1234440" cy="0"/>
          </a:xfrm>
          <a:prstGeom prst="line">
            <a:avLst/>
          </a:prstGeom>
          <a:ln w="9525">
            <a:solidFill>
              <a:srgbClr val="8FA6B2"/>
            </a:solidFill>
            <a:prstDash val="dash"/>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8503920" y="2537460"/>
            <a:ext cx="0" cy="324612"/>
          </a:xfrm>
          <a:prstGeom prst="line">
            <a:avLst/>
          </a:prstGeom>
          <a:ln w="9525">
            <a:solidFill>
              <a:srgbClr val="8FA6B2"/>
            </a:solidFill>
            <a:prstDash val="dash"/>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8343900" y="2971800"/>
            <a:ext cx="64008" cy="64008"/>
          </a:xfrm>
          <a:prstGeom prst="ellipse">
            <a:avLst/>
          </a:prstGeom>
          <a:solidFill>
            <a:srgbClr val="8FA6B2">
              <a:alpha val="100000"/>
            </a:srgbClr>
          </a:solidFill>
          <a:ln w="6350">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8471916" y="2971800"/>
            <a:ext cx="64008" cy="64008"/>
          </a:xfrm>
          <a:prstGeom prst="ellipse">
            <a:avLst/>
          </a:prstGeom>
          <a:solidFill>
            <a:srgbClr val="8FA6B2">
              <a:alpha val="100000"/>
            </a:srgbClr>
          </a:solidFill>
          <a:ln w="6350">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8599932" y="2971800"/>
            <a:ext cx="64008" cy="64008"/>
          </a:xfrm>
          <a:prstGeom prst="ellipse">
            <a:avLst/>
          </a:prstGeom>
          <a:solidFill>
            <a:srgbClr val="8FA6B2">
              <a:alpha val="100000"/>
            </a:srgbClr>
          </a:solidFill>
          <a:ln w="6350">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5509260" y="685800"/>
            <a:ext cx="1600200" cy="548640"/>
          </a:xfrm>
          <a:prstGeom prst="roundRect">
            <a:avLst>
              <a:gd name="adj" fmla="val 18000"/>
            </a:avLst>
          </a:prstGeom>
          <a:solidFill>
            <a:srgbClr val="14293D"/>
          </a:solidFill>
          <a:ln w="1905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509260" y="749808"/>
            <a:ext cx="1600200" cy="274320"/>
          </a:xfrm>
          <a:prstGeom prst="rect">
            <a:avLst/>
          </a:prstGeom>
          <a:noFill/>
        </p:spPr>
        <p:txBody>
          <a:bodyPr wrap="square" lIns="0" tIns="0" rIns="0" bIns="0" anchor="t">
            <a:spAutoFit/>
          </a:bodyPr>
          <a:lstStyle/>
          <a:p>
            <a:pPr algn="ctr"/>
            <a:r>
              <a:rPr sz="1300" b="0">
                <a:solidFill>
                  <a:srgbClr val="FFFFFF"/>
                </a:solidFill>
                <a:latin typeface="Oswald"/>
              </a:rPr>
              <a:t>Artificial Intelligence</a:t>
            </a:r>
          </a:p>
        </p:txBody>
      </p:sp>
      <p:sp>
        <p:nvSpPr>
          <p:cNvPr id="30" name="TextBox 29"/>
          <p:cNvSpPr txBox="1"/>
          <p:nvPr/>
        </p:nvSpPr>
        <p:spPr>
          <a:xfrm>
            <a:off x="5509260" y="1014983"/>
            <a:ext cx="1600200" cy="182880"/>
          </a:xfrm>
          <a:prstGeom prst="rect">
            <a:avLst/>
          </a:prstGeom>
          <a:noFill/>
        </p:spPr>
        <p:txBody>
          <a:bodyPr wrap="square" lIns="0" tIns="0" rIns="0" bIns="0" anchor="t">
            <a:spAutoFit/>
          </a:bodyPr>
          <a:lstStyle/>
          <a:p>
            <a:pPr algn="ctr"/>
            <a:r>
              <a:rPr sz="850" b="0" spc="100">
                <a:solidFill>
                  <a:srgbClr val="1B9AAA"/>
                </a:solidFill>
                <a:latin typeface="JetBrains Mono"/>
              </a:rPr>
              <a:t>1955</a:t>
            </a:r>
          </a:p>
        </p:txBody>
      </p:sp>
      <p:sp>
        <p:nvSpPr>
          <p:cNvPr id="31" name="Rounded Rectangle 30"/>
          <p:cNvSpPr/>
          <p:nvPr/>
        </p:nvSpPr>
        <p:spPr>
          <a:xfrm>
            <a:off x="4549140" y="1737360"/>
            <a:ext cx="1600200" cy="548640"/>
          </a:xfrm>
          <a:prstGeom prst="roundRect">
            <a:avLst>
              <a:gd name="adj" fmla="val 18000"/>
            </a:avLst>
          </a:prstGeom>
          <a:solidFill>
            <a:srgbClr val="0D1B2A"/>
          </a:solidFill>
          <a:ln w="9525">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549140" y="1801368"/>
            <a:ext cx="1600200" cy="274320"/>
          </a:xfrm>
          <a:prstGeom prst="rect">
            <a:avLst/>
          </a:prstGeom>
          <a:noFill/>
        </p:spPr>
        <p:txBody>
          <a:bodyPr wrap="square" lIns="0" tIns="0" rIns="0" bIns="0" anchor="t">
            <a:spAutoFit/>
          </a:bodyPr>
          <a:lstStyle/>
          <a:p>
            <a:pPr algn="ctr"/>
            <a:r>
              <a:rPr sz="1300" b="0">
                <a:solidFill>
                  <a:srgbClr val="8FA6B2"/>
                </a:solidFill>
                <a:latin typeface="Oswald"/>
              </a:rPr>
              <a:t>Rule-based AI</a:t>
            </a:r>
          </a:p>
        </p:txBody>
      </p:sp>
      <p:sp>
        <p:nvSpPr>
          <p:cNvPr id="33" name="TextBox 32"/>
          <p:cNvSpPr txBox="1"/>
          <p:nvPr/>
        </p:nvSpPr>
        <p:spPr>
          <a:xfrm>
            <a:off x="4549140" y="2066543"/>
            <a:ext cx="1600200" cy="182880"/>
          </a:xfrm>
          <a:prstGeom prst="rect">
            <a:avLst/>
          </a:prstGeom>
          <a:noFill/>
        </p:spPr>
        <p:txBody>
          <a:bodyPr wrap="square" lIns="0" tIns="0" rIns="0" bIns="0" anchor="t">
            <a:spAutoFit/>
          </a:bodyPr>
          <a:lstStyle/>
          <a:p>
            <a:pPr algn="ctr"/>
            <a:r>
              <a:rPr sz="850" b="0" spc="100">
                <a:solidFill>
                  <a:srgbClr val="8FA6B2"/>
                </a:solidFill>
                <a:latin typeface="JetBrains Mono"/>
              </a:rPr>
              <a:t>1950s</a:t>
            </a:r>
          </a:p>
        </p:txBody>
      </p:sp>
      <p:sp>
        <p:nvSpPr>
          <p:cNvPr id="34" name="Rounded Rectangle 33"/>
          <p:cNvSpPr/>
          <p:nvPr/>
        </p:nvSpPr>
        <p:spPr>
          <a:xfrm>
            <a:off x="6469380" y="1737360"/>
            <a:ext cx="1600200" cy="548640"/>
          </a:xfrm>
          <a:prstGeom prst="roundRect">
            <a:avLst>
              <a:gd name="adj" fmla="val 18000"/>
            </a:avLst>
          </a:prstGeom>
          <a:solidFill>
            <a:srgbClr val="06D6A0"/>
          </a:solidFill>
          <a:ln w="19050">
            <a:solidFill>
              <a:srgbClr val="06D6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469380" y="1801368"/>
            <a:ext cx="1600200" cy="274320"/>
          </a:xfrm>
          <a:prstGeom prst="rect">
            <a:avLst/>
          </a:prstGeom>
          <a:noFill/>
        </p:spPr>
        <p:txBody>
          <a:bodyPr wrap="square" lIns="0" tIns="0" rIns="0" bIns="0" anchor="t">
            <a:spAutoFit/>
          </a:bodyPr>
          <a:lstStyle/>
          <a:p>
            <a:pPr algn="ctr"/>
            <a:r>
              <a:rPr sz="1300" b="0">
                <a:solidFill>
                  <a:srgbClr val="0D1B2A"/>
                </a:solidFill>
                <a:latin typeface="Oswald"/>
              </a:rPr>
              <a:t>Machine Learning</a:t>
            </a:r>
          </a:p>
        </p:txBody>
      </p:sp>
      <p:sp>
        <p:nvSpPr>
          <p:cNvPr id="36" name="TextBox 35"/>
          <p:cNvSpPr txBox="1"/>
          <p:nvPr/>
        </p:nvSpPr>
        <p:spPr>
          <a:xfrm>
            <a:off x="6469380" y="2066543"/>
            <a:ext cx="1600200" cy="182880"/>
          </a:xfrm>
          <a:prstGeom prst="rect">
            <a:avLst/>
          </a:prstGeom>
          <a:noFill/>
        </p:spPr>
        <p:txBody>
          <a:bodyPr wrap="square" lIns="0" tIns="0" rIns="0" bIns="0" anchor="t">
            <a:spAutoFit/>
          </a:bodyPr>
          <a:lstStyle/>
          <a:p>
            <a:pPr algn="ctr"/>
            <a:r>
              <a:rPr sz="850" b="0" spc="100">
                <a:solidFill>
                  <a:srgbClr val="0D1B2A"/>
                </a:solidFill>
                <a:latin typeface="JetBrains Mono"/>
              </a:rPr>
              <a:t>1959</a:t>
            </a:r>
          </a:p>
        </p:txBody>
      </p:sp>
      <p:sp>
        <p:nvSpPr>
          <p:cNvPr id="37" name="Rounded Rectangle 36"/>
          <p:cNvSpPr/>
          <p:nvPr/>
        </p:nvSpPr>
        <p:spPr>
          <a:xfrm>
            <a:off x="5783580" y="2788920"/>
            <a:ext cx="1600200" cy="548640"/>
          </a:xfrm>
          <a:prstGeom prst="roundRect">
            <a:avLst>
              <a:gd name="adj" fmla="val 18000"/>
            </a:avLst>
          </a:prstGeom>
          <a:solidFill>
            <a:srgbClr val="0D1B2A"/>
          </a:solidFill>
          <a:ln w="9525">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5783580" y="2852927"/>
            <a:ext cx="1600200" cy="274320"/>
          </a:xfrm>
          <a:prstGeom prst="rect">
            <a:avLst/>
          </a:prstGeom>
          <a:noFill/>
        </p:spPr>
        <p:txBody>
          <a:bodyPr wrap="square" lIns="0" tIns="0" rIns="0" bIns="0" anchor="t">
            <a:spAutoFit/>
          </a:bodyPr>
          <a:lstStyle/>
          <a:p>
            <a:pPr algn="ctr"/>
            <a:r>
              <a:rPr sz="1300" b="0">
                <a:solidFill>
                  <a:srgbClr val="8FA6B2"/>
                </a:solidFill>
                <a:latin typeface="Oswald"/>
              </a:rPr>
              <a:t>Deep Learning</a:t>
            </a:r>
          </a:p>
        </p:txBody>
      </p:sp>
      <p:sp>
        <p:nvSpPr>
          <p:cNvPr id="39" name="TextBox 38"/>
          <p:cNvSpPr txBox="1"/>
          <p:nvPr/>
        </p:nvSpPr>
        <p:spPr>
          <a:xfrm>
            <a:off x="5783580" y="3118103"/>
            <a:ext cx="1600200" cy="182880"/>
          </a:xfrm>
          <a:prstGeom prst="rect">
            <a:avLst/>
          </a:prstGeom>
          <a:noFill/>
        </p:spPr>
        <p:txBody>
          <a:bodyPr wrap="square" lIns="0" tIns="0" rIns="0" bIns="0" anchor="t">
            <a:spAutoFit/>
          </a:bodyPr>
          <a:lstStyle/>
          <a:p>
            <a:pPr algn="ctr"/>
            <a:r>
              <a:rPr sz="850" b="0" spc="100">
                <a:solidFill>
                  <a:srgbClr val="8FA6B2"/>
                </a:solidFill>
                <a:latin typeface="JetBrains Mono"/>
              </a:rPr>
              <a:t>2012</a:t>
            </a:r>
          </a:p>
        </p:txBody>
      </p:sp>
      <p:sp>
        <p:nvSpPr>
          <p:cNvPr id="40" name="Rounded Rectangle 39"/>
          <p:cNvSpPr/>
          <p:nvPr/>
        </p:nvSpPr>
        <p:spPr>
          <a:xfrm>
            <a:off x="4914900" y="3840480"/>
            <a:ext cx="1600200" cy="548640"/>
          </a:xfrm>
          <a:prstGeom prst="roundRect">
            <a:avLst>
              <a:gd name="adj" fmla="val 18000"/>
            </a:avLst>
          </a:prstGeom>
          <a:solidFill>
            <a:srgbClr val="0D1B2A"/>
          </a:solidFill>
          <a:ln w="9525">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914900" y="3904488"/>
            <a:ext cx="1600200" cy="274320"/>
          </a:xfrm>
          <a:prstGeom prst="rect">
            <a:avLst/>
          </a:prstGeom>
          <a:noFill/>
        </p:spPr>
        <p:txBody>
          <a:bodyPr wrap="square" lIns="0" tIns="0" rIns="0" bIns="0" anchor="t">
            <a:spAutoFit/>
          </a:bodyPr>
          <a:lstStyle/>
          <a:p>
            <a:pPr algn="ctr"/>
            <a:r>
              <a:rPr sz="1300" b="0">
                <a:solidFill>
                  <a:srgbClr val="8FA6B2"/>
                </a:solidFill>
                <a:latin typeface="Oswald"/>
              </a:rPr>
              <a:t>Generative AI</a:t>
            </a:r>
          </a:p>
        </p:txBody>
      </p:sp>
      <p:sp>
        <p:nvSpPr>
          <p:cNvPr id="42" name="TextBox 41"/>
          <p:cNvSpPr txBox="1"/>
          <p:nvPr/>
        </p:nvSpPr>
        <p:spPr>
          <a:xfrm>
            <a:off x="4914900" y="4169664"/>
            <a:ext cx="1600200" cy="182880"/>
          </a:xfrm>
          <a:prstGeom prst="rect">
            <a:avLst/>
          </a:prstGeom>
          <a:noFill/>
        </p:spPr>
        <p:txBody>
          <a:bodyPr wrap="square" lIns="0" tIns="0" rIns="0" bIns="0" anchor="t">
            <a:spAutoFit/>
          </a:bodyPr>
          <a:lstStyle/>
          <a:p>
            <a:pPr algn="ctr"/>
            <a:r>
              <a:rPr sz="850" b="0" spc="100">
                <a:solidFill>
                  <a:srgbClr val="8FA6B2"/>
                </a:solidFill>
                <a:latin typeface="JetBrains Mono"/>
              </a:rPr>
              <a:t>2018</a:t>
            </a:r>
          </a:p>
        </p:txBody>
      </p:sp>
      <p:sp>
        <p:nvSpPr>
          <p:cNvPr id="43" name="Rounded Rectangle 42"/>
          <p:cNvSpPr/>
          <p:nvPr/>
        </p:nvSpPr>
        <p:spPr>
          <a:xfrm>
            <a:off x="6652260" y="3840480"/>
            <a:ext cx="1600200" cy="548640"/>
          </a:xfrm>
          <a:prstGeom prst="roundRect">
            <a:avLst>
              <a:gd name="adj" fmla="val 18000"/>
            </a:avLst>
          </a:prstGeom>
          <a:solidFill>
            <a:srgbClr val="0D1B2A"/>
          </a:solidFill>
          <a:ln w="9525">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652260" y="3904488"/>
            <a:ext cx="1600200" cy="274320"/>
          </a:xfrm>
          <a:prstGeom prst="rect">
            <a:avLst/>
          </a:prstGeom>
          <a:noFill/>
        </p:spPr>
        <p:txBody>
          <a:bodyPr wrap="square" lIns="0" tIns="0" rIns="0" bIns="0" anchor="t">
            <a:spAutoFit/>
          </a:bodyPr>
          <a:lstStyle/>
          <a:p>
            <a:pPr algn="ctr"/>
            <a:r>
              <a:rPr sz="1300" b="0">
                <a:solidFill>
                  <a:srgbClr val="8FA6B2"/>
                </a:solidFill>
                <a:latin typeface="Oswald"/>
              </a:rPr>
              <a:t>Agentic AI</a:t>
            </a:r>
          </a:p>
        </p:txBody>
      </p:sp>
      <p:sp>
        <p:nvSpPr>
          <p:cNvPr id="45" name="TextBox 44"/>
          <p:cNvSpPr txBox="1"/>
          <p:nvPr/>
        </p:nvSpPr>
        <p:spPr>
          <a:xfrm>
            <a:off x="6652260" y="4169664"/>
            <a:ext cx="1600200" cy="182880"/>
          </a:xfrm>
          <a:prstGeom prst="rect">
            <a:avLst/>
          </a:prstGeom>
          <a:noFill/>
        </p:spPr>
        <p:txBody>
          <a:bodyPr wrap="square" lIns="0" tIns="0" rIns="0" bIns="0" anchor="t">
            <a:spAutoFit/>
          </a:bodyPr>
          <a:lstStyle/>
          <a:p>
            <a:pPr algn="ctr"/>
            <a:r>
              <a:rPr sz="850" b="0" spc="100">
                <a:solidFill>
                  <a:srgbClr val="8FA6B2"/>
                </a:solidFill>
                <a:latin typeface="JetBrains Mono"/>
              </a:rPr>
              <a:t>2024</a:t>
            </a:r>
          </a:p>
        </p:txBody>
      </p:sp>
      <p:sp>
        <p:nvSpPr>
          <p:cNvPr id="46" name="TextBox 45"/>
          <p:cNvSpPr txBox="1"/>
          <p:nvPr/>
        </p:nvSpPr>
        <p:spPr>
          <a:xfrm>
            <a:off x="731520" y="960120"/>
            <a:ext cx="3657600" cy="274320"/>
          </a:xfrm>
          <a:prstGeom prst="rect">
            <a:avLst/>
          </a:prstGeom>
          <a:noFill/>
        </p:spPr>
        <p:txBody>
          <a:bodyPr wrap="square" lIns="0" tIns="0" rIns="0" bIns="0" anchor="t">
            <a:spAutoFit/>
          </a:bodyPr>
          <a:lstStyle/>
          <a:p>
            <a:pPr algn="l"/>
            <a:r>
              <a:rPr sz="1100" b="0" spc="300">
                <a:solidFill>
                  <a:srgbClr val="06D6A0"/>
                </a:solidFill>
                <a:latin typeface="JetBrains Mono"/>
              </a:rPr>
              <a:t>PART 2 OF 5 · SINCE 1959</a:t>
            </a:r>
          </a:p>
        </p:txBody>
      </p:sp>
      <p:sp>
        <p:nvSpPr>
          <p:cNvPr id="47" name="section-ml"/>
          <p:cNvSpPr txBox="1"/>
          <p:nvPr/>
        </p:nvSpPr>
        <p:spPr>
          <a:xfrm>
            <a:off x="731520" y="1234440"/>
            <a:ext cx="3657600" cy="1554480"/>
          </a:xfrm>
          <a:prstGeom prst="rect">
            <a:avLst/>
          </a:prstGeom>
          <a:noFill/>
        </p:spPr>
        <p:txBody>
          <a:bodyPr wrap="square" lIns="0" tIns="0" rIns="0" bIns="0" anchor="t">
            <a:spAutoFit/>
          </a:bodyPr>
          <a:lstStyle/>
          <a:p>
            <a:pPr algn="l"/>
            <a:r>
              <a:rPr sz="4800" b="0">
                <a:solidFill>
                  <a:srgbClr val="FFFFFF"/>
                </a:solidFill>
                <a:latin typeface="Oswald"/>
              </a:rPr>
              <a:t>Machine</a:t>
            </a:r>
          </a:p>
          <a:p>
            <a:pPr algn="l"/>
            <a:r>
              <a:rPr sz="4800" b="0">
                <a:solidFill>
                  <a:srgbClr val="FFFFFF"/>
                </a:solidFill>
                <a:latin typeface="Oswald"/>
              </a:rPr>
              <a:t>Learning</a:t>
            </a:r>
          </a:p>
        </p:txBody>
      </p:sp>
      <p:sp>
        <p:nvSpPr>
          <p:cNvPr id="48" name="TextBox 47"/>
          <p:cNvSpPr txBox="1"/>
          <p:nvPr/>
        </p:nvSpPr>
        <p:spPr>
          <a:xfrm>
            <a:off x="731520" y="2834640"/>
            <a:ext cx="3566160" cy="502920"/>
          </a:xfrm>
          <a:prstGeom prst="rect">
            <a:avLst/>
          </a:prstGeom>
          <a:noFill/>
        </p:spPr>
        <p:txBody>
          <a:bodyPr wrap="square" lIns="0" tIns="0" rIns="0" bIns="0" anchor="t">
            <a:spAutoFit/>
          </a:bodyPr>
          <a:lstStyle/>
          <a:p>
            <a:pPr algn="l"/>
            <a:r>
              <a:rPr sz="1400" b="0">
                <a:solidFill>
                  <a:srgbClr val="AFC2CE"/>
                </a:solidFill>
                <a:latin typeface="Roboto"/>
              </a:rPr>
              <a:t>Instead of following hand-written rules, the computer learns from examples.</a:t>
            </a:r>
          </a:p>
        </p:txBody>
      </p:sp>
      <p:sp>
        <p:nvSpPr>
          <p:cNvPr id="49" name="Rectangle 48"/>
          <p:cNvSpPr/>
          <p:nvPr/>
        </p:nvSpPr>
        <p:spPr>
          <a:xfrm>
            <a:off x="731520" y="3520440"/>
            <a:ext cx="822960" cy="41148"/>
          </a:xfrm>
          <a:prstGeom prst="rect">
            <a:avLst/>
          </a:prstGeom>
          <a:solidFill>
            <a:srgbClr val="06D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731520" y="3675887"/>
            <a:ext cx="2743200" cy="228600"/>
          </a:xfrm>
          <a:prstGeom prst="rect">
            <a:avLst/>
          </a:prstGeom>
          <a:noFill/>
        </p:spPr>
        <p:txBody>
          <a:bodyPr wrap="square" lIns="0" tIns="0" rIns="0" bIns="0" anchor="t">
            <a:spAutoFit/>
          </a:bodyPr>
          <a:lstStyle/>
          <a:p>
            <a:pPr algn="l"/>
            <a:r>
              <a:rPr sz="900" b="0" spc="100">
                <a:solidFill>
                  <a:srgbClr val="8FA6B2"/>
                </a:solidFill>
                <a:latin typeface="JetBrains Mono"/>
              </a:rPr>
              <a:t>IN THIS PART</a:t>
            </a:r>
          </a:p>
        </p:txBody>
      </p:sp>
      <p:sp>
        <p:nvSpPr>
          <p:cNvPr id="51" name="TextBox 50"/>
          <p:cNvSpPr txBox="1"/>
          <p:nvPr/>
        </p:nvSpPr>
        <p:spPr>
          <a:xfrm>
            <a:off x="731520" y="3904487"/>
            <a:ext cx="3566160" cy="640080"/>
          </a:xfrm>
          <a:prstGeom prst="rect">
            <a:avLst/>
          </a:prstGeom>
          <a:noFill/>
        </p:spPr>
        <p:txBody>
          <a:bodyPr wrap="square" lIns="0" tIns="0" rIns="0" bIns="0" anchor="t">
            <a:spAutoFit/>
          </a:bodyPr>
          <a:lstStyle/>
          <a:p>
            <a:pPr algn="l"/>
            <a:r>
              <a:rPr sz="1100" b="0">
                <a:solidFill>
                  <a:srgbClr val="AFC2CE"/>
                </a:solidFill>
                <a:latin typeface="Roboto"/>
              </a:rPr>
              <a:t>The computer finds the rules itself · Why learning pulled ahead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514350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329184"/>
            <a:ext cx="8138160" cy="274320"/>
          </a:xfrm>
          <a:prstGeom prst="rect">
            <a:avLst/>
          </a:prstGeom>
          <a:noFill/>
        </p:spPr>
        <p:txBody>
          <a:bodyPr wrap="square" lIns="0" tIns="0" rIns="0" bIns="0" anchor="t">
            <a:spAutoFit/>
          </a:bodyPr>
          <a:lstStyle/>
          <a:p>
            <a:pPr algn="l"/>
            <a:r>
              <a:rPr sz="1100" b="0" spc="300">
                <a:solidFill>
                  <a:srgbClr val="1B9AAA"/>
                </a:solidFill>
                <a:latin typeface="JetBrains Mono"/>
              </a:rPr>
              <a:t>FOUNDATIONS · STREAM 2 · SINCE 1959</a:t>
            </a:r>
          </a:p>
        </p:txBody>
      </p:sp>
      <p:sp>
        <p:nvSpPr>
          <p:cNvPr id="4" name="slide-machine-learning"/>
          <p:cNvSpPr txBox="1"/>
          <p:nvPr/>
        </p:nvSpPr>
        <p:spPr>
          <a:xfrm>
            <a:off x="566928" y="603504"/>
            <a:ext cx="8138160" cy="658368"/>
          </a:xfrm>
          <a:prstGeom prst="rect">
            <a:avLst/>
          </a:prstGeom>
          <a:noFill/>
        </p:spPr>
        <p:txBody>
          <a:bodyPr wrap="square" lIns="0" tIns="0" rIns="0" bIns="0" anchor="t">
            <a:spAutoFit/>
          </a:bodyPr>
          <a:lstStyle/>
          <a:p>
            <a:pPr algn="l"/>
            <a:r>
              <a:rPr sz="3200" b="0">
                <a:solidFill>
                  <a:srgbClr val="0D1B2A"/>
                </a:solidFill>
                <a:latin typeface="Oswald"/>
              </a:rPr>
              <a:t>Machine learning: the computer finds the rules</a:t>
            </a:r>
          </a:p>
        </p:txBody>
      </p:sp>
      <p:sp>
        <p:nvSpPr>
          <p:cNvPr id="5" name="TextBox 4"/>
          <p:cNvSpPr txBox="1"/>
          <p:nvPr/>
        </p:nvSpPr>
        <p:spPr>
          <a:xfrm>
            <a:off x="566928" y="1298448"/>
            <a:ext cx="8138160" cy="457200"/>
          </a:xfrm>
          <a:prstGeom prst="rect">
            <a:avLst/>
          </a:prstGeom>
          <a:noFill/>
        </p:spPr>
        <p:txBody>
          <a:bodyPr wrap="square" lIns="0" tIns="0" rIns="0" bIns="0" anchor="t">
            <a:spAutoFit/>
          </a:bodyPr>
          <a:lstStyle/>
          <a:p>
            <a:pPr algn="l"/>
            <a:r>
              <a:rPr sz="1400" b="0">
                <a:solidFill>
                  <a:srgbClr val="14293D"/>
                </a:solidFill>
                <a:latin typeface="Roboto"/>
              </a:rPr>
              <a:t>Instead of writing rules, show the computer many examples together with the right answer.</a:t>
            </a:r>
          </a:p>
        </p:txBody>
      </p:sp>
      <p:sp>
        <p:nvSpPr>
          <p:cNvPr id="6" name="Rectangle 5"/>
          <p:cNvSpPr/>
          <p:nvPr/>
        </p:nvSpPr>
        <p:spPr>
          <a:xfrm>
            <a:off x="566928" y="1783080"/>
            <a:ext cx="8138160" cy="2103120"/>
          </a:xfrm>
          <a:prstGeom prst="rect">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66928" y="1783080"/>
            <a:ext cx="54864" cy="210312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85800" y="1856231"/>
            <a:ext cx="2194560" cy="1956816"/>
          </a:xfrm>
          <a:prstGeom prst="roundRect">
            <a:avLst>
              <a:gd name="adj" fmla="val 3738"/>
            </a:avLst>
          </a:prstGeom>
          <a:solidFill>
            <a:srgbClr val="F4F7F8"/>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3090672" y="1856231"/>
            <a:ext cx="1463040" cy="1956816"/>
          </a:xfrm>
          <a:prstGeom prst="roundRect">
            <a:avLst>
              <a:gd name="adj" fmla="val 5000"/>
            </a:avLst>
          </a:prstGeom>
          <a:solidFill>
            <a:srgbClr val="F4F7F8"/>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4754880" y="1856231"/>
            <a:ext cx="2011680" cy="1956816"/>
          </a:xfrm>
          <a:prstGeom prst="roundRect">
            <a:avLst>
              <a:gd name="adj" fmla="val 3738"/>
            </a:avLst>
          </a:prstGeom>
          <a:solidFill>
            <a:srgbClr val="F4F7F8"/>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6967728" y="1856231"/>
            <a:ext cx="1655064" cy="1956816"/>
          </a:xfrm>
          <a:prstGeom prst="roundRect">
            <a:avLst>
              <a:gd name="adj" fmla="val 4419"/>
            </a:avLst>
          </a:prstGeom>
          <a:solidFill>
            <a:srgbClr val="F4F7F8"/>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2" name="Connector 11"/>
          <p:cNvCxnSpPr/>
          <p:nvPr/>
        </p:nvCxnSpPr>
        <p:spPr>
          <a:xfrm>
            <a:off x="2880360" y="2834640"/>
            <a:ext cx="192024" cy="0"/>
          </a:xfrm>
          <a:prstGeom prst="line">
            <a:avLst/>
          </a:prstGeom>
          <a:ln w="19050">
            <a:solidFill>
              <a:srgbClr val="1B9AA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4553712" y="2834640"/>
            <a:ext cx="182880" cy="0"/>
          </a:xfrm>
          <a:prstGeom prst="line">
            <a:avLst/>
          </a:prstGeom>
          <a:ln w="19050">
            <a:solidFill>
              <a:srgbClr val="1B9AA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766560" y="2834640"/>
            <a:ext cx="182880" cy="0"/>
          </a:xfrm>
          <a:prstGeom prst="line">
            <a:avLst/>
          </a:prstGeom>
          <a:ln w="19050">
            <a:solidFill>
              <a:srgbClr val="1B9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795528" y="1920240"/>
            <a:ext cx="2103120" cy="228600"/>
          </a:xfrm>
          <a:prstGeom prst="rect">
            <a:avLst/>
          </a:prstGeom>
          <a:noFill/>
        </p:spPr>
        <p:txBody>
          <a:bodyPr wrap="square" lIns="0" tIns="0" rIns="0" bIns="0" anchor="t">
            <a:spAutoFit/>
          </a:bodyPr>
          <a:lstStyle/>
          <a:p>
            <a:pPr algn="l"/>
            <a:r>
              <a:rPr sz="850" b="0" spc="100">
                <a:solidFill>
                  <a:srgbClr val="1B9AAA"/>
                </a:solidFill>
                <a:latin typeface="JetBrains Mono"/>
              </a:rPr>
              <a:t>STEP 1: LABELLED EXAMPLES</a:t>
            </a:r>
          </a:p>
        </p:txBody>
      </p:sp>
      <p:sp>
        <p:nvSpPr>
          <p:cNvPr id="16" name="Rounded Rectangle 15"/>
          <p:cNvSpPr/>
          <p:nvPr/>
        </p:nvSpPr>
        <p:spPr>
          <a:xfrm>
            <a:off x="795528" y="2212848"/>
            <a:ext cx="1463040" cy="256032"/>
          </a:xfrm>
          <a:prstGeom prst="roundRect">
            <a:avLst>
              <a:gd name="adj" fmla="val 18000"/>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00">
                <a:solidFill>
                  <a:srgbClr val="0D1B2A"/>
                </a:solidFill>
                <a:latin typeface="Roboto"/>
              </a:rPr>
              <a:t>Free money now!</a:t>
            </a:r>
          </a:p>
        </p:txBody>
      </p:sp>
      <p:sp>
        <p:nvSpPr>
          <p:cNvPr id="17" name="Rounded Rectangle 16"/>
          <p:cNvSpPr/>
          <p:nvPr/>
        </p:nvSpPr>
        <p:spPr>
          <a:xfrm>
            <a:off x="2304288" y="2212848"/>
            <a:ext cx="502920" cy="256032"/>
          </a:xfrm>
          <a:prstGeom prst="roundRect">
            <a:avLst>
              <a:gd name="adj" fmla="val 18000"/>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850">
                <a:solidFill>
                  <a:srgbClr val="06D6A0"/>
                </a:solidFill>
                <a:latin typeface="JetBrains Mono"/>
              </a:rPr>
              <a:t>SPAM</a:t>
            </a:r>
          </a:p>
        </p:txBody>
      </p:sp>
      <p:sp>
        <p:nvSpPr>
          <p:cNvPr id="18" name="Rounded Rectangle 17"/>
          <p:cNvSpPr/>
          <p:nvPr/>
        </p:nvSpPr>
        <p:spPr>
          <a:xfrm>
            <a:off x="795528" y="2542032"/>
            <a:ext cx="1463040" cy="256032"/>
          </a:xfrm>
          <a:prstGeom prst="roundRect">
            <a:avLst>
              <a:gd name="adj" fmla="val 18000"/>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00">
                <a:solidFill>
                  <a:srgbClr val="0D1B2A"/>
                </a:solidFill>
                <a:latin typeface="Roboto"/>
              </a:rPr>
              <a:t>Meeting at 3 pm</a:t>
            </a:r>
          </a:p>
        </p:txBody>
      </p:sp>
      <p:sp>
        <p:nvSpPr>
          <p:cNvPr id="19" name="Rounded Rectangle 18"/>
          <p:cNvSpPr/>
          <p:nvPr/>
        </p:nvSpPr>
        <p:spPr>
          <a:xfrm>
            <a:off x="2304288" y="2542032"/>
            <a:ext cx="502920" cy="256032"/>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850">
                <a:solidFill>
                  <a:srgbClr val="0D1B2A"/>
                </a:solidFill>
                <a:latin typeface="JetBrains Mono"/>
              </a:rPr>
              <a:t>OK</a:t>
            </a:r>
          </a:p>
        </p:txBody>
      </p:sp>
      <p:sp>
        <p:nvSpPr>
          <p:cNvPr id="20" name="Rounded Rectangle 19"/>
          <p:cNvSpPr/>
          <p:nvPr/>
        </p:nvSpPr>
        <p:spPr>
          <a:xfrm>
            <a:off x="795528" y="2871215"/>
            <a:ext cx="1463040" cy="256032"/>
          </a:xfrm>
          <a:prstGeom prst="roundRect">
            <a:avLst>
              <a:gd name="adj" fmla="val 18000"/>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00">
                <a:solidFill>
                  <a:srgbClr val="0D1B2A"/>
                </a:solidFill>
                <a:latin typeface="Roboto"/>
              </a:rPr>
              <a:t>You won a prize!</a:t>
            </a:r>
          </a:p>
        </p:txBody>
      </p:sp>
      <p:sp>
        <p:nvSpPr>
          <p:cNvPr id="21" name="Rounded Rectangle 20"/>
          <p:cNvSpPr/>
          <p:nvPr/>
        </p:nvSpPr>
        <p:spPr>
          <a:xfrm>
            <a:off x="2304288" y="2871215"/>
            <a:ext cx="502920" cy="256032"/>
          </a:xfrm>
          <a:prstGeom prst="roundRect">
            <a:avLst>
              <a:gd name="adj" fmla="val 18000"/>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850">
                <a:solidFill>
                  <a:srgbClr val="06D6A0"/>
                </a:solidFill>
                <a:latin typeface="JetBrains Mono"/>
              </a:rPr>
              <a:t>SPAM</a:t>
            </a:r>
          </a:p>
        </p:txBody>
      </p:sp>
      <p:sp>
        <p:nvSpPr>
          <p:cNvPr id="22" name="Rounded Rectangle 21"/>
          <p:cNvSpPr/>
          <p:nvPr/>
        </p:nvSpPr>
        <p:spPr>
          <a:xfrm>
            <a:off x="795528" y="3200400"/>
            <a:ext cx="1463040" cy="256032"/>
          </a:xfrm>
          <a:prstGeom prst="roundRect">
            <a:avLst>
              <a:gd name="adj" fmla="val 18000"/>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00">
                <a:solidFill>
                  <a:srgbClr val="0D1B2A"/>
                </a:solidFill>
                <a:latin typeface="Roboto"/>
              </a:rPr>
              <a:t>Minutes from Monday</a:t>
            </a:r>
          </a:p>
        </p:txBody>
      </p:sp>
      <p:sp>
        <p:nvSpPr>
          <p:cNvPr id="23" name="Rounded Rectangle 22"/>
          <p:cNvSpPr/>
          <p:nvPr/>
        </p:nvSpPr>
        <p:spPr>
          <a:xfrm>
            <a:off x="2304288" y="3200400"/>
            <a:ext cx="502920" cy="256032"/>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850">
                <a:solidFill>
                  <a:srgbClr val="0D1B2A"/>
                </a:solidFill>
                <a:latin typeface="JetBrains Mono"/>
              </a:rPr>
              <a:t>OK</a:t>
            </a:r>
          </a:p>
        </p:txBody>
      </p:sp>
      <p:sp>
        <p:nvSpPr>
          <p:cNvPr id="24" name="TextBox 23"/>
          <p:cNvSpPr txBox="1"/>
          <p:nvPr/>
        </p:nvSpPr>
        <p:spPr>
          <a:xfrm>
            <a:off x="795528" y="3529584"/>
            <a:ext cx="2011680" cy="228600"/>
          </a:xfrm>
          <a:prstGeom prst="rect">
            <a:avLst/>
          </a:prstGeom>
          <a:noFill/>
        </p:spPr>
        <p:txBody>
          <a:bodyPr wrap="square" lIns="0" tIns="0" rIns="0" bIns="0" anchor="t">
            <a:spAutoFit/>
          </a:bodyPr>
          <a:lstStyle/>
          <a:p>
            <a:pPr algn="l"/>
            <a:r>
              <a:rPr sz="950" b="0">
                <a:solidFill>
                  <a:srgbClr val="6B7B8C"/>
                </a:solidFill>
                <a:latin typeface="Roboto"/>
              </a:rPr>
              <a:t>… plus thousands more</a:t>
            </a:r>
          </a:p>
        </p:txBody>
      </p:sp>
      <p:sp>
        <p:nvSpPr>
          <p:cNvPr id="25" name="TextBox 24"/>
          <p:cNvSpPr txBox="1"/>
          <p:nvPr/>
        </p:nvSpPr>
        <p:spPr>
          <a:xfrm>
            <a:off x="3200400" y="1920240"/>
            <a:ext cx="1371600" cy="228600"/>
          </a:xfrm>
          <a:prstGeom prst="rect">
            <a:avLst/>
          </a:prstGeom>
          <a:noFill/>
        </p:spPr>
        <p:txBody>
          <a:bodyPr wrap="square" lIns="0" tIns="0" rIns="0" bIns="0" anchor="t">
            <a:spAutoFit/>
          </a:bodyPr>
          <a:lstStyle/>
          <a:p>
            <a:pPr algn="l"/>
            <a:r>
              <a:rPr sz="850" b="0" spc="100">
                <a:solidFill>
                  <a:srgbClr val="1B9AAA"/>
                </a:solidFill>
                <a:latin typeface="JetBrains Mono"/>
              </a:rPr>
              <a:t>STEP 2: TRAINING</a:t>
            </a:r>
          </a:p>
        </p:txBody>
      </p:sp>
      <p:sp>
        <p:nvSpPr>
          <p:cNvPr id="26" name="Oval 25"/>
          <p:cNvSpPr/>
          <p:nvPr/>
        </p:nvSpPr>
        <p:spPr>
          <a:xfrm>
            <a:off x="3364991" y="2377440"/>
            <a:ext cx="914400" cy="914400"/>
          </a:xfrm>
          <a:prstGeom prst="ellipse">
            <a:avLst/>
          </a:prstGeom>
          <a:solidFill>
            <a:srgbClr val="1B9AAA">
              <a:alpha val="18000"/>
            </a:srgbClr>
          </a:solidFill>
          <a:ln w="9525">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364991" y="2679192"/>
            <a:ext cx="914400" cy="320040"/>
          </a:xfrm>
          <a:prstGeom prst="rect">
            <a:avLst/>
          </a:prstGeom>
          <a:noFill/>
        </p:spPr>
        <p:txBody>
          <a:bodyPr wrap="square" lIns="0" tIns="0" rIns="0" bIns="0" anchor="t">
            <a:spAutoFit/>
          </a:bodyPr>
          <a:lstStyle/>
          <a:p>
            <a:pPr algn="ctr"/>
            <a:r>
              <a:rPr sz="1500" b="0">
                <a:solidFill>
                  <a:srgbClr val="0D1B2A"/>
                </a:solidFill>
                <a:latin typeface="Oswald"/>
              </a:rPr>
              <a:t>Learn</a:t>
            </a:r>
          </a:p>
        </p:txBody>
      </p:sp>
      <p:sp>
        <p:nvSpPr>
          <p:cNvPr id="28" name="TextBox 27"/>
          <p:cNvSpPr txBox="1"/>
          <p:nvPr/>
        </p:nvSpPr>
        <p:spPr>
          <a:xfrm>
            <a:off x="4846320" y="1920240"/>
            <a:ext cx="2011680" cy="228600"/>
          </a:xfrm>
          <a:prstGeom prst="rect">
            <a:avLst/>
          </a:prstGeom>
          <a:noFill/>
        </p:spPr>
        <p:txBody>
          <a:bodyPr wrap="square" lIns="0" tIns="0" rIns="0" bIns="0" anchor="t">
            <a:spAutoFit/>
          </a:bodyPr>
          <a:lstStyle/>
          <a:p>
            <a:pPr algn="l"/>
            <a:r>
              <a:rPr sz="850" b="0" spc="100">
                <a:solidFill>
                  <a:srgbClr val="1B9AAA"/>
                </a:solidFill>
                <a:latin typeface="JetBrains Mono"/>
              </a:rPr>
              <a:t>STEP 3: LEARNED PATTERNS</a:t>
            </a:r>
          </a:p>
        </p:txBody>
      </p:sp>
      <p:sp>
        <p:nvSpPr>
          <p:cNvPr id="29" name="Rounded Rectangle 28"/>
          <p:cNvSpPr/>
          <p:nvPr/>
        </p:nvSpPr>
        <p:spPr>
          <a:xfrm>
            <a:off x="4864608" y="2176272"/>
            <a:ext cx="566928" cy="219456"/>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800">
                <a:solidFill>
                  <a:srgbClr val="0D1B2A"/>
                </a:solidFill>
                <a:latin typeface="JetBrains Mono"/>
              </a:rPr>
              <a:t>◄ OK</a:t>
            </a:r>
          </a:p>
        </p:txBody>
      </p:sp>
      <p:sp>
        <p:nvSpPr>
          <p:cNvPr id="30" name="Rounded Rectangle 29"/>
          <p:cNvSpPr/>
          <p:nvPr/>
        </p:nvSpPr>
        <p:spPr>
          <a:xfrm>
            <a:off x="6089904" y="2176272"/>
            <a:ext cx="566928" cy="219456"/>
          </a:xfrm>
          <a:prstGeom prst="roundRect">
            <a:avLst>
              <a:gd name="adj" fmla="val 18000"/>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800">
                <a:solidFill>
                  <a:srgbClr val="06D6A0"/>
                </a:solidFill>
                <a:latin typeface="JetBrains Mono"/>
              </a:rPr>
              <a:t>SPAM ►</a:t>
            </a:r>
          </a:p>
        </p:txBody>
      </p:sp>
      <p:cxnSp>
        <p:nvCxnSpPr>
          <p:cNvPr id="31" name="Connector 30"/>
          <p:cNvCxnSpPr/>
          <p:nvPr/>
        </p:nvCxnSpPr>
        <p:spPr>
          <a:xfrm>
            <a:off x="5760720" y="2432304"/>
            <a:ext cx="0" cy="1097280"/>
          </a:xfrm>
          <a:prstGeom prst="line">
            <a:avLst/>
          </a:prstGeom>
          <a:ln w="12700">
            <a:solidFill>
              <a:srgbClr val="8FA6B2"/>
            </a:solidFill>
          </a:ln>
        </p:spPr>
        <p:style>
          <a:lnRef idx="2">
            <a:schemeClr val="accent1"/>
          </a:lnRef>
          <a:fillRef idx="0">
            <a:schemeClr val="accent1"/>
          </a:fillRef>
          <a:effectRef idx="1">
            <a:schemeClr val="accent1"/>
          </a:effectRef>
          <a:fontRef idx="minor">
            <a:schemeClr val="tx1"/>
          </a:fontRef>
        </p:style>
      </p:cxnSp>
      <p:sp>
        <p:nvSpPr>
          <p:cNvPr id="32" name="Rectangle 31"/>
          <p:cNvSpPr/>
          <p:nvPr/>
        </p:nvSpPr>
        <p:spPr>
          <a:xfrm>
            <a:off x="5760720" y="2487168"/>
            <a:ext cx="781812" cy="128016"/>
          </a:xfrm>
          <a:prstGeom prst="rect">
            <a:avLst/>
          </a:prstGeom>
          <a:solidFill>
            <a:srgbClr val="06D6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956048" y="2450592"/>
            <a:ext cx="731520" cy="201168"/>
          </a:xfrm>
          <a:prstGeom prst="rect">
            <a:avLst/>
          </a:prstGeom>
          <a:noFill/>
        </p:spPr>
        <p:txBody>
          <a:bodyPr wrap="square" lIns="0" tIns="0" rIns="0" bIns="0" anchor="t">
            <a:spAutoFit/>
          </a:bodyPr>
          <a:lstStyle/>
          <a:p>
            <a:pPr algn="r"/>
            <a:r>
              <a:rPr sz="900" b="0">
                <a:solidFill>
                  <a:srgbClr val="0D1B2A"/>
                </a:solidFill>
                <a:latin typeface="JetBrains Mono"/>
              </a:rPr>
              <a:t>prize</a:t>
            </a:r>
          </a:p>
        </p:txBody>
      </p:sp>
      <p:sp>
        <p:nvSpPr>
          <p:cNvPr id="34" name="Rectangle 33"/>
          <p:cNvSpPr/>
          <p:nvPr/>
        </p:nvSpPr>
        <p:spPr>
          <a:xfrm>
            <a:off x="5760720" y="2706624"/>
            <a:ext cx="699516" cy="128016"/>
          </a:xfrm>
          <a:prstGeom prst="rect">
            <a:avLst/>
          </a:prstGeom>
          <a:solidFill>
            <a:srgbClr val="06D6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956048" y="2670048"/>
            <a:ext cx="731520" cy="201168"/>
          </a:xfrm>
          <a:prstGeom prst="rect">
            <a:avLst/>
          </a:prstGeom>
          <a:noFill/>
        </p:spPr>
        <p:txBody>
          <a:bodyPr wrap="square" lIns="0" tIns="0" rIns="0" bIns="0" anchor="t">
            <a:spAutoFit/>
          </a:bodyPr>
          <a:lstStyle/>
          <a:p>
            <a:pPr algn="r"/>
            <a:r>
              <a:rPr sz="900" b="0">
                <a:solidFill>
                  <a:srgbClr val="0D1B2A"/>
                </a:solidFill>
                <a:latin typeface="JetBrains Mono"/>
              </a:rPr>
              <a:t>free</a:t>
            </a:r>
          </a:p>
        </p:txBody>
      </p:sp>
      <p:sp>
        <p:nvSpPr>
          <p:cNvPr id="36" name="Rectangle 35"/>
          <p:cNvSpPr/>
          <p:nvPr/>
        </p:nvSpPr>
        <p:spPr>
          <a:xfrm>
            <a:off x="5760720" y="2926080"/>
            <a:ext cx="493776" cy="128016"/>
          </a:xfrm>
          <a:prstGeom prst="rect">
            <a:avLst/>
          </a:prstGeom>
          <a:solidFill>
            <a:srgbClr val="06D6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956048" y="2889504"/>
            <a:ext cx="731520" cy="201168"/>
          </a:xfrm>
          <a:prstGeom prst="rect">
            <a:avLst/>
          </a:prstGeom>
          <a:noFill/>
        </p:spPr>
        <p:txBody>
          <a:bodyPr wrap="square" lIns="0" tIns="0" rIns="0" bIns="0" anchor="t">
            <a:spAutoFit/>
          </a:bodyPr>
          <a:lstStyle/>
          <a:p>
            <a:pPr algn="r"/>
            <a:r>
              <a:rPr sz="900" b="0">
                <a:solidFill>
                  <a:srgbClr val="0D1B2A"/>
                </a:solidFill>
                <a:latin typeface="JetBrains Mono"/>
              </a:rPr>
              <a:t>claim</a:t>
            </a:r>
          </a:p>
        </p:txBody>
      </p:sp>
      <p:sp>
        <p:nvSpPr>
          <p:cNvPr id="38" name="Rectangle 37"/>
          <p:cNvSpPr/>
          <p:nvPr/>
        </p:nvSpPr>
        <p:spPr>
          <a:xfrm>
            <a:off x="5143500" y="3145536"/>
            <a:ext cx="617220" cy="12801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833872" y="3108960"/>
            <a:ext cx="731520" cy="201168"/>
          </a:xfrm>
          <a:prstGeom prst="rect">
            <a:avLst/>
          </a:prstGeom>
          <a:noFill/>
        </p:spPr>
        <p:txBody>
          <a:bodyPr wrap="square" lIns="0" tIns="0" rIns="0" bIns="0" anchor="t">
            <a:spAutoFit/>
          </a:bodyPr>
          <a:lstStyle/>
          <a:p>
            <a:pPr algn="l"/>
            <a:r>
              <a:rPr sz="900" b="0">
                <a:solidFill>
                  <a:srgbClr val="0D1B2A"/>
                </a:solidFill>
                <a:latin typeface="JetBrains Mono"/>
              </a:rPr>
              <a:t>meeting</a:t>
            </a:r>
          </a:p>
        </p:txBody>
      </p:sp>
      <p:sp>
        <p:nvSpPr>
          <p:cNvPr id="40" name="Rectangle 39"/>
          <p:cNvSpPr/>
          <p:nvPr/>
        </p:nvSpPr>
        <p:spPr>
          <a:xfrm>
            <a:off x="5266944" y="3364992"/>
            <a:ext cx="493776" cy="12801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5833872" y="3328416"/>
            <a:ext cx="731520" cy="201168"/>
          </a:xfrm>
          <a:prstGeom prst="rect">
            <a:avLst/>
          </a:prstGeom>
          <a:noFill/>
        </p:spPr>
        <p:txBody>
          <a:bodyPr wrap="square" lIns="0" tIns="0" rIns="0" bIns="0" anchor="t">
            <a:spAutoFit/>
          </a:bodyPr>
          <a:lstStyle/>
          <a:p>
            <a:pPr algn="l"/>
            <a:r>
              <a:rPr sz="900" b="0">
                <a:solidFill>
                  <a:srgbClr val="0D1B2A"/>
                </a:solidFill>
                <a:latin typeface="JetBrains Mono"/>
              </a:rPr>
              <a:t>minutes</a:t>
            </a:r>
          </a:p>
        </p:txBody>
      </p:sp>
      <p:sp>
        <p:nvSpPr>
          <p:cNvPr id="42" name="TextBox 41"/>
          <p:cNvSpPr txBox="1"/>
          <p:nvPr/>
        </p:nvSpPr>
        <p:spPr>
          <a:xfrm>
            <a:off x="7059168" y="1920240"/>
            <a:ext cx="1554480" cy="228600"/>
          </a:xfrm>
          <a:prstGeom prst="rect">
            <a:avLst/>
          </a:prstGeom>
          <a:noFill/>
        </p:spPr>
        <p:txBody>
          <a:bodyPr wrap="square" lIns="0" tIns="0" rIns="0" bIns="0" anchor="t">
            <a:spAutoFit/>
          </a:bodyPr>
          <a:lstStyle/>
          <a:p>
            <a:pPr algn="l"/>
            <a:r>
              <a:rPr sz="850" b="0" spc="100">
                <a:solidFill>
                  <a:srgbClr val="1B9AAA"/>
                </a:solidFill>
                <a:latin typeface="JetBrains Mono"/>
              </a:rPr>
              <a:t>STEP 4: CLASSIFICATION</a:t>
            </a:r>
          </a:p>
        </p:txBody>
      </p:sp>
      <p:sp>
        <p:nvSpPr>
          <p:cNvPr id="43" name="Rounded Rectangle 42"/>
          <p:cNvSpPr/>
          <p:nvPr/>
        </p:nvSpPr>
        <p:spPr>
          <a:xfrm>
            <a:off x="7059168" y="2395728"/>
            <a:ext cx="1472184" cy="420624"/>
          </a:xfrm>
          <a:prstGeom prst="roundRect">
            <a:avLst>
              <a:gd name="adj" fmla="val 18000"/>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00">
                <a:solidFill>
                  <a:srgbClr val="0D1B2A"/>
                </a:solidFill>
                <a:latin typeface="Roboto"/>
              </a:rPr>
              <a:t>“Claim your prize today!”</a:t>
            </a:r>
          </a:p>
        </p:txBody>
      </p:sp>
      <p:cxnSp>
        <p:nvCxnSpPr>
          <p:cNvPr id="44" name="Connector 43"/>
          <p:cNvCxnSpPr/>
          <p:nvPr/>
        </p:nvCxnSpPr>
        <p:spPr>
          <a:xfrm>
            <a:off x="7795260" y="2852928"/>
            <a:ext cx="0" cy="237744"/>
          </a:xfrm>
          <a:prstGeom prst="line">
            <a:avLst/>
          </a:prstGeom>
          <a:ln w="15875">
            <a:solidFill>
              <a:srgbClr val="1B9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5" name="Rounded Rectangle 44"/>
          <p:cNvSpPr/>
          <p:nvPr/>
        </p:nvSpPr>
        <p:spPr>
          <a:xfrm>
            <a:off x="7059168" y="3127248"/>
            <a:ext cx="1472184" cy="329184"/>
          </a:xfrm>
          <a:prstGeom prst="roundRect">
            <a:avLst>
              <a:gd name="adj" fmla="val 18000"/>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06D6A0"/>
                </a:solidFill>
                <a:latin typeface="JetBrains Mono"/>
              </a:rPr>
              <a:t>SPAM · 94%</a:t>
            </a:r>
          </a:p>
        </p:txBody>
      </p:sp>
      <p:sp>
        <p:nvSpPr>
          <p:cNvPr id="46" name="TextBox 45"/>
          <p:cNvSpPr txBox="1"/>
          <p:nvPr/>
        </p:nvSpPr>
        <p:spPr>
          <a:xfrm>
            <a:off x="7059168" y="3529584"/>
            <a:ext cx="1563624" cy="228600"/>
          </a:xfrm>
          <a:prstGeom prst="rect">
            <a:avLst/>
          </a:prstGeom>
          <a:noFill/>
        </p:spPr>
        <p:txBody>
          <a:bodyPr wrap="square" lIns="0" tIns="0" rIns="0" bIns="0" anchor="t">
            <a:spAutoFit/>
          </a:bodyPr>
          <a:lstStyle/>
          <a:p>
            <a:pPr algn="l"/>
            <a:r>
              <a:rPr sz="950" b="0">
                <a:solidFill>
                  <a:srgbClr val="1B9AAA"/>
                </a:solidFill>
                <a:latin typeface="Roboto"/>
              </a:rPr>
              <a:t>Caught, with no new rule</a:t>
            </a:r>
          </a:p>
        </p:txBody>
      </p:sp>
      <p:sp>
        <p:nvSpPr>
          <p:cNvPr id="47" name="Rectangle 46"/>
          <p:cNvSpPr/>
          <p:nvPr/>
        </p:nvSpPr>
        <p:spPr>
          <a:xfrm>
            <a:off x="566928" y="4005072"/>
            <a:ext cx="8138160" cy="475488"/>
          </a:xfrm>
          <a:prstGeom prst="rect">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566928" y="4005072"/>
            <a:ext cx="54864" cy="475488"/>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777240" y="4133087"/>
            <a:ext cx="7818120" cy="274320"/>
          </a:xfrm>
          <a:prstGeom prst="rect">
            <a:avLst/>
          </a:prstGeom>
          <a:noFill/>
        </p:spPr>
        <p:txBody>
          <a:bodyPr wrap="square" lIns="0" tIns="0" rIns="0" bIns="0" anchor="t">
            <a:spAutoFit/>
          </a:bodyPr>
          <a:lstStyle/>
          <a:p>
            <a:pPr algn="l"/>
            <a:r>
              <a:rPr sz="1050" b="0">
                <a:solidFill>
                  <a:srgbClr val="14293D"/>
                </a:solidFill>
                <a:latin typeface="Roboto"/>
              </a:rPr>
              <a:t>1959: Arthur Samuel's checkers program learns by playing against itself and gives “machine learning” its name.</a:t>
            </a:r>
          </a:p>
        </p:txBody>
      </p:sp>
      <p:sp>
        <p:nvSpPr>
          <p:cNvPr id="50" name="Rectangle 49"/>
          <p:cNvSpPr/>
          <p:nvPr/>
        </p:nvSpPr>
        <p:spPr>
          <a:xfrm>
            <a:off x="566928" y="4681727"/>
            <a:ext cx="45720" cy="21945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713232" y="4663440"/>
            <a:ext cx="7991856" cy="274320"/>
          </a:xfrm>
          <a:prstGeom prst="rect">
            <a:avLst/>
          </a:prstGeom>
          <a:noFill/>
        </p:spPr>
        <p:txBody>
          <a:bodyPr wrap="square" lIns="0" tIns="0" rIns="0" bIns="0" anchor="t">
            <a:spAutoFit/>
          </a:bodyPr>
          <a:lstStyle/>
          <a:p>
            <a:pPr algn="l"/>
            <a:r>
              <a:rPr sz="1200" b="0">
                <a:solidFill>
                  <a:srgbClr val="0D1B2A"/>
                </a:solidFill>
                <a:latin typeface="Roboto"/>
              </a:rPr>
              <a:t>Data + answers → rules. The more good examples, the better the learned rules.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514350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6309360" y="2514600"/>
            <a:ext cx="3474720" cy="3474720"/>
          </a:xfrm>
          <a:prstGeom prst="ellipse">
            <a:avLst/>
          </a:prstGeom>
          <a:solidFill>
            <a:srgbClr val="1B9AAA">
              <a:alpha val="12000"/>
            </a:srgbClr>
          </a:solidFill>
          <a:ln w="9525">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7772400" y="1737360"/>
            <a:ext cx="2194560" cy="2194560"/>
          </a:xfrm>
          <a:prstGeom prst="ellipse">
            <a:avLst/>
          </a:prstGeom>
          <a:solidFill>
            <a:srgbClr val="06D6A0">
              <a:alpha val="10000"/>
            </a:srgbClr>
          </a:solidFill>
          <a:ln w="9525">
            <a:solidFill>
              <a:srgbClr val="06D6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822960" y="1600200"/>
            <a:ext cx="822960" cy="41148"/>
          </a:xfrm>
          <a:prstGeom prst="rect">
            <a:avLst/>
          </a:prstGeom>
          <a:solidFill>
            <a:srgbClr val="06D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slide-ml-outperforms"/>
          <p:cNvSpPr txBox="1"/>
          <p:nvPr/>
        </p:nvSpPr>
        <p:spPr>
          <a:xfrm>
            <a:off x="822960" y="1783080"/>
            <a:ext cx="6035040" cy="1828800"/>
          </a:xfrm>
          <a:prstGeom prst="rect">
            <a:avLst/>
          </a:prstGeom>
          <a:noFill/>
        </p:spPr>
        <p:txBody>
          <a:bodyPr wrap="square" lIns="0" tIns="0" rIns="0" bIns="0" anchor="t">
            <a:spAutoFit/>
          </a:bodyPr>
          <a:lstStyle/>
          <a:p>
            <a:pPr algn="l"/>
            <a:r>
              <a:rPr sz="3600" b="0">
                <a:solidFill>
                  <a:srgbClr val="0D1B2A"/>
                </a:solidFill>
                <a:latin typeface="Oswald"/>
              </a:rPr>
              <a:t>Both streams ran side by side. Machine Learning took the lead from the 1990s, as data and computing power grew.</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Oval 1"/>
          <p:cNvSpPr/>
          <p:nvPr/>
        </p:nvSpPr>
        <p:spPr>
          <a:xfrm>
            <a:off x="4572000" y="320040"/>
            <a:ext cx="4572000" cy="4572000"/>
          </a:xfrm>
          <a:prstGeom prst="ellipse">
            <a:avLst/>
          </a:prstGeom>
          <a:solidFill>
            <a:srgbClr val="1B9AAA">
              <a:alpha val="6000"/>
            </a:srgbClr>
          </a:solidFill>
          <a:ln w="635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 name="Connector 2"/>
          <p:cNvCxnSpPr/>
          <p:nvPr/>
        </p:nvCxnSpPr>
        <p:spPr>
          <a:xfrm>
            <a:off x="6309360" y="1234440"/>
            <a:ext cx="0" cy="25146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H="1">
            <a:off x="5349240" y="1485900"/>
            <a:ext cx="960120" cy="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349240" y="1485900"/>
            <a:ext cx="0" cy="25146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309360" y="1234440"/>
            <a:ext cx="0" cy="251460"/>
          </a:xfrm>
          <a:prstGeom prst="line">
            <a:avLst/>
          </a:prstGeom>
          <a:ln w="25400">
            <a:solidFill>
              <a:srgbClr val="1B9AAA"/>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309360" y="1485900"/>
            <a:ext cx="960120" cy="0"/>
          </a:xfrm>
          <a:prstGeom prst="line">
            <a:avLst/>
          </a:prstGeom>
          <a:ln w="25400">
            <a:solidFill>
              <a:srgbClr val="1B9AAA"/>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269480" y="1485900"/>
            <a:ext cx="0" cy="251460"/>
          </a:xfrm>
          <a:prstGeom prst="line">
            <a:avLst/>
          </a:prstGeom>
          <a:ln w="25400">
            <a:solidFill>
              <a:srgbClr val="1B9AAA"/>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269480" y="2286000"/>
            <a:ext cx="0" cy="251460"/>
          </a:xfrm>
          <a:prstGeom prst="line">
            <a:avLst/>
          </a:prstGeom>
          <a:ln w="25400">
            <a:solidFill>
              <a:srgbClr val="1B9AAA"/>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6583680" y="2537460"/>
            <a:ext cx="685800" cy="0"/>
          </a:xfrm>
          <a:prstGeom prst="line">
            <a:avLst/>
          </a:prstGeom>
          <a:ln w="25400">
            <a:solidFill>
              <a:srgbClr val="1B9AAA"/>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583680" y="2537460"/>
            <a:ext cx="0" cy="251460"/>
          </a:xfrm>
          <a:prstGeom prst="line">
            <a:avLst/>
          </a:prstGeom>
          <a:ln w="25400">
            <a:solidFill>
              <a:srgbClr val="1B9AAA"/>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583680" y="3337560"/>
            <a:ext cx="0" cy="25146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5715000" y="3589020"/>
            <a:ext cx="868680" cy="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715000" y="3589020"/>
            <a:ext cx="0" cy="25146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583680" y="3337560"/>
            <a:ext cx="0" cy="25146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583680" y="3589020"/>
            <a:ext cx="868680" cy="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7452360" y="3589020"/>
            <a:ext cx="0" cy="25146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309360" y="1485900"/>
            <a:ext cx="2194560" cy="0"/>
          </a:xfrm>
          <a:prstGeom prst="line">
            <a:avLst/>
          </a:prstGeom>
          <a:ln w="9525">
            <a:solidFill>
              <a:srgbClr val="8FA6B2"/>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8503920" y="1485900"/>
            <a:ext cx="0" cy="324612"/>
          </a:xfrm>
          <a:prstGeom prst="line">
            <a:avLst/>
          </a:prstGeom>
          <a:ln w="9525">
            <a:solidFill>
              <a:srgbClr val="8FA6B2"/>
            </a:solidFill>
            <a:prstDash val="dash"/>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8343900" y="1920240"/>
            <a:ext cx="64008" cy="64008"/>
          </a:xfrm>
          <a:prstGeom prst="ellipse">
            <a:avLst/>
          </a:prstGeom>
          <a:solidFill>
            <a:srgbClr val="8FA6B2">
              <a:alpha val="100000"/>
            </a:srgbClr>
          </a:solidFill>
          <a:ln w="6350">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8471916" y="1920240"/>
            <a:ext cx="64008" cy="64008"/>
          </a:xfrm>
          <a:prstGeom prst="ellipse">
            <a:avLst/>
          </a:prstGeom>
          <a:solidFill>
            <a:srgbClr val="8FA6B2">
              <a:alpha val="100000"/>
            </a:srgbClr>
          </a:solidFill>
          <a:ln w="6350">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8599932" y="1920240"/>
            <a:ext cx="64008" cy="64008"/>
          </a:xfrm>
          <a:prstGeom prst="ellipse">
            <a:avLst/>
          </a:prstGeom>
          <a:solidFill>
            <a:srgbClr val="8FA6B2">
              <a:alpha val="100000"/>
            </a:srgbClr>
          </a:solidFill>
          <a:ln w="6350">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3" name="Connector 22"/>
          <p:cNvCxnSpPr/>
          <p:nvPr/>
        </p:nvCxnSpPr>
        <p:spPr>
          <a:xfrm>
            <a:off x="7269480" y="2537460"/>
            <a:ext cx="1234440" cy="0"/>
          </a:xfrm>
          <a:prstGeom prst="line">
            <a:avLst/>
          </a:prstGeom>
          <a:ln w="9525">
            <a:solidFill>
              <a:srgbClr val="8FA6B2"/>
            </a:solidFill>
            <a:prstDash val="dash"/>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8503920" y="2537460"/>
            <a:ext cx="0" cy="324612"/>
          </a:xfrm>
          <a:prstGeom prst="line">
            <a:avLst/>
          </a:prstGeom>
          <a:ln w="9525">
            <a:solidFill>
              <a:srgbClr val="8FA6B2"/>
            </a:solidFill>
            <a:prstDash val="dash"/>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8343900" y="2971800"/>
            <a:ext cx="64008" cy="64008"/>
          </a:xfrm>
          <a:prstGeom prst="ellipse">
            <a:avLst/>
          </a:prstGeom>
          <a:solidFill>
            <a:srgbClr val="8FA6B2">
              <a:alpha val="100000"/>
            </a:srgbClr>
          </a:solidFill>
          <a:ln w="6350">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8471916" y="2971800"/>
            <a:ext cx="64008" cy="64008"/>
          </a:xfrm>
          <a:prstGeom prst="ellipse">
            <a:avLst/>
          </a:prstGeom>
          <a:solidFill>
            <a:srgbClr val="8FA6B2">
              <a:alpha val="100000"/>
            </a:srgbClr>
          </a:solidFill>
          <a:ln w="6350">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8599932" y="2971800"/>
            <a:ext cx="64008" cy="64008"/>
          </a:xfrm>
          <a:prstGeom prst="ellipse">
            <a:avLst/>
          </a:prstGeom>
          <a:solidFill>
            <a:srgbClr val="8FA6B2">
              <a:alpha val="100000"/>
            </a:srgbClr>
          </a:solidFill>
          <a:ln w="6350">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5509260" y="685800"/>
            <a:ext cx="1600200" cy="548640"/>
          </a:xfrm>
          <a:prstGeom prst="roundRect">
            <a:avLst>
              <a:gd name="adj" fmla="val 18000"/>
            </a:avLst>
          </a:prstGeom>
          <a:solidFill>
            <a:srgbClr val="14293D"/>
          </a:solidFill>
          <a:ln w="1905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509260" y="749808"/>
            <a:ext cx="1600200" cy="274320"/>
          </a:xfrm>
          <a:prstGeom prst="rect">
            <a:avLst/>
          </a:prstGeom>
          <a:noFill/>
        </p:spPr>
        <p:txBody>
          <a:bodyPr wrap="square" lIns="0" tIns="0" rIns="0" bIns="0" anchor="t">
            <a:spAutoFit/>
          </a:bodyPr>
          <a:lstStyle/>
          <a:p>
            <a:pPr algn="ctr"/>
            <a:r>
              <a:rPr sz="1300" b="0">
                <a:solidFill>
                  <a:srgbClr val="FFFFFF"/>
                </a:solidFill>
                <a:latin typeface="Oswald"/>
              </a:rPr>
              <a:t>Artificial Intelligence</a:t>
            </a:r>
          </a:p>
        </p:txBody>
      </p:sp>
      <p:sp>
        <p:nvSpPr>
          <p:cNvPr id="30" name="TextBox 29"/>
          <p:cNvSpPr txBox="1"/>
          <p:nvPr/>
        </p:nvSpPr>
        <p:spPr>
          <a:xfrm>
            <a:off x="5509260" y="1014983"/>
            <a:ext cx="1600200" cy="182880"/>
          </a:xfrm>
          <a:prstGeom prst="rect">
            <a:avLst/>
          </a:prstGeom>
          <a:noFill/>
        </p:spPr>
        <p:txBody>
          <a:bodyPr wrap="square" lIns="0" tIns="0" rIns="0" bIns="0" anchor="t">
            <a:spAutoFit/>
          </a:bodyPr>
          <a:lstStyle/>
          <a:p>
            <a:pPr algn="ctr"/>
            <a:r>
              <a:rPr sz="850" b="0" spc="100">
                <a:solidFill>
                  <a:srgbClr val="1B9AAA"/>
                </a:solidFill>
                <a:latin typeface="JetBrains Mono"/>
              </a:rPr>
              <a:t>1955</a:t>
            </a:r>
          </a:p>
        </p:txBody>
      </p:sp>
      <p:sp>
        <p:nvSpPr>
          <p:cNvPr id="31" name="Rounded Rectangle 30"/>
          <p:cNvSpPr/>
          <p:nvPr/>
        </p:nvSpPr>
        <p:spPr>
          <a:xfrm>
            <a:off x="4549140" y="1737360"/>
            <a:ext cx="1600200" cy="548640"/>
          </a:xfrm>
          <a:prstGeom prst="roundRect">
            <a:avLst>
              <a:gd name="adj" fmla="val 18000"/>
            </a:avLst>
          </a:prstGeom>
          <a:solidFill>
            <a:srgbClr val="0D1B2A"/>
          </a:solidFill>
          <a:ln w="9525">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549140" y="1801368"/>
            <a:ext cx="1600200" cy="274320"/>
          </a:xfrm>
          <a:prstGeom prst="rect">
            <a:avLst/>
          </a:prstGeom>
          <a:noFill/>
        </p:spPr>
        <p:txBody>
          <a:bodyPr wrap="square" lIns="0" tIns="0" rIns="0" bIns="0" anchor="t">
            <a:spAutoFit/>
          </a:bodyPr>
          <a:lstStyle/>
          <a:p>
            <a:pPr algn="ctr"/>
            <a:r>
              <a:rPr sz="1300" b="0">
                <a:solidFill>
                  <a:srgbClr val="8FA6B2"/>
                </a:solidFill>
                <a:latin typeface="Oswald"/>
              </a:rPr>
              <a:t>Rule-based AI</a:t>
            </a:r>
          </a:p>
        </p:txBody>
      </p:sp>
      <p:sp>
        <p:nvSpPr>
          <p:cNvPr id="33" name="TextBox 32"/>
          <p:cNvSpPr txBox="1"/>
          <p:nvPr/>
        </p:nvSpPr>
        <p:spPr>
          <a:xfrm>
            <a:off x="4549140" y="2066543"/>
            <a:ext cx="1600200" cy="182880"/>
          </a:xfrm>
          <a:prstGeom prst="rect">
            <a:avLst/>
          </a:prstGeom>
          <a:noFill/>
        </p:spPr>
        <p:txBody>
          <a:bodyPr wrap="square" lIns="0" tIns="0" rIns="0" bIns="0" anchor="t">
            <a:spAutoFit/>
          </a:bodyPr>
          <a:lstStyle/>
          <a:p>
            <a:pPr algn="ctr"/>
            <a:r>
              <a:rPr sz="850" b="0" spc="100">
                <a:solidFill>
                  <a:srgbClr val="8FA6B2"/>
                </a:solidFill>
                <a:latin typeface="JetBrains Mono"/>
              </a:rPr>
              <a:t>1950s</a:t>
            </a:r>
          </a:p>
        </p:txBody>
      </p:sp>
      <p:sp>
        <p:nvSpPr>
          <p:cNvPr id="34" name="Rounded Rectangle 33"/>
          <p:cNvSpPr/>
          <p:nvPr/>
        </p:nvSpPr>
        <p:spPr>
          <a:xfrm>
            <a:off x="6469380" y="1737360"/>
            <a:ext cx="1600200" cy="548640"/>
          </a:xfrm>
          <a:prstGeom prst="roundRect">
            <a:avLst>
              <a:gd name="adj" fmla="val 18000"/>
            </a:avLst>
          </a:prstGeom>
          <a:solidFill>
            <a:srgbClr val="14293D"/>
          </a:solidFill>
          <a:ln w="1905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469380" y="1801368"/>
            <a:ext cx="1600200" cy="274320"/>
          </a:xfrm>
          <a:prstGeom prst="rect">
            <a:avLst/>
          </a:prstGeom>
          <a:noFill/>
        </p:spPr>
        <p:txBody>
          <a:bodyPr wrap="square" lIns="0" tIns="0" rIns="0" bIns="0" anchor="t">
            <a:spAutoFit/>
          </a:bodyPr>
          <a:lstStyle/>
          <a:p>
            <a:pPr algn="ctr"/>
            <a:r>
              <a:rPr sz="1300" b="0">
                <a:solidFill>
                  <a:srgbClr val="FFFFFF"/>
                </a:solidFill>
                <a:latin typeface="Oswald"/>
              </a:rPr>
              <a:t>Machine Learning</a:t>
            </a:r>
          </a:p>
        </p:txBody>
      </p:sp>
      <p:sp>
        <p:nvSpPr>
          <p:cNvPr id="36" name="TextBox 35"/>
          <p:cNvSpPr txBox="1"/>
          <p:nvPr/>
        </p:nvSpPr>
        <p:spPr>
          <a:xfrm>
            <a:off x="6469380" y="2066543"/>
            <a:ext cx="1600200" cy="182880"/>
          </a:xfrm>
          <a:prstGeom prst="rect">
            <a:avLst/>
          </a:prstGeom>
          <a:noFill/>
        </p:spPr>
        <p:txBody>
          <a:bodyPr wrap="square" lIns="0" tIns="0" rIns="0" bIns="0" anchor="t">
            <a:spAutoFit/>
          </a:bodyPr>
          <a:lstStyle/>
          <a:p>
            <a:pPr algn="ctr"/>
            <a:r>
              <a:rPr sz="850" b="0" spc="100">
                <a:solidFill>
                  <a:srgbClr val="1B9AAA"/>
                </a:solidFill>
                <a:latin typeface="JetBrains Mono"/>
              </a:rPr>
              <a:t>1959</a:t>
            </a:r>
          </a:p>
        </p:txBody>
      </p:sp>
      <p:sp>
        <p:nvSpPr>
          <p:cNvPr id="37" name="Rounded Rectangle 36"/>
          <p:cNvSpPr/>
          <p:nvPr/>
        </p:nvSpPr>
        <p:spPr>
          <a:xfrm>
            <a:off x="5783580" y="2788920"/>
            <a:ext cx="1600200" cy="548640"/>
          </a:xfrm>
          <a:prstGeom prst="roundRect">
            <a:avLst>
              <a:gd name="adj" fmla="val 18000"/>
            </a:avLst>
          </a:prstGeom>
          <a:solidFill>
            <a:srgbClr val="06D6A0"/>
          </a:solidFill>
          <a:ln w="19050">
            <a:solidFill>
              <a:srgbClr val="06D6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5783580" y="2852927"/>
            <a:ext cx="1600200" cy="274320"/>
          </a:xfrm>
          <a:prstGeom prst="rect">
            <a:avLst/>
          </a:prstGeom>
          <a:noFill/>
        </p:spPr>
        <p:txBody>
          <a:bodyPr wrap="square" lIns="0" tIns="0" rIns="0" bIns="0" anchor="t">
            <a:spAutoFit/>
          </a:bodyPr>
          <a:lstStyle/>
          <a:p>
            <a:pPr algn="ctr"/>
            <a:r>
              <a:rPr sz="1300" b="0">
                <a:solidFill>
                  <a:srgbClr val="0D1B2A"/>
                </a:solidFill>
                <a:latin typeface="Oswald"/>
              </a:rPr>
              <a:t>Deep Learning</a:t>
            </a:r>
          </a:p>
        </p:txBody>
      </p:sp>
      <p:sp>
        <p:nvSpPr>
          <p:cNvPr id="39" name="TextBox 38"/>
          <p:cNvSpPr txBox="1"/>
          <p:nvPr/>
        </p:nvSpPr>
        <p:spPr>
          <a:xfrm>
            <a:off x="5783580" y="3118103"/>
            <a:ext cx="1600200" cy="182880"/>
          </a:xfrm>
          <a:prstGeom prst="rect">
            <a:avLst/>
          </a:prstGeom>
          <a:noFill/>
        </p:spPr>
        <p:txBody>
          <a:bodyPr wrap="square" lIns="0" tIns="0" rIns="0" bIns="0" anchor="t">
            <a:spAutoFit/>
          </a:bodyPr>
          <a:lstStyle/>
          <a:p>
            <a:pPr algn="ctr"/>
            <a:r>
              <a:rPr sz="850" b="0" spc="100">
                <a:solidFill>
                  <a:srgbClr val="0D1B2A"/>
                </a:solidFill>
                <a:latin typeface="JetBrains Mono"/>
              </a:rPr>
              <a:t>2012</a:t>
            </a:r>
          </a:p>
        </p:txBody>
      </p:sp>
      <p:sp>
        <p:nvSpPr>
          <p:cNvPr id="40" name="Rounded Rectangle 39"/>
          <p:cNvSpPr/>
          <p:nvPr/>
        </p:nvSpPr>
        <p:spPr>
          <a:xfrm>
            <a:off x="4914900" y="3840480"/>
            <a:ext cx="1600200" cy="548640"/>
          </a:xfrm>
          <a:prstGeom prst="roundRect">
            <a:avLst>
              <a:gd name="adj" fmla="val 18000"/>
            </a:avLst>
          </a:prstGeom>
          <a:solidFill>
            <a:srgbClr val="0D1B2A"/>
          </a:solidFill>
          <a:ln w="9525">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914900" y="3904488"/>
            <a:ext cx="1600200" cy="274320"/>
          </a:xfrm>
          <a:prstGeom prst="rect">
            <a:avLst/>
          </a:prstGeom>
          <a:noFill/>
        </p:spPr>
        <p:txBody>
          <a:bodyPr wrap="square" lIns="0" tIns="0" rIns="0" bIns="0" anchor="t">
            <a:spAutoFit/>
          </a:bodyPr>
          <a:lstStyle/>
          <a:p>
            <a:pPr algn="ctr"/>
            <a:r>
              <a:rPr sz="1300" b="0">
                <a:solidFill>
                  <a:srgbClr val="8FA6B2"/>
                </a:solidFill>
                <a:latin typeface="Oswald"/>
              </a:rPr>
              <a:t>Generative AI</a:t>
            </a:r>
          </a:p>
        </p:txBody>
      </p:sp>
      <p:sp>
        <p:nvSpPr>
          <p:cNvPr id="42" name="TextBox 41"/>
          <p:cNvSpPr txBox="1"/>
          <p:nvPr/>
        </p:nvSpPr>
        <p:spPr>
          <a:xfrm>
            <a:off x="4914900" y="4169664"/>
            <a:ext cx="1600200" cy="182880"/>
          </a:xfrm>
          <a:prstGeom prst="rect">
            <a:avLst/>
          </a:prstGeom>
          <a:noFill/>
        </p:spPr>
        <p:txBody>
          <a:bodyPr wrap="square" lIns="0" tIns="0" rIns="0" bIns="0" anchor="t">
            <a:spAutoFit/>
          </a:bodyPr>
          <a:lstStyle/>
          <a:p>
            <a:pPr algn="ctr"/>
            <a:r>
              <a:rPr sz="850" b="0" spc="100">
                <a:solidFill>
                  <a:srgbClr val="8FA6B2"/>
                </a:solidFill>
                <a:latin typeface="JetBrains Mono"/>
              </a:rPr>
              <a:t>2018</a:t>
            </a:r>
          </a:p>
        </p:txBody>
      </p:sp>
      <p:sp>
        <p:nvSpPr>
          <p:cNvPr id="43" name="Rounded Rectangle 42"/>
          <p:cNvSpPr/>
          <p:nvPr/>
        </p:nvSpPr>
        <p:spPr>
          <a:xfrm>
            <a:off x="6652260" y="3840480"/>
            <a:ext cx="1600200" cy="548640"/>
          </a:xfrm>
          <a:prstGeom prst="roundRect">
            <a:avLst>
              <a:gd name="adj" fmla="val 18000"/>
            </a:avLst>
          </a:prstGeom>
          <a:solidFill>
            <a:srgbClr val="0D1B2A"/>
          </a:solidFill>
          <a:ln w="9525">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652260" y="3904488"/>
            <a:ext cx="1600200" cy="274320"/>
          </a:xfrm>
          <a:prstGeom prst="rect">
            <a:avLst/>
          </a:prstGeom>
          <a:noFill/>
        </p:spPr>
        <p:txBody>
          <a:bodyPr wrap="square" lIns="0" tIns="0" rIns="0" bIns="0" anchor="t">
            <a:spAutoFit/>
          </a:bodyPr>
          <a:lstStyle/>
          <a:p>
            <a:pPr algn="ctr"/>
            <a:r>
              <a:rPr sz="1300" b="0">
                <a:solidFill>
                  <a:srgbClr val="8FA6B2"/>
                </a:solidFill>
                <a:latin typeface="Oswald"/>
              </a:rPr>
              <a:t>Agentic AI</a:t>
            </a:r>
          </a:p>
        </p:txBody>
      </p:sp>
      <p:sp>
        <p:nvSpPr>
          <p:cNvPr id="45" name="TextBox 44"/>
          <p:cNvSpPr txBox="1"/>
          <p:nvPr/>
        </p:nvSpPr>
        <p:spPr>
          <a:xfrm>
            <a:off x="6652260" y="4169664"/>
            <a:ext cx="1600200" cy="182880"/>
          </a:xfrm>
          <a:prstGeom prst="rect">
            <a:avLst/>
          </a:prstGeom>
          <a:noFill/>
        </p:spPr>
        <p:txBody>
          <a:bodyPr wrap="square" lIns="0" tIns="0" rIns="0" bIns="0" anchor="t">
            <a:spAutoFit/>
          </a:bodyPr>
          <a:lstStyle/>
          <a:p>
            <a:pPr algn="ctr"/>
            <a:r>
              <a:rPr sz="850" b="0" spc="100">
                <a:solidFill>
                  <a:srgbClr val="8FA6B2"/>
                </a:solidFill>
                <a:latin typeface="JetBrains Mono"/>
              </a:rPr>
              <a:t>2024</a:t>
            </a:r>
          </a:p>
        </p:txBody>
      </p:sp>
      <p:sp>
        <p:nvSpPr>
          <p:cNvPr id="46" name="TextBox 45"/>
          <p:cNvSpPr txBox="1"/>
          <p:nvPr/>
        </p:nvSpPr>
        <p:spPr>
          <a:xfrm>
            <a:off x="731520" y="960120"/>
            <a:ext cx="3657600" cy="274320"/>
          </a:xfrm>
          <a:prstGeom prst="rect">
            <a:avLst/>
          </a:prstGeom>
          <a:noFill/>
        </p:spPr>
        <p:txBody>
          <a:bodyPr wrap="square" lIns="0" tIns="0" rIns="0" bIns="0" anchor="t">
            <a:spAutoFit/>
          </a:bodyPr>
          <a:lstStyle/>
          <a:p>
            <a:pPr algn="l"/>
            <a:r>
              <a:rPr sz="1100" b="0" spc="300">
                <a:solidFill>
                  <a:srgbClr val="06D6A0"/>
                </a:solidFill>
                <a:latin typeface="JetBrains Mono"/>
              </a:rPr>
              <a:t>PART 3 OF 5 · SINCE 2012</a:t>
            </a:r>
          </a:p>
        </p:txBody>
      </p:sp>
      <p:sp>
        <p:nvSpPr>
          <p:cNvPr id="47" name="section-dl"/>
          <p:cNvSpPr txBox="1"/>
          <p:nvPr/>
        </p:nvSpPr>
        <p:spPr>
          <a:xfrm>
            <a:off x="731520" y="1234440"/>
            <a:ext cx="3657600" cy="1554480"/>
          </a:xfrm>
          <a:prstGeom prst="rect">
            <a:avLst/>
          </a:prstGeom>
          <a:noFill/>
        </p:spPr>
        <p:txBody>
          <a:bodyPr wrap="square" lIns="0" tIns="0" rIns="0" bIns="0" anchor="t">
            <a:spAutoFit/>
          </a:bodyPr>
          <a:lstStyle/>
          <a:p>
            <a:pPr algn="l"/>
            <a:r>
              <a:rPr sz="4800" b="0">
                <a:solidFill>
                  <a:srgbClr val="FFFFFF"/>
                </a:solidFill>
                <a:latin typeface="Oswald"/>
              </a:rPr>
              <a:t>Deep</a:t>
            </a:r>
          </a:p>
          <a:p>
            <a:pPr algn="l"/>
            <a:r>
              <a:rPr sz="4800" b="0">
                <a:solidFill>
                  <a:srgbClr val="FFFFFF"/>
                </a:solidFill>
                <a:latin typeface="Oswald"/>
              </a:rPr>
              <a:t>Learning</a:t>
            </a:r>
          </a:p>
        </p:txBody>
      </p:sp>
      <p:sp>
        <p:nvSpPr>
          <p:cNvPr id="48" name="TextBox 47"/>
          <p:cNvSpPr txBox="1"/>
          <p:nvPr/>
        </p:nvSpPr>
        <p:spPr>
          <a:xfrm>
            <a:off x="731520" y="2834640"/>
            <a:ext cx="3566160" cy="502920"/>
          </a:xfrm>
          <a:prstGeom prst="rect">
            <a:avLst/>
          </a:prstGeom>
          <a:noFill/>
        </p:spPr>
        <p:txBody>
          <a:bodyPr wrap="square" lIns="0" tIns="0" rIns="0" bIns="0" anchor="t">
            <a:spAutoFit/>
          </a:bodyPr>
          <a:lstStyle/>
          <a:p>
            <a:pPr algn="l"/>
            <a:r>
              <a:rPr sz="1400" b="0">
                <a:solidFill>
                  <a:srgbClr val="AFC2CE"/>
                </a:solidFill>
                <a:latin typeface="Roboto"/>
              </a:rPr>
              <a:t>Machine learning with many-layered neural networks that spot complex patterns.</a:t>
            </a:r>
          </a:p>
        </p:txBody>
      </p:sp>
      <p:sp>
        <p:nvSpPr>
          <p:cNvPr id="49" name="Rectangle 48"/>
          <p:cNvSpPr/>
          <p:nvPr/>
        </p:nvSpPr>
        <p:spPr>
          <a:xfrm>
            <a:off x="731520" y="3520440"/>
            <a:ext cx="822960" cy="41148"/>
          </a:xfrm>
          <a:prstGeom prst="rect">
            <a:avLst/>
          </a:prstGeom>
          <a:solidFill>
            <a:srgbClr val="06D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731520" y="3675887"/>
            <a:ext cx="2743200" cy="228600"/>
          </a:xfrm>
          <a:prstGeom prst="rect">
            <a:avLst/>
          </a:prstGeom>
          <a:noFill/>
        </p:spPr>
        <p:txBody>
          <a:bodyPr wrap="square" lIns="0" tIns="0" rIns="0" bIns="0" anchor="t">
            <a:spAutoFit/>
          </a:bodyPr>
          <a:lstStyle/>
          <a:p>
            <a:pPr algn="l"/>
            <a:r>
              <a:rPr sz="900" b="0" spc="100">
                <a:solidFill>
                  <a:srgbClr val="8FA6B2"/>
                </a:solidFill>
                <a:latin typeface="JetBrains Mono"/>
              </a:rPr>
              <a:t>IN THIS PART</a:t>
            </a:r>
          </a:p>
        </p:txBody>
      </p:sp>
      <p:sp>
        <p:nvSpPr>
          <p:cNvPr id="51" name="TextBox 50"/>
          <p:cNvSpPr txBox="1"/>
          <p:nvPr/>
        </p:nvSpPr>
        <p:spPr>
          <a:xfrm>
            <a:off x="731520" y="3904487"/>
            <a:ext cx="3566160" cy="640080"/>
          </a:xfrm>
          <a:prstGeom prst="rect">
            <a:avLst/>
          </a:prstGeom>
          <a:noFill/>
        </p:spPr>
        <p:txBody>
          <a:bodyPr wrap="square" lIns="0" tIns="0" rIns="0" bIns="0" anchor="t">
            <a:spAutoFit/>
          </a:bodyPr>
          <a:lstStyle/>
          <a:p>
            <a:pPr algn="l"/>
            <a:r>
              <a:rPr sz="1100" b="0">
                <a:solidFill>
                  <a:srgbClr val="AFC2CE"/>
                </a:solidFill>
                <a:latin typeface="Roboto"/>
              </a:rPr>
              <a:t>Neural networks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514350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329184"/>
            <a:ext cx="8138160" cy="274320"/>
          </a:xfrm>
          <a:prstGeom prst="rect">
            <a:avLst/>
          </a:prstGeom>
          <a:noFill/>
        </p:spPr>
        <p:txBody>
          <a:bodyPr wrap="square" lIns="0" tIns="0" rIns="0" bIns="0" anchor="t">
            <a:spAutoFit/>
          </a:bodyPr>
          <a:lstStyle/>
          <a:p>
            <a:pPr algn="l"/>
            <a:r>
              <a:rPr sz="1100" b="0" spc="300">
                <a:solidFill>
                  <a:srgbClr val="1B9AAA"/>
                </a:solidFill>
                <a:latin typeface="JetBrains Mono"/>
              </a:rPr>
              <a:t>PART 3 · DEEP LEARNING</a:t>
            </a:r>
          </a:p>
        </p:txBody>
      </p:sp>
      <p:sp>
        <p:nvSpPr>
          <p:cNvPr id="4" name="slide-neural-network"/>
          <p:cNvSpPr txBox="1"/>
          <p:nvPr/>
        </p:nvSpPr>
        <p:spPr>
          <a:xfrm>
            <a:off x="566928" y="603504"/>
            <a:ext cx="8138160" cy="658368"/>
          </a:xfrm>
          <a:prstGeom prst="rect">
            <a:avLst/>
          </a:prstGeom>
          <a:noFill/>
        </p:spPr>
        <p:txBody>
          <a:bodyPr wrap="square" lIns="0" tIns="0" rIns="0" bIns="0" anchor="t">
            <a:spAutoFit/>
          </a:bodyPr>
          <a:lstStyle/>
          <a:p>
            <a:pPr algn="l"/>
            <a:r>
              <a:rPr sz="3200" b="0">
                <a:solidFill>
                  <a:srgbClr val="0D1B2A"/>
                </a:solidFill>
                <a:latin typeface="Oswald"/>
              </a:rPr>
              <a:t>Neural networks: many layers, many adjustable weights</a:t>
            </a:r>
          </a:p>
        </p:txBody>
      </p:sp>
      <p:sp>
        <p:nvSpPr>
          <p:cNvPr id="5" name="TextBox 4"/>
          <p:cNvSpPr txBox="1"/>
          <p:nvPr/>
        </p:nvSpPr>
        <p:spPr>
          <a:xfrm>
            <a:off x="566928" y="1298448"/>
            <a:ext cx="8138160" cy="457200"/>
          </a:xfrm>
          <a:prstGeom prst="rect">
            <a:avLst/>
          </a:prstGeom>
          <a:noFill/>
        </p:spPr>
        <p:txBody>
          <a:bodyPr wrap="square" lIns="0" tIns="0" rIns="0" bIns="0" anchor="t">
            <a:spAutoFit/>
          </a:bodyPr>
          <a:lstStyle/>
          <a:p>
            <a:pPr algn="l"/>
            <a:r>
              <a:rPr sz="1400" b="0">
                <a:solidFill>
                  <a:srgbClr val="14293D"/>
                </a:solidFill>
                <a:latin typeface="Roboto"/>
              </a:rPr>
              <a:t>Deep learning uses neural networks with many layers to learn complex patterns.</a:t>
            </a:r>
          </a:p>
        </p:txBody>
      </p:sp>
      <p:sp>
        <p:nvSpPr>
          <p:cNvPr id="6" name="Rectangle 5"/>
          <p:cNvSpPr/>
          <p:nvPr/>
        </p:nvSpPr>
        <p:spPr>
          <a:xfrm>
            <a:off x="566928" y="1783080"/>
            <a:ext cx="5285232" cy="2743200"/>
          </a:xfrm>
          <a:prstGeom prst="rect">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66928" y="1783080"/>
            <a:ext cx="54864" cy="274320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8" name="Connector 7"/>
          <p:cNvCxnSpPr/>
          <p:nvPr/>
        </p:nvCxnSpPr>
        <p:spPr>
          <a:xfrm>
            <a:off x="1572768" y="2788920"/>
            <a:ext cx="786384" cy="274320"/>
          </a:xfrm>
          <a:prstGeom prst="line">
            <a:avLst/>
          </a:prstGeom>
          <a:ln w="9525">
            <a:solidFill>
              <a:srgbClr val="DDE5E9"/>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572768" y="2788920"/>
            <a:ext cx="786384" cy="685800"/>
          </a:xfrm>
          <a:prstGeom prst="line">
            <a:avLst/>
          </a:prstGeom>
          <a:ln w="9525">
            <a:solidFill>
              <a:srgbClr val="DDE5E9"/>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572768" y="2788920"/>
            <a:ext cx="786384" cy="1097280"/>
          </a:xfrm>
          <a:prstGeom prst="line">
            <a:avLst/>
          </a:prstGeom>
          <a:ln w="9525">
            <a:solidFill>
              <a:srgbClr val="DDE5E9"/>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572768" y="3063240"/>
            <a:ext cx="786384" cy="182880"/>
          </a:xfrm>
          <a:prstGeom prst="line">
            <a:avLst/>
          </a:prstGeom>
          <a:ln w="9525">
            <a:solidFill>
              <a:srgbClr val="DDE5E9"/>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572768" y="3246120"/>
            <a:ext cx="786384" cy="228600"/>
          </a:xfrm>
          <a:prstGeom prst="line">
            <a:avLst/>
          </a:prstGeom>
          <a:ln w="9525">
            <a:solidFill>
              <a:srgbClr val="DDE5E9"/>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572768" y="3246120"/>
            <a:ext cx="786384" cy="640080"/>
          </a:xfrm>
          <a:prstGeom prst="line">
            <a:avLst/>
          </a:prstGeom>
          <a:ln w="9525">
            <a:solidFill>
              <a:srgbClr val="DDE5E9"/>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1572768" y="3063240"/>
            <a:ext cx="786384" cy="640080"/>
          </a:xfrm>
          <a:prstGeom prst="line">
            <a:avLst/>
          </a:prstGeom>
          <a:ln w="9525">
            <a:solidFill>
              <a:srgbClr val="DDE5E9"/>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1572768" y="3474720"/>
            <a:ext cx="786384" cy="228600"/>
          </a:xfrm>
          <a:prstGeom prst="line">
            <a:avLst/>
          </a:prstGeom>
          <a:ln w="9525">
            <a:solidFill>
              <a:srgbClr val="DDE5E9"/>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572768" y="3703320"/>
            <a:ext cx="786384" cy="182880"/>
          </a:xfrm>
          <a:prstGeom prst="line">
            <a:avLst/>
          </a:prstGeom>
          <a:ln w="9525">
            <a:solidFill>
              <a:srgbClr val="DDE5E9"/>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1572768" y="2651760"/>
            <a:ext cx="786384" cy="137160"/>
          </a:xfrm>
          <a:prstGeom prst="line">
            <a:avLst/>
          </a:prstGeom>
          <a:ln w="9525">
            <a:solidFill>
              <a:srgbClr val="06D6A0"/>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rot="20988000">
            <a:off x="1833372" y="2587752"/>
            <a:ext cx="329184" cy="146304"/>
          </a:xfrm>
          <a:prstGeom prst="rect">
            <a:avLst/>
          </a:prstGeom>
          <a:noFill/>
        </p:spPr>
        <p:txBody>
          <a:bodyPr wrap="square" lIns="0" tIns="0" rIns="0" bIns="0" anchor="t">
            <a:spAutoFit/>
          </a:bodyPr>
          <a:lstStyle/>
          <a:p>
            <a:pPr algn="ctr"/>
            <a:r>
              <a:rPr sz="700" b="0">
                <a:solidFill>
                  <a:srgbClr val="06D6A0"/>
                </a:solidFill>
                <a:latin typeface="JetBrains Mono"/>
              </a:rPr>
              <a:t>0.50</a:t>
            </a:r>
          </a:p>
        </p:txBody>
      </p:sp>
      <p:cxnSp>
        <p:nvCxnSpPr>
          <p:cNvPr id="19" name="Connector 18"/>
          <p:cNvCxnSpPr/>
          <p:nvPr/>
        </p:nvCxnSpPr>
        <p:spPr>
          <a:xfrm flipV="1">
            <a:off x="1572768" y="2651760"/>
            <a:ext cx="786384" cy="594360"/>
          </a:xfrm>
          <a:prstGeom prst="line">
            <a:avLst/>
          </a:prstGeom>
          <a:ln w="9525">
            <a:solidFill>
              <a:srgbClr val="06D6A0"/>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rot="19398000">
            <a:off x="1834286" y="2779776"/>
            <a:ext cx="329184" cy="146304"/>
          </a:xfrm>
          <a:prstGeom prst="rect">
            <a:avLst/>
          </a:prstGeom>
          <a:noFill/>
        </p:spPr>
        <p:txBody>
          <a:bodyPr wrap="square" lIns="0" tIns="0" rIns="0" bIns="0" anchor="t">
            <a:spAutoFit/>
          </a:bodyPr>
          <a:lstStyle/>
          <a:p>
            <a:pPr algn="ctr"/>
            <a:r>
              <a:rPr sz="700" b="0">
                <a:solidFill>
                  <a:srgbClr val="06D6A0"/>
                </a:solidFill>
                <a:latin typeface="JetBrains Mono"/>
              </a:rPr>
              <a:t>−0.40</a:t>
            </a:r>
          </a:p>
        </p:txBody>
      </p:sp>
      <p:cxnSp>
        <p:nvCxnSpPr>
          <p:cNvPr id="21" name="Connector 20"/>
          <p:cNvCxnSpPr/>
          <p:nvPr/>
        </p:nvCxnSpPr>
        <p:spPr>
          <a:xfrm flipV="1">
            <a:off x="1572768" y="2651760"/>
            <a:ext cx="786384" cy="1051560"/>
          </a:xfrm>
          <a:prstGeom prst="line">
            <a:avLst/>
          </a:prstGeom>
          <a:ln w="9525">
            <a:solidFill>
              <a:srgbClr val="06D6A0"/>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rot="18570000">
            <a:off x="1842516" y="2991916"/>
            <a:ext cx="329184" cy="146304"/>
          </a:xfrm>
          <a:prstGeom prst="rect">
            <a:avLst/>
          </a:prstGeom>
          <a:noFill/>
        </p:spPr>
        <p:txBody>
          <a:bodyPr wrap="square" lIns="0" tIns="0" rIns="0" bIns="0" anchor="t">
            <a:spAutoFit/>
          </a:bodyPr>
          <a:lstStyle/>
          <a:p>
            <a:pPr algn="ctr"/>
            <a:r>
              <a:rPr sz="700" b="0">
                <a:solidFill>
                  <a:srgbClr val="06D6A0"/>
                </a:solidFill>
                <a:latin typeface="JetBrains Mono"/>
              </a:rPr>
              <a:t>0.80</a:t>
            </a:r>
          </a:p>
        </p:txBody>
      </p:sp>
      <p:cxnSp>
        <p:nvCxnSpPr>
          <p:cNvPr id="23" name="Connector 22"/>
          <p:cNvCxnSpPr/>
          <p:nvPr/>
        </p:nvCxnSpPr>
        <p:spPr>
          <a:xfrm>
            <a:off x="2670048" y="2651760"/>
            <a:ext cx="786384" cy="0"/>
          </a:xfrm>
          <a:prstGeom prst="line">
            <a:avLst/>
          </a:prstGeom>
          <a:ln w="9525">
            <a:solidFill>
              <a:srgbClr val="DDE5E9"/>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2670048" y="2651760"/>
            <a:ext cx="786384" cy="411480"/>
          </a:xfrm>
          <a:prstGeom prst="line">
            <a:avLst/>
          </a:prstGeom>
          <a:ln w="9525">
            <a:solidFill>
              <a:srgbClr val="DDE5E9"/>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2670048" y="2651760"/>
            <a:ext cx="786384" cy="822960"/>
          </a:xfrm>
          <a:prstGeom prst="line">
            <a:avLst/>
          </a:prstGeom>
          <a:ln w="9525">
            <a:solidFill>
              <a:srgbClr val="DDE5E9"/>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2670048" y="2651760"/>
            <a:ext cx="786384" cy="1234440"/>
          </a:xfrm>
          <a:prstGeom prst="line">
            <a:avLst/>
          </a:prstGeom>
          <a:ln w="9525">
            <a:solidFill>
              <a:srgbClr val="DDE5E9"/>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2670048" y="2651760"/>
            <a:ext cx="786384" cy="411480"/>
          </a:xfrm>
          <a:prstGeom prst="line">
            <a:avLst/>
          </a:prstGeom>
          <a:ln w="9525">
            <a:solidFill>
              <a:srgbClr val="DDE5E9"/>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2670048" y="3063240"/>
            <a:ext cx="786384" cy="0"/>
          </a:xfrm>
          <a:prstGeom prst="line">
            <a:avLst/>
          </a:prstGeom>
          <a:ln w="9525">
            <a:solidFill>
              <a:srgbClr val="DDE5E9"/>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2670048" y="3063240"/>
            <a:ext cx="786384" cy="411480"/>
          </a:xfrm>
          <a:prstGeom prst="line">
            <a:avLst/>
          </a:prstGeom>
          <a:ln w="9525">
            <a:solidFill>
              <a:srgbClr val="DDE5E9"/>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2670048" y="3063240"/>
            <a:ext cx="786384" cy="822960"/>
          </a:xfrm>
          <a:prstGeom prst="line">
            <a:avLst/>
          </a:prstGeom>
          <a:ln w="9525">
            <a:solidFill>
              <a:srgbClr val="DDE5E9"/>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2670048" y="2651760"/>
            <a:ext cx="786384" cy="822960"/>
          </a:xfrm>
          <a:prstGeom prst="line">
            <a:avLst/>
          </a:prstGeom>
          <a:ln w="9525">
            <a:solidFill>
              <a:srgbClr val="DDE5E9"/>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2670048" y="3063240"/>
            <a:ext cx="786384" cy="411480"/>
          </a:xfrm>
          <a:prstGeom prst="line">
            <a:avLst/>
          </a:prstGeom>
          <a:ln w="9525">
            <a:solidFill>
              <a:srgbClr val="DDE5E9"/>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2670048" y="3474720"/>
            <a:ext cx="786384" cy="0"/>
          </a:xfrm>
          <a:prstGeom prst="line">
            <a:avLst/>
          </a:prstGeom>
          <a:ln w="9525">
            <a:solidFill>
              <a:srgbClr val="DDE5E9"/>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2670048" y="3474720"/>
            <a:ext cx="786384" cy="411480"/>
          </a:xfrm>
          <a:prstGeom prst="line">
            <a:avLst/>
          </a:prstGeom>
          <a:ln w="9525">
            <a:solidFill>
              <a:srgbClr val="DDE5E9"/>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2670048" y="2651760"/>
            <a:ext cx="786384" cy="1234440"/>
          </a:xfrm>
          <a:prstGeom prst="line">
            <a:avLst/>
          </a:prstGeom>
          <a:ln w="9525">
            <a:solidFill>
              <a:srgbClr val="DDE5E9"/>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2670048" y="3063240"/>
            <a:ext cx="786384" cy="822960"/>
          </a:xfrm>
          <a:prstGeom prst="line">
            <a:avLst/>
          </a:prstGeom>
          <a:ln w="9525">
            <a:solidFill>
              <a:srgbClr val="DDE5E9"/>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2670048" y="3474720"/>
            <a:ext cx="786384" cy="411480"/>
          </a:xfrm>
          <a:prstGeom prst="line">
            <a:avLst/>
          </a:prstGeom>
          <a:ln w="9525">
            <a:solidFill>
              <a:srgbClr val="DDE5E9"/>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2670048" y="3886200"/>
            <a:ext cx="786384" cy="0"/>
          </a:xfrm>
          <a:prstGeom prst="line">
            <a:avLst/>
          </a:prstGeom>
          <a:ln w="9525">
            <a:solidFill>
              <a:srgbClr val="DDE5E9"/>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3767328" y="2651760"/>
            <a:ext cx="786384" cy="411480"/>
          </a:xfrm>
          <a:prstGeom prst="line">
            <a:avLst/>
          </a:prstGeom>
          <a:ln w="9525">
            <a:solidFill>
              <a:srgbClr val="DDE5E9"/>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3767328" y="2651760"/>
            <a:ext cx="786384" cy="868680"/>
          </a:xfrm>
          <a:prstGeom prst="line">
            <a:avLst/>
          </a:prstGeom>
          <a:ln w="9525">
            <a:solidFill>
              <a:srgbClr val="DDE5E9"/>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3767328" y="3063240"/>
            <a:ext cx="786384" cy="0"/>
          </a:xfrm>
          <a:prstGeom prst="line">
            <a:avLst/>
          </a:prstGeom>
          <a:ln w="9525">
            <a:solidFill>
              <a:srgbClr val="DDE5E9"/>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3767328" y="3063240"/>
            <a:ext cx="786384" cy="457200"/>
          </a:xfrm>
          <a:prstGeom prst="line">
            <a:avLst/>
          </a:prstGeom>
          <a:ln w="9525">
            <a:solidFill>
              <a:srgbClr val="DDE5E9"/>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3767328" y="3063240"/>
            <a:ext cx="786384" cy="411480"/>
          </a:xfrm>
          <a:prstGeom prst="line">
            <a:avLst/>
          </a:prstGeom>
          <a:ln w="9525">
            <a:solidFill>
              <a:srgbClr val="DDE5E9"/>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3767328" y="3474720"/>
            <a:ext cx="786384" cy="45720"/>
          </a:xfrm>
          <a:prstGeom prst="line">
            <a:avLst/>
          </a:prstGeom>
          <a:ln w="9525">
            <a:solidFill>
              <a:srgbClr val="DDE5E9"/>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3767328" y="3063240"/>
            <a:ext cx="786384" cy="822960"/>
          </a:xfrm>
          <a:prstGeom prst="line">
            <a:avLst/>
          </a:prstGeom>
          <a:ln w="9525">
            <a:solidFill>
              <a:srgbClr val="DDE5E9"/>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3767328" y="3520440"/>
            <a:ext cx="786384" cy="365760"/>
          </a:xfrm>
          <a:prstGeom prst="line">
            <a:avLst/>
          </a:prstGeom>
          <a:ln w="9525">
            <a:solidFill>
              <a:srgbClr val="DDE5E9"/>
            </a:solidFill>
          </a:ln>
        </p:spPr>
        <p:style>
          <a:lnRef idx="2">
            <a:schemeClr val="accent1"/>
          </a:lnRef>
          <a:fillRef idx="0">
            <a:schemeClr val="accent1"/>
          </a:fillRef>
          <a:effectRef idx="1">
            <a:schemeClr val="accent1"/>
          </a:effectRef>
          <a:fontRef idx="minor">
            <a:schemeClr val="tx1"/>
          </a:fontRef>
        </p:style>
      </p:cxnSp>
      <p:sp>
        <p:nvSpPr>
          <p:cNvPr id="47" name="Oval 46"/>
          <p:cNvSpPr/>
          <p:nvPr/>
        </p:nvSpPr>
        <p:spPr>
          <a:xfrm>
            <a:off x="1261872" y="2633472"/>
            <a:ext cx="310896" cy="310896"/>
          </a:xfrm>
          <a:prstGeom prst="ellipse">
            <a:avLst/>
          </a:prstGeom>
          <a:solidFill>
            <a:srgbClr val="0D1B2A">
              <a:alpha val="100000"/>
            </a:srgbClr>
          </a:solidFill>
          <a:ln w="9525">
            <a:solidFill>
              <a:srgbClr val="0D1B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1261872" y="2724912"/>
            <a:ext cx="310896" cy="146304"/>
          </a:xfrm>
          <a:prstGeom prst="rect">
            <a:avLst/>
          </a:prstGeom>
          <a:noFill/>
        </p:spPr>
        <p:txBody>
          <a:bodyPr wrap="square" lIns="0" tIns="0" rIns="0" bIns="0" anchor="t">
            <a:spAutoFit/>
          </a:bodyPr>
          <a:lstStyle/>
          <a:p>
            <a:pPr algn="ctr"/>
            <a:r>
              <a:rPr sz="700" b="0">
                <a:solidFill>
                  <a:srgbClr val="FFFFFF"/>
                </a:solidFill>
                <a:latin typeface="JetBrains Mono"/>
              </a:rPr>
              <a:t>0.90</a:t>
            </a:r>
          </a:p>
        </p:txBody>
      </p:sp>
      <p:sp>
        <p:nvSpPr>
          <p:cNvPr id="49" name="Oval 48"/>
          <p:cNvSpPr/>
          <p:nvPr/>
        </p:nvSpPr>
        <p:spPr>
          <a:xfrm>
            <a:off x="1261872" y="3090672"/>
            <a:ext cx="310896" cy="310896"/>
          </a:xfrm>
          <a:prstGeom prst="ellipse">
            <a:avLst/>
          </a:prstGeom>
          <a:solidFill>
            <a:srgbClr val="0D1B2A">
              <a:alpha val="100000"/>
            </a:srgbClr>
          </a:solidFill>
          <a:ln w="9525">
            <a:solidFill>
              <a:srgbClr val="0D1B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1261872" y="3182112"/>
            <a:ext cx="310896" cy="146304"/>
          </a:xfrm>
          <a:prstGeom prst="rect">
            <a:avLst/>
          </a:prstGeom>
          <a:noFill/>
        </p:spPr>
        <p:txBody>
          <a:bodyPr wrap="square" lIns="0" tIns="0" rIns="0" bIns="0" anchor="t">
            <a:spAutoFit/>
          </a:bodyPr>
          <a:lstStyle/>
          <a:p>
            <a:pPr algn="ctr"/>
            <a:r>
              <a:rPr sz="700" b="0">
                <a:solidFill>
                  <a:srgbClr val="FFFFFF"/>
                </a:solidFill>
                <a:latin typeface="JetBrains Mono"/>
              </a:rPr>
              <a:t>0.30</a:t>
            </a:r>
          </a:p>
        </p:txBody>
      </p:sp>
      <p:sp>
        <p:nvSpPr>
          <p:cNvPr id="51" name="Oval 50"/>
          <p:cNvSpPr/>
          <p:nvPr/>
        </p:nvSpPr>
        <p:spPr>
          <a:xfrm>
            <a:off x="1261872" y="3547872"/>
            <a:ext cx="310896" cy="310896"/>
          </a:xfrm>
          <a:prstGeom prst="ellipse">
            <a:avLst/>
          </a:prstGeom>
          <a:solidFill>
            <a:srgbClr val="0D1B2A">
              <a:alpha val="100000"/>
            </a:srgbClr>
          </a:solidFill>
          <a:ln w="9525">
            <a:solidFill>
              <a:srgbClr val="0D1B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1261872" y="3639312"/>
            <a:ext cx="310896" cy="146304"/>
          </a:xfrm>
          <a:prstGeom prst="rect">
            <a:avLst/>
          </a:prstGeom>
          <a:noFill/>
        </p:spPr>
        <p:txBody>
          <a:bodyPr wrap="square" lIns="0" tIns="0" rIns="0" bIns="0" anchor="t">
            <a:spAutoFit/>
          </a:bodyPr>
          <a:lstStyle/>
          <a:p>
            <a:pPr algn="ctr"/>
            <a:r>
              <a:rPr sz="700" b="0">
                <a:solidFill>
                  <a:srgbClr val="FFFFFF"/>
                </a:solidFill>
                <a:latin typeface="JetBrains Mono"/>
              </a:rPr>
              <a:t>0.60</a:t>
            </a:r>
          </a:p>
        </p:txBody>
      </p:sp>
      <p:sp>
        <p:nvSpPr>
          <p:cNvPr id="53" name="Oval 52"/>
          <p:cNvSpPr/>
          <p:nvPr/>
        </p:nvSpPr>
        <p:spPr>
          <a:xfrm>
            <a:off x="2359152" y="2496312"/>
            <a:ext cx="310896" cy="310896"/>
          </a:xfrm>
          <a:prstGeom prst="ellipse">
            <a:avLst/>
          </a:prstGeom>
          <a:solidFill>
            <a:srgbClr val="1B9AAA">
              <a:alpha val="100000"/>
            </a:srgbClr>
          </a:solidFill>
          <a:ln w="9525">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2359152" y="2587752"/>
            <a:ext cx="310896" cy="146304"/>
          </a:xfrm>
          <a:prstGeom prst="rect">
            <a:avLst/>
          </a:prstGeom>
          <a:noFill/>
        </p:spPr>
        <p:txBody>
          <a:bodyPr wrap="square" lIns="0" tIns="0" rIns="0" bIns="0" anchor="t">
            <a:spAutoFit/>
          </a:bodyPr>
          <a:lstStyle/>
          <a:p>
            <a:pPr algn="ctr"/>
            <a:r>
              <a:rPr sz="700" b="0">
                <a:solidFill>
                  <a:srgbClr val="FFFFFF"/>
                </a:solidFill>
                <a:latin typeface="JetBrains Mono"/>
              </a:rPr>
              <a:t>0.81</a:t>
            </a:r>
          </a:p>
        </p:txBody>
      </p:sp>
      <p:sp>
        <p:nvSpPr>
          <p:cNvPr id="55" name="Oval 54"/>
          <p:cNvSpPr/>
          <p:nvPr/>
        </p:nvSpPr>
        <p:spPr>
          <a:xfrm>
            <a:off x="2359152" y="2907792"/>
            <a:ext cx="310896" cy="310896"/>
          </a:xfrm>
          <a:prstGeom prst="ellipse">
            <a:avLst/>
          </a:prstGeom>
          <a:solidFill>
            <a:srgbClr val="1B9AAA">
              <a:alpha val="100000"/>
            </a:srgbClr>
          </a:solidFill>
          <a:ln w="9525">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2359152" y="2999232"/>
            <a:ext cx="310896" cy="146304"/>
          </a:xfrm>
          <a:prstGeom prst="rect">
            <a:avLst/>
          </a:prstGeom>
          <a:noFill/>
        </p:spPr>
        <p:txBody>
          <a:bodyPr wrap="square" lIns="0" tIns="0" rIns="0" bIns="0" anchor="t">
            <a:spAutoFit/>
          </a:bodyPr>
          <a:lstStyle/>
          <a:p>
            <a:pPr algn="ctr"/>
            <a:r>
              <a:rPr sz="700" b="0">
                <a:solidFill>
                  <a:srgbClr val="FFFFFF"/>
                </a:solidFill>
                <a:latin typeface="JetBrains Mono"/>
              </a:rPr>
              <a:t>0.24</a:t>
            </a:r>
          </a:p>
        </p:txBody>
      </p:sp>
      <p:sp>
        <p:nvSpPr>
          <p:cNvPr id="57" name="Oval 56"/>
          <p:cNvSpPr/>
          <p:nvPr/>
        </p:nvSpPr>
        <p:spPr>
          <a:xfrm>
            <a:off x="2359152" y="3319272"/>
            <a:ext cx="310896" cy="310896"/>
          </a:xfrm>
          <a:prstGeom prst="ellipse">
            <a:avLst/>
          </a:prstGeom>
          <a:solidFill>
            <a:srgbClr val="1B9AAA">
              <a:alpha val="100000"/>
            </a:srgbClr>
          </a:solidFill>
          <a:ln w="9525">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2359152" y="3410712"/>
            <a:ext cx="310896" cy="146304"/>
          </a:xfrm>
          <a:prstGeom prst="rect">
            <a:avLst/>
          </a:prstGeom>
          <a:noFill/>
        </p:spPr>
        <p:txBody>
          <a:bodyPr wrap="square" lIns="0" tIns="0" rIns="0" bIns="0" anchor="t">
            <a:spAutoFit/>
          </a:bodyPr>
          <a:lstStyle/>
          <a:p>
            <a:pPr algn="ctr"/>
            <a:r>
              <a:rPr sz="700" b="0">
                <a:solidFill>
                  <a:srgbClr val="FFFFFF"/>
                </a:solidFill>
                <a:latin typeface="JetBrains Mono"/>
              </a:rPr>
              <a:t>0.76</a:t>
            </a:r>
          </a:p>
        </p:txBody>
      </p:sp>
      <p:sp>
        <p:nvSpPr>
          <p:cNvPr id="59" name="Oval 58"/>
          <p:cNvSpPr/>
          <p:nvPr/>
        </p:nvSpPr>
        <p:spPr>
          <a:xfrm>
            <a:off x="2359152" y="3730752"/>
            <a:ext cx="310896" cy="310896"/>
          </a:xfrm>
          <a:prstGeom prst="ellipse">
            <a:avLst/>
          </a:prstGeom>
          <a:solidFill>
            <a:srgbClr val="1B9AAA">
              <a:alpha val="100000"/>
            </a:srgbClr>
          </a:solidFill>
          <a:ln w="9525">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2359152" y="3822191"/>
            <a:ext cx="310896" cy="146304"/>
          </a:xfrm>
          <a:prstGeom prst="rect">
            <a:avLst/>
          </a:prstGeom>
          <a:noFill/>
        </p:spPr>
        <p:txBody>
          <a:bodyPr wrap="square" lIns="0" tIns="0" rIns="0" bIns="0" anchor="t">
            <a:spAutoFit/>
          </a:bodyPr>
          <a:lstStyle/>
          <a:p>
            <a:pPr algn="ctr"/>
            <a:r>
              <a:rPr sz="700" b="0">
                <a:solidFill>
                  <a:srgbClr val="FFFFFF"/>
                </a:solidFill>
                <a:latin typeface="JetBrains Mono"/>
              </a:rPr>
              <a:t>0.38</a:t>
            </a:r>
          </a:p>
        </p:txBody>
      </p:sp>
      <p:sp>
        <p:nvSpPr>
          <p:cNvPr id="61" name="Oval 60"/>
          <p:cNvSpPr/>
          <p:nvPr/>
        </p:nvSpPr>
        <p:spPr>
          <a:xfrm>
            <a:off x="3456432" y="2496312"/>
            <a:ext cx="310896" cy="310896"/>
          </a:xfrm>
          <a:prstGeom prst="ellipse">
            <a:avLst/>
          </a:prstGeom>
          <a:solidFill>
            <a:srgbClr val="1B9AAA">
              <a:alpha val="100000"/>
            </a:srgbClr>
          </a:solidFill>
          <a:ln w="9525">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3456432" y="2587752"/>
            <a:ext cx="310896" cy="146304"/>
          </a:xfrm>
          <a:prstGeom prst="rect">
            <a:avLst/>
          </a:prstGeom>
          <a:noFill/>
        </p:spPr>
        <p:txBody>
          <a:bodyPr wrap="square" lIns="0" tIns="0" rIns="0" bIns="0" anchor="t">
            <a:spAutoFit/>
          </a:bodyPr>
          <a:lstStyle/>
          <a:p>
            <a:pPr algn="ctr"/>
            <a:r>
              <a:rPr sz="700" b="0">
                <a:solidFill>
                  <a:srgbClr val="FFFFFF"/>
                </a:solidFill>
                <a:latin typeface="JetBrains Mono"/>
              </a:rPr>
              <a:t>0.52</a:t>
            </a:r>
          </a:p>
        </p:txBody>
      </p:sp>
      <p:sp>
        <p:nvSpPr>
          <p:cNvPr id="63" name="Oval 62"/>
          <p:cNvSpPr/>
          <p:nvPr/>
        </p:nvSpPr>
        <p:spPr>
          <a:xfrm>
            <a:off x="3456432" y="2907792"/>
            <a:ext cx="310896" cy="310896"/>
          </a:xfrm>
          <a:prstGeom prst="ellipse">
            <a:avLst/>
          </a:prstGeom>
          <a:solidFill>
            <a:srgbClr val="1B9AAA">
              <a:alpha val="100000"/>
            </a:srgbClr>
          </a:solidFill>
          <a:ln w="9525">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3456432" y="2999232"/>
            <a:ext cx="310896" cy="146304"/>
          </a:xfrm>
          <a:prstGeom prst="rect">
            <a:avLst/>
          </a:prstGeom>
          <a:noFill/>
        </p:spPr>
        <p:txBody>
          <a:bodyPr wrap="square" lIns="0" tIns="0" rIns="0" bIns="0" anchor="t">
            <a:spAutoFit/>
          </a:bodyPr>
          <a:lstStyle/>
          <a:p>
            <a:pPr algn="ctr"/>
            <a:r>
              <a:rPr sz="700" b="0">
                <a:solidFill>
                  <a:srgbClr val="FFFFFF"/>
                </a:solidFill>
                <a:latin typeface="JetBrains Mono"/>
              </a:rPr>
              <a:t>0.91</a:t>
            </a:r>
          </a:p>
        </p:txBody>
      </p:sp>
      <p:sp>
        <p:nvSpPr>
          <p:cNvPr id="65" name="Oval 64"/>
          <p:cNvSpPr/>
          <p:nvPr/>
        </p:nvSpPr>
        <p:spPr>
          <a:xfrm>
            <a:off x="3456432" y="3319272"/>
            <a:ext cx="310896" cy="310896"/>
          </a:xfrm>
          <a:prstGeom prst="ellipse">
            <a:avLst/>
          </a:prstGeom>
          <a:solidFill>
            <a:srgbClr val="1B9AAA">
              <a:alpha val="100000"/>
            </a:srgbClr>
          </a:solidFill>
          <a:ln w="9525">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3456432" y="3410712"/>
            <a:ext cx="310896" cy="146304"/>
          </a:xfrm>
          <a:prstGeom prst="rect">
            <a:avLst/>
          </a:prstGeom>
          <a:noFill/>
        </p:spPr>
        <p:txBody>
          <a:bodyPr wrap="square" lIns="0" tIns="0" rIns="0" bIns="0" anchor="t">
            <a:spAutoFit/>
          </a:bodyPr>
          <a:lstStyle/>
          <a:p>
            <a:pPr algn="ctr"/>
            <a:r>
              <a:rPr sz="700" b="0">
                <a:solidFill>
                  <a:srgbClr val="FFFFFF"/>
                </a:solidFill>
                <a:latin typeface="JetBrains Mono"/>
              </a:rPr>
              <a:t>0.14</a:t>
            </a:r>
          </a:p>
        </p:txBody>
      </p:sp>
      <p:sp>
        <p:nvSpPr>
          <p:cNvPr id="67" name="Oval 66"/>
          <p:cNvSpPr/>
          <p:nvPr/>
        </p:nvSpPr>
        <p:spPr>
          <a:xfrm>
            <a:off x="3456432" y="3730752"/>
            <a:ext cx="310896" cy="310896"/>
          </a:xfrm>
          <a:prstGeom prst="ellipse">
            <a:avLst/>
          </a:prstGeom>
          <a:solidFill>
            <a:srgbClr val="1B9AAA">
              <a:alpha val="100000"/>
            </a:srgbClr>
          </a:solidFill>
          <a:ln w="9525">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3456432" y="3822191"/>
            <a:ext cx="310896" cy="146304"/>
          </a:xfrm>
          <a:prstGeom prst="rect">
            <a:avLst/>
          </a:prstGeom>
          <a:noFill/>
        </p:spPr>
        <p:txBody>
          <a:bodyPr wrap="square" lIns="0" tIns="0" rIns="0" bIns="0" anchor="t">
            <a:spAutoFit/>
          </a:bodyPr>
          <a:lstStyle/>
          <a:p>
            <a:pPr algn="ctr"/>
            <a:r>
              <a:rPr sz="700" b="0">
                <a:solidFill>
                  <a:srgbClr val="FFFFFF"/>
                </a:solidFill>
                <a:latin typeface="JetBrains Mono"/>
              </a:rPr>
              <a:t>0.63</a:t>
            </a:r>
          </a:p>
        </p:txBody>
      </p:sp>
      <p:sp>
        <p:nvSpPr>
          <p:cNvPr id="69" name="Oval 68"/>
          <p:cNvSpPr/>
          <p:nvPr/>
        </p:nvSpPr>
        <p:spPr>
          <a:xfrm>
            <a:off x="4553712" y="2907792"/>
            <a:ext cx="310896" cy="310896"/>
          </a:xfrm>
          <a:prstGeom prst="ellipse">
            <a:avLst/>
          </a:prstGeom>
          <a:solidFill>
            <a:srgbClr val="0D1B2A">
              <a:alpha val="100000"/>
            </a:srgbClr>
          </a:solidFill>
          <a:ln w="9525">
            <a:solidFill>
              <a:srgbClr val="0D1B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4553712" y="2999232"/>
            <a:ext cx="310896" cy="146304"/>
          </a:xfrm>
          <a:prstGeom prst="rect">
            <a:avLst/>
          </a:prstGeom>
          <a:noFill/>
        </p:spPr>
        <p:txBody>
          <a:bodyPr wrap="square" lIns="0" tIns="0" rIns="0" bIns="0" anchor="t">
            <a:spAutoFit/>
          </a:bodyPr>
          <a:lstStyle/>
          <a:p>
            <a:pPr algn="ctr"/>
            <a:r>
              <a:rPr sz="700" b="0">
                <a:solidFill>
                  <a:srgbClr val="FFFFFF"/>
                </a:solidFill>
                <a:latin typeface="JetBrains Mono"/>
              </a:rPr>
              <a:t>0.45</a:t>
            </a:r>
          </a:p>
        </p:txBody>
      </p:sp>
      <p:sp>
        <p:nvSpPr>
          <p:cNvPr id="71" name="Oval 70"/>
          <p:cNvSpPr/>
          <p:nvPr/>
        </p:nvSpPr>
        <p:spPr>
          <a:xfrm>
            <a:off x="4553712" y="3364992"/>
            <a:ext cx="310896" cy="310896"/>
          </a:xfrm>
          <a:prstGeom prst="ellipse">
            <a:avLst/>
          </a:prstGeom>
          <a:solidFill>
            <a:srgbClr val="0D1B2A">
              <a:alpha val="100000"/>
            </a:srgbClr>
          </a:solidFill>
          <a:ln w="9525">
            <a:solidFill>
              <a:srgbClr val="0D1B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4553712" y="3456432"/>
            <a:ext cx="310896" cy="146304"/>
          </a:xfrm>
          <a:prstGeom prst="rect">
            <a:avLst/>
          </a:prstGeom>
          <a:noFill/>
        </p:spPr>
        <p:txBody>
          <a:bodyPr wrap="square" lIns="0" tIns="0" rIns="0" bIns="0" anchor="t">
            <a:spAutoFit/>
          </a:bodyPr>
          <a:lstStyle/>
          <a:p>
            <a:pPr algn="ctr"/>
            <a:r>
              <a:rPr sz="700" b="0">
                <a:solidFill>
                  <a:srgbClr val="FFFFFF"/>
                </a:solidFill>
                <a:latin typeface="JetBrains Mono"/>
              </a:rPr>
              <a:t>0.18</a:t>
            </a:r>
          </a:p>
        </p:txBody>
      </p:sp>
      <p:sp>
        <p:nvSpPr>
          <p:cNvPr id="73" name="TextBox 72"/>
          <p:cNvSpPr txBox="1"/>
          <p:nvPr/>
        </p:nvSpPr>
        <p:spPr>
          <a:xfrm>
            <a:off x="777240" y="1874519"/>
            <a:ext cx="3291840" cy="201168"/>
          </a:xfrm>
          <a:prstGeom prst="rect">
            <a:avLst/>
          </a:prstGeom>
          <a:noFill/>
        </p:spPr>
        <p:txBody>
          <a:bodyPr wrap="none" lIns="0" tIns="0" rIns="0" bIns="0">
            <a:spAutoFit/>
          </a:bodyPr>
          <a:lstStyle/>
          <a:p>
            <a:pPr algn="l"/>
            <a:r>
              <a:rPr sz="800">
                <a:solidFill>
                  <a:srgbClr val="0D1B2A"/>
                </a:solidFill>
                <a:latin typeface="JetBrains Mono"/>
              </a:rPr>
              <a:t>0.90 × </a:t>
            </a:r>
            <a:r>
              <a:rPr sz="800">
                <a:solidFill>
                  <a:srgbClr val="06D6A0"/>
                </a:solidFill>
                <a:latin typeface="JetBrains Mono"/>
              </a:rPr>
              <a:t>0.50</a:t>
            </a:r>
            <a:r>
              <a:rPr sz="800">
                <a:solidFill>
                  <a:srgbClr val="0D1B2A"/>
                </a:solidFill>
                <a:latin typeface="JetBrains Mono"/>
              </a:rPr>
              <a:t>  +  0.30 × (</a:t>
            </a:r>
            <a:r>
              <a:rPr sz="800">
                <a:solidFill>
                  <a:srgbClr val="06D6A0"/>
                </a:solidFill>
                <a:latin typeface="JetBrains Mono"/>
              </a:rPr>
              <a:t>−0.40</a:t>
            </a:r>
            <a:r>
              <a:rPr sz="800">
                <a:solidFill>
                  <a:srgbClr val="0D1B2A"/>
                </a:solidFill>
                <a:latin typeface="JetBrains Mono"/>
              </a:rPr>
              <a:t>)  +  0.60 × </a:t>
            </a:r>
            <a:r>
              <a:rPr sz="800">
                <a:solidFill>
                  <a:srgbClr val="06D6A0"/>
                </a:solidFill>
                <a:latin typeface="JetBrains Mono"/>
              </a:rPr>
              <a:t>0.80</a:t>
            </a:r>
            <a:r>
              <a:rPr sz="800">
                <a:solidFill>
                  <a:srgbClr val="0D1B2A"/>
                </a:solidFill>
                <a:latin typeface="JetBrains Mono"/>
              </a:rPr>
              <a:t>  =  0.81</a:t>
            </a:r>
          </a:p>
        </p:txBody>
      </p:sp>
      <p:sp>
        <p:nvSpPr>
          <p:cNvPr id="74" name="Rounded Rectangle 73"/>
          <p:cNvSpPr/>
          <p:nvPr/>
        </p:nvSpPr>
        <p:spPr>
          <a:xfrm>
            <a:off x="3392424" y="2432304"/>
            <a:ext cx="438912" cy="1682496"/>
          </a:xfrm>
          <a:prstGeom prst="roundRect">
            <a:avLst>
              <a:gd name="adj" fmla="val 12500"/>
            </a:avLst>
          </a:prstGeom>
          <a:noFill/>
          <a:ln w="9525">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4023360" y="2112264"/>
            <a:ext cx="548640" cy="155448"/>
          </a:xfrm>
          <a:prstGeom prst="rect">
            <a:avLst/>
          </a:prstGeom>
          <a:noFill/>
        </p:spPr>
        <p:txBody>
          <a:bodyPr wrap="square" lIns="0" tIns="0" rIns="0" bIns="0" anchor="t">
            <a:spAutoFit/>
          </a:bodyPr>
          <a:lstStyle/>
          <a:p>
            <a:pPr algn="l"/>
            <a:r>
              <a:rPr sz="1000" b="0">
                <a:solidFill>
                  <a:srgbClr val="1B9AAA"/>
                </a:solidFill>
                <a:latin typeface="Roboto"/>
              </a:rPr>
              <a:t>Layer</a:t>
            </a:r>
          </a:p>
        </p:txBody>
      </p:sp>
      <p:cxnSp>
        <p:nvCxnSpPr>
          <p:cNvPr id="76" name="Connector 75"/>
          <p:cNvCxnSpPr/>
          <p:nvPr/>
        </p:nvCxnSpPr>
        <p:spPr>
          <a:xfrm flipH="1">
            <a:off x="3895344" y="2304288"/>
            <a:ext cx="173736" cy="228600"/>
          </a:xfrm>
          <a:prstGeom prst="line">
            <a:avLst/>
          </a:prstGeom>
          <a:ln w="12700">
            <a:solidFill>
              <a:srgbClr val="1B9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77" name="TextBox 76"/>
          <p:cNvSpPr txBox="1"/>
          <p:nvPr/>
        </p:nvSpPr>
        <p:spPr>
          <a:xfrm>
            <a:off x="1417320" y="2112264"/>
            <a:ext cx="548640" cy="155448"/>
          </a:xfrm>
          <a:prstGeom prst="rect">
            <a:avLst/>
          </a:prstGeom>
          <a:noFill/>
        </p:spPr>
        <p:txBody>
          <a:bodyPr wrap="square" lIns="0" tIns="0" rIns="0" bIns="0" anchor="t">
            <a:spAutoFit/>
          </a:bodyPr>
          <a:lstStyle/>
          <a:p>
            <a:pPr algn="l"/>
            <a:r>
              <a:rPr sz="1000" b="0">
                <a:solidFill>
                  <a:srgbClr val="06D6A0"/>
                </a:solidFill>
                <a:latin typeface="Roboto"/>
              </a:rPr>
              <a:t>Weights</a:t>
            </a:r>
          </a:p>
        </p:txBody>
      </p:sp>
      <p:cxnSp>
        <p:nvCxnSpPr>
          <p:cNvPr id="78" name="Connector 77"/>
          <p:cNvCxnSpPr/>
          <p:nvPr/>
        </p:nvCxnSpPr>
        <p:spPr>
          <a:xfrm>
            <a:off x="1792224" y="2340864"/>
            <a:ext cx="146304" cy="231343"/>
          </a:xfrm>
          <a:prstGeom prst="line">
            <a:avLst/>
          </a:prstGeom>
          <a:ln w="12700">
            <a:solidFill>
              <a:srgbClr val="06D6A0"/>
            </a:solidFill>
            <a:tailEnd type="triangle" w="med" len="med"/>
          </a:ln>
        </p:spPr>
        <p:style>
          <a:lnRef idx="2">
            <a:schemeClr val="accent1"/>
          </a:lnRef>
          <a:fillRef idx="0">
            <a:schemeClr val="accent1"/>
          </a:fillRef>
          <a:effectRef idx="1">
            <a:schemeClr val="accent1"/>
          </a:effectRef>
          <a:fontRef idx="minor">
            <a:schemeClr val="tx1"/>
          </a:fontRef>
        </p:style>
      </p:cxnSp>
      <p:sp>
        <p:nvSpPr>
          <p:cNvPr id="79" name="TextBox 78"/>
          <p:cNvSpPr txBox="1"/>
          <p:nvPr/>
        </p:nvSpPr>
        <p:spPr>
          <a:xfrm>
            <a:off x="2761488" y="2112264"/>
            <a:ext cx="438912" cy="155448"/>
          </a:xfrm>
          <a:prstGeom prst="rect">
            <a:avLst/>
          </a:prstGeom>
          <a:noFill/>
        </p:spPr>
        <p:txBody>
          <a:bodyPr wrap="square" lIns="0" tIns="0" rIns="0" bIns="0" anchor="t">
            <a:spAutoFit/>
          </a:bodyPr>
          <a:lstStyle/>
          <a:p>
            <a:pPr algn="l"/>
            <a:r>
              <a:rPr sz="1000" b="0">
                <a:solidFill>
                  <a:srgbClr val="1B9AAA"/>
                </a:solidFill>
                <a:latin typeface="Roboto"/>
              </a:rPr>
              <a:t>Neuron</a:t>
            </a:r>
          </a:p>
        </p:txBody>
      </p:sp>
      <p:cxnSp>
        <p:nvCxnSpPr>
          <p:cNvPr id="80" name="Connector 79"/>
          <p:cNvCxnSpPr/>
          <p:nvPr/>
        </p:nvCxnSpPr>
        <p:spPr>
          <a:xfrm flipH="1">
            <a:off x="2633472" y="2304288"/>
            <a:ext cx="155448" cy="210312"/>
          </a:xfrm>
          <a:prstGeom prst="line">
            <a:avLst/>
          </a:prstGeom>
          <a:ln w="12700">
            <a:solidFill>
              <a:srgbClr val="1B9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685800" y="4206240"/>
            <a:ext cx="1463040" cy="201168"/>
          </a:xfrm>
          <a:prstGeom prst="rect">
            <a:avLst/>
          </a:prstGeom>
          <a:noFill/>
        </p:spPr>
        <p:txBody>
          <a:bodyPr wrap="square" lIns="0" tIns="0" rIns="0" bIns="0" anchor="t">
            <a:spAutoFit/>
          </a:bodyPr>
          <a:lstStyle/>
          <a:p>
            <a:pPr algn="ctr"/>
            <a:r>
              <a:rPr sz="950" b="0" spc="100">
                <a:solidFill>
                  <a:srgbClr val="6B7B8C"/>
                </a:solidFill>
                <a:latin typeface="JetBrains Mono"/>
              </a:rPr>
              <a:t>INPUT LAYER</a:t>
            </a:r>
          </a:p>
        </p:txBody>
      </p:sp>
      <p:sp>
        <p:nvSpPr>
          <p:cNvPr id="82" name="TextBox 81"/>
          <p:cNvSpPr txBox="1"/>
          <p:nvPr/>
        </p:nvSpPr>
        <p:spPr>
          <a:xfrm>
            <a:off x="2148840" y="4206240"/>
            <a:ext cx="1828800" cy="201168"/>
          </a:xfrm>
          <a:prstGeom prst="rect">
            <a:avLst/>
          </a:prstGeom>
          <a:noFill/>
        </p:spPr>
        <p:txBody>
          <a:bodyPr wrap="square" lIns="0" tIns="0" rIns="0" bIns="0" anchor="t">
            <a:spAutoFit/>
          </a:bodyPr>
          <a:lstStyle/>
          <a:p>
            <a:pPr algn="ctr"/>
            <a:r>
              <a:rPr sz="950" b="0" spc="100">
                <a:solidFill>
                  <a:srgbClr val="6B7B8C"/>
                </a:solidFill>
                <a:latin typeface="JetBrains Mono"/>
              </a:rPr>
              <a:t>HIDDEN LAYERS</a:t>
            </a:r>
          </a:p>
        </p:txBody>
      </p:sp>
      <p:sp>
        <p:nvSpPr>
          <p:cNvPr id="83" name="TextBox 82"/>
          <p:cNvSpPr txBox="1"/>
          <p:nvPr/>
        </p:nvSpPr>
        <p:spPr>
          <a:xfrm>
            <a:off x="3977640" y="4206240"/>
            <a:ext cx="1463040" cy="201168"/>
          </a:xfrm>
          <a:prstGeom prst="rect">
            <a:avLst/>
          </a:prstGeom>
          <a:noFill/>
        </p:spPr>
        <p:txBody>
          <a:bodyPr wrap="square" lIns="0" tIns="0" rIns="0" bIns="0" anchor="t">
            <a:spAutoFit/>
          </a:bodyPr>
          <a:lstStyle/>
          <a:p>
            <a:pPr algn="ctr"/>
            <a:r>
              <a:rPr sz="950" b="0" spc="100">
                <a:solidFill>
                  <a:srgbClr val="6B7B8C"/>
                </a:solidFill>
                <a:latin typeface="JetBrains Mono"/>
              </a:rPr>
              <a:t>OUTPUT LAYER</a:t>
            </a:r>
          </a:p>
        </p:txBody>
      </p:sp>
      <p:sp>
        <p:nvSpPr>
          <p:cNvPr id="84" name="Rounded Rectangle 83"/>
          <p:cNvSpPr/>
          <p:nvPr/>
        </p:nvSpPr>
        <p:spPr>
          <a:xfrm>
            <a:off x="658368" y="2660903"/>
            <a:ext cx="548640" cy="256032"/>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00">
                <a:solidFill>
                  <a:srgbClr val="0D1B2A"/>
                </a:solidFill>
                <a:latin typeface="JetBrains Mono"/>
              </a:rPr>
              <a:t>The</a:t>
            </a:r>
          </a:p>
        </p:txBody>
      </p:sp>
      <p:cxnSp>
        <p:nvCxnSpPr>
          <p:cNvPr id="85" name="Connector 84"/>
          <p:cNvCxnSpPr/>
          <p:nvPr/>
        </p:nvCxnSpPr>
        <p:spPr>
          <a:xfrm>
            <a:off x="1225296" y="2788920"/>
            <a:ext cx="18288" cy="0"/>
          </a:xfrm>
          <a:prstGeom prst="line">
            <a:avLst/>
          </a:prstGeom>
          <a:ln w="9525">
            <a:solidFill>
              <a:srgbClr val="8FA6B2"/>
            </a:solidFill>
            <a:tailEnd type="triangle" w="med" len="med"/>
          </a:ln>
        </p:spPr>
        <p:style>
          <a:lnRef idx="2">
            <a:schemeClr val="accent1"/>
          </a:lnRef>
          <a:fillRef idx="0">
            <a:schemeClr val="accent1"/>
          </a:fillRef>
          <a:effectRef idx="1">
            <a:schemeClr val="accent1"/>
          </a:effectRef>
          <a:fontRef idx="minor">
            <a:schemeClr val="tx1"/>
          </a:fontRef>
        </p:style>
      </p:cxnSp>
      <p:sp>
        <p:nvSpPr>
          <p:cNvPr id="86" name="Rounded Rectangle 85"/>
          <p:cNvSpPr/>
          <p:nvPr/>
        </p:nvSpPr>
        <p:spPr>
          <a:xfrm>
            <a:off x="658368" y="3118103"/>
            <a:ext cx="548640" cy="256032"/>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00">
                <a:solidFill>
                  <a:srgbClr val="0D1B2A"/>
                </a:solidFill>
                <a:latin typeface="JetBrains Mono"/>
              </a:rPr>
              <a:t>cat</a:t>
            </a:r>
          </a:p>
        </p:txBody>
      </p:sp>
      <p:cxnSp>
        <p:nvCxnSpPr>
          <p:cNvPr id="87" name="Connector 86"/>
          <p:cNvCxnSpPr/>
          <p:nvPr/>
        </p:nvCxnSpPr>
        <p:spPr>
          <a:xfrm>
            <a:off x="1225296" y="3246120"/>
            <a:ext cx="18288" cy="0"/>
          </a:xfrm>
          <a:prstGeom prst="line">
            <a:avLst/>
          </a:prstGeom>
          <a:ln w="9525">
            <a:solidFill>
              <a:srgbClr val="8FA6B2"/>
            </a:solidFill>
            <a:tailEnd type="triangle" w="med" len="med"/>
          </a:ln>
        </p:spPr>
        <p:style>
          <a:lnRef idx="2">
            <a:schemeClr val="accent1"/>
          </a:lnRef>
          <a:fillRef idx="0">
            <a:schemeClr val="accent1"/>
          </a:fillRef>
          <a:effectRef idx="1">
            <a:schemeClr val="accent1"/>
          </a:effectRef>
          <a:fontRef idx="minor">
            <a:schemeClr val="tx1"/>
          </a:fontRef>
        </p:style>
      </p:cxnSp>
      <p:sp>
        <p:nvSpPr>
          <p:cNvPr id="88" name="Rounded Rectangle 87"/>
          <p:cNvSpPr/>
          <p:nvPr/>
        </p:nvSpPr>
        <p:spPr>
          <a:xfrm>
            <a:off x="658368" y="3575303"/>
            <a:ext cx="548640" cy="256032"/>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00">
                <a:solidFill>
                  <a:srgbClr val="0D1B2A"/>
                </a:solidFill>
                <a:latin typeface="JetBrains Mono"/>
              </a:rPr>
              <a:t>sat</a:t>
            </a:r>
          </a:p>
        </p:txBody>
      </p:sp>
      <p:cxnSp>
        <p:nvCxnSpPr>
          <p:cNvPr id="89" name="Connector 88"/>
          <p:cNvCxnSpPr/>
          <p:nvPr/>
        </p:nvCxnSpPr>
        <p:spPr>
          <a:xfrm>
            <a:off x="1225296" y="3703320"/>
            <a:ext cx="18288" cy="0"/>
          </a:xfrm>
          <a:prstGeom prst="line">
            <a:avLst/>
          </a:prstGeom>
          <a:ln w="9525">
            <a:solidFill>
              <a:srgbClr val="8FA6B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4882896" y="3063240"/>
            <a:ext cx="192024" cy="0"/>
          </a:xfrm>
          <a:prstGeom prst="line">
            <a:avLst/>
          </a:prstGeom>
          <a:ln w="9525">
            <a:solidFill>
              <a:srgbClr val="8FA6B2"/>
            </a:solidFill>
            <a:tailEnd type="triangle" w="med" len="med"/>
          </a:ln>
        </p:spPr>
        <p:style>
          <a:lnRef idx="2">
            <a:schemeClr val="accent1"/>
          </a:lnRef>
          <a:fillRef idx="0">
            <a:schemeClr val="accent1"/>
          </a:fillRef>
          <a:effectRef idx="1">
            <a:schemeClr val="accent1"/>
          </a:effectRef>
          <a:fontRef idx="minor">
            <a:schemeClr val="tx1"/>
          </a:fontRef>
        </p:style>
      </p:cxnSp>
      <p:sp>
        <p:nvSpPr>
          <p:cNvPr id="91" name="Rounded Rectangle 90"/>
          <p:cNvSpPr/>
          <p:nvPr/>
        </p:nvSpPr>
        <p:spPr>
          <a:xfrm>
            <a:off x="5120640" y="2935224"/>
            <a:ext cx="356616" cy="256032"/>
          </a:xfrm>
          <a:prstGeom prst="roundRect">
            <a:avLst>
              <a:gd name="adj" fmla="val 18000"/>
            </a:avLst>
          </a:prstGeom>
          <a:solidFill>
            <a:srgbClr val="CFF5E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00">
                <a:solidFill>
                  <a:srgbClr val="0D1B2A"/>
                </a:solidFill>
                <a:latin typeface="JetBrains Mono"/>
              </a:rPr>
              <a:t>on</a:t>
            </a:r>
          </a:p>
        </p:txBody>
      </p:sp>
      <p:sp>
        <p:nvSpPr>
          <p:cNvPr id="92" name="TextBox 91"/>
          <p:cNvSpPr txBox="1"/>
          <p:nvPr/>
        </p:nvSpPr>
        <p:spPr>
          <a:xfrm>
            <a:off x="5522976" y="2999232"/>
            <a:ext cx="274320" cy="123444"/>
          </a:xfrm>
          <a:prstGeom prst="rect">
            <a:avLst/>
          </a:prstGeom>
          <a:noFill/>
        </p:spPr>
        <p:txBody>
          <a:bodyPr wrap="square" lIns="0" tIns="0" rIns="0" bIns="0" anchor="ctr">
            <a:spAutoFit/>
          </a:bodyPr>
          <a:lstStyle/>
          <a:p>
            <a:pPr algn="l"/>
            <a:r>
              <a:rPr sz="800" b="0">
                <a:solidFill>
                  <a:srgbClr val="0D1B2A"/>
                </a:solidFill>
                <a:latin typeface="JetBrains Mono"/>
              </a:rPr>
              <a:t>45 %</a:t>
            </a:r>
          </a:p>
        </p:txBody>
      </p:sp>
      <p:cxnSp>
        <p:nvCxnSpPr>
          <p:cNvPr id="93" name="Connector 92"/>
          <p:cNvCxnSpPr/>
          <p:nvPr/>
        </p:nvCxnSpPr>
        <p:spPr>
          <a:xfrm>
            <a:off x="4882896" y="3520440"/>
            <a:ext cx="192024" cy="0"/>
          </a:xfrm>
          <a:prstGeom prst="line">
            <a:avLst/>
          </a:prstGeom>
          <a:ln w="9525">
            <a:solidFill>
              <a:srgbClr val="8FA6B2"/>
            </a:solidFill>
            <a:tailEnd type="triangle" w="med" len="med"/>
          </a:ln>
        </p:spPr>
        <p:style>
          <a:lnRef idx="2">
            <a:schemeClr val="accent1"/>
          </a:lnRef>
          <a:fillRef idx="0">
            <a:schemeClr val="accent1"/>
          </a:fillRef>
          <a:effectRef idx="1">
            <a:schemeClr val="accent1"/>
          </a:effectRef>
          <a:fontRef idx="minor">
            <a:schemeClr val="tx1"/>
          </a:fontRef>
        </p:style>
      </p:cxnSp>
      <p:sp>
        <p:nvSpPr>
          <p:cNvPr id="94" name="Rounded Rectangle 93"/>
          <p:cNvSpPr/>
          <p:nvPr/>
        </p:nvSpPr>
        <p:spPr>
          <a:xfrm>
            <a:off x="5120640" y="3392424"/>
            <a:ext cx="356616" cy="256032"/>
          </a:xfrm>
          <a:prstGeom prst="roundRect">
            <a:avLst>
              <a:gd name="adj" fmla="val 18000"/>
            </a:avLst>
          </a:prstGeom>
          <a:solidFill>
            <a:srgbClr val="CFF5E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00">
                <a:solidFill>
                  <a:srgbClr val="0D1B2A"/>
                </a:solidFill>
                <a:latin typeface="JetBrains Mono"/>
              </a:rPr>
              <a:t>down</a:t>
            </a:r>
          </a:p>
        </p:txBody>
      </p:sp>
      <p:sp>
        <p:nvSpPr>
          <p:cNvPr id="95" name="TextBox 94"/>
          <p:cNvSpPr txBox="1"/>
          <p:nvPr/>
        </p:nvSpPr>
        <p:spPr>
          <a:xfrm>
            <a:off x="5522976" y="3456432"/>
            <a:ext cx="274320" cy="123444"/>
          </a:xfrm>
          <a:prstGeom prst="rect">
            <a:avLst/>
          </a:prstGeom>
          <a:noFill/>
        </p:spPr>
        <p:txBody>
          <a:bodyPr wrap="square" lIns="0" tIns="0" rIns="0" bIns="0" anchor="ctr">
            <a:spAutoFit/>
          </a:bodyPr>
          <a:lstStyle/>
          <a:p>
            <a:pPr algn="l"/>
            <a:r>
              <a:rPr sz="800" b="0">
                <a:solidFill>
                  <a:srgbClr val="0D1B2A"/>
                </a:solidFill>
                <a:latin typeface="JetBrains Mono"/>
              </a:rPr>
              <a:t>18 %</a:t>
            </a:r>
          </a:p>
        </p:txBody>
      </p:sp>
      <p:sp>
        <p:nvSpPr>
          <p:cNvPr id="96" name="Rectangle 95"/>
          <p:cNvSpPr/>
          <p:nvPr/>
        </p:nvSpPr>
        <p:spPr>
          <a:xfrm>
            <a:off x="5971032" y="1783080"/>
            <a:ext cx="2871216" cy="1051560"/>
          </a:xfrm>
          <a:prstGeom prst="rect">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Rectangle 96"/>
          <p:cNvSpPr/>
          <p:nvPr/>
        </p:nvSpPr>
        <p:spPr>
          <a:xfrm>
            <a:off x="5971032" y="1783080"/>
            <a:ext cx="45720" cy="1051560"/>
          </a:xfrm>
          <a:prstGeom prst="rect">
            <a:avLst/>
          </a:prstGeom>
          <a:solidFill>
            <a:srgbClr val="06D6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TextBox 97"/>
          <p:cNvSpPr txBox="1"/>
          <p:nvPr/>
        </p:nvSpPr>
        <p:spPr>
          <a:xfrm>
            <a:off x="6144768" y="1874519"/>
            <a:ext cx="2194560" cy="155448"/>
          </a:xfrm>
          <a:prstGeom prst="rect">
            <a:avLst/>
          </a:prstGeom>
          <a:noFill/>
        </p:spPr>
        <p:txBody>
          <a:bodyPr wrap="square" lIns="0" tIns="0" rIns="0" bIns="0" anchor="t">
            <a:spAutoFit/>
          </a:bodyPr>
          <a:lstStyle/>
          <a:p>
            <a:pPr algn="l"/>
            <a:r>
              <a:rPr sz="950" b="0" spc="100">
                <a:solidFill>
                  <a:srgbClr val="06D6A0"/>
                </a:solidFill>
                <a:latin typeface="JetBrains Mono"/>
              </a:rPr>
              <a:t>WHAT THE MODEL LEARNS</a:t>
            </a:r>
          </a:p>
        </p:txBody>
      </p:sp>
      <p:sp>
        <p:nvSpPr>
          <p:cNvPr id="99" name="TextBox 98"/>
          <p:cNvSpPr txBox="1"/>
          <p:nvPr/>
        </p:nvSpPr>
        <p:spPr>
          <a:xfrm>
            <a:off x="6153912" y="2075688"/>
            <a:ext cx="2514600" cy="685799"/>
          </a:xfrm>
          <a:prstGeom prst="rect">
            <a:avLst/>
          </a:prstGeom>
          <a:noFill/>
        </p:spPr>
        <p:txBody>
          <a:bodyPr wrap="square" lIns="0" tIns="0" rIns="0" bIns="0" anchor="t">
            <a:spAutoFit/>
          </a:bodyPr>
          <a:lstStyle/>
          <a:p>
            <a:pPr algn="l"/>
            <a:r>
              <a:rPr sz="1000" b="0">
                <a:solidFill>
                  <a:srgbClr val="14293D"/>
                </a:solidFill>
                <a:latin typeface="Roboto"/>
              </a:rPr>
              <a:t>Training adjusts the weights on every connection — millions to billions of numbers. Those weights are the model's knowledge; nothing else is stored.</a:t>
            </a:r>
          </a:p>
        </p:txBody>
      </p:sp>
      <p:sp>
        <p:nvSpPr>
          <p:cNvPr id="100" name="Rectangle 99"/>
          <p:cNvSpPr/>
          <p:nvPr/>
        </p:nvSpPr>
        <p:spPr>
          <a:xfrm>
            <a:off x="5971032" y="2916936"/>
            <a:ext cx="2871216" cy="658368"/>
          </a:xfrm>
          <a:prstGeom prst="rect">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Rectangle 100"/>
          <p:cNvSpPr/>
          <p:nvPr/>
        </p:nvSpPr>
        <p:spPr>
          <a:xfrm>
            <a:off x="5971032" y="2916936"/>
            <a:ext cx="45720" cy="658368"/>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TextBox 101"/>
          <p:cNvSpPr txBox="1"/>
          <p:nvPr/>
        </p:nvSpPr>
        <p:spPr>
          <a:xfrm>
            <a:off x="6144768" y="3008376"/>
            <a:ext cx="2194560" cy="155448"/>
          </a:xfrm>
          <a:prstGeom prst="rect">
            <a:avLst/>
          </a:prstGeom>
          <a:noFill/>
        </p:spPr>
        <p:txBody>
          <a:bodyPr wrap="square" lIns="0" tIns="0" rIns="0" bIns="0" anchor="t">
            <a:spAutoFit/>
          </a:bodyPr>
          <a:lstStyle/>
          <a:p>
            <a:pPr algn="l"/>
            <a:r>
              <a:rPr sz="950" b="0" spc="100">
                <a:solidFill>
                  <a:srgbClr val="0D1B2A"/>
                </a:solidFill>
                <a:latin typeface="JetBrains Mono"/>
              </a:rPr>
              <a:t>INPUTS AND OUTPUTS</a:t>
            </a:r>
          </a:p>
        </p:txBody>
      </p:sp>
      <p:sp>
        <p:nvSpPr>
          <p:cNvPr id="103" name="TextBox 102"/>
          <p:cNvSpPr txBox="1"/>
          <p:nvPr/>
        </p:nvSpPr>
        <p:spPr>
          <a:xfrm>
            <a:off x="6153912" y="3209544"/>
            <a:ext cx="2514600" cy="292607"/>
          </a:xfrm>
          <a:prstGeom prst="rect">
            <a:avLst/>
          </a:prstGeom>
          <a:noFill/>
        </p:spPr>
        <p:txBody>
          <a:bodyPr wrap="square" lIns="0" tIns="0" rIns="0" bIns="0" anchor="t">
            <a:spAutoFit/>
          </a:bodyPr>
          <a:lstStyle/>
          <a:p>
            <a:pPr algn="l"/>
            <a:r>
              <a:rPr sz="1000" b="0">
                <a:solidFill>
                  <a:srgbClr val="14293D"/>
                </a:solidFill>
                <a:latin typeface="Roboto"/>
              </a:rPr>
              <a:t>In a language model, what goes in and comes out are tokens.</a:t>
            </a:r>
          </a:p>
        </p:txBody>
      </p:sp>
      <p:sp>
        <p:nvSpPr>
          <p:cNvPr id="104" name="Rectangle 103"/>
          <p:cNvSpPr/>
          <p:nvPr/>
        </p:nvSpPr>
        <p:spPr>
          <a:xfrm>
            <a:off x="5971032" y="3657600"/>
            <a:ext cx="2871216" cy="868680"/>
          </a:xfrm>
          <a:prstGeom prst="rect">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Rectangle 104"/>
          <p:cNvSpPr/>
          <p:nvPr/>
        </p:nvSpPr>
        <p:spPr>
          <a:xfrm>
            <a:off x="5971032" y="3657600"/>
            <a:ext cx="45720" cy="86868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TextBox 105"/>
          <p:cNvSpPr txBox="1"/>
          <p:nvPr/>
        </p:nvSpPr>
        <p:spPr>
          <a:xfrm>
            <a:off x="6144768" y="3749039"/>
            <a:ext cx="2194560" cy="155448"/>
          </a:xfrm>
          <a:prstGeom prst="rect">
            <a:avLst/>
          </a:prstGeom>
          <a:noFill/>
        </p:spPr>
        <p:txBody>
          <a:bodyPr wrap="square" lIns="0" tIns="0" rIns="0" bIns="0" anchor="t">
            <a:spAutoFit/>
          </a:bodyPr>
          <a:lstStyle/>
          <a:p>
            <a:pPr algn="l"/>
            <a:r>
              <a:rPr sz="950" b="0" spc="100">
                <a:solidFill>
                  <a:srgbClr val="1B9AAA"/>
                </a:solidFill>
                <a:latin typeface="JetBrains Mono"/>
              </a:rPr>
              <a:t>SIMPLIFIED ON PURPOSE</a:t>
            </a:r>
          </a:p>
        </p:txBody>
      </p:sp>
      <p:sp>
        <p:nvSpPr>
          <p:cNvPr id="107" name="TextBox 106"/>
          <p:cNvSpPr txBox="1"/>
          <p:nvPr/>
        </p:nvSpPr>
        <p:spPr>
          <a:xfrm>
            <a:off x="6126480" y="3913632"/>
            <a:ext cx="2606040" cy="146304"/>
          </a:xfrm>
          <a:prstGeom prst="rect">
            <a:avLst/>
          </a:prstGeom>
          <a:noFill/>
        </p:spPr>
        <p:txBody>
          <a:bodyPr wrap="square" lIns="0" tIns="0" rIns="0" bIns="0" anchor="t">
            <a:spAutoFit/>
          </a:bodyPr>
          <a:lstStyle/>
          <a:p>
            <a:pPr algn="l"/>
            <a:r>
              <a:rPr sz="900" b="0">
                <a:solidFill>
                  <a:srgbClr val="14293D"/>
                </a:solidFill>
                <a:latin typeface="Roboto"/>
              </a:rPr>
              <a:t>· One token = many numbers</a:t>
            </a:r>
          </a:p>
        </p:txBody>
      </p:sp>
      <p:sp>
        <p:nvSpPr>
          <p:cNvPr id="108" name="TextBox 107"/>
          <p:cNvSpPr txBox="1"/>
          <p:nvPr/>
        </p:nvSpPr>
        <p:spPr>
          <a:xfrm>
            <a:off x="6126480" y="4059936"/>
            <a:ext cx="2606040" cy="146304"/>
          </a:xfrm>
          <a:prstGeom prst="rect">
            <a:avLst/>
          </a:prstGeom>
          <a:noFill/>
        </p:spPr>
        <p:txBody>
          <a:bodyPr wrap="square" lIns="0" tIns="0" rIns="0" bIns="0" anchor="t">
            <a:spAutoFit/>
          </a:bodyPr>
          <a:lstStyle/>
          <a:p>
            <a:pPr algn="l"/>
            <a:r>
              <a:rPr sz="900" b="0">
                <a:solidFill>
                  <a:srgbClr val="14293D"/>
                </a:solidFill>
                <a:latin typeface="Roboto"/>
              </a:rPr>
              <a:t>· Output is calculated across the whole vocabulary</a:t>
            </a:r>
          </a:p>
        </p:txBody>
      </p:sp>
      <p:sp>
        <p:nvSpPr>
          <p:cNvPr id="109" name="TextBox 108"/>
          <p:cNvSpPr txBox="1"/>
          <p:nvPr/>
        </p:nvSpPr>
        <p:spPr>
          <a:xfrm>
            <a:off x="6126480" y="4206240"/>
            <a:ext cx="2606040" cy="146304"/>
          </a:xfrm>
          <a:prstGeom prst="rect">
            <a:avLst/>
          </a:prstGeom>
          <a:noFill/>
        </p:spPr>
        <p:txBody>
          <a:bodyPr wrap="square" lIns="0" tIns="0" rIns="0" bIns="0" anchor="t">
            <a:spAutoFit/>
          </a:bodyPr>
          <a:lstStyle/>
          <a:p>
            <a:pPr algn="l"/>
            <a:r>
              <a:rPr sz="900" b="0">
                <a:solidFill>
                  <a:srgbClr val="14293D"/>
                </a:solidFill>
                <a:latin typeface="Roboto"/>
              </a:rPr>
              <a:t>· Each neuron also has a bias</a:t>
            </a:r>
          </a:p>
        </p:txBody>
      </p:sp>
      <p:sp>
        <p:nvSpPr>
          <p:cNvPr id="110" name="TextBox 109"/>
          <p:cNvSpPr txBox="1"/>
          <p:nvPr/>
        </p:nvSpPr>
        <p:spPr>
          <a:xfrm>
            <a:off x="6126480" y="4352544"/>
            <a:ext cx="2606040" cy="146304"/>
          </a:xfrm>
          <a:prstGeom prst="rect">
            <a:avLst/>
          </a:prstGeom>
          <a:noFill/>
        </p:spPr>
        <p:txBody>
          <a:bodyPr wrap="square" lIns="0" tIns="0" rIns="0" bIns="0" anchor="t">
            <a:spAutoFit/>
          </a:bodyPr>
          <a:lstStyle/>
          <a:p>
            <a:pPr algn="l"/>
            <a:r>
              <a:rPr sz="900" b="0">
                <a:solidFill>
                  <a:srgbClr val="14293D"/>
                </a:solidFill>
                <a:latin typeface="Roboto"/>
              </a:rPr>
              <a:t>· A real LLM is a Transformer</a:t>
            </a:r>
          </a:p>
        </p:txBody>
      </p:sp>
      <p:sp>
        <p:nvSpPr>
          <p:cNvPr id="111" name="Rectangle 110"/>
          <p:cNvSpPr/>
          <p:nvPr/>
        </p:nvSpPr>
        <p:spPr>
          <a:xfrm>
            <a:off x="566928" y="4681727"/>
            <a:ext cx="45720" cy="21945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TextBox 111"/>
          <p:cNvSpPr txBox="1"/>
          <p:nvPr/>
        </p:nvSpPr>
        <p:spPr>
          <a:xfrm>
            <a:off x="713232" y="4663440"/>
            <a:ext cx="7991856" cy="274320"/>
          </a:xfrm>
          <a:prstGeom prst="rect">
            <a:avLst/>
          </a:prstGeom>
          <a:noFill/>
        </p:spPr>
        <p:txBody>
          <a:bodyPr wrap="square" lIns="0" tIns="0" rIns="0" bIns="0" anchor="t">
            <a:spAutoFit/>
          </a:bodyPr>
          <a:lstStyle/>
          <a:p>
            <a:pPr algn="l"/>
            <a:r>
              <a:rPr sz="1200" b="0">
                <a:solidFill>
                  <a:srgbClr val="0D1B2A"/>
                </a:solidFill>
                <a:latin typeface="Roboto"/>
              </a:rPr>
              <a:t>Deep learning is a method within machine learning, not a synonym for all AI.</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Oval 1"/>
          <p:cNvSpPr/>
          <p:nvPr/>
        </p:nvSpPr>
        <p:spPr>
          <a:xfrm>
            <a:off x="4572000" y="320040"/>
            <a:ext cx="4572000" cy="4572000"/>
          </a:xfrm>
          <a:prstGeom prst="ellipse">
            <a:avLst/>
          </a:prstGeom>
          <a:solidFill>
            <a:srgbClr val="1B9AAA">
              <a:alpha val="6000"/>
            </a:srgbClr>
          </a:solidFill>
          <a:ln w="635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 name="Connector 2"/>
          <p:cNvCxnSpPr/>
          <p:nvPr/>
        </p:nvCxnSpPr>
        <p:spPr>
          <a:xfrm>
            <a:off x="6309360" y="1234440"/>
            <a:ext cx="0" cy="25146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H="1">
            <a:off x="5349240" y="1485900"/>
            <a:ext cx="960120" cy="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349240" y="1485900"/>
            <a:ext cx="0" cy="25146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309360" y="1234440"/>
            <a:ext cx="0" cy="251460"/>
          </a:xfrm>
          <a:prstGeom prst="line">
            <a:avLst/>
          </a:prstGeom>
          <a:ln w="25400">
            <a:solidFill>
              <a:srgbClr val="1B9AAA"/>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309360" y="1485900"/>
            <a:ext cx="960120" cy="0"/>
          </a:xfrm>
          <a:prstGeom prst="line">
            <a:avLst/>
          </a:prstGeom>
          <a:ln w="25400">
            <a:solidFill>
              <a:srgbClr val="1B9AAA"/>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269480" y="1485900"/>
            <a:ext cx="0" cy="251460"/>
          </a:xfrm>
          <a:prstGeom prst="line">
            <a:avLst/>
          </a:prstGeom>
          <a:ln w="25400">
            <a:solidFill>
              <a:srgbClr val="1B9AAA"/>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269480" y="2286000"/>
            <a:ext cx="0" cy="251460"/>
          </a:xfrm>
          <a:prstGeom prst="line">
            <a:avLst/>
          </a:prstGeom>
          <a:ln w="25400">
            <a:solidFill>
              <a:srgbClr val="1B9AAA"/>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6583680" y="2537460"/>
            <a:ext cx="685800" cy="0"/>
          </a:xfrm>
          <a:prstGeom prst="line">
            <a:avLst/>
          </a:prstGeom>
          <a:ln w="25400">
            <a:solidFill>
              <a:srgbClr val="1B9AAA"/>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583680" y="2537460"/>
            <a:ext cx="0" cy="251460"/>
          </a:xfrm>
          <a:prstGeom prst="line">
            <a:avLst/>
          </a:prstGeom>
          <a:ln w="25400">
            <a:solidFill>
              <a:srgbClr val="1B9AAA"/>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583680" y="3337560"/>
            <a:ext cx="0" cy="251460"/>
          </a:xfrm>
          <a:prstGeom prst="line">
            <a:avLst/>
          </a:prstGeom>
          <a:ln w="25400">
            <a:solidFill>
              <a:srgbClr val="1B9AAA"/>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5715000" y="3589020"/>
            <a:ext cx="868680" cy="0"/>
          </a:xfrm>
          <a:prstGeom prst="line">
            <a:avLst/>
          </a:prstGeom>
          <a:ln w="25400">
            <a:solidFill>
              <a:srgbClr val="1B9AAA"/>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715000" y="3589020"/>
            <a:ext cx="0" cy="251460"/>
          </a:xfrm>
          <a:prstGeom prst="line">
            <a:avLst/>
          </a:prstGeom>
          <a:ln w="25400">
            <a:solidFill>
              <a:srgbClr val="1B9AAA"/>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583680" y="3337560"/>
            <a:ext cx="0" cy="25146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583680" y="3589020"/>
            <a:ext cx="868680" cy="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7452360" y="3589020"/>
            <a:ext cx="0" cy="25146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309360" y="1485900"/>
            <a:ext cx="2194560" cy="0"/>
          </a:xfrm>
          <a:prstGeom prst="line">
            <a:avLst/>
          </a:prstGeom>
          <a:ln w="9525">
            <a:solidFill>
              <a:srgbClr val="8FA6B2"/>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8503920" y="1485900"/>
            <a:ext cx="0" cy="324612"/>
          </a:xfrm>
          <a:prstGeom prst="line">
            <a:avLst/>
          </a:prstGeom>
          <a:ln w="9525">
            <a:solidFill>
              <a:srgbClr val="8FA6B2"/>
            </a:solidFill>
            <a:prstDash val="dash"/>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8343900" y="1920240"/>
            <a:ext cx="64008" cy="64008"/>
          </a:xfrm>
          <a:prstGeom prst="ellipse">
            <a:avLst/>
          </a:prstGeom>
          <a:solidFill>
            <a:srgbClr val="8FA6B2">
              <a:alpha val="100000"/>
            </a:srgbClr>
          </a:solidFill>
          <a:ln w="6350">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8471916" y="1920240"/>
            <a:ext cx="64008" cy="64008"/>
          </a:xfrm>
          <a:prstGeom prst="ellipse">
            <a:avLst/>
          </a:prstGeom>
          <a:solidFill>
            <a:srgbClr val="8FA6B2">
              <a:alpha val="100000"/>
            </a:srgbClr>
          </a:solidFill>
          <a:ln w="6350">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8599932" y="1920240"/>
            <a:ext cx="64008" cy="64008"/>
          </a:xfrm>
          <a:prstGeom prst="ellipse">
            <a:avLst/>
          </a:prstGeom>
          <a:solidFill>
            <a:srgbClr val="8FA6B2">
              <a:alpha val="100000"/>
            </a:srgbClr>
          </a:solidFill>
          <a:ln w="6350">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3" name="Connector 22"/>
          <p:cNvCxnSpPr/>
          <p:nvPr/>
        </p:nvCxnSpPr>
        <p:spPr>
          <a:xfrm>
            <a:off x="7269480" y="2537460"/>
            <a:ext cx="1234440" cy="0"/>
          </a:xfrm>
          <a:prstGeom prst="line">
            <a:avLst/>
          </a:prstGeom>
          <a:ln w="9525">
            <a:solidFill>
              <a:srgbClr val="8FA6B2"/>
            </a:solidFill>
            <a:prstDash val="dash"/>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8503920" y="2537460"/>
            <a:ext cx="0" cy="324612"/>
          </a:xfrm>
          <a:prstGeom prst="line">
            <a:avLst/>
          </a:prstGeom>
          <a:ln w="9525">
            <a:solidFill>
              <a:srgbClr val="8FA6B2"/>
            </a:solidFill>
            <a:prstDash val="dash"/>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8343900" y="2971800"/>
            <a:ext cx="64008" cy="64008"/>
          </a:xfrm>
          <a:prstGeom prst="ellipse">
            <a:avLst/>
          </a:prstGeom>
          <a:solidFill>
            <a:srgbClr val="8FA6B2">
              <a:alpha val="100000"/>
            </a:srgbClr>
          </a:solidFill>
          <a:ln w="6350">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8471916" y="2971800"/>
            <a:ext cx="64008" cy="64008"/>
          </a:xfrm>
          <a:prstGeom prst="ellipse">
            <a:avLst/>
          </a:prstGeom>
          <a:solidFill>
            <a:srgbClr val="8FA6B2">
              <a:alpha val="100000"/>
            </a:srgbClr>
          </a:solidFill>
          <a:ln w="6350">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8599932" y="2971800"/>
            <a:ext cx="64008" cy="64008"/>
          </a:xfrm>
          <a:prstGeom prst="ellipse">
            <a:avLst/>
          </a:prstGeom>
          <a:solidFill>
            <a:srgbClr val="8FA6B2">
              <a:alpha val="100000"/>
            </a:srgbClr>
          </a:solidFill>
          <a:ln w="6350">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5509260" y="685800"/>
            <a:ext cx="1600200" cy="548640"/>
          </a:xfrm>
          <a:prstGeom prst="roundRect">
            <a:avLst>
              <a:gd name="adj" fmla="val 18000"/>
            </a:avLst>
          </a:prstGeom>
          <a:solidFill>
            <a:srgbClr val="14293D"/>
          </a:solidFill>
          <a:ln w="1905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509260" y="749808"/>
            <a:ext cx="1600200" cy="274320"/>
          </a:xfrm>
          <a:prstGeom prst="rect">
            <a:avLst/>
          </a:prstGeom>
          <a:noFill/>
        </p:spPr>
        <p:txBody>
          <a:bodyPr wrap="square" lIns="0" tIns="0" rIns="0" bIns="0" anchor="t">
            <a:spAutoFit/>
          </a:bodyPr>
          <a:lstStyle/>
          <a:p>
            <a:pPr algn="ctr"/>
            <a:r>
              <a:rPr sz="1300" b="0">
                <a:solidFill>
                  <a:srgbClr val="FFFFFF"/>
                </a:solidFill>
                <a:latin typeface="Oswald"/>
              </a:rPr>
              <a:t>Artificial Intelligence</a:t>
            </a:r>
          </a:p>
        </p:txBody>
      </p:sp>
      <p:sp>
        <p:nvSpPr>
          <p:cNvPr id="30" name="TextBox 29"/>
          <p:cNvSpPr txBox="1"/>
          <p:nvPr/>
        </p:nvSpPr>
        <p:spPr>
          <a:xfrm>
            <a:off x="5509260" y="1014983"/>
            <a:ext cx="1600200" cy="182880"/>
          </a:xfrm>
          <a:prstGeom prst="rect">
            <a:avLst/>
          </a:prstGeom>
          <a:noFill/>
        </p:spPr>
        <p:txBody>
          <a:bodyPr wrap="square" lIns="0" tIns="0" rIns="0" bIns="0" anchor="t">
            <a:spAutoFit/>
          </a:bodyPr>
          <a:lstStyle/>
          <a:p>
            <a:pPr algn="ctr"/>
            <a:r>
              <a:rPr sz="850" b="0" spc="100">
                <a:solidFill>
                  <a:srgbClr val="1B9AAA"/>
                </a:solidFill>
                <a:latin typeface="JetBrains Mono"/>
              </a:rPr>
              <a:t>1955</a:t>
            </a:r>
          </a:p>
        </p:txBody>
      </p:sp>
      <p:sp>
        <p:nvSpPr>
          <p:cNvPr id="31" name="Rounded Rectangle 30"/>
          <p:cNvSpPr/>
          <p:nvPr/>
        </p:nvSpPr>
        <p:spPr>
          <a:xfrm>
            <a:off x="4549140" y="1737360"/>
            <a:ext cx="1600200" cy="548640"/>
          </a:xfrm>
          <a:prstGeom prst="roundRect">
            <a:avLst>
              <a:gd name="adj" fmla="val 18000"/>
            </a:avLst>
          </a:prstGeom>
          <a:solidFill>
            <a:srgbClr val="0D1B2A"/>
          </a:solidFill>
          <a:ln w="9525">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549140" y="1801368"/>
            <a:ext cx="1600200" cy="274320"/>
          </a:xfrm>
          <a:prstGeom prst="rect">
            <a:avLst/>
          </a:prstGeom>
          <a:noFill/>
        </p:spPr>
        <p:txBody>
          <a:bodyPr wrap="square" lIns="0" tIns="0" rIns="0" bIns="0" anchor="t">
            <a:spAutoFit/>
          </a:bodyPr>
          <a:lstStyle/>
          <a:p>
            <a:pPr algn="ctr"/>
            <a:r>
              <a:rPr sz="1300" b="0">
                <a:solidFill>
                  <a:srgbClr val="8FA6B2"/>
                </a:solidFill>
                <a:latin typeface="Oswald"/>
              </a:rPr>
              <a:t>Rule-based AI</a:t>
            </a:r>
          </a:p>
        </p:txBody>
      </p:sp>
      <p:sp>
        <p:nvSpPr>
          <p:cNvPr id="33" name="TextBox 32"/>
          <p:cNvSpPr txBox="1"/>
          <p:nvPr/>
        </p:nvSpPr>
        <p:spPr>
          <a:xfrm>
            <a:off x="4549140" y="2066543"/>
            <a:ext cx="1600200" cy="182880"/>
          </a:xfrm>
          <a:prstGeom prst="rect">
            <a:avLst/>
          </a:prstGeom>
          <a:noFill/>
        </p:spPr>
        <p:txBody>
          <a:bodyPr wrap="square" lIns="0" tIns="0" rIns="0" bIns="0" anchor="t">
            <a:spAutoFit/>
          </a:bodyPr>
          <a:lstStyle/>
          <a:p>
            <a:pPr algn="ctr"/>
            <a:r>
              <a:rPr sz="850" b="0" spc="100">
                <a:solidFill>
                  <a:srgbClr val="8FA6B2"/>
                </a:solidFill>
                <a:latin typeface="JetBrains Mono"/>
              </a:rPr>
              <a:t>1950s</a:t>
            </a:r>
          </a:p>
        </p:txBody>
      </p:sp>
      <p:sp>
        <p:nvSpPr>
          <p:cNvPr id="34" name="Rounded Rectangle 33"/>
          <p:cNvSpPr/>
          <p:nvPr/>
        </p:nvSpPr>
        <p:spPr>
          <a:xfrm>
            <a:off x="6469380" y="1737360"/>
            <a:ext cx="1600200" cy="548640"/>
          </a:xfrm>
          <a:prstGeom prst="roundRect">
            <a:avLst>
              <a:gd name="adj" fmla="val 18000"/>
            </a:avLst>
          </a:prstGeom>
          <a:solidFill>
            <a:srgbClr val="14293D"/>
          </a:solidFill>
          <a:ln w="1905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469380" y="1801368"/>
            <a:ext cx="1600200" cy="274320"/>
          </a:xfrm>
          <a:prstGeom prst="rect">
            <a:avLst/>
          </a:prstGeom>
          <a:noFill/>
        </p:spPr>
        <p:txBody>
          <a:bodyPr wrap="square" lIns="0" tIns="0" rIns="0" bIns="0" anchor="t">
            <a:spAutoFit/>
          </a:bodyPr>
          <a:lstStyle/>
          <a:p>
            <a:pPr algn="ctr"/>
            <a:r>
              <a:rPr sz="1300" b="0">
                <a:solidFill>
                  <a:srgbClr val="FFFFFF"/>
                </a:solidFill>
                <a:latin typeface="Oswald"/>
              </a:rPr>
              <a:t>Machine Learning</a:t>
            </a:r>
          </a:p>
        </p:txBody>
      </p:sp>
      <p:sp>
        <p:nvSpPr>
          <p:cNvPr id="36" name="TextBox 35"/>
          <p:cNvSpPr txBox="1"/>
          <p:nvPr/>
        </p:nvSpPr>
        <p:spPr>
          <a:xfrm>
            <a:off x="6469380" y="2066543"/>
            <a:ext cx="1600200" cy="182880"/>
          </a:xfrm>
          <a:prstGeom prst="rect">
            <a:avLst/>
          </a:prstGeom>
          <a:noFill/>
        </p:spPr>
        <p:txBody>
          <a:bodyPr wrap="square" lIns="0" tIns="0" rIns="0" bIns="0" anchor="t">
            <a:spAutoFit/>
          </a:bodyPr>
          <a:lstStyle/>
          <a:p>
            <a:pPr algn="ctr"/>
            <a:r>
              <a:rPr sz="850" b="0" spc="100">
                <a:solidFill>
                  <a:srgbClr val="1B9AAA"/>
                </a:solidFill>
                <a:latin typeface="JetBrains Mono"/>
              </a:rPr>
              <a:t>1959</a:t>
            </a:r>
          </a:p>
        </p:txBody>
      </p:sp>
      <p:sp>
        <p:nvSpPr>
          <p:cNvPr id="37" name="Rounded Rectangle 36"/>
          <p:cNvSpPr/>
          <p:nvPr/>
        </p:nvSpPr>
        <p:spPr>
          <a:xfrm>
            <a:off x="5783580" y="2788920"/>
            <a:ext cx="1600200" cy="548640"/>
          </a:xfrm>
          <a:prstGeom prst="roundRect">
            <a:avLst>
              <a:gd name="adj" fmla="val 18000"/>
            </a:avLst>
          </a:prstGeom>
          <a:solidFill>
            <a:srgbClr val="14293D"/>
          </a:solidFill>
          <a:ln w="1905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5783580" y="2852927"/>
            <a:ext cx="1600200" cy="274320"/>
          </a:xfrm>
          <a:prstGeom prst="rect">
            <a:avLst/>
          </a:prstGeom>
          <a:noFill/>
        </p:spPr>
        <p:txBody>
          <a:bodyPr wrap="square" lIns="0" tIns="0" rIns="0" bIns="0" anchor="t">
            <a:spAutoFit/>
          </a:bodyPr>
          <a:lstStyle/>
          <a:p>
            <a:pPr algn="ctr"/>
            <a:r>
              <a:rPr sz="1300" b="0">
                <a:solidFill>
                  <a:srgbClr val="FFFFFF"/>
                </a:solidFill>
                <a:latin typeface="Oswald"/>
              </a:rPr>
              <a:t>Deep Learning</a:t>
            </a:r>
          </a:p>
        </p:txBody>
      </p:sp>
      <p:sp>
        <p:nvSpPr>
          <p:cNvPr id="39" name="TextBox 38"/>
          <p:cNvSpPr txBox="1"/>
          <p:nvPr/>
        </p:nvSpPr>
        <p:spPr>
          <a:xfrm>
            <a:off x="5783580" y="3118103"/>
            <a:ext cx="1600200" cy="182880"/>
          </a:xfrm>
          <a:prstGeom prst="rect">
            <a:avLst/>
          </a:prstGeom>
          <a:noFill/>
        </p:spPr>
        <p:txBody>
          <a:bodyPr wrap="square" lIns="0" tIns="0" rIns="0" bIns="0" anchor="t">
            <a:spAutoFit/>
          </a:bodyPr>
          <a:lstStyle/>
          <a:p>
            <a:pPr algn="ctr"/>
            <a:r>
              <a:rPr sz="850" b="0" spc="100">
                <a:solidFill>
                  <a:srgbClr val="1B9AAA"/>
                </a:solidFill>
                <a:latin typeface="JetBrains Mono"/>
              </a:rPr>
              <a:t>2012</a:t>
            </a:r>
          </a:p>
        </p:txBody>
      </p:sp>
      <p:sp>
        <p:nvSpPr>
          <p:cNvPr id="40" name="Rounded Rectangle 39"/>
          <p:cNvSpPr/>
          <p:nvPr/>
        </p:nvSpPr>
        <p:spPr>
          <a:xfrm>
            <a:off x="4914900" y="3840480"/>
            <a:ext cx="1600200" cy="548640"/>
          </a:xfrm>
          <a:prstGeom prst="roundRect">
            <a:avLst>
              <a:gd name="adj" fmla="val 18000"/>
            </a:avLst>
          </a:prstGeom>
          <a:solidFill>
            <a:srgbClr val="06D6A0"/>
          </a:solidFill>
          <a:ln w="19050">
            <a:solidFill>
              <a:srgbClr val="06D6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914900" y="3904488"/>
            <a:ext cx="1600200" cy="274320"/>
          </a:xfrm>
          <a:prstGeom prst="rect">
            <a:avLst/>
          </a:prstGeom>
          <a:noFill/>
        </p:spPr>
        <p:txBody>
          <a:bodyPr wrap="square" lIns="0" tIns="0" rIns="0" bIns="0" anchor="t">
            <a:spAutoFit/>
          </a:bodyPr>
          <a:lstStyle/>
          <a:p>
            <a:pPr algn="ctr"/>
            <a:r>
              <a:rPr sz="1300" b="0">
                <a:solidFill>
                  <a:srgbClr val="0D1B2A"/>
                </a:solidFill>
                <a:latin typeface="Oswald"/>
              </a:rPr>
              <a:t>Generative AI</a:t>
            </a:r>
          </a:p>
        </p:txBody>
      </p:sp>
      <p:sp>
        <p:nvSpPr>
          <p:cNvPr id="42" name="TextBox 41"/>
          <p:cNvSpPr txBox="1"/>
          <p:nvPr/>
        </p:nvSpPr>
        <p:spPr>
          <a:xfrm>
            <a:off x="4914900" y="4169664"/>
            <a:ext cx="1600200" cy="182880"/>
          </a:xfrm>
          <a:prstGeom prst="rect">
            <a:avLst/>
          </a:prstGeom>
          <a:noFill/>
        </p:spPr>
        <p:txBody>
          <a:bodyPr wrap="square" lIns="0" tIns="0" rIns="0" bIns="0" anchor="t">
            <a:spAutoFit/>
          </a:bodyPr>
          <a:lstStyle/>
          <a:p>
            <a:pPr algn="ctr"/>
            <a:r>
              <a:rPr sz="850" b="0" spc="100">
                <a:solidFill>
                  <a:srgbClr val="0D1B2A"/>
                </a:solidFill>
                <a:latin typeface="JetBrains Mono"/>
              </a:rPr>
              <a:t>2018</a:t>
            </a:r>
          </a:p>
        </p:txBody>
      </p:sp>
      <p:sp>
        <p:nvSpPr>
          <p:cNvPr id="43" name="Rounded Rectangle 42"/>
          <p:cNvSpPr/>
          <p:nvPr/>
        </p:nvSpPr>
        <p:spPr>
          <a:xfrm>
            <a:off x="6652260" y="3840480"/>
            <a:ext cx="1600200" cy="548640"/>
          </a:xfrm>
          <a:prstGeom prst="roundRect">
            <a:avLst>
              <a:gd name="adj" fmla="val 18000"/>
            </a:avLst>
          </a:prstGeom>
          <a:solidFill>
            <a:srgbClr val="0D1B2A"/>
          </a:solidFill>
          <a:ln w="9525">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652260" y="3904488"/>
            <a:ext cx="1600200" cy="274320"/>
          </a:xfrm>
          <a:prstGeom prst="rect">
            <a:avLst/>
          </a:prstGeom>
          <a:noFill/>
        </p:spPr>
        <p:txBody>
          <a:bodyPr wrap="square" lIns="0" tIns="0" rIns="0" bIns="0" anchor="t">
            <a:spAutoFit/>
          </a:bodyPr>
          <a:lstStyle/>
          <a:p>
            <a:pPr algn="ctr"/>
            <a:r>
              <a:rPr sz="1300" b="0">
                <a:solidFill>
                  <a:srgbClr val="8FA6B2"/>
                </a:solidFill>
                <a:latin typeface="Oswald"/>
              </a:rPr>
              <a:t>Agentic AI</a:t>
            </a:r>
          </a:p>
        </p:txBody>
      </p:sp>
      <p:sp>
        <p:nvSpPr>
          <p:cNvPr id="45" name="TextBox 44"/>
          <p:cNvSpPr txBox="1"/>
          <p:nvPr/>
        </p:nvSpPr>
        <p:spPr>
          <a:xfrm>
            <a:off x="6652260" y="4169664"/>
            <a:ext cx="1600200" cy="182880"/>
          </a:xfrm>
          <a:prstGeom prst="rect">
            <a:avLst/>
          </a:prstGeom>
          <a:noFill/>
        </p:spPr>
        <p:txBody>
          <a:bodyPr wrap="square" lIns="0" tIns="0" rIns="0" bIns="0" anchor="t">
            <a:spAutoFit/>
          </a:bodyPr>
          <a:lstStyle/>
          <a:p>
            <a:pPr algn="ctr"/>
            <a:r>
              <a:rPr sz="850" b="0" spc="100">
                <a:solidFill>
                  <a:srgbClr val="8FA6B2"/>
                </a:solidFill>
                <a:latin typeface="JetBrains Mono"/>
              </a:rPr>
              <a:t>2024</a:t>
            </a:r>
          </a:p>
        </p:txBody>
      </p:sp>
      <p:sp>
        <p:nvSpPr>
          <p:cNvPr id="46" name="TextBox 45"/>
          <p:cNvSpPr txBox="1"/>
          <p:nvPr/>
        </p:nvSpPr>
        <p:spPr>
          <a:xfrm>
            <a:off x="731520" y="960120"/>
            <a:ext cx="3657600" cy="274320"/>
          </a:xfrm>
          <a:prstGeom prst="rect">
            <a:avLst/>
          </a:prstGeom>
          <a:noFill/>
        </p:spPr>
        <p:txBody>
          <a:bodyPr wrap="square" lIns="0" tIns="0" rIns="0" bIns="0" anchor="t">
            <a:spAutoFit/>
          </a:bodyPr>
          <a:lstStyle/>
          <a:p>
            <a:pPr algn="l"/>
            <a:r>
              <a:rPr sz="1100" b="0" spc="300">
                <a:solidFill>
                  <a:srgbClr val="06D6A0"/>
                </a:solidFill>
                <a:latin typeface="JetBrains Mono"/>
              </a:rPr>
              <a:t>PART 4 OF 5 · SINCE 2018</a:t>
            </a:r>
          </a:p>
        </p:txBody>
      </p:sp>
      <p:sp>
        <p:nvSpPr>
          <p:cNvPr id="47" name="section-genai"/>
          <p:cNvSpPr txBox="1"/>
          <p:nvPr/>
        </p:nvSpPr>
        <p:spPr>
          <a:xfrm>
            <a:off x="731520" y="1234440"/>
            <a:ext cx="3657600" cy="1554480"/>
          </a:xfrm>
          <a:prstGeom prst="rect">
            <a:avLst/>
          </a:prstGeom>
          <a:noFill/>
        </p:spPr>
        <p:txBody>
          <a:bodyPr wrap="square" lIns="0" tIns="0" rIns="0" bIns="0" anchor="t">
            <a:spAutoFit/>
          </a:bodyPr>
          <a:lstStyle/>
          <a:p>
            <a:pPr algn="l"/>
            <a:r>
              <a:rPr sz="4800" b="0">
                <a:solidFill>
                  <a:srgbClr val="FFFFFF"/>
                </a:solidFill>
                <a:latin typeface="Oswald"/>
              </a:rPr>
              <a:t>Generative</a:t>
            </a:r>
          </a:p>
          <a:p>
            <a:pPr algn="l"/>
            <a:r>
              <a:rPr sz="4800" b="0">
                <a:solidFill>
                  <a:srgbClr val="FFFFFF"/>
                </a:solidFill>
                <a:latin typeface="Oswald"/>
              </a:rPr>
              <a:t>AI</a:t>
            </a:r>
          </a:p>
        </p:txBody>
      </p:sp>
      <p:sp>
        <p:nvSpPr>
          <p:cNvPr id="48" name="TextBox 47"/>
          <p:cNvSpPr txBox="1"/>
          <p:nvPr/>
        </p:nvSpPr>
        <p:spPr>
          <a:xfrm>
            <a:off x="731520" y="2834640"/>
            <a:ext cx="3566160" cy="502920"/>
          </a:xfrm>
          <a:prstGeom prst="rect">
            <a:avLst/>
          </a:prstGeom>
          <a:noFill/>
        </p:spPr>
        <p:txBody>
          <a:bodyPr wrap="square" lIns="0" tIns="0" rIns="0" bIns="0" anchor="t">
            <a:spAutoFit/>
          </a:bodyPr>
          <a:lstStyle/>
          <a:p>
            <a:pPr algn="l"/>
            <a:r>
              <a:rPr sz="1400" b="0">
                <a:solidFill>
                  <a:srgbClr val="AFC2CE"/>
                </a:solidFill>
                <a:latin typeface="Roboto"/>
              </a:rPr>
              <a:t>AI that creates new content: text, images, audio and code.</a:t>
            </a:r>
          </a:p>
        </p:txBody>
      </p:sp>
      <p:sp>
        <p:nvSpPr>
          <p:cNvPr id="49" name="Rectangle 48"/>
          <p:cNvSpPr/>
          <p:nvPr/>
        </p:nvSpPr>
        <p:spPr>
          <a:xfrm>
            <a:off x="731520" y="3520440"/>
            <a:ext cx="822960" cy="41148"/>
          </a:xfrm>
          <a:prstGeom prst="rect">
            <a:avLst/>
          </a:prstGeom>
          <a:solidFill>
            <a:srgbClr val="06D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731520" y="3675887"/>
            <a:ext cx="2743200" cy="228600"/>
          </a:xfrm>
          <a:prstGeom prst="rect">
            <a:avLst/>
          </a:prstGeom>
          <a:noFill/>
        </p:spPr>
        <p:txBody>
          <a:bodyPr wrap="square" lIns="0" tIns="0" rIns="0" bIns="0" anchor="t">
            <a:spAutoFit/>
          </a:bodyPr>
          <a:lstStyle/>
          <a:p>
            <a:pPr algn="l"/>
            <a:r>
              <a:rPr sz="900" b="0" spc="100">
                <a:solidFill>
                  <a:srgbClr val="8FA6B2"/>
                </a:solidFill>
                <a:latin typeface="JetBrains Mono"/>
              </a:rPr>
              <a:t>IN THIS PART</a:t>
            </a:r>
          </a:p>
        </p:txBody>
      </p:sp>
      <p:sp>
        <p:nvSpPr>
          <p:cNvPr id="51" name="TextBox 50"/>
          <p:cNvSpPr txBox="1"/>
          <p:nvPr/>
        </p:nvSpPr>
        <p:spPr>
          <a:xfrm>
            <a:off x="731520" y="3904487"/>
            <a:ext cx="3566160" cy="640080"/>
          </a:xfrm>
          <a:prstGeom prst="rect">
            <a:avLst/>
          </a:prstGeom>
          <a:noFill/>
        </p:spPr>
        <p:txBody>
          <a:bodyPr wrap="square" lIns="0" tIns="0" rIns="0" bIns="0" anchor="t">
            <a:spAutoFit/>
          </a:bodyPr>
          <a:lstStyle/>
          <a:p>
            <a:pPr algn="l"/>
            <a:r>
              <a:rPr sz="1100" b="0">
                <a:solidFill>
                  <a:srgbClr val="AFC2CE"/>
                </a:solidFill>
                <a:latin typeface="Roboto"/>
              </a:rPr>
              <a:t>LLMs · Transformer &amp; GPT · Tokens · Next‑word prediction · Pre‑training · Prompt · Context window · Hallucination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514350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329184"/>
            <a:ext cx="8138160" cy="274320"/>
          </a:xfrm>
          <a:prstGeom prst="rect">
            <a:avLst/>
          </a:prstGeom>
          <a:noFill/>
        </p:spPr>
        <p:txBody>
          <a:bodyPr wrap="square" lIns="0" tIns="0" rIns="0" bIns="0" anchor="t">
            <a:spAutoFit/>
          </a:bodyPr>
          <a:lstStyle/>
          <a:p>
            <a:pPr algn="l"/>
            <a:r>
              <a:rPr sz="1100" b="0" spc="300">
                <a:solidFill>
                  <a:srgbClr val="1B9AAA"/>
                </a:solidFill>
                <a:latin typeface="JetBrains Mono"/>
              </a:rPr>
              <a:t>PART 4 · GENERATIVE AI</a:t>
            </a:r>
          </a:p>
        </p:txBody>
      </p:sp>
      <p:sp>
        <p:nvSpPr>
          <p:cNvPr id="4" name="slide-generative-ai"/>
          <p:cNvSpPr txBox="1"/>
          <p:nvPr/>
        </p:nvSpPr>
        <p:spPr>
          <a:xfrm>
            <a:off x="566928" y="603504"/>
            <a:ext cx="8138160" cy="658368"/>
          </a:xfrm>
          <a:prstGeom prst="rect">
            <a:avLst/>
          </a:prstGeom>
          <a:noFill/>
        </p:spPr>
        <p:txBody>
          <a:bodyPr wrap="square" lIns="0" tIns="0" rIns="0" bIns="0" anchor="t">
            <a:spAutoFit/>
          </a:bodyPr>
          <a:lstStyle/>
          <a:p>
            <a:pPr algn="l"/>
            <a:r>
              <a:rPr sz="3200" b="0">
                <a:solidFill>
                  <a:srgbClr val="0D1B2A"/>
                </a:solidFill>
                <a:latin typeface="Oswald"/>
              </a:rPr>
              <a:t>From recognizing content to creating it</a:t>
            </a:r>
          </a:p>
        </p:txBody>
      </p:sp>
      <p:sp>
        <p:nvSpPr>
          <p:cNvPr id="5" name="TextBox 4"/>
          <p:cNvSpPr txBox="1"/>
          <p:nvPr/>
        </p:nvSpPr>
        <p:spPr>
          <a:xfrm>
            <a:off x="566928" y="1298448"/>
            <a:ext cx="8138160" cy="457200"/>
          </a:xfrm>
          <a:prstGeom prst="rect">
            <a:avLst/>
          </a:prstGeom>
          <a:noFill/>
        </p:spPr>
        <p:txBody>
          <a:bodyPr wrap="square" lIns="0" tIns="0" rIns="0" bIns="0" anchor="t">
            <a:spAutoFit/>
          </a:bodyPr>
          <a:lstStyle/>
          <a:p>
            <a:pPr algn="l"/>
            <a:r>
              <a:rPr sz="1400" b="0" dirty="0">
                <a:solidFill>
                  <a:srgbClr val="14293D"/>
                </a:solidFill>
                <a:latin typeface="Roboto"/>
              </a:rPr>
              <a:t>The same machinery, put to a new job: not naming what is there, but making something new.</a:t>
            </a:r>
          </a:p>
        </p:txBody>
      </p:sp>
      <p:sp>
        <p:nvSpPr>
          <p:cNvPr id="6" name="Rectangle 5"/>
          <p:cNvSpPr/>
          <p:nvPr/>
        </p:nvSpPr>
        <p:spPr>
          <a:xfrm>
            <a:off x="566928" y="1783080"/>
            <a:ext cx="4370832" cy="2743200"/>
          </a:xfrm>
          <a:prstGeom prst="rect">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66928" y="1783080"/>
            <a:ext cx="54864" cy="274320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1892807"/>
            <a:ext cx="2743200" cy="228600"/>
          </a:xfrm>
          <a:prstGeom prst="rect">
            <a:avLst/>
          </a:prstGeom>
          <a:noFill/>
        </p:spPr>
        <p:txBody>
          <a:bodyPr wrap="square" lIns="0" tIns="0" rIns="0" bIns="0" anchor="t">
            <a:spAutoFit/>
          </a:bodyPr>
          <a:lstStyle/>
          <a:p>
            <a:pPr algn="l"/>
            <a:r>
              <a:rPr sz="950" b="0" spc="100">
                <a:solidFill>
                  <a:srgbClr val="1B9AAA"/>
                </a:solidFill>
                <a:latin typeface="JetBrains Mono"/>
              </a:rPr>
              <a:t>RECOGNISE, PREDICT OR CLASSIFY</a:t>
            </a:r>
          </a:p>
        </p:txBody>
      </p:sp>
      <p:sp>
        <p:nvSpPr>
          <p:cNvPr id="9" name="Rounded Rectangle 8"/>
          <p:cNvSpPr/>
          <p:nvPr/>
        </p:nvSpPr>
        <p:spPr>
          <a:xfrm>
            <a:off x="777240" y="2176272"/>
            <a:ext cx="566928" cy="457200"/>
          </a:xfrm>
          <a:prstGeom prst="roundRect">
            <a:avLst>
              <a:gd name="adj" fmla="val 10000"/>
            </a:avLst>
          </a:prstGeom>
          <a:solidFill>
            <a:srgbClr val="D4ECE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10"/>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41248" y="2185416"/>
            <a:ext cx="448056" cy="448056"/>
          </a:xfrm>
          <a:prstGeom prst="rect">
            <a:avLst/>
          </a:prstGeom>
        </p:spPr>
      </p:pic>
      <p:cxnSp>
        <p:nvCxnSpPr>
          <p:cNvPr id="11" name="Connector 10"/>
          <p:cNvCxnSpPr/>
          <p:nvPr/>
        </p:nvCxnSpPr>
        <p:spPr>
          <a:xfrm>
            <a:off x="1389888" y="2404872"/>
            <a:ext cx="329184" cy="0"/>
          </a:xfrm>
          <a:prstGeom prst="line">
            <a:avLst/>
          </a:prstGeom>
          <a:ln w="12700">
            <a:solidFill>
              <a:srgbClr val="8FA6B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1764792" y="2249424"/>
            <a:ext cx="777240" cy="310896"/>
          </a:xfrm>
          <a:prstGeom prst="roundRect">
            <a:avLst>
              <a:gd name="adj" fmla="val 18000"/>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50">
                <a:solidFill>
                  <a:srgbClr val="FFFFFF"/>
                </a:solidFill>
                <a:latin typeface="JetBrains Mono"/>
              </a:rPr>
              <a:t>Model</a:t>
            </a:r>
          </a:p>
        </p:txBody>
      </p:sp>
      <p:cxnSp>
        <p:nvCxnSpPr>
          <p:cNvPr id="13" name="Connector 12"/>
          <p:cNvCxnSpPr/>
          <p:nvPr/>
        </p:nvCxnSpPr>
        <p:spPr>
          <a:xfrm>
            <a:off x="2587752" y="2404872"/>
            <a:ext cx="329184" cy="0"/>
          </a:xfrm>
          <a:prstGeom prst="line">
            <a:avLst/>
          </a:prstGeom>
          <a:ln w="12700">
            <a:solidFill>
              <a:srgbClr val="8FA6B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62656" y="2249424"/>
            <a:ext cx="960120" cy="310896"/>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50">
                <a:solidFill>
                  <a:srgbClr val="0D1B2A"/>
                </a:solidFill>
                <a:latin typeface="JetBrains Mono"/>
              </a:rPr>
              <a:t>cat · 92 %</a:t>
            </a:r>
          </a:p>
        </p:txBody>
      </p:sp>
      <p:sp>
        <p:nvSpPr>
          <p:cNvPr id="15" name="TextBox 14"/>
          <p:cNvSpPr txBox="1"/>
          <p:nvPr/>
        </p:nvSpPr>
        <p:spPr>
          <a:xfrm>
            <a:off x="2953512" y="2642616"/>
            <a:ext cx="1335024" cy="155448"/>
          </a:xfrm>
          <a:prstGeom prst="rect">
            <a:avLst/>
          </a:prstGeom>
          <a:noFill/>
        </p:spPr>
        <p:txBody>
          <a:bodyPr wrap="square" lIns="0" tIns="0" rIns="0" bIns="0" anchor="t">
            <a:spAutoFit/>
          </a:bodyPr>
          <a:lstStyle/>
          <a:p>
            <a:pPr algn="l"/>
            <a:r>
              <a:rPr sz="1000" b="0">
                <a:solidFill>
                  <a:srgbClr val="6B7B8C"/>
                </a:solidFill>
                <a:latin typeface="Roboto"/>
              </a:rPr>
              <a:t>The answer is a label.</a:t>
            </a:r>
          </a:p>
        </p:txBody>
      </p:sp>
      <p:cxnSp>
        <p:nvCxnSpPr>
          <p:cNvPr id="16" name="Connector 15"/>
          <p:cNvCxnSpPr/>
          <p:nvPr/>
        </p:nvCxnSpPr>
        <p:spPr>
          <a:xfrm>
            <a:off x="777240" y="3072384"/>
            <a:ext cx="3931920" cy="0"/>
          </a:xfrm>
          <a:prstGeom prst="line">
            <a:avLst/>
          </a:prstGeom>
          <a:ln w="9525">
            <a:solidFill>
              <a:srgbClr val="DDE5E9"/>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77240" y="3200400"/>
            <a:ext cx="2743200" cy="228600"/>
          </a:xfrm>
          <a:prstGeom prst="rect">
            <a:avLst/>
          </a:prstGeom>
          <a:noFill/>
        </p:spPr>
        <p:txBody>
          <a:bodyPr wrap="square" lIns="0" tIns="0" rIns="0" bIns="0" anchor="t">
            <a:spAutoFit/>
          </a:bodyPr>
          <a:lstStyle/>
          <a:p>
            <a:pPr algn="l"/>
            <a:r>
              <a:rPr sz="950" b="0" spc="100">
                <a:solidFill>
                  <a:srgbClr val="1B9AAA"/>
                </a:solidFill>
                <a:latin typeface="JetBrains Mono"/>
              </a:rPr>
              <a:t>GENERATE</a:t>
            </a:r>
          </a:p>
        </p:txBody>
      </p:sp>
      <p:sp>
        <p:nvSpPr>
          <p:cNvPr id="18" name="Rounded Rectangle 17"/>
          <p:cNvSpPr/>
          <p:nvPr/>
        </p:nvSpPr>
        <p:spPr>
          <a:xfrm>
            <a:off x="777240" y="3511296"/>
            <a:ext cx="1371600" cy="310896"/>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00">
                <a:solidFill>
                  <a:srgbClr val="0D1B2A"/>
                </a:solidFill>
                <a:latin typeface="JetBrains Mono"/>
              </a:rPr>
              <a:t>“Write a summary …”</a:t>
            </a:r>
          </a:p>
        </p:txBody>
      </p:sp>
      <p:cxnSp>
        <p:nvCxnSpPr>
          <p:cNvPr id="19" name="Connector 18"/>
          <p:cNvCxnSpPr/>
          <p:nvPr/>
        </p:nvCxnSpPr>
        <p:spPr>
          <a:xfrm>
            <a:off x="2194560" y="3666744"/>
            <a:ext cx="329184" cy="0"/>
          </a:xfrm>
          <a:prstGeom prst="line">
            <a:avLst/>
          </a:prstGeom>
          <a:ln w="12700">
            <a:solidFill>
              <a:srgbClr val="8FA6B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2569464" y="3511296"/>
            <a:ext cx="777240" cy="310896"/>
          </a:xfrm>
          <a:prstGeom prst="roundRect">
            <a:avLst>
              <a:gd name="adj" fmla="val 18000"/>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50">
                <a:solidFill>
                  <a:srgbClr val="FFFFFF"/>
                </a:solidFill>
                <a:latin typeface="JetBrains Mono"/>
              </a:rPr>
              <a:t>Model</a:t>
            </a:r>
          </a:p>
        </p:txBody>
      </p:sp>
      <p:cxnSp>
        <p:nvCxnSpPr>
          <p:cNvPr id="21" name="Connector 20"/>
          <p:cNvCxnSpPr/>
          <p:nvPr/>
        </p:nvCxnSpPr>
        <p:spPr>
          <a:xfrm>
            <a:off x="3392424" y="3666744"/>
            <a:ext cx="329184" cy="0"/>
          </a:xfrm>
          <a:prstGeom prst="line">
            <a:avLst/>
          </a:prstGeom>
          <a:ln w="12700">
            <a:solidFill>
              <a:srgbClr val="8FA6B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3767328" y="3493008"/>
            <a:ext cx="914400" cy="64008"/>
          </a:xfrm>
          <a:prstGeom prst="rect">
            <a:avLst/>
          </a:prstGeom>
          <a:solidFill>
            <a:srgbClr val="06D6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3767328" y="3611879"/>
            <a:ext cx="777240" cy="64008"/>
          </a:xfrm>
          <a:prstGeom prst="rect">
            <a:avLst/>
          </a:prstGeom>
          <a:solidFill>
            <a:srgbClr val="DDE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3767328" y="3730752"/>
            <a:ext cx="914400" cy="64008"/>
          </a:xfrm>
          <a:prstGeom prst="rect">
            <a:avLst/>
          </a:prstGeom>
          <a:solidFill>
            <a:srgbClr val="DDE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3767328" y="3849624"/>
            <a:ext cx="548640" cy="64008"/>
          </a:xfrm>
          <a:prstGeom prst="rect">
            <a:avLst/>
          </a:prstGeom>
          <a:solidFill>
            <a:srgbClr val="DDE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767328" y="3977639"/>
            <a:ext cx="1069848" cy="310896"/>
          </a:xfrm>
          <a:prstGeom prst="rect">
            <a:avLst/>
          </a:prstGeom>
          <a:noFill/>
        </p:spPr>
        <p:txBody>
          <a:bodyPr wrap="square" lIns="0" tIns="0" rIns="0" bIns="0" anchor="t">
            <a:spAutoFit/>
          </a:bodyPr>
          <a:lstStyle/>
          <a:p>
            <a:pPr algn="l"/>
            <a:r>
              <a:rPr sz="1000" b="0">
                <a:solidFill>
                  <a:srgbClr val="6B7B8C"/>
                </a:solidFill>
                <a:latin typeface="Roboto"/>
              </a:rPr>
              <a:t>The answer is new content.</a:t>
            </a:r>
          </a:p>
        </p:txBody>
      </p:sp>
      <p:sp>
        <p:nvSpPr>
          <p:cNvPr id="27" name="Rectangle 26"/>
          <p:cNvSpPr/>
          <p:nvPr/>
        </p:nvSpPr>
        <p:spPr>
          <a:xfrm>
            <a:off x="5120640" y="1783080"/>
            <a:ext cx="3584448" cy="2743200"/>
          </a:xfrm>
          <a:prstGeom prst="rect">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5120640" y="1783080"/>
            <a:ext cx="54864" cy="2743200"/>
          </a:xfrm>
          <a:prstGeom prst="rect">
            <a:avLst/>
          </a:prstGeom>
          <a:solidFill>
            <a:srgbClr val="06D6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330952" y="1892807"/>
            <a:ext cx="2743200" cy="228600"/>
          </a:xfrm>
          <a:prstGeom prst="rect">
            <a:avLst/>
          </a:prstGeom>
          <a:noFill/>
        </p:spPr>
        <p:txBody>
          <a:bodyPr wrap="square" lIns="0" tIns="0" rIns="0" bIns="0" anchor="t">
            <a:spAutoFit/>
          </a:bodyPr>
          <a:lstStyle/>
          <a:p>
            <a:pPr algn="l"/>
            <a:r>
              <a:rPr sz="950" b="0" spc="100">
                <a:solidFill>
                  <a:srgbClr val="1B9AAA"/>
                </a:solidFill>
                <a:latin typeface="JetBrains Mono"/>
              </a:rPr>
              <a:t>DIFFERENT DOMAINS OF GENERATIVE AI</a:t>
            </a:r>
          </a:p>
        </p:txBody>
      </p:sp>
      <p:sp>
        <p:nvSpPr>
          <p:cNvPr id="30" name="Rounded Rectangle 29"/>
          <p:cNvSpPr/>
          <p:nvPr/>
        </p:nvSpPr>
        <p:spPr>
          <a:xfrm>
            <a:off x="5394960" y="2834640"/>
            <a:ext cx="1325880" cy="548640"/>
          </a:xfrm>
          <a:prstGeom prst="roundRect">
            <a:avLst>
              <a:gd name="adj" fmla="val 10000"/>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394960" y="2916936"/>
            <a:ext cx="1325880" cy="411480"/>
          </a:xfrm>
          <a:prstGeom prst="rect">
            <a:avLst/>
          </a:prstGeom>
          <a:noFill/>
        </p:spPr>
        <p:txBody>
          <a:bodyPr wrap="square" lIns="0" tIns="0" rIns="0" bIns="0" anchor="t">
            <a:spAutoFit/>
          </a:bodyPr>
          <a:lstStyle/>
          <a:p>
            <a:pPr algn="ctr"/>
            <a:r>
              <a:rPr sz="1200" b="0">
                <a:solidFill>
                  <a:srgbClr val="FFFFFF"/>
                </a:solidFill>
                <a:latin typeface="Oswald"/>
              </a:rPr>
              <a:t>Generative</a:t>
            </a:r>
          </a:p>
          <a:p>
            <a:pPr algn="ctr"/>
            <a:r>
              <a:rPr sz="1200" b="0">
                <a:solidFill>
                  <a:srgbClr val="FFFFFF"/>
                </a:solidFill>
                <a:latin typeface="Oswald"/>
              </a:rPr>
              <a:t>AI</a:t>
            </a:r>
          </a:p>
        </p:txBody>
      </p:sp>
      <p:cxnSp>
        <p:nvCxnSpPr>
          <p:cNvPr id="32" name="Connector 31"/>
          <p:cNvCxnSpPr/>
          <p:nvPr/>
        </p:nvCxnSpPr>
        <p:spPr>
          <a:xfrm>
            <a:off x="6720840" y="3108960"/>
            <a:ext cx="228600" cy="0"/>
          </a:xfrm>
          <a:prstGeom prst="line">
            <a:avLst/>
          </a:prstGeom>
          <a:ln w="12700">
            <a:solidFill>
              <a:srgbClr val="1B9AAA"/>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6949440" y="2432304"/>
            <a:ext cx="0" cy="1645920"/>
          </a:xfrm>
          <a:prstGeom prst="line">
            <a:avLst/>
          </a:prstGeom>
          <a:ln w="12700">
            <a:solidFill>
              <a:srgbClr val="1B9AAA"/>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6949440" y="2432304"/>
            <a:ext cx="228600" cy="0"/>
          </a:xfrm>
          <a:prstGeom prst="line">
            <a:avLst/>
          </a:prstGeom>
          <a:ln w="12700">
            <a:solidFill>
              <a:srgbClr val="1B9AAA"/>
            </a:solidFill>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7178040" y="2240280"/>
            <a:ext cx="1371600" cy="384048"/>
          </a:xfrm>
          <a:prstGeom prst="roundRect">
            <a:avLst>
              <a:gd name="adj" fmla="val 18000"/>
            </a:avLst>
          </a:prstGeom>
          <a:solidFill>
            <a:srgbClr val="06D6A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0D1B2A"/>
                </a:solidFill>
                <a:latin typeface="JetBrains Mono"/>
              </a:rPr>
              <a:t>Text  (LLM)</a:t>
            </a:r>
          </a:p>
        </p:txBody>
      </p:sp>
      <p:cxnSp>
        <p:nvCxnSpPr>
          <p:cNvPr id="36" name="Connector 35"/>
          <p:cNvCxnSpPr/>
          <p:nvPr/>
        </p:nvCxnSpPr>
        <p:spPr>
          <a:xfrm>
            <a:off x="6949440" y="2980944"/>
            <a:ext cx="228600" cy="0"/>
          </a:xfrm>
          <a:prstGeom prst="line">
            <a:avLst/>
          </a:prstGeom>
          <a:ln w="12700">
            <a:solidFill>
              <a:srgbClr val="1B9AAA"/>
            </a:solidFill>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7178040" y="2788920"/>
            <a:ext cx="1371600" cy="384048"/>
          </a:xfrm>
          <a:prstGeom prst="roundRect">
            <a:avLst>
              <a:gd name="adj" fmla="val 18000"/>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0D1B2A"/>
                </a:solidFill>
                <a:latin typeface="JetBrains Mono"/>
              </a:rPr>
              <a:t>Images</a:t>
            </a:r>
          </a:p>
        </p:txBody>
      </p:sp>
      <p:cxnSp>
        <p:nvCxnSpPr>
          <p:cNvPr id="38" name="Connector 37"/>
          <p:cNvCxnSpPr/>
          <p:nvPr/>
        </p:nvCxnSpPr>
        <p:spPr>
          <a:xfrm>
            <a:off x="6949440" y="3529584"/>
            <a:ext cx="228600" cy="0"/>
          </a:xfrm>
          <a:prstGeom prst="line">
            <a:avLst/>
          </a:prstGeom>
          <a:ln w="12700">
            <a:solidFill>
              <a:srgbClr val="1B9AAA"/>
            </a:solidFill>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7178040" y="3337560"/>
            <a:ext cx="1371600" cy="384048"/>
          </a:xfrm>
          <a:prstGeom prst="roundRect">
            <a:avLst>
              <a:gd name="adj" fmla="val 18000"/>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0D1B2A"/>
                </a:solidFill>
                <a:latin typeface="JetBrains Mono"/>
              </a:rPr>
              <a:t>Audio</a:t>
            </a:r>
          </a:p>
        </p:txBody>
      </p:sp>
      <p:cxnSp>
        <p:nvCxnSpPr>
          <p:cNvPr id="40" name="Connector 39"/>
          <p:cNvCxnSpPr/>
          <p:nvPr/>
        </p:nvCxnSpPr>
        <p:spPr>
          <a:xfrm>
            <a:off x="6949440" y="4078224"/>
            <a:ext cx="228600" cy="0"/>
          </a:xfrm>
          <a:prstGeom prst="line">
            <a:avLst/>
          </a:prstGeom>
          <a:ln w="12700">
            <a:solidFill>
              <a:srgbClr val="1B9AAA"/>
            </a:solidFill>
          </a:ln>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7178040" y="3886200"/>
            <a:ext cx="1371600" cy="384048"/>
          </a:xfrm>
          <a:prstGeom prst="roundRect">
            <a:avLst>
              <a:gd name="adj" fmla="val 18000"/>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0D1B2A"/>
                </a:solidFill>
                <a:latin typeface="JetBrains Mono"/>
              </a:rPr>
              <a:t>Video</a:t>
            </a:r>
          </a:p>
        </p:txBody>
      </p:sp>
      <p:sp>
        <p:nvSpPr>
          <p:cNvPr id="42" name="Rectangle 41"/>
          <p:cNvSpPr/>
          <p:nvPr/>
        </p:nvSpPr>
        <p:spPr>
          <a:xfrm>
            <a:off x="566928" y="4672584"/>
            <a:ext cx="45720" cy="21945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713232" y="4700016"/>
            <a:ext cx="8138160" cy="169277"/>
          </a:xfrm>
          <a:prstGeom prst="rect">
            <a:avLst/>
          </a:prstGeom>
          <a:noFill/>
        </p:spPr>
        <p:txBody>
          <a:bodyPr wrap="square" lIns="0" tIns="0" rIns="0" bIns="0" anchor="t">
            <a:spAutoFit/>
          </a:bodyPr>
          <a:lstStyle/>
          <a:p>
            <a:pPr algn="l"/>
            <a:r>
              <a:rPr lang="de-DE" sz="1100" b="0" dirty="0">
                <a:solidFill>
                  <a:srgbClr val="0D1B2A"/>
                </a:solidFill>
                <a:latin typeface="Roboto"/>
              </a:rPr>
              <a:t>An </a:t>
            </a:r>
            <a:r>
              <a:rPr lang="de-DE" sz="1100" b="0" dirty="0">
                <a:solidFill>
                  <a:srgbClr val="01D1CC"/>
                </a:solidFill>
                <a:latin typeface="Roboto"/>
              </a:rPr>
              <a:t>LLM</a:t>
            </a:r>
            <a:r>
              <a:rPr lang="de-DE" sz="1100" b="0" dirty="0">
                <a:solidFill>
                  <a:srgbClr val="0D1B2A"/>
                </a:solidFill>
                <a:latin typeface="Roboto"/>
              </a:rPr>
              <a:t> </a:t>
            </a:r>
            <a:r>
              <a:rPr lang="de-DE" sz="1100" b="0" dirty="0" err="1">
                <a:solidFill>
                  <a:srgbClr val="0D1B2A"/>
                </a:solidFill>
                <a:latin typeface="Roboto"/>
              </a:rPr>
              <a:t>is</a:t>
            </a:r>
            <a:r>
              <a:rPr lang="de-DE" sz="1100" b="0" dirty="0">
                <a:solidFill>
                  <a:srgbClr val="0D1B2A"/>
                </a:solidFill>
                <a:latin typeface="Roboto"/>
              </a:rPr>
              <a:t> </a:t>
            </a:r>
            <a:r>
              <a:rPr lang="de-DE" sz="1100" b="0" dirty="0" err="1">
                <a:solidFill>
                  <a:srgbClr val="0D1B2A"/>
                </a:solidFill>
                <a:latin typeface="Roboto"/>
              </a:rPr>
              <a:t>one</a:t>
            </a:r>
            <a:r>
              <a:rPr lang="de-DE" sz="1100" b="0" dirty="0">
                <a:solidFill>
                  <a:srgbClr val="0D1B2A"/>
                </a:solidFill>
                <a:latin typeface="Roboto"/>
              </a:rPr>
              <a:t> </a:t>
            </a:r>
            <a:r>
              <a:rPr lang="de-DE" sz="1100" b="0" dirty="0" err="1">
                <a:solidFill>
                  <a:srgbClr val="0D1B2A"/>
                </a:solidFill>
                <a:latin typeface="Roboto"/>
              </a:rPr>
              <a:t>kind</a:t>
            </a:r>
            <a:r>
              <a:rPr lang="de-DE" sz="1100" b="0" dirty="0">
                <a:solidFill>
                  <a:srgbClr val="0D1B2A"/>
                </a:solidFill>
                <a:latin typeface="Roboto"/>
              </a:rPr>
              <a:t> of generative </a:t>
            </a:r>
            <a:r>
              <a:rPr lang="de-DE" sz="1100" b="0" dirty="0" err="1">
                <a:solidFill>
                  <a:srgbClr val="0D1B2A"/>
                </a:solidFill>
                <a:latin typeface="Roboto"/>
              </a:rPr>
              <a:t>model</a:t>
            </a:r>
            <a:r>
              <a:rPr lang="de-DE" sz="1100" b="0" dirty="0">
                <a:solidFill>
                  <a:srgbClr val="0D1B2A"/>
                </a:solidFill>
                <a:latin typeface="Roboto"/>
              </a:rPr>
              <a:t>. GenAI </a:t>
            </a:r>
            <a:r>
              <a:rPr lang="de-DE" sz="1100" b="0" dirty="0" err="1">
                <a:solidFill>
                  <a:srgbClr val="0D1B2A"/>
                </a:solidFill>
                <a:latin typeface="Roboto"/>
              </a:rPr>
              <a:t>is</a:t>
            </a:r>
            <a:r>
              <a:rPr lang="de-DE" sz="1100" b="0" dirty="0">
                <a:solidFill>
                  <a:srgbClr val="0D1B2A"/>
                </a:solidFill>
                <a:latin typeface="Roboto"/>
              </a:rPr>
              <a:t> </a:t>
            </a:r>
            <a:r>
              <a:rPr lang="de-DE" sz="1100" b="0" dirty="0" err="1">
                <a:solidFill>
                  <a:srgbClr val="0D1B2A"/>
                </a:solidFill>
                <a:latin typeface="Roboto"/>
              </a:rPr>
              <a:t>characterized</a:t>
            </a:r>
            <a:r>
              <a:rPr lang="de-DE" sz="1100" b="0" dirty="0">
                <a:solidFill>
                  <a:srgbClr val="0D1B2A"/>
                </a:solidFill>
                <a:latin typeface="Roboto"/>
              </a:rPr>
              <a:t> by </a:t>
            </a:r>
            <a:r>
              <a:rPr lang="de-DE" sz="1100" b="0" dirty="0" err="1">
                <a:solidFill>
                  <a:srgbClr val="0D1B2A"/>
                </a:solidFill>
                <a:latin typeface="Roboto"/>
              </a:rPr>
              <a:t>creating</a:t>
            </a:r>
            <a:r>
              <a:rPr lang="de-DE" sz="1100" b="0" dirty="0">
                <a:solidFill>
                  <a:srgbClr val="0D1B2A"/>
                </a:solidFill>
                <a:latin typeface="Roboto"/>
              </a:rPr>
              <a:t> </a:t>
            </a:r>
            <a:r>
              <a:rPr lang="de-DE" sz="1100" b="0" dirty="0" err="1">
                <a:solidFill>
                  <a:srgbClr val="0D1B2A"/>
                </a:solidFill>
                <a:latin typeface="Roboto"/>
              </a:rPr>
              <a:t>content</a:t>
            </a:r>
            <a:r>
              <a:rPr lang="de-DE" sz="1100" b="0" dirty="0">
                <a:solidFill>
                  <a:srgbClr val="0D1B2A"/>
                </a:solidFill>
                <a:latin typeface="Roboto"/>
              </a:rPr>
              <a:t> of </a:t>
            </a:r>
            <a:r>
              <a:rPr lang="de-DE" sz="1100" b="0" dirty="0" err="1">
                <a:solidFill>
                  <a:srgbClr val="0D1B2A"/>
                </a:solidFill>
                <a:latin typeface="Roboto"/>
              </a:rPr>
              <a:t>any</a:t>
            </a:r>
            <a:r>
              <a:rPr lang="de-DE" sz="1100" b="0" dirty="0">
                <a:solidFill>
                  <a:srgbClr val="0D1B2A"/>
                </a:solidFill>
                <a:latin typeface="Roboto"/>
              </a:rPr>
              <a:t> </a:t>
            </a:r>
            <a:r>
              <a:rPr lang="de-DE" sz="1100" b="0" dirty="0" err="1">
                <a:solidFill>
                  <a:srgbClr val="0D1B2A"/>
                </a:solidFill>
                <a:latin typeface="Roboto"/>
              </a:rPr>
              <a:t>kind</a:t>
            </a:r>
            <a:r>
              <a:rPr lang="de-DE" sz="1100" b="0" dirty="0">
                <a:solidFill>
                  <a:srgbClr val="0D1B2A"/>
                </a:solidFill>
                <a:latin typeface="Roboto"/>
              </a:rPr>
              <a:t>, </a:t>
            </a:r>
            <a:r>
              <a:rPr lang="de-DE" sz="1100" b="0" dirty="0" err="1">
                <a:solidFill>
                  <a:srgbClr val="0D1B2A"/>
                </a:solidFill>
                <a:latin typeface="Roboto"/>
              </a:rPr>
              <a:t>including</a:t>
            </a:r>
            <a:r>
              <a:rPr lang="de-DE" sz="1100" b="0" dirty="0">
                <a:solidFill>
                  <a:srgbClr val="0D1B2A"/>
                </a:solidFill>
                <a:latin typeface="Roboto"/>
              </a:rPr>
              <a:t> </a:t>
            </a:r>
            <a:r>
              <a:rPr lang="de-DE" sz="1100" b="0" dirty="0" err="1">
                <a:solidFill>
                  <a:srgbClr val="0D1B2A"/>
                </a:solidFill>
                <a:latin typeface="Roboto"/>
              </a:rPr>
              <a:t>images</a:t>
            </a:r>
            <a:r>
              <a:rPr lang="de-DE" sz="1100" b="0" dirty="0">
                <a:solidFill>
                  <a:srgbClr val="0D1B2A"/>
                </a:solidFill>
                <a:latin typeface="Roboto"/>
              </a:rPr>
              <a:t>, </a:t>
            </a:r>
            <a:r>
              <a:rPr lang="de-DE" sz="1100" b="0" dirty="0" err="1">
                <a:solidFill>
                  <a:srgbClr val="0D1B2A"/>
                </a:solidFill>
                <a:latin typeface="Roboto"/>
              </a:rPr>
              <a:t>audio</a:t>
            </a:r>
            <a:r>
              <a:rPr lang="de-DE" sz="1100" b="0" dirty="0">
                <a:solidFill>
                  <a:srgbClr val="0D1B2A"/>
                </a:solidFill>
                <a:latin typeface="Roboto"/>
              </a:rPr>
              <a:t> and </a:t>
            </a:r>
            <a:r>
              <a:rPr lang="de-DE" sz="1100" b="0" dirty="0" err="1">
                <a:solidFill>
                  <a:srgbClr val="0D1B2A"/>
                </a:solidFill>
                <a:latin typeface="Roboto"/>
              </a:rPr>
              <a:t>video</a:t>
            </a:r>
            <a:r>
              <a:rPr lang="de-DE" sz="1100" b="0" dirty="0">
                <a:solidFill>
                  <a:srgbClr val="0D1B2A"/>
                </a:solidFill>
                <a:latin typeface="Roboto"/>
              </a:rPr>
              <a:t>.</a:t>
            </a:r>
            <a:endParaRPr sz="1100" b="0" dirty="0">
              <a:solidFill>
                <a:srgbClr val="0D1B2A"/>
              </a:solidFill>
              <a:latin typeface="Roboto"/>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514350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329184"/>
            <a:ext cx="8138160" cy="274320"/>
          </a:xfrm>
          <a:prstGeom prst="rect">
            <a:avLst/>
          </a:prstGeom>
          <a:noFill/>
        </p:spPr>
        <p:txBody>
          <a:bodyPr wrap="square" lIns="0" tIns="0" rIns="0" bIns="0" anchor="t">
            <a:spAutoFit/>
          </a:bodyPr>
          <a:lstStyle/>
          <a:p>
            <a:pPr algn="l"/>
            <a:r>
              <a:rPr sz="1100" b="0" spc="300">
                <a:solidFill>
                  <a:srgbClr val="1B9AAA"/>
                </a:solidFill>
                <a:latin typeface="JetBrains Mono"/>
              </a:rPr>
              <a:t>GENERATIVE AI · 2017–2018</a:t>
            </a:r>
          </a:p>
        </p:txBody>
      </p:sp>
      <p:sp>
        <p:nvSpPr>
          <p:cNvPr id="4" name="slide-transformer"/>
          <p:cNvSpPr txBox="1"/>
          <p:nvPr/>
        </p:nvSpPr>
        <p:spPr>
          <a:xfrm>
            <a:off x="566928" y="603504"/>
            <a:ext cx="8138160" cy="658368"/>
          </a:xfrm>
          <a:prstGeom prst="rect">
            <a:avLst/>
          </a:prstGeom>
          <a:noFill/>
        </p:spPr>
        <p:txBody>
          <a:bodyPr wrap="square" lIns="0" tIns="0" rIns="0" bIns="0" anchor="t">
            <a:spAutoFit/>
          </a:bodyPr>
          <a:lstStyle/>
          <a:p>
            <a:pPr algn="l"/>
            <a:r>
              <a:rPr sz="3200" b="0">
                <a:solidFill>
                  <a:srgbClr val="0D1B2A"/>
                </a:solidFill>
                <a:latin typeface="Oswald"/>
              </a:rPr>
              <a:t>The engine for every LLM: Transformer Architecture</a:t>
            </a:r>
          </a:p>
        </p:txBody>
      </p:sp>
      <p:sp>
        <p:nvSpPr>
          <p:cNvPr id="5" name="TextBox 4"/>
          <p:cNvSpPr txBox="1"/>
          <p:nvPr/>
        </p:nvSpPr>
        <p:spPr>
          <a:xfrm>
            <a:off x="566928" y="1298448"/>
            <a:ext cx="8138160" cy="457200"/>
          </a:xfrm>
          <a:prstGeom prst="rect">
            <a:avLst/>
          </a:prstGeom>
          <a:noFill/>
        </p:spPr>
        <p:txBody>
          <a:bodyPr wrap="square" lIns="0" tIns="0" rIns="0" bIns="0" anchor="t">
            <a:spAutoFit/>
          </a:bodyPr>
          <a:lstStyle/>
          <a:p>
            <a:pPr algn="l"/>
            <a:r>
              <a:rPr sz="1400" b="0">
                <a:solidFill>
                  <a:srgbClr val="14293D"/>
                </a:solidFill>
                <a:latin typeface="Roboto"/>
              </a:rPr>
              <a:t>A 2017 published neural-network architecture from Google lead to the first GPT model in 2018.</a:t>
            </a:r>
          </a:p>
        </p:txBody>
      </p:sp>
      <p:sp>
        <p:nvSpPr>
          <p:cNvPr id="6" name="Rectangle 5"/>
          <p:cNvSpPr/>
          <p:nvPr/>
        </p:nvSpPr>
        <p:spPr>
          <a:xfrm>
            <a:off x="566928" y="1783080"/>
            <a:ext cx="4005072" cy="2743200"/>
          </a:xfrm>
          <a:prstGeom prst="rect">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66928" y="1783080"/>
            <a:ext cx="54864" cy="2743200"/>
          </a:xfrm>
          <a:prstGeom prst="rect">
            <a:avLst/>
          </a:prstGeom>
          <a:solidFill>
            <a:srgbClr val="06D6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1920240"/>
            <a:ext cx="2286000" cy="228600"/>
          </a:xfrm>
          <a:prstGeom prst="rect">
            <a:avLst/>
          </a:prstGeom>
          <a:noFill/>
        </p:spPr>
        <p:txBody>
          <a:bodyPr wrap="square" lIns="0" tIns="0" rIns="0" bIns="0" anchor="t">
            <a:spAutoFit/>
          </a:bodyPr>
          <a:lstStyle/>
          <a:p>
            <a:pPr algn="l"/>
            <a:r>
              <a:rPr sz="950" b="0" spc="100">
                <a:solidFill>
                  <a:srgbClr val="06D6A0"/>
                </a:solidFill>
                <a:latin typeface="JetBrains Mono"/>
              </a:rPr>
              <a:t>2017 · GOOGLE</a:t>
            </a:r>
          </a:p>
        </p:txBody>
      </p:sp>
      <p:sp>
        <p:nvSpPr>
          <p:cNvPr id="9" name="TextBox 8"/>
          <p:cNvSpPr txBox="1"/>
          <p:nvPr/>
        </p:nvSpPr>
        <p:spPr>
          <a:xfrm>
            <a:off x="777240" y="2249424"/>
            <a:ext cx="3794759" cy="155448"/>
          </a:xfrm>
          <a:prstGeom prst="rect">
            <a:avLst/>
          </a:prstGeom>
          <a:noFill/>
        </p:spPr>
        <p:txBody>
          <a:bodyPr wrap="square" lIns="0" tIns="0" rIns="0" bIns="0" anchor="t">
            <a:spAutoFit/>
          </a:bodyPr>
          <a:lstStyle/>
          <a:p>
            <a:pPr algn="l"/>
            <a:r>
              <a:rPr sz="1000" b="0">
                <a:solidFill>
                  <a:srgbClr val="14293D"/>
                </a:solidFill>
                <a:latin typeface="Roboto"/>
              </a:rPr>
              <a:t>“Attention Is All You Need” introduces Transformer Architecture.</a:t>
            </a:r>
          </a:p>
        </p:txBody>
      </p:sp>
      <p:sp>
        <p:nvSpPr>
          <p:cNvPr id="10" name="Rectangle 9"/>
          <p:cNvSpPr/>
          <p:nvPr/>
        </p:nvSpPr>
        <p:spPr>
          <a:xfrm>
            <a:off x="4700016" y="1783080"/>
            <a:ext cx="4005072" cy="2743200"/>
          </a:xfrm>
          <a:prstGeom prst="rect">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700016" y="1783080"/>
            <a:ext cx="54864" cy="274320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910328" y="1920240"/>
            <a:ext cx="2286000" cy="228600"/>
          </a:xfrm>
          <a:prstGeom prst="rect">
            <a:avLst/>
          </a:prstGeom>
          <a:noFill/>
        </p:spPr>
        <p:txBody>
          <a:bodyPr wrap="square" lIns="0" tIns="0" rIns="0" bIns="0" anchor="t">
            <a:spAutoFit/>
          </a:bodyPr>
          <a:lstStyle/>
          <a:p>
            <a:pPr algn="l"/>
            <a:r>
              <a:rPr sz="950" b="0" spc="100">
                <a:solidFill>
                  <a:srgbClr val="0D1B2A"/>
                </a:solidFill>
                <a:latin typeface="JetBrains Mono"/>
              </a:rPr>
              <a:t>2018 · OPENAI</a:t>
            </a:r>
          </a:p>
        </p:txBody>
      </p:sp>
      <p:sp>
        <p:nvSpPr>
          <p:cNvPr id="13" name="TextBox 12"/>
          <p:cNvSpPr txBox="1"/>
          <p:nvPr/>
        </p:nvSpPr>
        <p:spPr>
          <a:xfrm>
            <a:off x="4910328" y="2249424"/>
            <a:ext cx="3794759" cy="155448"/>
          </a:xfrm>
          <a:prstGeom prst="rect">
            <a:avLst/>
          </a:prstGeom>
          <a:noFill/>
        </p:spPr>
        <p:txBody>
          <a:bodyPr wrap="square" lIns="0" tIns="0" rIns="0" bIns="0" anchor="t">
            <a:spAutoFit/>
          </a:bodyPr>
          <a:lstStyle/>
          <a:p>
            <a:pPr algn="l"/>
            <a:r>
              <a:rPr sz="1000" b="0">
                <a:solidFill>
                  <a:srgbClr val="14293D"/>
                </a:solidFill>
                <a:latin typeface="Roboto"/>
              </a:rPr>
              <a:t>GPT-1: the first Generative Pre-trained Transformer.</a:t>
            </a:r>
          </a:p>
        </p:txBody>
      </p:sp>
      <p:sp>
        <p:nvSpPr>
          <p:cNvPr id="14" name="TextBox 13"/>
          <p:cNvSpPr txBox="1"/>
          <p:nvPr/>
        </p:nvSpPr>
        <p:spPr>
          <a:xfrm>
            <a:off x="777240" y="2633472"/>
            <a:ext cx="2743200" cy="228600"/>
          </a:xfrm>
          <a:prstGeom prst="rect">
            <a:avLst/>
          </a:prstGeom>
          <a:noFill/>
        </p:spPr>
        <p:txBody>
          <a:bodyPr wrap="square" lIns="0" tIns="0" rIns="0" bIns="0" anchor="t">
            <a:spAutoFit/>
          </a:bodyPr>
          <a:lstStyle/>
          <a:p>
            <a:pPr algn="l"/>
            <a:r>
              <a:rPr sz="950" b="0" spc="100">
                <a:solidFill>
                  <a:srgbClr val="1B9AAA"/>
                </a:solidFill>
                <a:latin typeface="JetBrains Mono"/>
              </a:rPr>
              <a:t>ATTENTION: THE CORE IDEA</a:t>
            </a:r>
          </a:p>
        </p:txBody>
      </p:sp>
      <p:sp>
        <p:nvSpPr>
          <p:cNvPr id="15" name="Rounded Rectangle 14"/>
          <p:cNvSpPr/>
          <p:nvPr/>
        </p:nvSpPr>
        <p:spPr>
          <a:xfrm>
            <a:off x="777240" y="2889504"/>
            <a:ext cx="356616" cy="274320"/>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0D1B2A"/>
                </a:solidFill>
                <a:latin typeface="JetBrains Mono"/>
              </a:rPr>
              <a:t>The</a:t>
            </a:r>
          </a:p>
        </p:txBody>
      </p:sp>
      <p:sp>
        <p:nvSpPr>
          <p:cNvPr id="16" name="Rounded Rectangle 15"/>
          <p:cNvSpPr/>
          <p:nvPr/>
        </p:nvSpPr>
        <p:spPr>
          <a:xfrm>
            <a:off x="1188720" y="2889504"/>
            <a:ext cx="356616" cy="274320"/>
          </a:xfrm>
          <a:prstGeom prst="roundRect">
            <a:avLst>
              <a:gd name="adj" fmla="val 18000"/>
            </a:avLst>
          </a:prstGeom>
          <a:solidFill>
            <a:srgbClr val="06D6A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0D1B2A"/>
                </a:solidFill>
                <a:latin typeface="JetBrains Mono"/>
              </a:rPr>
              <a:t>cat</a:t>
            </a:r>
          </a:p>
        </p:txBody>
      </p:sp>
      <p:sp>
        <p:nvSpPr>
          <p:cNvPr id="17" name="Rounded Rectangle 16"/>
          <p:cNvSpPr/>
          <p:nvPr/>
        </p:nvSpPr>
        <p:spPr>
          <a:xfrm>
            <a:off x="1600200" y="2889504"/>
            <a:ext cx="356616" cy="274320"/>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0D1B2A"/>
                </a:solidFill>
                <a:latin typeface="JetBrains Mono"/>
              </a:rPr>
              <a:t>sat</a:t>
            </a:r>
          </a:p>
        </p:txBody>
      </p:sp>
      <p:sp>
        <p:nvSpPr>
          <p:cNvPr id="18" name="Rounded Rectangle 17"/>
          <p:cNvSpPr/>
          <p:nvPr/>
        </p:nvSpPr>
        <p:spPr>
          <a:xfrm>
            <a:off x="2011680" y="2889504"/>
            <a:ext cx="685800" cy="274320"/>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0D1B2A"/>
                </a:solidFill>
                <a:latin typeface="JetBrains Mono"/>
              </a:rPr>
              <a:t>because</a:t>
            </a:r>
          </a:p>
        </p:txBody>
      </p:sp>
      <p:sp>
        <p:nvSpPr>
          <p:cNvPr id="19" name="Rounded Rectangle 18"/>
          <p:cNvSpPr/>
          <p:nvPr/>
        </p:nvSpPr>
        <p:spPr>
          <a:xfrm>
            <a:off x="2752344" y="2889504"/>
            <a:ext cx="274320" cy="274320"/>
          </a:xfrm>
          <a:prstGeom prst="roundRect">
            <a:avLst>
              <a:gd name="adj" fmla="val 18000"/>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FFFFFF"/>
                </a:solidFill>
                <a:latin typeface="JetBrains Mono"/>
              </a:rPr>
              <a:t>it</a:t>
            </a:r>
          </a:p>
        </p:txBody>
      </p:sp>
      <p:sp>
        <p:nvSpPr>
          <p:cNvPr id="20" name="Rounded Rectangle 19"/>
          <p:cNvSpPr/>
          <p:nvPr/>
        </p:nvSpPr>
        <p:spPr>
          <a:xfrm>
            <a:off x="3081528" y="2889504"/>
            <a:ext cx="356616" cy="274320"/>
          </a:xfrm>
          <a:prstGeom prst="roundRect">
            <a:avLst>
              <a:gd name="adj" fmla="val 18000"/>
            </a:avLst>
          </a:prstGeom>
          <a:solidFill>
            <a:srgbClr val="F4F7F8"/>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8FA6B2"/>
                </a:solidFill>
                <a:latin typeface="JetBrains Mono"/>
              </a:rPr>
              <a:t>was</a:t>
            </a:r>
          </a:p>
        </p:txBody>
      </p:sp>
      <p:sp>
        <p:nvSpPr>
          <p:cNvPr id="21" name="Rounded Rectangle 20"/>
          <p:cNvSpPr/>
          <p:nvPr/>
        </p:nvSpPr>
        <p:spPr>
          <a:xfrm>
            <a:off x="3493008" y="2889504"/>
            <a:ext cx="521207" cy="274320"/>
          </a:xfrm>
          <a:prstGeom prst="roundRect">
            <a:avLst>
              <a:gd name="adj" fmla="val 18000"/>
            </a:avLst>
          </a:prstGeom>
          <a:solidFill>
            <a:srgbClr val="F4F7F8"/>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8FA6B2"/>
                </a:solidFill>
                <a:latin typeface="JetBrains Mono"/>
              </a:rPr>
              <a:t>tired</a:t>
            </a:r>
          </a:p>
        </p:txBody>
      </p:sp>
      <p:cxnSp>
        <p:nvCxnSpPr>
          <p:cNvPr id="22" name="Connector 21"/>
          <p:cNvCxnSpPr/>
          <p:nvPr/>
        </p:nvCxnSpPr>
        <p:spPr>
          <a:xfrm flipH="1" flipV="1">
            <a:off x="955547" y="3163824"/>
            <a:ext cx="699517" cy="219456"/>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flipV="1">
            <a:off x="1367028" y="3163824"/>
            <a:ext cx="288036" cy="219456"/>
          </a:xfrm>
          <a:prstGeom prst="line">
            <a:avLst/>
          </a:prstGeom>
          <a:ln w="19050">
            <a:solidFill>
              <a:srgbClr val="06D6A0"/>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1655064" y="3163824"/>
            <a:ext cx="123444" cy="219456"/>
          </a:xfrm>
          <a:prstGeom prst="line">
            <a:avLst/>
          </a:prstGeom>
          <a:ln w="9525">
            <a:solidFill>
              <a:srgbClr val="1B9AAA"/>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1655064" y="3163824"/>
            <a:ext cx="699516" cy="219456"/>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1655064" y="3163824"/>
            <a:ext cx="1234440" cy="219456"/>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1271016" y="3383280"/>
            <a:ext cx="768096" cy="274320"/>
          </a:xfrm>
          <a:prstGeom prst="roundRect">
            <a:avLst>
              <a:gd name="adj" fmla="val 18000"/>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50">
                <a:solidFill>
                  <a:srgbClr val="FFFFFF"/>
                </a:solidFill>
                <a:latin typeface="JetBrains Mono"/>
              </a:rPr>
              <a:t>“it” = ?</a:t>
            </a:r>
          </a:p>
        </p:txBody>
      </p:sp>
      <p:sp>
        <p:nvSpPr>
          <p:cNvPr id="28" name="TextBox 27"/>
          <p:cNvSpPr txBox="1"/>
          <p:nvPr/>
        </p:nvSpPr>
        <p:spPr>
          <a:xfrm>
            <a:off x="777240" y="3767328"/>
            <a:ext cx="3593591" cy="585216"/>
          </a:xfrm>
          <a:prstGeom prst="rect">
            <a:avLst/>
          </a:prstGeom>
          <a:noFill/>
        </p:spPr>
        <p:txBody>
          <a:bodyPr wrap="square" lIns="0" tIns="0" rIns="0" bIns="0" anchor="t">
            <a:spAutoFit/>
          </a:bodyPr>
          <a:lstStyle/>
          <a:p>
            <a:pPr algn="l"/>
            <a:r>
              <a:rPr sz="950" b="0">
                <a:solidFill>
                  <a:srgbClr val="14293D"/>
                </a:solidFill>
                <a:latin typeface="Roboto"/>
              </a:rPr>
              <a:t>The model perceives “it” as a weighted combination of itself and all of the words before it. A thicker line means more attention, so the word “cat” matters most for the word “it” — the mechanism that made Transformers so good at language.</a:t>
            </a:r>
          </a:p>
        </p:txBody>
      </p:sp>
      <p:sp>
        <p:nvSpPr>
          <p:cNvPr id="29" name="Rounded Rectangle 28"/>
          <p:cNvSpPr/>
          <p:nvPr/>
        </p:nvSpPr>
        <p:spPr>
          <a:xfrm>
            <a:off x="4910328" y="2596896"/>
            <a:ext cx="3584448" cy="484632"/>
          </a:xfrm>
          <a:prstGeom prst="roundRect">
            <a:avLst>
              <a:gd name="adj" fmla="val 13207"/>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4910328" y="2596896"/>
            <a:ext cx="36576" cy="484632"/>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5038344" y="2679191"/>
            <a:ext cx="320040" cy="320040"/>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038344" y="2679191"/>
            <a:ext cx="320040" cy="301752"/>
          </a:xfrm>
          <a:prstGeom prst="rect">
            <a:avLst/>
          </a:prstGeom>
          <a:noFill/>
        </p:spPr>
        <p:txBody>
          <a:bodyPr wrap="square" lIns="0" tIns="0" rIns="0" bIns="0" anchor="ctr">
            <a:spAutoFit/>
          </a:bodyPr>
          <a:lstStyle/>
          <a:p>
            <a:pPr algn="ctr"/>
            <a:r>
              <a:rPr sz="1900" b="0">
                <a:solidFill>
                  <a:srgbClr val="1B9AAA"/>
                </a:solidFill>
                <a:latin typeface="Oswald"/>
              </a:rPr>
              <a:t>G</a:t>
            </a:r>
          </a:p>
        </p:txBody>
      </p:sp>
      <p:sp>
        <p:nvSpPr>
          <p:cNvPr id="33" name="TextBox 32"/>
          <p:cNvSpPr txBox="1"/>
          <p:nvPr/>
        </p:nvSpPr>
        <p:spPr>
          <a:xfrm>
            <a:off x="5468112" y="2660903"/>
            <a:ext cx="2194560" cy="201168"/>
          </a:xfrm>
          <a:prstGeom prst="rect">
            <a:avLst/>
          </a:prstGeom>
          <a:noFill/>
        </p:spPr>
        <p:txBody>
          <a:bodyPr wrap="none" lIns="0" tIns="0" rIns="0" bIns="0">
            <a:spAutoFit/>
          </a:bodyPr>
          <a:lstStyle/>
          <a:p>
            <a:pPr algn="l"/>
            <a:r>
              <a:rPr sz="1200">
                <a:solidFill>
                  <a:srgbClr val="0D1B2A"/>
                </a:solidFill>
                <a:latin typeface="Oswald"/>
              </a:rPr>
              <a:t>Generative</a:t>
            </a:r>
          </a:p>
        </p:txBody>
      </p:sp>
      <p:sp>
        <p:nvSpPr>
          <p:cNvPr id="34" name="TextBox 33"/>
          <p:cNvSpPr txBox="1"/>
          <p:nvPr/>
        </p:nvSpPr>
        <p:spPr>
          <a:xfrm>
            <a:off x="5468112" y="2852928"/>
            <a:ext cx="2907791" cy="182880"/>
          </a:xfrm>
          <a:prstGeom prst="rect">
            <a:avLst/>
          </a:prstGeom>
          <a:noFill/>
        </p:spPr>
        <p:txBody>
          <a:bodyPr wrap="square" lIns="0" tIns="0" rIns="0" bIns="0" anchor="t">
            <a:spAutoFit/>
          </a:bodyPr>
          <a:lstStyle/>
          <a:p>
            <a:pPr algn="l"/>
            <a:r>
              <a:rPr sz="900" b="0">
                <a:solidFill>
                  <a:srgbClr val="6B7B8C"/>
                </a:solidFill>
                <a:latin typeface="Roboto"/>
              </a:rPr>
              <a:t>Creates new text, not just labels or scores.</a:t>
            </a:r>
          </a:p>
        </p:txBody>
      </p:sp>
      <p:sp>
        <p:nvSpPr>
          <p:cNvPr id="35" name="Rounded Rectangle 34"/>
          <p:cNvSpPr/>
          <p:nvPr/>
        </p:nvSpPr>
        <p:spPr>
          <a:xfrm>
            <a:off x="4910328" y="3209544"/>
            <a:ext cx="3584448" cy="484632"/>
          </a:xfrm>
          <a:prstGeom prst="roundRect">
            <a:avLst>
              <a:gd name="adj" fmla="val 13207"/>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4910328" y="3209544"/>
            <a:ext cx="36576" cy="484632"/>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ounded Rectangle 36"/>
          <p:cNvSpPr/>
          <p:nvPr/>
        </p:nvSpPr>
        <p:spPr>
          <a:xfrm>
            <a:off x="5038344" y="3291839"/>
            <a:ext cx="320040" cy="320040"/>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5038344" y="3291839"/>
            <a:ext cx="320040" cy="301752"/>
          </a:xfrm>
          <a:prstGeom prst="rect">
            <a:avLst/>
          </a:prstGeom>
          <a:noFill/>
        </p:spPr>
        <p:txBody>
          <a:bodyPr wrap="square" lIns="0" tIns="0" rIns="0" bIns="0" anchor="ctr">
            <a:spAutoFit/>
          </a:bodyPr>
          <a:lstStyle/>
          <a:p>
            <a:pPr algn="ctr"/>
            <a:r>
              <a:rPr sz="1900" b="0">
                <a:solidFill>
                  <a:srgbClr val="1B9AAA"/>
                </a:solidFill>
                <a:latin typeface="Oswald"/>
              </a:rPr>
              <a:t>P</a:t>
            </a:r>
          </a:p>
        </p:txBody>
      </p:sp>
      <p:sp>
        <p:nvSpPr>
          <p:cNvPr id="39" name="TextBox 38"/>
          <p:cNvSpPr txBox="1"/>
          <p:nvPr/>
        </p:nvSpPr>
        <p:spPr>
          <a:xfrm>
            <a:off x="5468112" y="3273551"/>
            <a:ext cx="2194560" cy="201168"/>
          </a:xfrm>
          <a:prstGeom prst="rect">
            <a:avLst/>
          </a:prstGeom>
          <a:noFill/>
        </p:spPr>
        <p:txBody>
          <a:bodyPr wrap="none" lIns="0" tIns="0" rIns="0" bIns="0">
            <a:spAutoFit/>
          </a:bodyPr>
          <a:lstStyle/>
          <a:p>
            <a:pPr algn="l"/>
            <a:r>
              <a:rPr sz="1200">
                <a:solidFill>
                  <a:srgbClr val="0D1B2A"/>
                </a:solidFill>
                <a:latin typeface="Oswald"/>
              </a:rPr>
              <a:t>Pre-trained</a:t>
            </a:r>
          </a:p>
        </p:txBody>
      </p:sp>
      <p:sp>
        <p:nvSpPr>
          <p:cNvPr id="40" name="TextBox 39"/>
          <p:cNvSpPr txBox="1"/>
          <p:nvPr/>
        </p:nvSpPr>
        <p:spPr>
          <a:xfrm>
            <a:off x="5468112" y="3465576"/>
            <a:ext cx="2907791" cy="182880"/>
          </a:xfrm>
          <a:prstGeom prst="rect">
            <a:avLst/>
          </a:prstGeom>
          <a:noFill/>
        </p:spPr>
        <p:txBody>
          <a:bodyPr wrap="square" lIns="0" tIns="0" rIns="0" bIns="0" anchor="t">
            <a:spAutoFit/>
          </a:bodyPr>
          <a:lstStyle/>
          <a:p>
            <a:pPr algn="l"/>
            <a:r>
              <a:rPr sz="900" b="0">
                <a:solidFill>
                  <a:srgbClr val="6B7B8C"/>
                </a:solidFill>
                <a:latin typeface="Roboto"/>
              </a:rPr>
              <a:t>Learn from huge amounts of text, before anyone uses it.</a:t>
            </a:r>
          </a:p>
        </p:txBody>
      </p:sp>
      <p:sp>
        <p:nvSpPr>
          <p:cNvPr id="41" name="Rounded Rectangle 40"/>
          <p:cNvSpPr/>
          <p:nvPr/>
        </p:nvSpPr>
        <p:spPr>
          <a:xfrm>
            <a:off x="4910328" y="3822191"/>
            <a:ext cx="3584448" cy="484632"/>
          </a:xfrm>
          <a:prstGeom prst="roundRect">
            <a:avLst>
              <a:gd name="adj" fmla="val 13207"/>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4910328" y="3822191"/>
            <a:ext cx="36576" cy="484632"/>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ounded Rectangle 42"/>
          <p:cNvSpPr/>
          <p:nvPr/>
        </p:nvSpPr>
        <p:spPr>
          <a:xfrm>
            <a:off x="5038344" y="3904487"/>
            <a:ext cx="320040" cy="320040"/>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038344" y="3904487"/>
            <a:ext cx="320040" cy="301752"/>
          </a:xfrm>
          <a:prstGeom prst="rect">
            <a:avLst/>
          </a:prstGeom>
          <a:noFill/>
        </p:spPr>
        <p:txBody>
          <a:bodyPr wrap="square" lIns="0" tIns="0" rIns="0" bIns="0" anchor="ctr">
            <a:spAutoFit/>
          </a:bodyPr>
          <a:lstStyle/>
          <a:p>
            <a:pPr algn="ctr"/>
            <a:r>
              <a:rPr sz="1900" b="0">
                <a:solidFill>
                  <a:srgbClr val="1B9AAA"/>
                </a:solidFill>
                <a:latin typeface="Oswald"/>
              </a:rPr>
              <a:t>T</a:t>
            </a:r>
          </a:p>
        </p:txBody>
      </p:sp>
      <p:sp>
        <p:nvSpPr>
          <p:cNvPr id="45" name="TextBox 44"/>
          <p:cNvSpPr txBox="1"/>
          <p:nvPr/>
        </p:nvSpPr>
        <p:spPr>
          <a:xfrm>
            <a:off x="5468112" y="3886200"/>
            <a:ext cx="2194560" cy="201168"/>
          </a:xfrm>
          <a:prstGeom prst="rect">
            <a:avLst/>
          </a:prstGeom>
          <a:noFill/>
        </p:spPr>
        <p:txBody>
          <a:bodyPr wrap="none" lIns="0" tIns="0" rIns="0" bIns="0">
            <a:spAutoFit/>
          </a:bodyPr>
          <a:lstStyle/>
          <a:p>
            <a:pPr algn="l"/>
            <a:r>
              <a:rPr sz="1200">
                <a:solidFill>
                  <a:srgbClr val="0D1B2A"/>
                </a:solidFill>
                <a:latin typeface="Oswald"/>
              </a:rPr>
              <a:t>Transformer</a:t>
            </a:r>
          </a:p>
        </p:txBody>
      </p:sp>
      <p:sp>
        <p:nvSpPr>
          <p:cNvPr id="46" name="TextBox 45"/>
          <p:cNvSpPr txBox="1"/>
          <p:nvPr/>
        </p:nvSpPr>
        <p:spPr>
          <a:xfrm>
            <a:off x="5468112" y="4078224"/>
            <a:ext cx="2907791" cy="182880"/>
          </a:xfrm>
          <a:prstGeom prst="rect">
            <a:avLst/>
          </a:prstGeom>
          <a:noFill/>
        </p:spPr>
        <p:txBody>
          <a:bodyPr wrap="square" lIns="0" tIns="0" rIns="0" bIns="0" anchor="t">
            <a:spAutoFit/>
          </a:bodyPr>
          <a:lstStyle/>
          <a:p>
            <a:pPr algn="l"/>
            <a:r>
              <a:rPr sz="900" b="0">
                <a:solidFill>
                  <a:srgbClr val="6B7B8C"/>
                </a:solidFill>
                <a:latin typeface="Roboto"/>
              </a:rPr>
              <a:t>Built on the transformer architecture.</a:t>
            </a:r>
          </a:p>
        </p:txBody>
      </p:sp>
      <p:cxnSp>
        <p:nvCxnSpPr>
          <p:cNvPr id="47" name="Connector 46"/>
          <p:cNvCxnSpPr/>
          <p:nvPr/>
        </p:nvCxnSpPr>
        <p:spPr>
          <a:xfrm>
            <a:off x="777240" y="2157984"/>
            <a:ext cx="7717536" cy="0"/>
          </a:xfrm>
          <a:prstGeom prst="line">
            <a:avLst/>
          </a:prstGeom>
          <a:ln w="19050">
            <a:solidFill>
              <a:srgbClr val="DDE5E9"/>
            </a:solidFill>
          </a:ln>
        </p:spPr>
        <p:style>
          <a:lnRef idx="2">
            <a:schemeClr val="accent1"/>
          </a:lnRef>
          <a:fillRef idx="0">
            <a:schemeClr val="accent1"/>
          </a:fillRef>
          <a:effectRef idx="1">
            <a:schemeClr val="accent1"/>
          </a:effectRef>
          <a:fontRef idx="minor">
            <a:schemeClr val="tx1"/>
          </a:fontRef>
        </p:style>
      </p:cxnSp>
      <p:sp>
        <p:nvSpPr>
          <p:cNvPr id="48" name="Oval 47"/>
          <p:cNvSpPr/>
          <p:nvPr/>
        </p:nvSpPr>
        <p:spPr>
          <a:xfrm>
            <a:off x="813816" y="2093976"/>
            <a:ext cx="128016" cy="128016"/>
          </a:xfrm>
          <a:prstGeom prst="ellipse">
            <a:avLst/>
          </a:prstGeom>
          <a:solidFill>
            <a:srgbClr val="06D6A0">
              <a:alpha val="100000"/>
            </a:srgbClr>
          </a:solidFill>
          <a:ln w="9525">
            <a:solidFill>
              <a:srgbClr val="06D6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4946904" y="2093976"/>
            <a:ext cx="128016" cy="128016"/>
          </a:xfrm>
          <a:prstGeom prst="ellipse">
            <a:avLst/>
          </a:prstGeom>
          <a:solidFill>
            <a:srgbClr val="0D1B2A">
              <a:alpha val="100000"/>
            </a:srgbClr>
          </a:solidFill>
          <a:ln w="9525">
            <a:solidFill>
              <a:srgbClr val="0D1B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566928" y="4636008"/>
            <a:ext cx="45720" cy="21945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713232" y="4617720"/>
            <a:ext cx="7991856" cy="182880"/>
          </a:xfrm>
          <a:prstGeom prst="rect">
            <a:avLst/>
          </a:prstGeom>
          <a:noFill/>
        </p:spPr>
        <p:txBody>
          <a:bodyPr wrap="square" lIns="0" tIns="0" rIns="0" bIns="0" anchor="t">
            <a:spAutoFit/>
          </a:bodyPr>
          <a:lstStyle/>
          <a:p>
            <a:pPr algn="l"/>
            <a:r>
              <a:rPr sz="1200" b="0">
                <a:solidFill>
                  <a:srgbClr val="0D1B2A"/>
                </a:solidFill>
                <a:latin typeface="Roboto"/>
              </a:rPr>
              <a:t>Nearly every language model today is built on this architecture — ChatGPT, Claude, Gemini, Llama and more.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514350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329184"/>
            <a:ext cx="8138160" cy="274320"/>
          </a:xfrm>
          <a:prstGeom prst="rect">
            <a:avLst/>
          </a:prstGeom>
          <a:noFill/>
        </p:spPr>
        <p:txBody>
          <a:bodyPr wrap="square" lIns="0" tIns="0" rIns="0" bIns="0" anchor="t">
            <a:spAutoFit/>
          </a:bodyPr>
          <a:lstStyle/>
          <a:p>
            <a:pPr algn="l"/>
            <a:r>
              <a:rPr sz="1100" b="0" spc="300">
                <a:solidFill>
                  <a:srgbClr val="1B9AAA"/>
                </a:solidFill>
                <a:latin typeface="JetBrains Mono"/>
              </a:rPr>
              <a:t>GENERATIVE AI · TOKENS</a:t>
            </a:r>
          </a:p>
        </p:txBody>
      </p:sp>
      <p:sp>
        <p:nvSpPr>
          <p:cNvPr id="4" name="slide-token"/>
          <p:cNvSpPr txBox="1"/>
          <p:nvPr/>
        </p:nvSpPr>
        <p:spPr>
          <a:xfrm>
            <a:off x="566928" y="603504"/>
            <a:ext cx="8138160" cy="658368"/>
          </a:xfrm>
          <a:prstGeom prst="rect">
            <a:avLst/>
          </a:prstGeom>
          <a:noFill/>
        </p:spPr>
        <p:txBody>
          <a:bodyPr wrap="square" lIns="0" tIns="0" rIns="0" bIns="0" anchor="t">
            <a:spAutoFit/>
          </a:bodyPr>
          <a:lstStyle/>
          <a:p>
            <a:pPr algn="l"/>
            <a:r>
              <a:rPr sz="3200" b="0">
                <a:solidFill>
                  <a:srgbClr val="0D1B2A"/>
                </a:solidFill>
                <a:latin typeface="Oswald"/>
              </a:rPr>
              <a:t>Tokens: Models read tokens, not words</a:t>
            </a:r>
          </a:p>
        </p:txBody>
      </p:sp>
      <p:sp>
        <p:nvSpPr>
          <p:cNvPr id="5" name="TextBox 4"/>
          <p:cNvSpPr txBox="1"/>
          <p:nvPr/>
        </p:nvSpPr>
        <p:spPr>
          <a:xfrm>
            <a:off x="566928" y="1298448"/>
            <a:ext cx="8138160" cy="457200"/>
          </a:xfrm>
          <a:prstGeom prst="rect">
            <a:avLst/>
          </a:prstGeom>
          <a:noFill/>
        </p:spPr>
        <p:txBody>
          <a:bodyPr wrap="square" lIns="0" tIns="0" rIns="0" bIns="0" anchor="t">
            <a:spAutoFit/>
          </a:bodyPr>
          <a:lstStyle/>
          <a:p>
            <a:pPr algn="l"/>
            <a:r>
              <a:rPr sz="1400" b="0">
                <a:solidFill>
                  <a:srgbClr val="14293D"/>
                </a:solidFill>
                <a:latin typeface="Roboto"/>
              </a:rPr>
              <a:t>Text is cut into tokens: small pieces, often a whole word, sometimes just part of one.</a:t>
            </a:r>
          </a:p>
        </p:txBody>
      </p:sp>
      <p:sp>
        <p:nvSpPr>
          <p:cNvPr id="6" name="Rectangle 5"/>
          <p:cNvSpPr/>
          <p:nvPr/>
        </p:nvSpPr>
        <p:spPr>
          <a:xfrm>
            <a:off x="566928" y="1783080"/>
            <a:ext cx="5120640" cy="2743200"/>
          </a:xfrm>
          <a:prstGeom prst="rect">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66928" y="1783080"/>
            <a:ext cx="54864" cy="274320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713232" y="1874519"/>
            <a:ext cx="4846320" cy="548640"/>
          </a:xfrm>
          <a:prstGeom prst="roundRect">
            <a:avLst>
              <a:gd name="adj" fmla="val 13333"/>
            </a:avLst>
          </a:prstGeom>
          <a:solidFill>
            <a:srgbClr val="F4F7F8"/>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713232" y="2487168"/>
            <a:ext cx="4846320" cy="548640"/>
          </a:xfrm>
          <a:prstGeom prst="roundRect">
            <a:avLst>
              <a:gd name="adj" fmla="val 13333"/>
            </a:avLst>
          </a:prstGeom>
          <a:solidFill>
            <a:srgbClr val="F4F7F8"/>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13232" y="3099816"/>
            <a:ext cx="4846320" cy="548640"/>
          </a:xfrm>
          <a:prstGeom prst="roundRect">
            <a:avLst>
              <a:gd name="adj" fmla="val 13333"/>
            </a:avLst>
          </a:prstGeom>
          <a:solidFill>
            <a:srgbClr val="F4F7F8"/>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713232" y="3712463"/>
            <a:ext cx="4846320" cy="548640"/>
          </a:xfrm>
          <a:prstGeom prst="roundRect">
            <a:avLst>
              <a:gd name="adj" fmla="val 13333"/>
            </a:avLst>
          </a:prstGeom>
          <a:solidFill>
            <a:srgbClr val="F4F7F8"/>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41248" y="1929384"/>
            <a:ext cx="3657600" cy="228600"/>
          </a:xfrm>
          <a:prstGeom prst="rect">
            <a:avLst/>
          </a:prstGeom>
          <a:noFill/>
        </p:spPr>
        <p:txBody>
          <a:bodyPr wrap="square" lIns="0" tIns="0" rIns="0" bIns="0" anchor="t">
            <a:spAutoFit/>
          </a:bodyPr>
          <a:lstStyle/>
          <a:p>
            <a:pPr algn="l"/>
            <a:r>
              <a:rPr sz="850" b="0" spc="100">
                <a:solidFill>
                  <a:srgbClr val="1B9AAA"/>
                </a:solidFill>
                <a:latin typeface="JetBrains Mono"/>
              </a:rPr>
              <a:t>STEP 1: YOUR TEXT</a:t>
            </a:r>
          </a:p>
        </p:txBody>
      </p:sp>
      <p:sp>
        <p:nvSpPr>
          <p:cNvPr id="13" name="TextBox 12"/>
          <p:cNvSpPr txBox="1"/>
          <p:nvPr/>
        </p:nvSpPr>
        <p:spPr>
          <a:xfrm>
            <a:off x="841248" y="2103120"/>
            <a:ext cx="4572000" cy="274320"/>
          </a:xfrm>
          <a:prstGeom prst="rect">
            <a:avLst/>
          </a:prstGeom>
          <a:noFill/>
        </p:spPr>
        <p:txBody>
          <a:bodyPr wrap="square" lIns="0" tIns="0" rIns="0" bIns="0" anchor="t">
            <a:spAutoFit/>
          </a:bodyPr>
          <a:lstStyle/>
          <a:p>
            <a:pPr algn="l"/>
            <a:r>
              <a:rPr sz="1500" b="0">
                <a:solidFill>
                  <a:srgbClr val="0D1B2A"/>
                </a:solidFill>
                <a:latin typeface="Roboto"/>
              </a:rPr>
              <a:t>AI makes pharmacovigilance easier.</a:t>
            </a:r>
          </a:p>
        </p:txBody>
      </p:sp>
      <p:sp>
        <p:nvSpPr>
          <p:cNvPr id="14" name="TextBox 13"/>
          <p:cNvSpPr txBox="1"/>
          <p:nvPr/>
        </p:nvSpPr>
        <p:spPr>
          <a:xfrm>
            <a:off x="841248" y="2542032"/>
            <a:ext cx="3657600" cy="228600"/>
          </a:xfrm>
          <a:prstGeom prst="rect">
            <a:avLst/>
          </a:prstGeom>
          <a:noFill/>
        </p:spPr>
        <p:txBody>
          <a:bodyPr wrap="square" lIns="0" tIns="0" rIns="0" bIns="0" anchor="t">
            <a:spAutoFit/>
          </a:bodyPr>
          <a:lstStyle/>
          <a:p>
            <a:pPr algn="l"/>
            <a:r>
              <a:rPr sz="850" b="0" spc="100">
                <a:solidFill>
                  <a:srgbClr val="1B9AAA"/>
                </a:solidFill>
                <a:latin typeface="JetBrains Mono"/>
              </a:rPr>
              <a:t>STEP 2: CUT INTO TOKENS</a:t>
            </a:r>
          </a:p>
        </p:txBody>
      </p:sp>
      <p:sp>
        <p:nvSpPr>
          <p:cNvPr id="15" name="TextBox 14"/>
          <p:cNvSpPr txBox="1"/>
          <p:nvPr/>
        </p:nvSpPr>
        <p:spPr>
          <a:xfrm>
            <a:off x="841248" y="3154680"/>
            <a:ext cx="3657600" cy="228600"/>
          </a:xfrm>
          <a:prstGeom prst="rect">
            <a:avLst/>
          </a:prstGeom>
          <a:noFill/>
        </p:spPr>
        <p:txBody>
          <a:bodyPr wrap="square" lIns="0" tIns="0" rIns="0" bIns="0" anchor="t">
            <a:spAutoFit/>
          </a:bodyPr>
          <a:lstStyle/>
          <a:p>
            <a:pPr algn="l"/>
            <a:r>
              <a:rPr sz="850" b="0" spc="100">
                <a:solidFill>
                  <a:srgbClr val="1B9AAA"/>
                </a:solidFill>
                <a:latin typeface="JetBrains Mono"/>
              </a:rPr>
              <a:t>STEP 3: EACH TOKEN IS TRANSLATED INTO ITS VOCABULARY ID</a:t>
            </a:r>
          </a:p>
        </p:txBody>
      </p:sp>
      <p:sp>
        <p:nvSpPr>
          <p:cNvPr id="16" name="Rounded Rectangle 15"/>
          <p:cNvSpPr/>
          <p:nvPr/>
        </p:nvSpPr>
        <p:spPr>
          <a:xfrm>
            <a:off x="841248" y="2724912"/>
            <a:ext cx="347472" cy="256032"/>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0D1B2A"/>
                </a:solidFill>
                <a:latin typeface="JetBrains Mono"/>
              </a:rPr>
              <a:t>AI</a:t>
            </a:r>
          </a:p>
        </p:txBody>
      </p:sp>
      <p:sp>
        <p:nvSpPr>
          <p:cNvPr id="17" name="Rounded Rectangle 16"/>
          <p:cNvSpPr/>
          <p:nvPr/>
        </p:nvSpPr>
        <p:spPr>
          <a:xfrm>
            <a:off x="841248" y="3337560"/>
            <a:ext cx="347472" cy="256032"/>
          </a:xfrm>
          <a:prstGeom prst="roundRect">
            <a:avLst>
              <a:gd name="adj" fmla="val 18000"/>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00">
                <a:solidFill>
                  <a:srgbClr val="0D1B2A"/>
                </a:solidFill>
                <a:latin typeface="JetBrains Mono"/>
              </a:rPr>
              <a:t>15836</a:t>
            </a:r>
          </a:p>
        </p:txBody>
      </p:sp>
      <p:sp>
        <p:nvSpPr>
          <p:cNvPr id="18" name="Rounded Rectangle 17"/>
          <p:cNvSpPr/>
          <p:nvPr/>
        </p:nvSpPr>
        <p:spPr>
          <a:xfrm>
            <a:off x="1261872" y="2724912"/>
            <a:ext cx="594359" cy="256032"/>
          </a:xfrm>
          <a:prstGeom prst="roundRect">
            <a:avLst>
              <a:gd name="adj" fmla="val 18000"/>
            </a:avLst>
          </a:prstGeom>
          <a:solidFill>
            <a:srgbClr val="CFF5E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0D1B2A"/>
                </a:solidFill>
                <a:latin typeface="JetBrains Mono"/>
              </a:rPr>
              <a:t>makes</a:t>
            </a:r>
          </a:p>
        </p:txBody>
      </p:sp>
      <p:sp>
        <p:nvSpPr>
          <p:cNvPr id="19" name="Rounded Rectangle 18"/>
          <p:cNvSpPr/>
          <p:nvPr/>
        </p:nvSpPr>
        <p:spPr>
          <a:xfrm>
            <a:off x="1261872" y="3337560"/>
            <a:ext cx="594359" cy="256032"/>
          </a:xfrm>
          <a:prstGeom prst="roundRect">
            <a:avLst>
              <a:gd name="adj" fmla="val 18000"/>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00">
                <a:solidFill>
                  <a:srgbClr val="0D1B2A"/>
                </a:solidFill>
                <a:latin typeface="JetBrains Mono"/>
              </a:rPr>
              <a:t>3872</a:t>
            </a:r>
          </a:p>
        </p:txBody>
      </p:sp>
      <p:sp>
        <p:nvSpPr>
          <p:cNvPr id="20" name="Rounded Rectangle 19"/>
          <p:cNvSpPr/>
          <p:nvPr/>
        </p:nvSpPr>
        <p:spPr>
          <a:xfrm>
            <a:off x="1929384" y="2724912"/>
            <a:ext cx="758952" cy="256032"/>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0D1B2A"/>
                </a:solidFill>
                <a:latin typeface="JetBrains Mono"/>
              </a:rPr>
              <a:t>pharmac</a:t>
            </a:r>
          </a:p>
        </p:txBody>
      </p:sp>
      <p:sp>
        <p:nvSpPr>
          <p:cNvPr id="21" name="Rounded Rectangle 20"/>
          <p:cNvSpPr/>
          <p:nvPr/>
        </p:nvSpPr>
        <p:spPr>
          <a:xfrm>
            <a:off x="1929384" y="3337560"/>
            <a:ext cx="758952" cy="256032"/>
          </a:xfrm>
          <a:prstGeom prst="roundRect">
            <a:avLst>
              <a:gd name="adj" fmla="val 18000"/>
            </a:avLst>
          </a:prstGeom>
          <a:solidFill>
            <a:srgbClr val="FFFFFF"/>
          </a:solidFill>
          <a:ln w="9525">
            <a:solidFill>
              <a:srgbClr val="1B9AAA"/>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00">
                <a:solidFill>
                  <a:srgbClr val="0D1B2A"/>
                </a:solidFill>
                <a:latin typeface="JetBrains Mono"/>
              </a:rPr>
              <a:t>27291</a:t>
            </a:r>
          </a:p>
        </p:txBody>
      </p:sp>
      <p:sp>
        <p:nvSpPr>
          <p:cNvPr id="22" name="Rounded Rectangle 21"/>
          <p:cNvSpPr/>
          <p:nvPr/>
        </p:nvSpPr>
        <p:spPr>
          <a:xfrm>
            <a:off x="2761488" y="2724912"/>
            <a:ext cx="512064" cy="256032"/>
          </a:xfrm>
          <a:prstGeom prst="roundRect">
            <a:avLst>
              <a:gd name="adj" fmla="val 18000"/>
            </a:avLst>
          </a:prstGeom>
          <a:solidFill>
            <a:srgbClr val="CFF5E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0D1B2A"/>
                </a:solidFill>
                <a:latin typeface="JetBrains Mono"/>
              </a:rPr>
              <a:t>ovig</a:t>
            </a:r>
          </a:p>
        </p:txBody>
      </p:sp>
      <p:sp>
        <p:nvSpPr>
          <p:cNvPr id="23" name="Rounded Rectangle 22"/>
          <p:cNvSpPr/>
          <p:nvPr/>
        </p:nvSpPr>
        <p:spPr>
          <a:xfrm>
            <a:off x="2761488" y="3337560"/>
            <a:ext cx="512064" cy="256032"/>
          </a:xfrm>
          <a:prstGeom prst="roundRect">
            <a:avLst>
              <a:gd name="adj" fmla="val 18000"/>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00">
                <a:solidFill>
                  <a:srgbClr val="0D1B2A"/>
                </a:solidFill>
                <a:latin typeface="JetBrains Mono"/>
              </a:rPr>
              <a:t>9014</a:t>
            </a:r>
          </a:p>
        </p:txBody>
      </p:sp>
      <p:sp>
        <p:nvSpPr>
          <p:cNvPr id="24" name="Rounded Rectangle 23"/>
          <p:cNvSpPr/>
          <p:nvPr/>
        </p:nvSpPr>
        <p:spPr>
          <a:xfrm>
            <a:off x="3346704" y="2724912"/>
            <a:ext cx="676656" cy="256032"/>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0D1B2A"/>
                </a:solidFill>
                <a:latin typeface="JetBrains Mono"/>
              </a:rPr>
              <a:t>ilance</a:t>
            </a:r>
          </a:p>
        </p:txBody>
      </p:sp>
      <p:sp>
        <p:nvSpPr>
          <p:cNvPr id="25" name="Rounded Rectangle 24"/>
          <p:cNvSpPr/>
          <p:nvPr/>
        </p:nvSpPr>
        <p:spPr>
          <a:xfrm>
            <a:off x="3346704" y="3337560"/>
            <a:ext cx="676656" cy="256032"/>
          </a:xfrm>
          <a:prstGeom prst="roundRect">
            <a:avLst>
              <a:gd name="adj" fmla="val 18000"/>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00">
                <a:solidFill>
                  <a:srgbClr val="0D1B2A"/>
                </a:solidFill>
                <a:latin typeface="JetBrains Mono"/>
              </a:rPr>
              <a:t>5188</a:t>
            </a:r>
          </a:p>
        </p:txBody>
      </p:sp>
      <p:sp>
        <p:nvSpPr>
          <p:cNvPr id="26" name="Rounded Rectangle 25"/>
          <p:cNvSpPr/>
          <p:nvPr/>
        </p:nvSpPr>
        <p:spPr>
          <a:xfrm>
            <a:off x="4096512" y="2724912"/>
            <a:ext cx="676656" cy="256032"/>
          </a:xfrm>
          <a:prstGeom prst="roundRect">
            <a:avLst>
              <a:gd name="adj" fmla="val 18000"/>
            </a:avLst>
          </a:prstGeom>
          <a:solidFill>
            <a:srgbClr val="CFF5E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0D1B2A"/>
                </a:solidFill>
                <a:latin typeface="JetBrains Mono"/>
              </a:rPr>
              <a:t>easier</a:t>
            </a:r>
          </a:p>
        </p:txBody>
      </p:sp>
      <p:sp>
        <p:nvSpPr>
          <p:cNvPr id="27" name="Rounded Rectangle 26"/>
          <p:cNvSpPr/>
          <p:nvPr/>
        </p:nvSpPr>
        <p:spPr>
          <a:xfrm>
            <a:off x="4096512" y="3337560"/>
            <a:ext cx="676656" cy="256032"/>
          </a:xfrm>
          <a:prstGeom prst="roundRect">
            <a:avLst>
              <a:gd name="adj" fmla="val 18000"/>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00">
                <a:solidFill>
                  <a:srgbClr val="0D1B2A"/>
                </a:solidFill>
                <a:latin typeface="JetBrains Mono"/>
              </a:rPr>
              <a:t>9013</a:t>
            </a:r>
          </a:p>
        </p:txBody>
      </p:sp>
      <p:sp>
        <p:nvSpPr>
          <p:cNvPr id="28" name="Rounded Rectangle 27"/>
          <p:cNvSpPr/>
          <p:nvPr/>
        </p:nvSpPr>
        <p:spPr>
          <a:xfrm>
            <a:off x="4846320" y="2724912"/>
            <a:ext cx="265176" cy="256032"/>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0D1B2A"/>
                </a:solidFill>
                <a:latin typeface="JetBrains Mono"/>
              </a:rPr>
              <a:t>.</a:t>
            </a:r>
          </a:p>
        </p:txBody>
      </p:sp>
      <p:sp>
        <p:nvSpPr>
          <p:cNvPr id="29" name="Rounded Rectangle 28"/>
          <p:cNvSpPr/>
          <p:nvPr/>
        </p:nvSpPr>
        <p:spPr>
          <a:xfrm>
            <a:off x="4846320" y="3337560"/>
            <a:ext cx="265176" cy="256032"/>
          </a:xfrm>
          <a:prstGeom prst="roundRect">
            <a:avLst>
              <a:gd name="adj" fmla="val 18000"/>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00">
                <a:solidFill>
                  <a:srgbClr val="0D1B2A"/>
                </a:solidFill>
                <a:latin typeface="JetBrains Mono"/>
              </a:rPr>
              <a:t>13</a:t>
            </a:r>
          </a:p>
        </p:txBody>
      </p:sp>
      <p:sp>
        <p:nvSpPr>
          <p:cNvPr id="30" name="TextBox 29"/>
          <p:cNvSpPr txBox="1"/>
          <p:nvPr/>
        </p:nvSpPr>
        <p:spPr>
          <a:xfrm>
            <a:off x="841248" y="3767327"/>
            <a:ext cx="3840480" cy="228600"/>
          </a:xfrm>
          <a:prstGeom prst="rect">
            <a:avLst/>
          </a:prstGeom>
          <a:noFill/>
        </p:spPr>
        <p:txBody>
          <a:bodyPr wrap="square" lIns="0" tIns="0" rIns="0" bIns="0" anchor="t">
            <a:spAutoFit/>
          </a:bodyPr>
          <a:lstStyle/>
          <a:p>
            <a:pPr algn="l"/>
            <a:r>
              <a:rPr sz="850" b="0" spc="100">
                <a:solidFill>
                  <a:srgbClr val="1B9AAA"/>
                </a:solidFill>
                <a:latin typeface="JetBrains Mono"/>
              </a:rPr>
              <a:t>STEP 4: EACH VOCABULARY ID IS TRANSLATED INTO ITS EMBEDDING</a:t>
            </a:r>
          </a:p>
        </p:txBody>
      </p:sp>
      <p:sp>
        <p:nvSpPr>
          <p:cNvPr id="31" name="Rounded Rectangle 30"/>
          <p:cNvSpPr/>
          <p:nvPr/>
        </p:nvSpPr>
        <p:spPr>
          <a:xfrm>
            <a:off x="841248" y="3950207"/>
            <a:ext cx="758952" cy="256032"/>
          </a:xfrm>
          <a:prstGeom prst="roundRect">
            <a:avLst>
              <a:gd name="adj" fmla="val 18000"/>
            </a:avLst>
          </a:prstGeom>
          <a:solidFill>
            <a:srgbClr val="FFFFFF"/>
          </a:solidFill>
          <a:ln w="9525">
            <a:solidFill>
              <a:srgbClr val="1B9AAA"/>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00">
                <a:solidFill>
                  <a:srgbClr val="0D1B2A"/>
                </a:solidFill>
                <a:latin typeface="JetBrains Mono"/>
              </a:rPr>
              <a:t>27291</a:t>
            </a:r>
          </a:p>
        </p:txBody>
      </p:sp>
      <p:cxnSp>
        <p:nvCxnSpPr>
          <p:cNvPr id="32" name="Connector 31"/>
          <p:cNvCxnSpPr/>
          <p:nvPr/>
        </p:nvCxnSpPr>
        <p:spPr>
          <a:xfrm>
            <a:off x="1636776" y="4078224"/>
            <a:ext cx="237743" cy="0"/>
          </a:xfrm>
          <a:prstGeom prst="line">
            <a:avLst/>
          </a:prstGeom>
          <a:ln w="12700">
            <a:solidFill>
              <a:srgbClr val="1B9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1947672" y="3950207"/>
            <a:ext cx="475488" cy="256032"/>
          </a:xfrm>
          <a:prstGeom prst="roundRect">
            <a:avLst>
              <a:gd name="adj" fmla="val 18000"/>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00">
                <a:solidFill>
                  <a:srgbClr val="FFFFFF"/>
                </a:solidFill>
                <a:latin typeface="JetBrains Mono"/>
              </a:rPr>
              <a:t>0.12</a:t>
            </a:r>
          </a:p>
        </p:txBody>
      </p:sp>
      <p:sp>
        <p:nvSpPr>
          <p:cNvPr id="34" name="Rounded Rectangle 33"/>
          <p:cNvSpPr/>
          <p:nvPr/>
        </p:nvSpPr>
        <p:spPr>
          <a:xfrm>
            <a:off x="2459736" y="3950207"/>
            <a:ext cx="475488" cy="256032"/>
          </a:xfrm>
          <a:prstGeom prst="roundRect">
            <a:avLst>
              <a:gd name="adj" fmla="val 18000"/>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00">
                <a:solidFill>
                  <a:srgbClr val="FFFFFF"/>
                </a:solidFill>
                <a:latin typeface="JetBrains Mono"/>
              </a:rPr>
              <a:t>−0.48</a:t>
            </a:r>
          </a:p>
        </p:txBody>
      </p:sp>
      <p:sp>
        <p:nvSpPr>
          <p:cNvPr id="35" name="Rounded Rectangle 34"/>
          <p:cNvSpPr/>
          <p:nvPr/>
        </p:nvSpPr>
        <p:spPr>
          <a:xfrm>
            <a:off x="2971800" y="3950207"/>
            <a:ext cx="475488" cy="256032"/>
          </a:xfrm>
          <a:prstGeom prst="roundRect">
            <a:avLst>
              <a:gd name="adj" fmla="val 18000"/>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00">
                <a:solidFill>
                  <a:srgbClr val="FFFFFF"/>
                </a:solidFill>
                <a:latin typeface="JetBrains Mono"/>
              </a:rPr>
              <a:t>0.91</a:t>
            </a:r>
          </a:p>
        </p:txBody>
      </p:sp>
      <p:sp>
        <p:nvSpPr>
          <p:cNvPr id="36" name="Rounded Rectangle 35"/>
          <p:cNvSpPr/>
          <p:nvPr/>
        </p:nvSpPr>
        <p:spPr>
          <a:xfrm>
            <a:off x="3483864" y="3950207"/>
            <a:ext cx="475488" cy="256032"/>
          </a:xfrm>
          <a:prstGeom prst="roundRect">
            <a:avLst>
              <a:gd name="adj" fmla="val 18000"/>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00">
                <a:solidFill>
                  <a:srgbClr val="FFFFFF"/>
                </a:solidFill>
                <a:latin typeface="JetBrains Mono"/>
              </a:rPr>
              <a:t>0.05</a:t>
            </a:r>
          </a:p>
        </p:txBody>
      </p:sp>
      <p:sp>
        <p:nvSpPr>
          <p:cNvPr id="37" name="TextBox 36"/>
          <p:cNvSpPr txBox="1"/>
          <p:nvPr/>
        </p:nvSpPr>
        <p:spPr>
          <a:xfrm>
            <a:off x="4032504" y="3995927"/>
            <a:ext cx="1188720" cy="201168"/>
          </a:xfrm>
          <a:prstGeom prst="rect">
            <a:avLst/>
          </a:prstGeom>
          <a:noFill/>
        </p:spPr>
        <p:txBody>
          <a:bodyPr wrap="square" lIns="0" tIns="0" rIns="0" bIns="0" anchor="t">
            <a:spAutoFit/>
          </a:bodyPr>
          <a:lstStyle/>
          <a:p>
            <a:pPr algn="l"/>
            <a:r>
              <a:rPr sz="900" b="0">
                <a:solidFill>
                  <a:srgbClr val="6B7B8C"/>
                </a:solidFill>
                <a:latin typeface="Roboto"/>
              </a:rPr>
              <a:t>… hundreds more</a:t>
            </a:r>
          </a:p>
        </p:txBody>
      </p:sp>
      <p:sp>
        <p:nvSpPr>
          <p:cNvPr id="38" name="TextBox 37"/>
          <p:cNvSpPr txBox="1"/>
          <p:nvPr/>
        </p:nvSpPr>
        <p:spPr>
          <a:xfrm>
            <a:off x="841248" y="4297680"/>
            <a:ext cx="4754880" cy="201168"/>
          </a:xfrm>
          <a:prstGeom prst="rect">
            <a:avLst/>
          </a:prstGeom>
          <a:noFill/>
        </p:spPr>
        <p:txBody>
          <a:bodyPr wrap="square" lIns="0" tIns="0" rIns="0" bIns="0" anchor="t">
            <a:spAutoFit/>
          </a:bodyPr>
          <a:lstStyle/>
          <a:p>
            <a:pPr algn="l"/>
            <a:r>
              <a:rPr sz="900" b="0">
                <a:solidFill>
                  <a:srgbClr val="6B7B8C"/>
                </a:solidFill>
                <a:latin typeface="Roboto"/>
              </a:rPr>
              <a:t>Embedding = Numbers the model actually computes with (what we feed into the neural network).</a:t>
            </a:r>
          </a:p>
        </p:txBody>
      </p:sp>
      <p:sp>
        <p:nvSpPr>
          <p:cNvPr id="39" name="Rectangle 38"/>
          <p:cNvSpPr/>
          <p:nvPr/>
        </p:nvSpPr>
        <p:spPr>
          <a:xfrm>
            <a:off x="5897880" y="1783080"/>
            <a:ext cx="2807208" cy="1298448"/>
          </a:xfrm>
          <a:prstGeom prst="rect">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5897880" y="1783080"/>
            <a:ext cx="54864" cy="1298448"/>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126480" y="1901952"/>
            <a:ext cx="3657600" cy="228600"/>
          </a:xfrm>
          <a:prstGeom prst="rect">
            <a:avLst/>
          </a:prstGeom>
          <a:noFill/>
        </p:spPr>
        <p:txBody>
          <a:bodyPr wrap="square" lIns="0" tIns="0" rIns="0" bIns="0" anchor="t">
            <a:spAutoFit/>
          </a:bodyPr>
          <a:lstStyle/>
          <a:p>
            <a:pPr algn="l"/>
            <a:r>
              <a:rPr sz="950" b="0" spc="100">
                <a:solidFill>
                  <a:srgbClr val="1B9AAA"/>
                </a:solidFill>
                <a:latin typeface="JetBrains Mono"/>
              </a:rPr>
              <a:t>RULE OF THUMB</a:t>
            </a:r>
          </a:p>
        </p:txBody>
      </p:sp>
      <p:sp>
        <p:nvSpPr>
          <p:cNvPr id="42" name="TextBox 41"/>
          <p:cNvSpPr txBox="1"/>
          <p:nvPr/>
        </p:nvSpPr>
        <p:spPr>
          <a:xfrm>
            <a:off x="6126480" y="2148840"/>
            <a:ext cx="2441448" cy="365760"/>
          </a:xfrm>
          <a:prstGeom prst="rect">
            <a:avLst/>
          </a:prstGeom>
          <a:noFill/>
        </p:spPr>
        <p:txBody>
          <a:bodyPr wrap="square" lIns="0" tIns="0" rIns="0" bIns="0" anchor="t">
            <a:spAutoFit/>
          </a:bodyPr>
          <a:lstStyle/>
          <a:p>
            <a:pPr algn="l"/>
            <a:r>
              <a:rPr sz="2000" b="0">
                <a:solidFill>
                  <a:srgbClr val="0D1B2A"/>
                </a:solidFill>
                <a:latin typeface="Oswald"/>
              </a:rPr>
              <a:t>1 token ≈ ¾ of a word</a:t>
            </a:r>
          </a:p>
        </p:txBody>
      </p:sp>
      <p:sp>
        <p:nvSpPr>
          <p:cNvPr id="43" name="TextBox 42"/>
          <p:cNvSpPr txBox="1"/>
          <p:nvPr/>
        </p:nvSpPr>
        <p:spPr>
          <a:xfrm>
            <a:off x="6126480" y="2651760"/>
            <a:ext cx="2441448" cy="274320"/>
          </a:xfrm>
          <a:prstGeom prst="rect">
            <a:avLst/>
          </a:prstGeom>
          <a:noFill/>
        </p:spPr>
        <p:txBody>
          <a:bodyPr wrap="square" lIns="0" tIns="0" rIns="0" bIns="0" anchor="t">
            <a:spAutoFit/>
          </a:bodyPr>
          <a:lstStyle/>
          <a:p>
            <a:pPr algn="l"/>
            <a:r>
              <a:rPr sz="1100" b="0">
                <a:solidFill>
                  <a:srgbClr val="6B7B8C"/>
                </a:solidFill>
                <a:latin typeface="Roboto"/>
              </a:rPr>
              <a:t>100 tokens ≈ 75 English words</a:t>
            </a:r>
          </a:p>
        </p:txBody>
      </p:sp>
      <p:sp>
        <p:nvSpPr>
          <p:cNvPr id="44" name="Rectangle 43"/>
          <p:cNvSpPr/>
          <p:nvPr/>
        </p:nvSpPr>
        <p:spPr>
          <a:xfrm>
            <a:off x="5897880" y="3227832"/>
            <a:ext cx="2807208" cy="1298448"/>
          </a:xfrm>
          <a:prstGeom prst="rect">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5897880" y="3227832"/>
            <a:ext cx="54864" cy="1298448"/>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126480" y="3346704"/>
            <a:ext cx="3657600" cy="228600"/>
          </a:xfrm>
          <a:prstGeom prst="rect">
            <a:avLst/>
          </a:prstGeom>
          <a:noFill/>
        </p:spPr>
        <p:txBody>
          <a:bodyPr wrap="square" lIns="0" tIns="0" rIns="0" bIns="0" anchor="t">
            <a:spAutoFit/>
          </a:bodyPr>
          <a:lstStyle/>
          <a:p>
            <a:pPr algn="l"/>
            <a:r>
              <a:rPr sz="950" b="0" spc="100">
                <a:solidFill>
                  <a:srgbClr val="1B9AAA"/>
                </a:solidFill>
                <a:latin typeface="JetBrains Mono"/>
              </a:rPr>
              <a:t>WHY IT MATTERS</a:t>
            </a:r>
          </a:p>
        </p:txBody>
      </p:sp>
      <p:sp>
        <p:nvSpPr>
          <p:cNvPr id="47" name="TextBox 46"/>
          <p:cNvSpPr txBox="1"/>
          <p:nvPr/>
        </p:nvSpPr>
        <p:spPr>
          <a:xfrm>
            <a:off x="6126480" y="3593592"/>
            <a:ext cx="2441448" cy="868680"/>
          </a:xfrm>
          <a:prstGeom prst="rect">
            <a:avLst/>
          </a:prstGeom>
          <a:noFill/>
        </p:spPr>
        <p:txBody>
          <a:bodyPr wrap="square" lIns="0" tIns="0" rIns="0" bIns="0" anchor="t">
            <a:spAutoFit/>
          </a:bodyPr>
          <a:lstStyle/>
          <a:p>
            <a:pPr algn="l"/>
            <a:r>
              <a:rPr sz="1100" b="0">
                <a:solidFill>
                  <a:srgbClr val="14293D"/>
                </a:solidFill>
                <a:latin typeface="Roboto"/>
              </a:rPr>
              <a:t>Limits, speed and prices of AI tools are counted in tokens. German text usually needs more tokens than English.</a:t>
            </a:r>
          </a:p>
        </p:txBody>
      </p:sp>
      <p:sp>
        <p:nvSpPr>
          <p:cNvPr id="48" name="Rectangle 47"/>
          <p:cNvSpPr/>
          <p:nvPr/>
        </p:nvSpPr>
        <p:spPr>
          <a:xfrm>
            <a:off x="566928" y="4681727"/>
            <a:ext cx="45720" cy="21945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713232" y="4663440"/>
            <a:ext cx="7991856" cy="274320"/>
          </a:xfrm>
          <a:prstGeom prst="rect">
            <a:avLst/>
          </a:prstGeom>
          <a:noFill/>
        </p:spPr>
        <p:txBody>
          <a:bodyPr wrap="square" lIns="0" tIns="0" rIns="0" bIns="0" anchor="t">
            <a:spAutoFit/>
          </a:bodyPr>
          <a:lstStyle/>
          <a:p>
            <a:pPr algn="l"/>
            <a:r>
              <a:rPr sz="1200" b="0">
                <a:solidFill>
                  <a:srgbClr val="0D1B2A"/>
                </a:solidFill>
                <a:latin typeface="Roboto"/>
              </a:rPr>
              <a:t>The model never sees letters or words, only numbers.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514350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329184"/>
            <a:ext cx="8138160" cy="274320"/>
          </a:xfrm>
          <a:prstGeom prst="rect">
            <a:avLst/>
          </a:prstGeom>
          <a:noFill/>
        </p:spPr>
        <p:txBody>
          <a:bodyPr wrap="square" lIns="0" tIns="0" rIns="0" bIns="0" anchor="t">
            <a:spAutoFit/>
          </a:bodyPr>
          <a:lstStyle/>
          <a:p>
            <a:pPr algn="l"/>
            <a:r>
              <a:rPr sz="1100" b="0" spc="300">
                <a:solidFill>
                  <a:srgbClr val="1B9AAA"/>
                </a:solidFill>
                <a:latin typeface="JetBrains Mono"/>
              </a:rPr>
              <a:t>GENERATIVE AI · GENERATION</a:t>
            </a:r>
          </a:p>
        </p:txBody>
      </p:sp>
      <p:sp>
        <p:nvSpPr>
          <p:cNvPr id="4" name="slide-next-word"/>
          <p:cNvSpPr txBox="1"/>
          <p:nvPr/>
        </p:nvSpPr>
        <p:spPr>
          <a:xfrm>
            <a:off x="566928" y="603504"/>
            <a:ext cx="8138160" cy="658368"/>
          </a:xfrm>
          <a:prstGeom prst="rect">
            <a:avLst/>
          </a:prstGeom>
          <a:noFill/>
        </p:spPr>
        <p:txBody>
          <a:bodyPr wrap="square" lIns="0" tIns="0" rIns="0" bIns="0" anchor="t">
            <a:spAutoFit/>
          </a:bodyPr>
          <a:lstStyle/>
          <a:p>
            <a:pPr algn="l"/>
            <a:r>
              <a:rPr sz="3200" b="0">
                <a:solidFill>
                  <a:srgbClr val="0D1B2A"/>
                </a:solidFill>
                <a:latin typeface="Oswald"/>
              </a:rPr>
              <a:t>Generation process: next-word prediction</a:t>
            </a:r>
          </a:p>
        </p:txBody>
      </p:sp>
      <p:sp>
        <p:nvSpPr>
          <p:cNvPr id="5" name="TextBox 4"/>
          <p:cNvSpPr txBox="1"/>
          <p:nvPr/>
        </p:nvSpPr>
        <p:spPr>
          <a:xfrm>
            <a:off x="566928" y="1298448"/>
            <a:ext cx="8138160" cy="457200"/>
          </a:xfrm>
          <a:prstGeom prst="rect">
            <a:avLst/>
          </a:prstGeom>
          <a:noFill/>
        </p:spPr>
        <p:txBody>
          <a:bodyPr wrap="square" lIns="0" tIns="0" rIns="0" bIns="0" anchor="t">
            <a:spAutoFit/>
          </a:bodyPr>
          <a:lstStyle/>
          <a:p>
            <a:pPr algn="l"/>
            <a:r>
              <a:rPr sz="1400" b="0">
                <a:solidFill>
                  <a:srgbClr val="14293D"/>
                </a:solidFill>
                <a:latin typeface="Roboto"/>
              </a:rPr>
              <a:t>A toy example of an autoregressive language model. All probabilities are illustrative.</a:t>
            </a:r>
          </a:p>
        </p:txBody>
      </p:sp>
      <p:sp>
        <p:nvSpPr>
          <p:cNvPr id="6" name="Rectangle 5"/>
          <p:cNvSpPr/>
          <p:nvPr/>
        </p:nvSpPr>
        <p:spPr>
          <a:xfrm>
            <a:off x="566928" y="1783080"/>
            <a:ext cx="8138160" cy="1325880"/>
          </a:xfrm>
          <a:prstGeom prst="rect">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66928" y="1783080"/>
            <a:ext cx="54864" cy="132588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1874519"/>
            <a:ext cx="3657600" cy="228600"/>
          </a:xfrm>
          <a:prstGeom prst="rect">
            <a:avLst/>
          </a:prstGeom>
          <a:noFill/>
        </p:spPr>
        <p:txBody>
          <a:bodyPr wrap="square" lIns="0" tIns="0" rIns="0" bIns="0" anchor="t">
            <a:spAutoFit/>
          </a:bodyPr>
          <a:lstStyle/>
          <a:p>
            <a:pPr algn="l"/>
            <a:r>
              <a:rPr sz="850" b="0" spc="100">
                <a:solidFill>
                  <a:srgbClr val="1B9AAA"/>
                </a:solidFill>
                <a:latin typeface="JetBrains Mono"/>
              </a:rPr>
              <a:t>STEP 1: SCORE THE POSSIBLE NEXT TOKENS</a:t>
            </a:r>
          </a:p>
        </p:txBody>
      </p:sp>
      <p:sp>
        <p:nvSpPr>
          <p:cNvPr id="9" name="Rounded Rectangle 8"/>
          <p:cNvSpPr/>
          <p:nvPr/>
        </p:nvSpPr>
        <p:spPr>
          <a:xfrm>
            <a:off x="777240" y="2130552"/>
            <a:ext cx="374904" cy="274320"/>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0D1B2A"/>
                </a:solidFill>
                <a:latin typeface="JetBrains Mono"/>
              </a:rPr>
              <a:t>The</a:t>
            </a:r>
          </a:p>
        </p:txBody>
      </p:sp>
      <p:sp>
        <p:nvSpPr>
          <p:cNvPr id="10" name="Rounded Rectangle 9"/>
          <p:cNvSpPr/>
          <p:nvPr/>
        </p:nvSpPr>
        <p:spPr>
          <a:xfrm>
            <a:off x="1207008" y="2130552"/>
            <a:ext cx="374904" cy="274320"/>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0D1B2A"/>
                </a:solidFill>
                <a:latin typeface="JetBrains Mono"/>
              </a:rPr>
              <a:t>cat</a:t>
            </a:r>
          </a:p>
        </p:txBody>
      </p:sp>
      <p:sp>
        <p:nvSpPr>
          <p:cNvPr id="11" name="Rounded Rectangle 10"/>
          <p:cNvSpPr/>
          <p:nvPr/>
        </p:nvSpPr>
        <p:spPr>
          <a:xfrm>
            <a:off x="1636776" y="2130552"/>
            <a:ext cx="374904" cy="274320"/>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0D1B2A"/>
                </a:solidFill>
                <a:latin typeface="JetBrains Mono"/>
              </a:rPr>
              <a:t>sat</a:t>
            </a:r>
          </a:p>
        </p:txBody>
      </p:sp>
      <p:sp>
        <p:nvSpPr>
          <p:cNvPr id="12" name="Rounded Rectangle 11"/>
          <p:cNvSpPr/>
          <p:nvPr/>
        </p:nvSpPr>
        <p:spPr>
          <a:xfrm>
            <a:off x="2066544" y="2130552"/>
            <a:ext cx="292608" cy="274320"/>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0D1B2A"/>
                </a:solidFill>
                <a:latin typeface="JetBrains Mono"/>
              </a:rPr>
              <a:t>on</a:t>
            </a:r>
          </a:p>
        </p:txBody>
      </p:sp>
      <p:sp>
        <p:nvSpPr>
          <p:cNvPr id="13" name="Rounded Rectangle 12"/>
          <p:cNvSpPr/>
          <p:nvPr/>
        </p:nvSpPr>
        <p:spPr>
          <a:xfrm>
            <a:off x="2414016" y="2130552"/>
            <a:ext cx="374904" cy="274320"/>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0D1B2A"/>
                </a:solidFill>
                <a:latin typeface="JetBrains Mono"/>
              </a:rPr>
              <a:t>the</a:t>
            </a:r>
          </a:p>
        </p:txBody>
      </p:sp>
      <p:sp>
        <p:nvSpPr>
          <p:cNvPr id="14" name="Rounded Rectangle 13"/>
          <p:cNvSpPr/>
          <p:nvPr/>
        </p:nvSpPr>
        <p:spPr>
          <a:xfrm>
            <a:off x="2843784" y="2130552"/>
            <a:ext cx="274320" cy="274320"/>
          </a:xfrm>
          <a:prstGeom prst="roundRect">
            <a:avLst>
              <a:gd name="adj" fmla="val 18000"/>
            </a:avLst>
          </a:prstGeom>
          <a:solidFill>
            <a:srgbClr val="FFFFFF"/>
          </a:solidFill>
          <a:ln w="9525">
            <a:solidFill>
              <a:srgbClr val="1B9AAA"/>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1B9AAA"/>
                </a:solidFill>
                <a:latin typeface="JetBrains Mono"/>
              </a:rPr>
              <a:t>?</a:t>
            </a:r>
          </a:p>
        </p:txBody>
      </p:sp>
      <p:sp>
        <p:nvSpPr>
          <p:cNvPr id="15" name="TextBox 14"/>
          <p:cNvSpPr txBox="1"/>
          <p:nvPr/>
        </p:nvSpPr>
        <p:spPr>
          <a:xfrm>
            <a:off x="4343400" y="2093976"/>
            <a:ext cx="685800" cy="201168"/>
          </a:xfrm>
          <a:prstGeom prst="rect">
            <a:avLst/>
          </a:prstGeom>
          <a:noFill/>
        </p:spPr>
        <p:txBody>
          <a:bodyPr wrap="square" lIns="0" tIns="0" rIns="0" bIns="0" anchor="t">
            <a:spAutoFit/>
          </a:bodyPr>
          <a:lstStyle/>
          <a:p>
            <a:pPr algn="l"/>
            <a:r>
              <a:rPr sz="950" b="0">
                <a:solidFill>
                  <a:srgbClr val="0D1B2A"/>
                </a:solidFill>
                <a:latin typeface="JetBrains Mono"/>
              </a:rPr>
              <a:t>mat</a:t>
            </a:r>
          </a:p>
        </p:txBody>
      </p:sp>
      <p:sp>
        <p:nvSpPr>
          <p:cNvPr id="16" name="Rectangle 15"/>
          <p:cNvSpPr/>
          <p:nvPr/>
        </p:nvSpPr>
        <p:spPr>
          <a:xfrm>
            <a:off x="5074920" y="2148840"/>
            <a:ext cx="2011680" cy="91440"/>
          </a:xfrm>
          <a:prstGeom prst="rect">
            <a:avLst/>
          </a:prstGeom>
          <a:solidFill>
            <a:srgbClr val="DDE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074920" y="2148840"/>
            <a:ext cx="905256" cy="91440"/>
          </a:xfrm>
          <a:prstGeom prst="rect">
            <a:avLst/>
          </a:prstGeom>
          <a:solidFill>
            <a:srgbClr val="06D6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251192" y="2093976"/>
            <a:ext cx="457200" cy="201168"/>
          </a:xfrm>
          <a:prstGeom prst="rect">
            <a:avLst/>
          </a:prstGeom>
          <a:noFill/>
        </p:spPr>
        <p:txBody>
          <a:bodyPr wrap="square" lIns="0" tIns="0" rIns="0" bIns="0" anchor="t">
            <a:spAutoFit/>
          </a:bodyPr>
          <a:lstStyle/>
          <a:p>
            <a:pPr algn="l"/>
            <a:r>
              <a:rPr sz="950" b="0">
                <a:solidFill>
                  <a:srgbClr val="0D1B2A"/>
                </a:solidFill>
                <a:latin typeface="JetBrains Mono"/>
              </a:rPr>
              <a:t>45%</a:t>
            </a:r>
          </a:p>
        </p:txBody>
      </p:sp>
      <p:sp>
        <p:nvSpPr>
          <p:cNvPr id="19" name="Rounded Rectangle 18"/>
          <p:cNvSpPr/>
          <p:nvPr/>
        </p:nvSpPr>
        <p:spPr>
          <a:xfrm>
            <a:off x="4261104" y="2057400"/>
            <a:ext cx="2880359" cy="274320"/>
          </a:xfrm>
          <a:prstGeom prst="roundRect">
            <a:avLst>
              <a:gd name="adj" fmla="val 20000"/>
            </a:avLst>
          </a:prstGeom>
          <a:noFill/>
          <a:ln w="15875">
            <a:solidFill>
              <a:srgbClr val="06D6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744968" y="2093976"/>
            <a:ext cx="640080" cy="201168"/>
          </a:xfrm>
          <a:prstGeom prst="rect">
            <a:avLst/>
          </a:prstGeom>
          <a:noFill/>
        </p:spPr>
        <p:txBody>
          <a:bodyPr wrap="square" lIns="0" tIns="0" rIns="0" bIns="0" anchor="t">
            <a:spAutoFit/>
          </a:bodyPr>
          <a:lstStyle/>
          <a:p>
            <a:pPr algn="l"/>
            <a:r>
              <a:rPr sz="800" b="0">
                <a:solidFill>
                  <a:srgbClr val="06D6A0"/>
                </a:solidFill>
                <a:latin typeface="JetBrains Mono"/>
              </a:rPr>
              <a:t>chosen</a:t>
            </a:r>
          </a:p>
        </p:txBody>
      </p:sp>
      <p:sp>
        <p:nvSpPr>
          <p:cNvPr id="21" name="TextBox 20"/>
          <p:cNvSpPr txBox="1"/>
          <p:nvPr/>
        </p:nvSpPr>
        <p:spPr>
          <a:xfrm>
            <a:off x="4343400" y="2331720"/>
            <a:ext cx="685800" cy="201168"/>
          </a:xfrm>
          <a:prstGeom prst="rect">
            <a:avLst/>
          </a:prstGeom>
          <a:noFill/>
        </p:spPr>
        <p:txBody>
          <a:bodyPr wrap="square" lIns="0" tIns="0" rIns="0" bIns="0" anchor="t">
            <a:spAutoFit/>
          </a:bodyPr>
          <a:lstStyle/>
          <a:p>
            <a:pPr algn="l"/>
            <a:r>
              <a:rPr sz="950" b="0">
                <a:solidFill>
                  <a:srgbClr val="0D1B2A"/>
                </a:solidFill>
                <a:latin typeface="JetBrains Mono"/>
              </a:rPr>
              <a:t>chair</a:t>
            </a:r>
          </a:p>
        </p:txBody>
      </p:sp>
      <p:sp>
        <p:nvSpPr>
          <p:cNvPr id="22" name="Rectangle 21"/>
          <p:cNvSpPr/>
          <p:nvPr/>
        </p:nvSpPr>
        <p:spPr>
          <a:xfrm>
            <a:off x="5074920" y="2386584"/>
            <a:ext cx="2011680" cy="91440"/>
          </a:xfrm>
          <a:prstGeom prst="rect">
            <a:avLst/>
          </a:prstGeom>
          <a:solidFill>
            <a:srgbClr val="DDE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074920" y="2386584"/>
            <a:ext cx="502920" cy="9144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251192" y="2331720"/>
            <a:ext cx="457200" cy="201168"/>
          </a:xfrm>
          <a:prstGeom prst="rect">
            <a:avLst/>
          </a:prstGeom>
          <a:noFill/>
        </p:spPr>
        <p:txBody>
          <a:bodyPr wrap="square" lIns="0" tIns="0" rIns="0" bIns="0" anchor="t">
            <a:spAutoFit/>
          </a:bodyPr>
          <a:lstStyle/>
          <a:p>
            <a:pPr algn="l"/>
            <a:r>
              <a:rPr sz="950" b="0">
                <a:solidFill>
                  <a:srgbClr val="6B7B8C"/>
                </a:solidFill>
                <a:latin typeface="JetBrains Mono"/>
              </a:rPr>
              <a:t>25%</a:t>
            </a:r>
          </a:p>
        </p:txBody>
      </p:sp>
      <p:sp>
        <p:nvSpPr>
          <p:cNvPr id="25" name="TextBox 24"/>
          <p:cNvSpPr txBox="1"/>
          <p:nvPr/>
        </p:nvSpPr>
        <p:spPr>
          <a:xfrm>
            <a:off x="4343400" y="2569464"/>
            <a:ext cx="685800" cy="201168"/>
          </a:xfrm>
          <a:prstGeom prst="rect">
            <a:avLst/>
          </a:prstGeom>
          <a:noFill/>
        </p:spPr>
        <p:txBody>
          <a:bodyPr wrap="square" lIns="0" tIns="0" rIns="0" bIns="0" anchor="t">
            <a:spAutoFit/>
          </a:bodyPr>
          <a:lstStyle/>
          <a:p>
            <a:pPr algn="l"/>
            <a:r>
              <a:rPr sz="950" b="0">
                <a:solidFill>
                  <a:srgbClr val="0D1B2A"/>
                </a:solidFill>
                <a:latin typeface="JetBrains Mono"/>
              </a:rPr>
              <a:t>floor</a:t>
            </a:r>
          </a:p>
        </p:txBody>
      </p:sp>
      <p:sp>
        <p:nvSpPr>
          <p:cNvPr id="26" name="Rectangle 25"/>
          <p:cNvSpPr/>
          <p:nvPr/>
        </p:nvSpPr>
        <p:spPr>
          <a:xfrm>
            <a:off x="5074920" y="2624328"/>
            <a:ext cx="2011680" cy="91440"/>
          </a:xfrm>
          <a:prstGeom prst="rect">
            <a:avLst/>
          </a:prstGeom>
          <a:solidFill>
            <a:srgbClr val="DDE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074920" y="2624328"/>
            <a:ext cx="402336" cy="9144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251192" y="2569464"/>
            <a:ext cx="457200" cy="201168"/>
          </a:xfrm>
          <a:prstGeom prst="rect">
            <a:avLst/>
          </a:prstGeom>
          <a:noFill/>
        </p:spPr>
        <p:txBody>
          <a:bodyPr wrap="square" lIns="0" tIns="0" rIns="0" bIns="0" anchor="t">
            <a:spAutoFit/>
          </a:bodyPr>
          <a:lstStyle/>
          <a:p>
            <a:pPr algn="l"/>
            <a:r>
              <a:rPr sz="950" b="0">
                <a:solidFill>
                  <a:srgbClr val="6B7B8C"/>
                </a:solidFill>
                <a:latin typeface="JetBrains Mono"/>
              </a:rPr>
              <a:t>20%</a:t>
            </a:r>
          </a:p>
        </p:txBody>
      </p:sp>
      <p:sp>
        <p:nvSpPr>
          <p:cNvPr id="29" name="TextBox 28"/>
          <p:cNvSpPr txBox="1"/>
          <p:nvPr/>
        </p:nvSpPr>
        <p:spPr>
          <a:xfrm>
            <a:off x="4343400" y="2807208"/>
            <a:ext cx="685800" cy="201168"/>
          </a:xfrm>
          <a:prstGeom prst="rect">
            <a:avLst/>
          </a:prstGeom>
          <a:noFill/>
        </p:spPr>
        <p:txBody>
          <a:bodyPr wrap="square" lIns="0" tIns="0" rIns="0" bIns="0" anchor="t">
            <a:spAutoFit/>
          </a:bodyPr>
          <a:lstStyle/>
          <a:p>
            <a:pPr algn="l"/>
            <a:r>
              <a:rPr sz="950" b="0">
                <a:solidFill>
                  <a:srgbClr val="0D1B2A"/>
                </a:solidFill>
                <a:latin typeface="JetBrains Mono"/>
              </a:rPr>
              <a:t>other</a:t>
            </a:r>
          </a:p>
        </p:txBody>
      </p:sp>
      <p:sp>
        <p:nvSpPr>
          <p:cNvPr id="30" name="Rectangle 29"/>
          <p:cNvSpPr/>
          <p:nvPr/>
        </p:nvSpPr>
        <p:spPr>
          <a:xfrm>
            <a:off x="5074920" y="2862072"/>
            <a:ext cx="2011680" cy="91440"/>
          </a:xfrm>
          <a:prstGeom prst="rect">
            <a:avLst/>
          </a:prstGeom>
          <a:solidFill>
            <a:srgbClr val="DDE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5074920" y="2862072"/>
            <a:ext cx="201168" cy="9144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251192" y="2807208"/>
            <a:ext cx="457200" cy="201168"/>
          </a:xfrm>
          <a:prstGeom prst="rect">
            <a:avLst/>
          </a:prstGeom>
          <a:noFill/>
        </p:spPr>
        <p:txBody>
          <a:bodyPr wrap="square" lIns="0" tIns="0" rIns="0" bIns="0" anchor="t">
            <a:spAutoFit/>
          </a:bodyPr>
          <a:lstStyle/>
          <a:p>
            <a:pPr algn="l"/>
            <a:r>
              <a:rPr sz="950" b="0">
                <a:solidFill>
                  <a:srgbClr val="6B7B8C"/>
                </a:solidFill>
                <a:latin typeface="JetBrains Mono"/>
              </a:rPr>
              <a:t>10%</a:t>
            </a:r>
          </a:p>
        </p:txBody>
      </p:sp>
      <p:sp>
        <p:nvSpPr>
          <p:cNvPr id="33" name="Rectangle 32"/>
          <p:cNvSpPr/>
          <p:nvPr/>
        </p:nvSpPr>
        <p:spPr>
          <a:xfrm>
            <a:off x="566928" y="3200400"/>
            <a:ext cx="8138160" cy="1325880"/>
          </a:xfrm>
          <a:prstGeom prst="rect">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566928" y="3200400"/>
            <a:ext cx="54864" cy="132588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77240" y="3291840"/>
            <a:ext cx="3657600" cy="228600"/>
          </a:xfrm>
          <a:prstGeom prst="rect">
            <a:avLst/>
          </a:prstGeom>
          <a:noFill/>
        </p:spPr>
        <p:txBody>
          <a:bodyPr wrap="square" lIns="0" tIns="0" rIns="0" bIns="0" anchor="t">
            <a:spAutoFit/>
          </a:bodyPr>
          <a:lstStyle/>
          <a:p>
            <a:pPr algn="l"/>
            <a:r>
              <a:rPr sz="850" b="0" spc="100">
                <a:solidFill>
                  <a:srgbClr val="1B9AAA"/>
                </a:solidFill>
                <a:latin typeface="JetBrains Mono"/>
              </a:rPr>
              <a:t>STEP 2: APPEND IT AND SCORE AGAIN</a:t>
            </a:r>
          </a:p>
        </p:txBody>
      </p:sp>
      <p:sp>
        <p:nvSpPr>
          <p:cNvPr id="36" name="Rounded Rectangle 35"/>
          <p:cNvSpPr/>
          <p:nvPr/>
        </p:nvSpPr>
        <p:spPr>
          <a:xfrm>
            <a:off x="777240" y="3547872"/>
            <a:ext cx="374904" cy="274320"/>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0D1B2A"/>
                </a:solidFill>
                <a:latin typeface="JetBrains Mono"/>
              </a:rPr>
              <a:t>The</a:t>
            </a:r>
          </a:p>
        </p:txBody>
      </p:sp>
      <p:sp>
        <p:nvSpPr>
          <p:cNvPr id="37" name="Rounded Rectangle 36"/>
          <p:cNvSpPr/>
          <p:nvPr/>
        </p:nvSpPr>
        <p:spPr>
          <a:xfrm>
            <a:off x="1207008" y="3547872"/>
            <a:ext cx="374904" cy="274320"/>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0D1B2A"/>
                </a:solidFill>
                <a:latin typeface="JetBrains Mono"/>
              </a:rPr>
              <a:t>cat</a:t>
            </a:r>
          </a:p>
        </p:txBody>
      </p:sp>
      <p:sp>
        <p:nvSpPr>
          <p:cNvPr id="38" name="Rounded Rectangle 37"/>
          <p:cNvSpPr/>
          <p:nvPr/>
        </p:nvSpPr>
        <p:spPr>
          <a:xfrm>
            <a:off x="1636776" y="3547872"/>
            <a:ext cx="374904" cy="274320"/>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0D1B2A"/>
                </a:solidFill>
                <a:latin typeface="JetBrains Mono"/>
              </a:rPr>
              <a:t>sat</a:t>
            </a:r>
          </a:p>
        </p:txBody>
      </p:sp>
      <p:sp>
        <p:nvSpPr>
          <p:cNvPr id="39" name="Rounded Rectangle 38"/>
          <p:cNvSpPr/>
          <p:nvPr/>
        </p:nvSpPr>
        <p:spPr>
          <a:xfrm>
            <a:off x="2066544" y="3547872"/>
            <a:ext cx="292608" cy="274320"/>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0D1B2A"/>
                </a:solidFill>
                <a:latin typeface="JetBrains Mono"/>
              </a:rPr>
              <a:t>on</a:t>
            </a:r>
          </a:p>
        </p:txBody>
      </p:sp>
      <p:sp>
        <p:nvSpPr>
          <p:cNvPr id="40" name="Rounded Rectangle 39"/>
          <p:cNvSpPr/>
          <p:nvPr/>
        </p:nvSpPr>
        <p:spPr>
          <a:xfrm>
            <a:off x="2414016" y="3547872"/>
            <a:ext cx="374904" cy="274320"/>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0D1B2A"/>
                </a:solidFill>
                <a:latin typeface="JetBrains Mono"/>
              </a:rPr>
              <a:t>the</a:t>
            </a:r>
          </a:p>
        </p:txBody>
      </p:sp>
      <p:sp>
        <p:nvSpPr>
          <p:cNvPr id="41" name="Rounded Rectangle 40"/>
          <p:cNvSpPr/>
          <p:nvPr/>
        </p:nvSpPr>
        <p:spPr>
          <a:xfrm>
            <a:off x="2843784" y="3547872"/>
            <a:ext cx="374904" cy="274320"/>
          </a:xfrm>
          <a:prstGeom prst="roundRect">
            <a:avLst>
              <a:gd name="adj" fmla="val 18000"/>
            </a:avLst>
          </a:prstGeom>
          <a:solidFill>
            <a:srgbClr val="06D6A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0D1B2A"/>
                </a:solidFill>
                <a:latin typeface="JetBrains Mono"/>
              </a:rPr>
              <a:t>mat</a:t>
            </a:r>
          </a:p>
        </p:txBody>
      </p:sp>
      <p:sp>
        <p:nvSpPr>
          <p:cNvPr id="42" name="Rounded Rectangle 41"/>
          <p:cNvSpPr/>
          <p:nvPr/>
        </p:nvSpPr>
        <p:spPr>
          <a:xfrm>
            <a:off x="3273552" y="3547872"/>
            <a:ext cx="274320" cy="274320"/>
          </a:xfrm>
          <a:prstGeom prst="roundRect">
            <a:avLst>
              <a:gd name="adj" fmla="val 18000"/>
            </a:avLst>
          </a:prstGeom>
          <a:solidFill>
            <a:srgbClr val="FFFFFF"/>
          </a:solidFill>
          <a:ln w="9525">
            <a:solidFill>
              <a:srgbClr val="1B9AAA"/>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1B9AAA"/>
                </a:solidFill>
                <a:latin typeface="JetBrains Mono"/>
              </a:rPr>
              <a:t>?</a:t>
            </a:r>
          </a:p>
        </p:txBody>
      </p:sp>
      <p:sp>
        <p:nvSpPr>
          <p:cNvPr id="43" name="TextBox 42"/>
          <p:cNvSpPr txBox="1"/>
          <p:nvPr/>
        </p:nvSpPr>
        <p:spPr>
          <a:xfrm>
            <a:off x="4343400" y="3511296"/>
            <a:ext cx="685800" cy="201168"/>
          </a:xfrm>
          <a:prstGeom prst="rect">
            <a:avLst/>
          </a:prstGeom>
          <a:noFill/>
        </p:spPr>
        <p:txBody>
          <a:bodyPr wrap="square" lIns="0" tIns="0" rIns="0" bIns="0" anchor="t">
            <a:spAutoFit/>
          </a:bodyPr>
          <a:lstStyle/>
          <a:p>
            <a:pPr algn="l"/>
            <a:r>
              <a:rPr sz="950" b="0">
                <a:solidFill>
                  <a:srgbClr val="0D1B2A"/>
                </a:solidFill>
                <a:latin typeface="JetBrains Mono"/>
              </a:rPr>
              <a:t>.</a:t>
            </a:r>
          </a:p>
        </p:txBody>
      </p:sp>
      <p:sp>
        <p:nvSpPr>
          <p:cNvPr id="44" name="Rectangle 43"/>
          <p:cNvSpPr/>
          <p:nvPr/>
        </p:nvSpPr>
        <p:spPr>
          <a:xfrm>
            <a:off x="5074920" y="3566160"/>
            <a:ext cx="2011680" cy="91440"/>
          </a:xfrm>
          <a:prstGeom prst="rect">
            <a:avLst/>
          </a:prstGeom>
          <a:solidFill>
            <a:srgbClr val="DDE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5074920" y="3566160"/>
            <a:ext cx="1408176" cy="9144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7251192" y="3511296"/>
            <a:ext cx="457200" cy="201168"/>
          </a:xfrm>
          <a:prstGeom prst="rect">
            <a:avLst/>
          </a:prstGeom>
          <a:noFill/>
        </p:spPr>
        <p:txBody>
          <a:bodyPr wrap="square" lIns="0" tIns="0" rIns="0" bIns="0" anchor="t">
            <a:spAutoFit/>
          </a:bodyPr>
          <a:lstStyle/>
          <a:p>
            <a:pPr algn="l"/>
            <a:r>
              <a:rPr sz="950" b="0">
                <a:solidFill>
                  <a:srgbClr val="6B7B8C"/>
                </a:solidFill>
                <a:latin typeface="JetBrains Mono"/>
              </a:rPr>
              <a:t>70%</a:t>
            </a:r>
          </a:p>
        </p:txBody>
      </p:sp>
      <p:sp>
        <p:nvSpPr>
          <p:cNvPr id="47" name="TextBox 46"/>
          <p:cNvSpPr txBox="1"/>
          <p:nvPr/>
        </p:nvSpPr>
        <p:spPr>
          <a:xfrm>
            <a:off x="4343400" y="3749039"/>
            <a:ext cx="685800" cy="201168"/>
          </a:xfrm>
          <a:prstGeom prst="rect">
            <a:avLst/>
          </a:prstGeom>
          <a:noFill/>
        </p:spPr>
        <p:txBody>
          <a:bodyPr wrap="square" lIns="0" tIns="0" rIns="0" bIns="0" anchor="t">
            <a:spAutoFit/>
          </a:bodyPr>
          <a:lstStyle/>
          <a:p>
            <a:pPr algn="l"/>
            <a:r>
              <a:rPr sz="950" b="0">
                <a:solidFill>
                  <a:srgbClr val="0D1B2A"/>
                </a:solidFill>
                <a:latin typeface="JetBrains Mono"/>
              </a:rPr>
              <a:t>today</a:t>
            </a:r>
          </a:p>
        </p:txBody>
      </p:sp>
      <p:sp>
        <p:nvSpPr>
          <p:cNvPr id="48" name="Rectangle 47"/>
          <p:cNvSpPr/>
          <p:nvPr/>
        </p:nvSpPr>
        <p:spPr>
          <a:xfrm>
            <a:off x="5074920" y="3803903"/>
            <a:ext cx="2011680" cy="91440"/>
          </a:xfrm>
          <a:prstGeom prst="rect">
            <a:avLst/>
          </a:prstGeom>
          <a:solidFill>
            <a:srgbClr val="DDE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5074920" y="3803903"/>
            <a:ext cx="301752" cy="9144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7251192" y="3749039"/>
            <a:ext cx="457200" cy="201168"/>
          </a:xfrm>
          <a:prstGeom prst="rect">
            <a:avLst/>
          </a:prstGeom>
          <a:noFill/>
        </p:spPr>
        <p:txBody>
          <a:bodyPr wrap="square" lIns="0" tIns="0" rIns="0" bIns="0" anchor="t">
            <a:spAutoFit/>
          </a:bodyPr>
          <a:lstStyle/>
          <a:p>
            <a:pPr algn="l"/>
            <a:r>
              <a:rPr sz="950" b="0">
                <a:solidFill>
                  <a:srgbClr val="6B7B8C"/>
                </a:solidFill>
                <a:latin typeface="JetBrains Mono"/>
              </a:rPr>
              <a:t>15%</a:t>
            </a:r>
          </a:p>
        </p:txBody>
      </p:sp>
      <p:sp>
        <p:nvSpPr>
          <p:cNvPr id="51" name="TextBox 50"/>
          <p:cNvSpPr txBox="1"/>
          <p:nvPr/>
        </p:nvSpPr>
        <p:spPr>
          <a:xfrm>
            <a:off x="4343400" y="3986783"/>
            <a:ext cx="685800" cy="201168"/>
          </a:xfrm>
          <a:prstGeom prst="rect">
            <a:avLst/>
          </a:prstGeom>
          <a:noFill/>
        </p:spPr>
        <p:txBody>
          <a:bodyPr wrap="square" lIns="0" tIns="0" rIns="0" bIns="0" anchor="t">
            <a:spAutoFit/>
          </a:bodyPr>
          <a:lstStyle/>
          <a:p>
            <a:pPr algn="l"/>
            <a:r>
              <a:rPr sz="950" b="0">
                <a:solidFill>
                  <a:srgbClr val="0D1B2A"/>
                </a:solidFill>
                <a:latin typeface="JetBrains Mono"/>
              </a:rPr>
              <a:t>quietly</a:t>
            </a:r>
          </a:p>
        </p:txBody>
      </p:sp>
      <p:sp>
        <p:nvSpPr>
          <p:cNvPr id="52" name="Rectangle 51"/>
          <p:cNvSpPr/>
          <p:nvPr/>
        </p:nvSpPr>
        <p:spPr>
          <a:xfrm>
            <a:off x="5074920" y="4041647"/>
            <a:ext cx="2011680" cy="91440"/>
          </a:xfrm>
          <a:prstGeom prst="rect">
            <a:avLst/>
          </a:prstGeom>
          <a:solidFill>
            <a:srgbClr val="DDE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5074920" y="4041647"/>
            <a:ext cx="201168" cy="9144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7251192" y="3986783"/>
            <a:ext cx="457200" cy="201168"/>
          </a:xfrm>
          <a:prstGeom prst="rect">
            <a:avLst/>
          </a:prstGeom>
          <a:noFill/>
        </p:spPr>
        <p:txBody>
          <a:bodyPr wrap="square" lIns="0" tIns="0" rIns="0" bIns="0" anchor="t">
            <a:spAutoFit/>
          </a:bodyPr>
          <a:lstStyle/>
          <a:p>
            <a:pPr algn="l"/>
            <a:r>
              <a:rPr sz="950" b="0">
                <a:solidFill>
                  <a:srgbClr val="6B7B8C"/>
                </a:solidFill>
                <a:latin typeface="JetBrains Mono"/>
              </a:rPr>
              <a:t>10%</a:t>
            </a:r>
          </a:p>
        </p:txBody>
      </p:sp>
      <p:sp>
        <p:nvSpPr>
          <p:cNvPr id="55" name="TextBox 54"/>
          <p:cNvSpPr txBox="1"/>
          <p:nvPr/>
        </p:nvSpPr>
        <p:spPr>
          <a:xfrm>
            <a:off x="4343400" y="4224528"/>
            <a:ext cx="685800" cy="201168"/>
          </a:xfrm>
          <a:prstGeom prst="rect">
            <a:avLst/>
          </a:prstGeom>
          <a:noFill/>
        </p:spPr>
        <p:txBody>
          <a:bodyPr wrap="square" lIns="0" tIns="0" rIns="0" bIns="0" anchor="t">
            <a:spAutoFit/>
          </a:bodyPr>
          <a:lstStyle/>
          <a:p>
            <a:pPr algn="l"/>
            <a:r>
              <a:rPr sz="950" b="0">
                <a:solidFill>
                  <a:srgbClr val="0D1B2A"/>
                </a:solidFill>
                <a:latin typeface="JetBrains Mono"/>
              </a:rPr>
              <a:t>other</a:t>
            </a:r>
          </a:p>
        </p:txBody>
      </p:sp>
      <p:sp>
        <p:nvSpPr>
          <p:cNvPr id="56" name="Rectangle 55"/>
          <p:cNvSpPr/>
          <p:nvPr/>
        </p:nvSpPr>
        <p:spPr>
          <a:xfrm>
            <a:off x="5074920" y="4279392"/>
            <a:ext cx="2011680" cy="91440"/>
          </a:xfrm>
          <a:prstGeom prst="rect">
            <a:avLst/>
          </a:prstGeom>
          <a:solidFill>
            <a:srgbClr val="DDE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5074920" y="4279392"/>
            <a:ext cx="100584" cy="9144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7251192" y="4224528"/>
            <a:ext cx="457200" cy="201168"/>
          </a:xfrm>
          <a:prstGeom prst="rect">
            <a:avLst/>
          </a:prstGeom>
          <a:noFill/>
        </p:spPr>
        <p:txBody>
          <a:bodyPr wrap="square" lIns="0" tIns="0" rIns="0" bIns="0" anchor="t">
            <a:spAutoFit/>
          </a:bodyPr>
          <a:lstStyle/>
          <a:p>
            <a:pPr algn="l"/>
            <a:r>
              <a:rPr sz="950" b="0">
                <a:solidFill>
                  <a:srgbClr val="6B7B8C"/>
                </a:solidFill>
                <a:latin typeface="JetBrains Mono"/>
              </a:rPr>
              <a:t>5%</a:t>
            </a:r>
          </a:p>
        </p:txBody>
      </p:sp>
      <p:cxnSp>
        <p:nvCxnSpPr>
          <p:cNvPr id="59" name="Connector 58"/>
          <p:cNvCxnSpPr/>
          <p:nvPr/>
        </p:nvCxnSpPr>
        <p:spPr>
          <a:xfrm flipH="1">
            <a:off x="4114800" y="2194560"/>
            <a:ext cx="146304" cy="0"/>
          </a:xfrm>
          <a:prstGeom prst="line">
            <a:avLst/>
          </a:prstGeom>
          <a:ln w="15875">
            <a:solidFill>
              <a:srgbClr val="06D6A0"/>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4114800" y="2194560"/>
            <a:ext cx="0" cy="960120"/>
          </a:xfrm>
          <a:prstGeom prst="line">
            <a:avLst/>
          </a:prstGeom>
          <a:ln w="15875">
            <a:solidFill>
              <a:srgbClr val="06D6A0"/>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a:off x="3031236" y="3154680"/>
            <a:ext cx="1083564" cy="0"/>
          </a:xfrm>
          <a:prstGeom prst="line">
            <a:avLst/>
          </a:prstGeom>
          <a:ln w="15875">
            <a:solidFill>
              <a:srgbClr val="06D6A0"/>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3031236" y="3154680"/>
            <a:ext cx="0" cy="365760"/>
          </a:xfrm>
          <a:prstGeom prst="line">
            <a:avLst/>
          </a:prstGeom>
          <a:ln w="15875">
            <a:solidFill>
              <a:srgbClr val="06D6A0"/>
            </a:solidFill>
            <a:tailEnd type="triangle" w="med" len="med"/>
          </a:ln>
        </p:spPr>
        <p:style>
          <a:lnRef idx="2">
            <a:schemeClr val="accent1"/>
          </a:lnRef>
          <a:fillRef idx="0">
            <a:schemeClr val="accent1"/>
          </a:fillRef>
          <a:effectRef idx="1">
            <a:schemeClr val="accent1"/>
          </a:effectRef>
          <a:fontRef idx="minor">
            <a:schemeClr val="tx1"/>
          </a:fontRef>
        </p:style>
      </p:cxnSp>
      <p:sp>
        <p:nvSpPr>
          <p:cNvPr id="63" name="Rectangle 62"/>
          <p:cNvSpPr/>
          <p:nvPr/>
        </p:nvSpPr>
        <p:spPr>
          <a:xfrm>
            <a:off x="566928" y="4681727"/>
            <a:ext cx="45720" cy="21945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713232" y="4663440"/>
            <a:ext cx="7991856" cy="274320"/>
          </a:xfrm>
          <a:prstGeom prst="rect">
            <a:avLst/>
          </a:prstGeom>
          <a:noFill/>
        </p:spPr>
        <p:txBody>
          <a:bodyPr wrap="square" lIns="0" tIns="0" rIns="0" bIns="0" anchor="t">
            <a:spAutoFit/>
          </a:bodyPr>
          <a:lstStyle/>
          <a:p>
            <a:pPr algn="l"/>
            <a:r>
              <a:rPr sz="1200" b="0">
                <a:solidFill>
                  <a:srgbClr val="0D1B2A"/>
                </a:solidFill>
                <a:latin typeface="Roboto"/>
              </a:rPr>
              <a:t>Likely continuation does not mean verified fact. Real models predict tokens, not always words.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514350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329184"/>
            <a:ext cx="8138160" cy="274320"/>
          </a:xfrm>
          <a:prstGeom prst="rect">
            <a:avLst/>
          </a:prstGeom>
          <a:noFill/>
        </p:spPr>
        <p:txBody>
          <a:bodyPr wrap="square" lIns="0" tIns="0" rIns="0" bIns="0" anchor="t">
            <a:spAutoFit/>
          </a:bodyPr>
          <a:lstStyle/>
          <a:p>
            <a:pPr algn="l"/>
            <a:r>
              <a:rPr sz="1100" b="0" spc="300">
                <a:solidFill>
                  <a:srgbClr val="1B9AAA"/>
                </a:solidFill>
                <a:latin typeface="JetBrains Mono"/>
              </a:rPr>
              <a:t>GENERATIVE AI · PRE-TRAINING</a:t>
            </a:r>
          </a:p>
        </p:txBody>
      </p:sp>
      <p:sp>
        <p:nvSpPr>
          <p:cNvPr id="4" name="slide-pretraining"/>
          <p:cNvSpPr txBox="1"/>
          <p:nvPr/>
        </p:nvSpPr>
        <p:spPr>
          <a:xfrm>
            <a:off x="566928" y="603504"/>
            <a:ext cx="8138160" cy="658368"/>
          </a:xfrm>
          <a:prstGeom prst="rect">
            <a:avLst/>
          </a:prstGeom>
          <a:noFill/>
        </p:spPr>
        <p:txBody>
          <a:bodyPr wrap="square" lIns="0" tIns="0" rIns="0" bIns="0" anchor="t">
            <a:spAutoFit/>
          </a:bodyPr>
          <a:lstStyle/>
          <a:p>
            <a:pPr algn="l"/>
            <a:r>
              <a:rPr sz="3200" b="0">
                <a:solidFill>
                  <a:srgbClr val="0D1B2A"/>
                </a:solidFill>
                <a:latin typeface="Oswald"/>
              </a:rPr>
              <a:t>Pre-training: guess the next token, trillions of times</a:t>
            </a:r>
          </a:p>
        </p:txBody>
      </p:sp>
      <p:sp>
        <p:nvSpPr>
          <p:cNvPr id="5" name="Rectangle 4"/>
          <p:cNvSpPr/>
          <p:nvPr/>
        </p:nvSpPr>
        <p:spPr>
          <a:xfrm>
            <a:off x="566928" y="1325880"/>
            <a:ext cx="2011680" cy="2743200"/>
          </a:xfrm>
          <a:prstGeom prst="rect">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66928" y="1325880"/>
            <a:ext cx="54864" cy="274320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1444752"/>
            <a:ext cx="1737360" cy="228600"/>
          </a:xfrm>
          <a:prstGeom prst="rect">
            <a:avLst/>
          </a:prstGeom>
          <a:noFill/>
        </p:spPr>
        <p:txBody>
          <a:bodyPr wrap="square" lIns="0" tIns="0" rIns="0" bIns="0" anchor="t">
            <a:spAutoFit/>
          </a:bodyPr>
          <a:lstStyle/>
          <a:p>
            <a:pPr algn="l"/>
            <a:r>
              <a:rPr sz="850" b="0" spc="100">
                <a:solidFill>
                  <a:srgbClr val="1B9AAA"/>
                </a:solidFill>
                <a:latin typeface="JetBrains Mono"/>
              </a:rPr>
              <a:t>STEP 1: ANY TEXT</a:t>
            </a:r>
          </a:p>
        </p:txBody>
      </p:sp>
      <p:sp>
        <p:nvSpPr>
          <p:cNvPr id="8" name="Rectangle 7"/>
          <p:cNvSpPr/>
          <p:nvPr/>
        </p:nvSpPr>
        <p:spPr>
          <a:xfrm>
            <a:off x="777240" y="1737360"/>
            <a:ext cx="1600200" cy="1691640"/>
          </a:xfrm>
          <a:prstGeom prst="rect">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905256" y="1901952"/>
            <a:ext cx="1325880" cy="54864"/>
          </a:xfrm>
          <a:prstGeom prst="rect">
            <a:avLst/>
          </a:prstGeom>
          <a:solidFill>
            <a:srgbClr val="DDE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905256" y="2103120"/>
            <a:ext cx="1188720" cy="54864"/>
          </a:xfrm>
          <a:prstGeom prst="rect">
            <a:avLst/>
          </a:prstGeom>
          <a:solidFill>
            <a:srgbClr val="DDE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905256" y="2304288"/>
            <a:ext cx="1325880" cy="54864"/>
          </a:xfrm>
          <a:prstGeom prst="rect">
            <a:avLst/>
          </a:prstGeom>
          <a:solidFill>
            <a:srgbClr val="DDE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886968" y="2450592"/>
            <a:ext cx="1371600" cy="182880"/>
          </a:xfrm>
          <a:prstGeom prst="rect">
            <a:avLst/>
          </a:prstGeom>
          <a:solidFill>
            <a:srgbClr val="CFF5EA"/>
          </a:solidFill>
          <a:ln w="9525">
            <a:solidFill>
              <a:srgbClr val="06D6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32688" y="2459736"/>
            <a:ext cx="1325880" cy="164592"/>
          </a:xfrm>
          <a:prstGeom prst="rect">
            <a:avLst/>
          </a:prstGeom>
          <a:noFill/>
        </p:spPr>
        <p:txBody>
          <a:bodyPr wrap="square" lIns="0" tIns="0" rIns="0" bIns="0" anchor="t">
            <a:spAutoFit/>
          </a:bodyPr>
          <a:lstStyle/>
          <a:p>
            <a:pPr algn="l"/>
            <a:r>
              <a:rPr sz="800" b="0">
                <a:solidFill>
                  <a:srgbClr val="0D1B2A"/>
                </a:solidFill>
                <a:latin typeface="Roboto"/>
              </a:rPr>
              <a:t>The cat sat on the mat.</a:t>
            </a:r>
          </a:p>
        </p:txBody>
      </p:sp>
      <p:sp>
        <p:nvSpPr>
          <p:cNvPr id="14" name="Rectangle 13"/>
          <p:cNvSpPr/>
          <p:nvPr/>
        </p:nvSpPr>
        <p:spPr>
          <a:xfrm>
            <a:off x="905256" y="2706624"/>
            <a:ext cx="1097280" cy="54864"/>
          </a:xfrm>
          <a:prstGeom prst="rect">
            <a:avLst/>
          </a:prstGeom>
          <a:solidFill>
            <a:srgbClr val="DDE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905256" y="2907792"/>
            <a:ext cx="1325880" cy="54864"/>
          </a:xfrm>
          <a:prstGeom prst="rect">
            <a:avLst/>
          </a:prstGeom>
          <a:solidFill>
            <a:srgbClr val="DDE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905256" y="3108960"/>
            <a:ext cx="822960" cy="54864"/>
          </a:xfrm>
          <a:prstGeom prst="rect">
            <a:avLst/>
          </a:prstGeom>
          <a:solidFill>
            <a:srgbClr val="DDE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77240" y="3493008"/>
            <a:ext cx="1737360" cy="438912"/>
          </a:xfrm>
          <a:prstGeom prst="rect">
            <a:avLst/>
          </a:prstGeom>
          <a:noFill/>
        </p:spPr>
        <p:txBody>
          <a:bodyPr wrap="square" lIns="0" tIns="0" rIns="0" bIns="0" anchor="t">
            <a:spAutoFit/>
          </a:bodyPr>
          <a:lstStyle/>
          <a:p>
            <a:pPr algn="l"/>
            <a:r>
              <a:rPr sz="950" b="0">
                <a:solidFill>
                  <a:srgbClr val="6B7B8C"/>
                </a:solidFill>
                <a:latin typeface="Roboto"/>
              </a:rPr>
              <a:t>Books, articles and large parts of the public internet. No labels needed.</a:t>
            </a:r>
          </a:p>
        </p:txBody>
      </p:sp>
      <p:cxnSp>
        <p:nvCxnSpPr>
          <p:cNvPr id="18" name="Connector 17"/>
          <p:cNvCxnSpPr/>
          <p:nvPr/>
        </p:nvCxnSpPr>
        <p:spPr>
          <a:xfrm>
            <a:off x="2286000" y="2505456"/>
            <a:ext cx="548640" cy="0"/>
          </a:xfrm>
          <a:prstGeom prst="line">
            <a:avLst/>
          </a:prstGeom>
          <a:ln w="19050">
            <a:solidFill>
              <a:srgbClr val="06D6A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2715768" y="1325880"/>
            <a:ext cx="3657600" cy="2743200"/>
          </a:xfrm>
          <a:prstGeom prst="rect">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2715768" y="1325880"/>
            <a:ext cx="54864" cy="274320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926080" y="1444752"/>
            <a:ext cx="3291840" cy="228600"/>
          </a:xfrm>
          <a:prstGeom prst="rect">
            <a:avLst/>
          </a:prstGeom>
          <a:noFill/>
        </p:spPr>
        <p:txBody>
          <a:bodyPr wrap="square" lIns="0" tIns="0" rIns="0" bIns="0" anchor="t">
            <a:spAutoFit/>
          </a:bodyPr>
          <a:lstStyle/>
          <a:p>
            <a:pPr algn="l"/>
            <a:r>
              <a:rPr sz="850" b="0" spc="100">
                <a:solidFill>
                  <a:srgbClr val="1B9AAA"/>
                </a:solidFill>
                <a:latin typeface="JetBrains Mono"/>
              </a:rPr>
              <a:t>STEP 2: GUESS THE NEXT TOKEN</a:t>
            </a:r>
          </a:p>
        </p:txBody>
      </p:sp>
      <p:sp>
        <p:nvSpPr>
          <p:cNvPr id="22" name="TextBox 21"/>
          <p:cNvSpPr txBox="1"/>
          <p:nvPr/>
        </p:nvSpPr>
        <p:spPr>
          <a:xfrm>
            <a:off x="2926080" y="1700784"/>
            <a:ext cx="3657600" cy="228600"/>
          </a:xfrm>
          <a:prstGeom prst="rect">
            <a:avLst/>
          </a:prstGeom>
          <a:noFill/>
        </p:spPr>
        <p:txBody>
          <a:bodyPr wrap="square" lIns="0" tIns="0" rIns="0" bIns="0" anchor="t">
            <a:spAutoFit/>
          </a:bodyPr>
          <a:lstStyle/>
          <a:p>
            <a:pPr algn="l"/>
            <a:r>
              <a:rPr sz="800" b="0" spc="100">
                <a:solidFill>
                  <a:srgbClr val="6B7B8C"/>
                </a:solidFill>
                <a:latin typeface="JetBrains Mono"/>
              </a:rPr>
              <a:t>WHAT THE MODEL SEES</a:t>
            </a:r>
          </a:p>
        </p:txBody>
      </p:sp>
      <p:sp>
        <p:nvSpPr>
          <p:cNvPr id="23" name="TextBox 22"/>
          <p:cNvSpPr txBox="1"/>
          <p:nvPr/>
        </p:nvSpPr>
        <p:spPr>
          <a:xfrm>
            <a:off x="5102352" y="1700784"/>
            <a:ext cx="3657600" cy="228600"/>
          </a:xfrm>
          <a:prstGeom prst="rect">
            <a:avLst/>
          </a:prstGeom>
          <a:noFill/>
        </p:spPr>
        <p:txBody>
          <a:bodyPr wrap="square" lIns="0" tIns="0" rIns="0" bIns="0" anchor="t">
            <a:spAutoFit/>
          </a:bodyPr>
          <a:lstStyle/>
          <a:p>
            <a:pPr algn="l"/>
            <a:r>
              <a:rPr sz="800" b="0" spc="100">
                <a:solidFill>
                  <a:srgbClr val="6B7B8C"/>
                </a:solidFill>
                <a:latin typeface="JetBrains Mono"/>
              </a:rPr>
              <a:t>GUESS</a:t>
            </a:r>
          </a:p>
        </p:txBody>
      </p:sp>
      <p:sp>
        <p:nvSpPr>
          <p:cNvPr id="24" name="TextBox 23"/>
          <p:cNvSpPr txBox="1"/>
          <p:nvPr/>
        </p:nvSpPr>
        <p:spPr>
          <a:xfrm>
            <a:off x="5852159" y="1700784"/>
            <a:ext cx="3657600" cy="228600"/>
          </a:xfrm>
          <a:prstGeom prst="rect">
            <a:avLst/>
          </a:prstGeom>
          <a:noFill/>
        </p:spPr>
        <p:txBody>
          <a:bodyPr wrap="square" lIns="0" tIns="0" rIns="0" bIns="0" anchor="t">
            <a:spAutoFit/>
          </a:bodyPr>
          <a:lstStyle/>
          <a:p>
            <a:pPr algn="l"/>
            <a:r>
              <a:rPr sz="800" b="0" spc="100">
                <a:solidFill>
                  <a:srgbClr val="6B7B8C"/>
                </a:solidFill>
                <a:latin typeface="JetBrains Mono"/>
              </a:rPr>
              <a:t>REAL</a:t>
            </a:r>
          </a:p>
        </p:txBody>
      </p:sp>
      <p:sp>
        <p:nvSpPr>
          <p:cNvPr id="25" name="Rounded Rectangle 24"/>
          <p:cNvSpPr/>
          <p:nvPr/>
        </p:nvSpPr>
        <p:spPr>
          <a:xfrm>
            <a:off x="2926080" y="1938528"/>
            <a:ext cx="329184" cy="274320"/>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50">
                <a:solidFill>
                  <a:srgbClr val="0D1B2A"/>
                </a:solidFill>
                <a:latin typeface="JetBrains Mono"/>
              </a:rPr>
              <a:t>The</a:t>
            </a:r>
          </a:p>
        </p:txBody>
      </p:sp>
      <p:sp>
        <p:nvSpPr>
          <p:cNvPr id="26" name="Rounded Rectangle 25"/>
          <p:cNvSpPr/>
          <p:nvPr/>
        </p:nvSpPr>
        <p:spPr>
          <a:xfrm>
            <a:off x="3300984" y="1938528"/>
            <a:ext cx="274320" cy="274320"/>
          </a:xfrm>
          <a:prstGeom prst="roundRect">
            <a:avLst>
              <a:gd name="adj" fmla="val 18000"/>
            </a:avLst>
          </a:prstGeom>
          <a:solidFill>
            <a:srgbClr val="FFFFFF"/>
          </a:solidFill>
          <a:ln w="9525">
            <a:solidFill>
              <a:srgbClr val="1B9AAA"/>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1B9AAA"/>
                </a:solidFill>
                <a:latin typeface="JetBrains Mono"/>
              </a:rPr>
              <a:t>?</a:t>
            </a:r>
          </a:p>
        </p:txBody>
      </p:sp>
      <p:sp>
        <p:nvSpPr>
          <p:cNvPr id="27" name="Rounded Rectangle 26"/>
          <p:cNvSpPr/>
          <p:nvPr/>
        </p:nvSpPr>
        <p:spPr>
          <a:xfrm>
            <a:off x="5102352" y="1938528"/>
            <a:ext cx="457200" cy="274320"/>
          </a:xfrm>
          <a:prstGeom prst="roundRect">
            <a:avLst>
              <a:gd name="adj" fmla="val 18000"/>
            </a:avLst>
          </a:prstGeom>
          <a:solidFill>
            <a:srgbClr val="F4F7F8"/>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50">
                <a:solidFill>
                  <a:srgbClr val="0D1B2A"/>
                </a:solidFill>
                <a:latin typeface="JetBrains Mono"/>
              </a:rPr>
              <a:t>dog</a:t>
            </a:r>
          </a:p>
        </p:txBody>
      </p:sp>
      <p:sp>
        <p:nvSpPr>
          <p:cNvPr id="28" name="TextBox 27"/>
          <p:cNvSpPr txBox="1"/>
          <p:nvPr/>
        </p:nvSpPr>
        <p:spPr>
          <a:xfrm>
            <a:off x="5577840" y="1956816"/>
            <a:ext cx="182880" cy="256032"/>
          </a:xfrm>
          <a:prstGeom prst="rect">
            <a:avLst/>
          </a:prstGeom>
          <a:noFill/>
        </p:spPr>
        <p:txBody>
          <a:bodyPr wrap="square" lIns="0" tIns="0" rIns="0" bIns="0" anchor="t">
            <a:spAutoFit/>
          </a:bodyPr>
          <a:lstStyle/>
          <a:p>
            <a:pPr algn="ctr"/>
            <a:r>
              <a:rPr sz="1200" b="0">
                <a:solidFill>
                  <a:srgbClr val="6B7B8C"/>
                </a:solidFill>
                <a:latin typeface="Roboto"/>
              </a:rPr>
              <a:t>✗</a:t>
            </a:r>
          </a:p>
        </p:txBody>
      </p:sp>
      <p:sp>
        <p:nvSpPr>
          <p:cNvPr id="29" name="Rounded Rectangle 28"/>
          <p:cNvSpPr/>
          <p:nvPr/>
        </p:nvSpPr>
        <p:spPr>
          <a:xfrm>
            <a:off x="5806440" y="1938528"/>
            <a:ext cx="457200" cy="274320"/>
          </a:xfrm>
          <a:prstGeom prst="roundRect">
            <a:avLst>
              <a:gd name="adj" fmla="val 18000"/>
            </a:avLst>
          </a:prstGeom>
          <a:solidFill>
            <a:srgbClr val="06D6A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50">
                <a:solidFill>
                  <a:srgbClr val="0D1B2A"/>
                </a:solidFill>
                <a:latin typeface="JetBrains Mono"/>
              </a:rPr>
              <a:t>cat</a:t>
            </a:r>
          </a:p>
        </p:txBody>
      </p:sp>
      <p:sp>
        <p:nvSpPr>
          <p:cNvPr id="30" name="Rounded Rectangle 29"/>
          <p:cNvSpPr/>
          <p:nvPr/>
        </p:nvSpPr>
        <p:spPr>
          <a:xfrm>
            <a:off x="2926080" y="2340864"/>
            <a:ext cx="329184" cy="274320"/>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50">
                <a:solidFill>
                  <a:srgbClr val="0D1B2A"/>
                </a:solidFill>
                <a:latin typeface="JetBrains Mono"/>
              </a:rPr>
              <a:t>The</a:t>
            </a:r>
          </a:p>
        </p:txBody>
      </p:sp>
      <p:sp>
        <p:nvSpPr>
          <p:cNvPr id="31" name="Rounded Rectangle 30"/>
          <p:cNvSpPr/>
          <p:nvPr/>
        </p:nvSpPr>
        <p:spPr>
          <a:xfrm>
            <a:off x="3300984" y="2340864"/>
            <a:ext cx="329184" cy="274320"/>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50">
                <a:solidFill>
                  <a:srgbClr val="0D1B2A"/>
                </a:solidFill>
                <a:latin typeface="JetBrains Mono"/>
              </a:rPr>
              <a:t>cat</a:t>
            </a:r>
          </a:p>
        </p:txBody>
      </p:sp>
      <p:sp>
        <p:nvSpPr>
          <p:cNvPr id="32" name="Rounded Rectangle 31"/>
          <p:cNvSpPr/>
          <p:nvPr/>
        </p:nvSpPr>
        <p:spPr>
          <a:xfrm>
            <a:off x="3675888" y="2340864"/>
            <a:ext cx="274320" cy="274320"/>
          </a:xfrm>
          <a:prstGeom prst="roundRect">
            <a:avLst>
              <a:gd name="adj" fmla="val 18000"/>
            </a:avLst>
          </a:prstGeom>
          <a:solidFill>
            <a:srgbClr val="FFFFFF"/>
          </a:solidFill>
          <a:ln w="9525">
            <a:solidFill>
              <a:srgbClr val="1B9AAA"/>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1B9AAA"/>
                </a:solidFill>
                <a:latin typeface="JetBrains Mono"/>
              </a:rPr>
              <a:t>?</a:t>
            </a:r>
          </a:p>
        </p:txBody>
      </p:sp>
      <p:sp>
        <p:nvSpPr>
          <p:cNvPr id="33" name="Rounded Rectangle 32"/>
          <p:cNvSpPr/>
          <p:nvPr/>
        </p:nvSpPr>
        <p:spPr>
          <a:xfrm>
            <a:off x="5102352" y="2340864"/>
            <a:ext cx="457200" cy="274320"/>
          </a:xfrm>
          <a:prstGeom prst="roundRect">
            <a:avLst>
              <a:gd name="adj" fmla="val 18000"/>
            </a:avLst>
          </a:prstGeom>
          <a:solidFill>
            <a:srgbClr val="F4F7F8"/>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50">
                <a:solidFill>
                  <a:srgbClr val="0D1B2A"/>
                </a:solidFill>
                <a:latin typeface="JetBrains Mono"/>
              </a:rPr>
              <a:t>sat</a:t>
            </a:r>
          </a:p>
        </p:txBody>
      </p:sp>
      <p:sp>
        <p:nvSpPr>
          <p:cNvPr id="34" name="TextBox 33"/>
          <p:cNvSpPr txBox="1"/>
          <p:nvPr/>
        </p:nvSpPr>
        <p:spPr>
          <a:xfrm>
            <a:off x="5577840" y="2359152"/>
            <a:ext cx="182880" cy="256032"/>
          </a:xfrm>
          <a:prstGeom prst="rect">
            <a:avLst/>
          </a:prstGeom>
          <a:noFill/>
        </p:spPr>
        <p:txBody>
          <a:bodyPr wrap="square" lIns="0" tIns="0" rIns="0" bIns="0" anchor="t">
            <a:spAutoFit/>
          </a:bodyPr>
          <a:lstStyle/>
          <a:p>
            <a:pPr algn="ctr"/>
            <a:r>
              <a:rPr sz="1200" b="0">
                <a:solidFill>
                  <a:srgbClr val="1B9AAA"/>
                </a:solidFill>
                <a:latin typeface="Roboto"/>
              </a:rPr>
              <a:t>✓</a:t>
            </a:r>
          </a:p>
        </p:txBody>
      </p:sp>
      <p:sp>
        <p:nvSpPr>
          <p:cNvPr id="35" name="Rounded Rectangle 34"/>
          <p:cNvSpPr/>
          <p:nvPr/>
        </p:nvSpPr>
        <p:spPr>
          <a:xfrm>
            <a:off x="2926080" y="2743200"/>
            <a:ext cx="329184" cy="274320"/>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50">
                <a:solidFill>
                  <a:srgbClr val="0D1B2A"/>
                </a:solidFill>
                <a:latin typeface="JetBrains Mono"/>
              </a:rPr>
              <a:t>The</a:t>
            </a:r>
          </a:p>
        </p:txBody>
      </p:sp>
      <p:sp>
        <p:nvSpPr>
          <p:cNvPr id="36" name="Rounded Rectangle 35"/>
          <p:cNvSpPr/>
          <p:nvPr/>
        </p:nvSpPr>
        <p:spPr>
          <a:xfrm>
            <a:off x="3300984" y="2743200"/>
            <a:ext cx="329184" cy="274320"/>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50">
                <a:solidFill>
                  <a:srgbClr val="0D1B2A"/>
                </a:solidFill>
                <a:latin typeface="JetBrains Mono"/>
              </a:rPr>
              <a:t>cat</a:t>
            </a:r>
          </a:p>
        </p:txBody>
      </p:sp>
      <p:sp>
        <p:nvSpPr>
          <p:cNvPr id="37" name="Rounded Rectangle 36"/>
          <p:cNvSpPr/>
          <p:nvPr/>
        </p:nvSpPr>
        <p:spPr>
          <a:xfrm>
            <a:off x="3675888" y="2743200"/>
            <a:ext cx="329184" cy="274320"/>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50">
                <a:solidFill>
                  <a:srgbClr val="0D1B2A"/>
                </a:solidFill>
                <a:latin typeface="JetBrains Mono"/>
              </a:rPr>
              <a:t>sat</a:t>
            </a:r>
          </a:p>
        </p:txBody>
      </p:sp>
      <p:sp>
        <p:nvSpPr>
          <p:cNvPr id="38" name="Rounded Rectangle 37"/>
          <p:cNvSpPr/>
          <p:nvPr/>
        </p:nvSpPr>
        <p:spPr>
          <a:xfrm>
            <a:off x="4050792" y="2743200"/>
            <a:ext cx="274320" cy="274320"/>
          </a:xfrm>
          <a:prstGeom prst="roundRect">
            <a:avLst>
              <a:gd name="adj" fmla="val 18000"/>
            </a:avLst>
          </a:prstGeom>
          <a:solidFill>
            <a:srgbClr val="FFFFFF"/>
          </a:solidFill>
          <a:ln w="9525">
            <a:solidFill>
              <a:srgbClr val="1B9AAA"/>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1B9AAA"/>
                </a:solidFill>
                <a:latin typeface="JetBrains Mono"/>
              </a:rPr>
              <a:t>?</a:t>
            </a:r>
          </a:p>
        </p:txBody>
      </p:sp>
      <p:sp>
        <p:nvSpPr>
          <p:cNvPr id="39" name="Rounded Rectangle 38"/>
          <p:cNvSpPr/>
          <p:nvPr/>
        </p:nvSpPr>
        <p:spPr>
          <a:xfrm>
            <a:off x="5102352" y="2743200"/>
            <a:ext cx="457200" cy="274320"/>
          </a:xfrm>
          <a:prstGeom prst="roundRect">
            <a:avLst>
              <a:gd name="adj" fmla="val 18000"/>
            </a:avLst>
          </a:prstGeom>
          <a:solidFill>
            <a:srgbClr val="F4F7F8"/>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50">
                <a:solidFill>
                  <a:srgbClr val="0D1B2A"/>
                </a:solidFill>
                <a:latin typeface="JetBrains Mono"/>
              </a:rPr>
              <a:t>down</a:t>
            </a:r>
          </a:p>
        </p:txBody>
      </p:sp>
      <p:sp>
        <p:nvSpPr>
          <p:cNvPr id="40" name="TextBox 39"/>
          <p:cNvSpPr txBox="1"/>
          <p:nvPr/>
        </p:nvSpPr>
        <p:spPr>
          <a:xfrm>
            <a:off x="5577840" y="2761488"/>
            <a:ext cx="182880" cy="256032"/>
          </a:xfrm>
          <a:prstGeom prst="rect">
            <a:avLst/>
          </a:prstGeom>
          <a:noFill/>
        </p:spPr>
        <p:txBody>
          <a:bodyPr wrap="square" lIns="0" tIns="0" rIns="0" bIns="0" anchor="t">
            <a:spAutoFit/>
          </a:bodyPr>
          <a:lstStyle/>
          <a:p>
            <a:pPr algn="ctr"/>
            <a:r>
              <a:rPr sz="1200" b="0">
                <a:solidFill>
                  <a:srgbClr val="6B7B8C"/>
                </a:solidFill>
                <a:latin typeface="Roboto"/>
              </a:rPr>
              <a:t>✗</a:t>
            </a:r>
          </a:p>
        </p:txBody>
      </p:sp>
      <p:sp>
        <p:nvSpPr>
          <p:cNvPr id="41" name="Rounded Rectangle 40"/>
          <p:cNvSpPr/>
          <p:nvPr/>
        </p:nvSpPr>
        <p:spPr>
          <a:xfrm>
            <a:off x="5806440" y="2743200"/>
            <a:ext cx="457200" cy="274320"/>
          </a:xfrm>
          <a:prstGeom prst="roundRect">
            <a:avLst>
              <a:gd name="adj" fmla="val 18000"/>
            </a:avLst>
          </a:prstGeom>
          <a:solidFill>
            <a:srgbClr val="06D6A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50">
                <a:solidFill>
                  <a:srgbClr val="0D1B2A"/>
                </a:solidFill>
                <a:latin typeface="JetBrains Mono"/>
              </a:rPr>
              <a:t>on</a:t>
            </a:r>
          </a:p>
        </p:txBody>
      </p:sp>
      <p:sp>
        <p:nvSpPr>
          <p:cNvPr id="42" name="Rounded Rectangle 41"/>
          <p:cNvSpPr/>
          <p:nvPr/>
        </p:nvSpPr>
        <p:spPr>
          <a:xfrm>
            <a:off x="2926080" y="3145536"/>
            <a:ext cx="329184" cy="274320"/>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50">
                <a:solidFill>
                  <a:srgbClr val="0D1B2A"/>
                </a:solidFill>
                <a:latin typeface="JetBrains Mono"/>
              </a:rPr>
              <a:t>The</a:t>
            </a:r>
          </a:p>
        </p:txBody>
      </p:sp>
      <p:sp>
        <p:nvSpPr>
          <p:cNvPr id="43" name="Rounded Rectangle 42"/>
          <p:cNvSpPr/>
          <p:nvPr/>
        </p:nvSpPr>
        <p:spPr>
          <a:xfrm>
            <a:off x="3300984" y="3145536"/>
            <a:ext cx="329184" cy="274320"/>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50">
                <a:solidFill>
                  <a:srgbClr val="0D1B2A"/>
                </a:solidFill>
                <a:latin typeface="JetBrains Mono"/>
              </a:rPr>
              <a:t>cat</a:t>
            </a:r>
          </a:p>
        </p:txBody>
      </p:sp>
      <p:sp>
        <p:nvSpPr>
          <p:cNvPr id="44" name="Rounded Rectangle 43"/>
          <p:cNvSpPr/>
          <p:nvPr/>
        </p:nvSpPr>
        <p:spPr>
          <a:xfrm>
            <a:off x="3675888" y="3145536"/>
            <a:ext cx="329184" cy="274320"/>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50">
                <a:solidFill>
                  <a:srgbClr val="0D1B2A"/>
                </a:solidFill>
                <a:latin typeface="JetBrains Mono"/>
              </a:rPr>
              <a:t>sat</a:t>
            </a:r>
          </a:p>
        </p:txBody>
      </p:sp>
      <p:sp>
        <p:nvSpPr>
          <p:cNvPr id="45" name="Rounded Rectangle 44"/>
          <p:cNvSpPr/>
          <p:nvPr/>
        </p:nvSpPr>
        <p:spPr>
          <a:xfrm>
            <a:off x="4050792" y="3145536"/>
            <a:ext cx="256032" cy="274320"/>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50">
                <a:solidFill>
                  <a:srgbClr val="0D1B2A"/>
                </a:solidFill>
                <a:latin typeface="JetBrains Mono"/>
              </a:rPr>
              <a:t>on</a:t>
            </a:r>
          </a:p>
        </p:txBody>
      </p:sp>
      <p:sp>
        <p:nvSpPr>
          <p:cNvPr id="46" name="Rounded Rectangle 45"/>
          <p:cNvSpPr/>
          <p:nvPr/>
        </p:nvSpPr>
        <p:spPr>
          <a:xfrm>
            <a:off x="4352544" y="3145536"/>
            <a:ext cx="274320" cy="274320"/>
          </a:xfrm>
          <a:prstGeom prst="roundRect">
            <a:avLst>
              <a:gd name="adj" fmla="val 18000"/>
            </a:avLst>
          </a:prstGeom>
          <a:solidFill>
            <a:srgbClr val="FFFFFF"/>
          </a:solidFill>
          <a:ln w="9525">
            <a:solidFill>
              <a:srgbClr val="1B9AAA"/>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1B9AAA"/>
                </a:solidFill>
                <a:latin typeface="JetBrains Mono"/>
              </a:rPr>
              <a:t>?</a:t>
            </a:r>
          </a:p>
        </p:txBody>
      </p:sp>
      <p:sp>
        <p:nvSpPr>
          <p:cNvPr id="47" name="Rounded Rectangle 46"/>
          <p:cNvSpPr/>
          <p:nvPr/>
        </p:nvSpPr>
        <p:spPr>
          <a:xfrm>
            <a:off x="5102352" y="3145536"/>
            <a:ext cx="457200" cy="274320"/>
          </a:xfrm>
          <a:prstGeom prst="roundRect">
            <a:avLst>
              <a:gd name="adj" fmla="val 18000"/>
            </a:avLst>
          </a:prstGeom>
          <a:solidFill>
            <a:srgbClr val="F4F7F8"/>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50">
                <a:solidFill>
                  <a:srgbClr val="0D1B2A"/>
                </a:solidFill>
                <a:latin typeface="JetBrains Mono"/>
              </a:rPr>
              <a:t>the</a:t>
            </a:r>
          </a:p>
        </p:txBody>
      </p:sp>
      <p:sp>
        <p:nvSpPr>
          <p:cNvPr id="48" name="TextBox 47"/>
          <p:cNvSpPr txBox="1"/>
          <p:nvPr/>
        </p:nvSpPr>
        <p:spPr>
          <a:xfrm>
            <a:off x="5577840" y="3163824"/>
            <a:ext cx="182880" cy="256032"/>
          </a:xfrm>
          <a:prstGeom prst="rect">
            <a:avLst/>
          </a:prstGeom>
          <a:noFill/>
        </p:spPr>
        <p:txBody>
          <a:bodyPr wrap="square" lIns="0" tIns="0" rIns="0" bIns="0" anchor="t">
            <a:spAutoFit/>
          </a:bodyPr>
          <a:lstStyle/>
          <a:p>
            <a:pPr algn="ctr"/>
            <a:r>
              <a:rPr sz="1200" b="0">
                <a:solidFill>
                  <a:srgbClr val="1B9AAA"/>
                </a:solidFill>
                <a:latin typeface="Roboto"/>
              </a:rPr>
              <a:t>✓</a:t>
            </a:r>
          </a:p>
        </p:txBody>
      </p:sp>
      <p:sp>
        <p:nvSpPr>
          <p:cNvPr id="49" name="Rounded Rectangle 48"/>
          <p:cNvSpPr/>
          <p:nvPr/>
        </p:nvSpPr>
        <p:spPr>
          <a:xfrm>
            <a:off x="2926080" y="3547872"/>
            <a:ext cx="329184" cy="274320"/>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50">
                <a:solidFill>
                  <a:srgbClr val="0D1B2A"/>
                </a:solidFill>
                <a:latin typeface="JetBrains Mono"/>
              </a:rPr>
              <a:t>The</a:t>
            </a:r>
          </a:p>
        </p:txBody>
      </p:sp>
      <p:sp>
        <p:nvSpPr>
          <p:cNvPr id="50" name="Rounded Rectangle 49"/>
          <p:cNvSpPr/>
          <p:nvPr/>
        </p:nvSpPr>
        <p:spPr>
          <a:xfrm>
            <a:off x="3300984" y="3547872"/>
            <a:ext cx="329184" cy="274320"/>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50">
                <a:solidFill>
                  <a:srgbClr val="0D1B2A"/>
                </a:solidFill>
                <a:latin typeface="JetBrains Mono"/>
              </a:rPr>
              <a:t>cat</a:t>
            </a:r>
          </a:p>
        </p:txBody>
      </p:sp>
      <p:sp>
        <p:nvSpPr>
          <p:cNvPr id="51" name="Rounded Rectangle 50"/>
          <p:cNvSpPr/>
          <p:nvPr/>
        </p:nvSpPr>
        <p:spPr>
          <a:xfrm>
            <a:off x="3675888" y="3547872"/>
            <a:ext cx="329184" cy="274320"/>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50">
                <a:solidFill>
                  <a:srgbClr val="0D1B2A"/>
                </a:solidFill>
                <a:latin typeface="JetBrains Mono"/>
              </a:rPr>
              <a:t>sat</a:t>
            </a:r>
          </a:p>
        </p:txBody>
      </p:sp>
      <p:sp>
        <p:nvSpPr>
          <p:cNvPr id="52" name="Rounded Rectangle 51"/>
          <p:cNvSpPr/>
          <p:nvPr/>
        </p:nvSpPr>
        <p:spPr>
          <a:xfrm>
            <a:off x="4050792" y="3547872"/>
            <a:ext cx="256032" cy="274320"/>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50">
                <a:solidFill>
                  <a:srgbClr val="0D1B2A"/>
                </a:solidFill>
                <a:latin typeface="JetBrains Mono"/>
              </a:rPr>
              <a:t>on</a:t>
            </a:r>
          </a:p>
        </p:txBody>
      </p:sp>
      <p:sp>
        <p:nvSpPr>
          <p:cNvPr id="53" name="Rounded Rectangle 52"/>
          <p:cNvSpPr/>
          <p:nvPr/>
        </p:nvSpPr>
        <p:spPr>
          <a:xfrm>
            <a:off x="4352544" y="3547872"/>
            <a:ext cx="329184" cy="274320"/>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50">
                <a:solidFill>
                  <a:srgbClr val="0D1B2A"/>
                </a:solidFill>
                <a:latin typeface="JetBrains Mono"/>
              </a:rPr>
              <a:t>the</a:t>
            </a:r>
          </a:p>
        </p:txBody>
      </p:sp>
      <p:sp>
        <p:nvSpPr>
          <p:cNvPr id="54" name="Rounded Rectangle 53"/>
          <p:cNvSpPr/>
          <p:nvPr/>
        </p:nvSpPr>
        <p:spPr>
          <a:xfrm>
            <a:off x="4727448" y="3547872"/>
            <a:ext cx="274320" cy="274320"/>
          </a:xfrm>
          <a:prstGeom prst="roundRect">
            <a:avLst>
              <a:gd name="adj" fmla="val 18000"/>
            </a:avLst>
          </a:prstGeom>
          <a:solidFill>
            <a:srgbClr val="FFFFFF"/>
          </a:solidFill>
          <a:ln w="9525">
            <a:solidFill>
              <a:srgbClr val="1B9AAA"/>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1B9AAA"/>
                </a:solidFill>
                <a:latin typeface="JetBrains Mono"/>
              </a:rPr>
              <a:t>?</a:t>
            </a:r>
          </a:p>
        </p:txBody>
      </p:sp>
      <p:sp>
        <p:nvSpPr>
          <p:cNvPr id="55" name="Rounded Rectangle 54"/>
          <p:cNvSpPr/>
          <p:nvPr/>
        </p:nvSpPr>
        <p:spPr>
          <a:xfrm>
            <a:off x="5102352" y="3547872"/>
            <a:ext cx="457200" cy="274320"/>
          </a:xfrm>
          <a:prstGeom prst="roundRect">
            <a:avLst>
              <a:gd name="adj" fmla="val 18000"/>
            </a:avLst>
          </a:prstGeom>
          <a:solidFill>
            <a:srgbClr val="F4F7F8"/>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50">
                <a:solidFill>
                  <a:srgbClr val="0D1B2A"/>
                </a:solidFill>
                <a:latin typeface="JetBrains Mono"/>
              </a:rPr>
              <a:t>floor</a:t>
            </a:r>
          </a:p>
        </p:txBody>
      </p:sp>
      <p:sp>
        <p:nvSpPr>
          <p:cNvPr id="56" name="TextBox 55"/>
          <p:cNvSpPr txBox="1"/>
          <p:nvPr/>
        </p:nvSpPr>
        <p:spPr>
          <a:xfrm>
            <a:off x="5577840" y="3566160"/>
            <a:ext cx="182880" cy="256032"/>
          </a:xfrm>
          <a:prstGeom prst="rect">
            <a:avLst/>
          </a:prstGeom>
          <a:noFill/>
        </p:spPr>
        <p:txBody>
          <a:bodyPr wrap="square" lIns="0" tIns="0" rIns="0" bIns="0" anchor="t">
            <a:spAutoFit/>
          </a:bodyPr>
          <a:lstStyle/>
          <a:p>
            <a:pPr algn="ctr"/>
            <a:r>
              <a:rPr sz="1200" b="0">
                <a:solidFill>
                  <a:srgbClr val="6B7B8C"/>
                </a:solidFill>
                <a:latin typeface="Roboto"/>
              </a:rPr>
              <a:t>✗</a:t>
            </a:r>
          </a:p>
        </p:txBody>
      </p:sp>
      <p:sp>
        <p:nvSpPr>
          <p:cNvPr id="57" name="Rounded Rectangle 56"/>
          <p:cNvSpPr/>
          <p:nvPr/>
        </p:nvSpPr>
        <p:spPr>
          <a:xfrm>
            <a:off x="5806440" y="3547872"/>
            <a:ext cx="457200" cy="274320"/>
          </a:xfrm>
          <a:prstGeom prst="roundRect">
            <a:avLst>
              <a:gd name="adj" fmla="val 18000"/>
            </a:avLst>
          </a:prstGeom>
          <a:solidFill>
            <a:srgbClr val="06D6A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50">
                <a:solidFill>
                  <a:srgbClr val="0D1B2A"/>
                </a:solidFill>
                <a:latin typeface="JetBrains Mono"/>
              </a:rPr>
              <a:t>mat</a:t>
            </a:r>
          </a:p>
        </p:txBody>
      </p:sp>
      <p:sp>
        <p:nvSpPr>
          <p:cNvPr id="58" name="Rectangle 57"/>
          <p:cNvSpPr/>
          <p:nvPr/>
        </p:nvSpPr>
        <p:spPr>
          <a:xfrm>
            <a:off x="6510528" y="1325880"/>
            <a:ext cx="2194559" cy="2743200"/>
          </a:xfrm>
          <a:prstGeom prst="rect">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p:cNvSpPr/>
          <p:nvPr/>
        </p:nvSpPr>
        <p:spPr>
          <a:xfrm>
            <a:off x="6510528" y="1325880"/>
            <a:ext cx="54864" cy="2743200"/>
          </a:xfrm>
          <a:prstGeom prst="rect">
            <a:avLst/>
          </a:prstGeom>
          <a:solidFill>
            <a:srgbClr val="06D6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6720840" y="1444752"/>
            <a:ext cx="1920240" cy="228600"/>
          </a:xfrm>
          <a:prstGeom prst="rect">
            <a:avLst/>
          </a:prstGeom>
          <a:noFill/>
        </p:spPr>
        <p:txBody>
          <a:bodyPr wrap="square" lIns="0" tIns="0" rIns="0" bIns="0" anchor="t">
            <a:spAutoFit/>
          </a:bodyPr>
          <a:lstStyle/>
          <a:p>
            <a:pPr algn="l"/>
            <a:r>
              <a:rPr sz="850" b="0" spc="100">
                <a:solidFill>
                  <a:srgbClr val="1B9AAA"/>
                </a:solidFill>
                <a:latin typeface="JetBrains Mono"/>
              </a:rPr>
              <a:t>STEP 3: LEARN &amp; ADJUST</a:t>
            </a:r>
          </a:p>
        </p:txBody>
      </p:sp>
      <p:sp>
        <p:nvSpPr>
          <p:cNvPr id="61" name="Rounded Rectangle 60"/>
          <p:cNvSpPr/>
          <p:nvPr/>
        </p:nvSpPr>
        <p:spPr>
          <a:xfrm>
            <a:off x="6720840" y="1737360"/>
            <a:ext cx="274320" cy="274320"/>
          </a:xfrm>
          <a:prstGeom prst="roundRect">
            <a:avLst>
              <a:gd name="adj" fmla="val 18000"/>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FFFFFF"/>
                </a:solidFill>
                <a:latin typeface="JetBrains Mono"/>
              </a:rPr>
              <a:t>a</a:t>
            </a:r>
          </a:p>
        </p:txBody>
      </p:sp>
      <p:cxnSp>
        <p:nvCxnSpPr>
          <p:cNvPr id="62" name="Connector 61"/>
          <p:cNvCxnSpPr/>
          <p:nvPr/>
        </p:nvCxnSpPr>
        <p:spPr>
          <a:xfrm>
            <a:off x="6858000" y="2084831"/>
            <a:ext cx="0" cy="411481"/>
          </a:xfrm>
          <a:prstGeom prst="line">
            <a:avLst/>
          </a:prstGeom>
          <a:ln w="15875">
            <a:solidFill>
              <a:srgbClr val="1B9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63" name="TextBox 62"/>
          <p:cNvSpPr txBox="1"/>
          <p:nvPr/>
        </p:nvSpPr>
        <p:spPr>
          <a:xfrm>
            <a:off x="7059168" y="1746504"/>
            <a:ext cx="1508760" cy="256032"/>
          </a:xfrm>
          <a:prstGeom prst="rect">
            <a:avLst/>
          </a:prstGeom>
          <a:noFill/>
        </p:spPr>
        <p:txBody>
          <a:bodyPr wrap="square" lIns="0" tIns="0" rIns="0" bIns="0" anchor="t">
            <a:spAutoFit/>
          </a:bodyPr>
          <a:lstStyle/>
          <a:p>
            <a:pPr algn="l"/>
            <a:r>
              <a:rPr sz="1500" b="0">
                <a:solidFill>
                  <a:srgbClr val="0D1B2A"/>
                </a:solidFill>
                <a:latin typeface="Oswald"/>
              </a:rPr>
              <a:t>Compare</a:t>
            </a:r>
          </a:p>
        </p:txBody>
      </p:sp>
      <p:sp>
        <p:nvSpPr>
          <p:cNvPr id="64" name="TextBox 63"/>
          <p:cNvSpPr txBox="1"/>
          <p:nvPr/>
        </p:nvSpPr>
        <p:spPr>
          <a:xfrm>
            <a:off x="7059168" y="2048255"/>
            <a:ext cx="1645920" cy="292608"/>
          </a:xfrm>
          <a:prstGeom prst="rect">
            <a:avLst/>
          </a:prstGeom>
          <a:noFill/>
        </p:spPr>
        <p:txBody>
          <a:bodyPr wrap="square" lIns="0" tIns="0" rIns="0" bIns="0" anchor="t">
            <a:spAutoFit/>
          </a:bodyPr>
          <a:lstStyle/>
          <a:p>
            <a:pPr algn="l"/>
            <a:r>
              <a:rPr sz="950" b="0">
                <a:solidFill>
                  <a:srgbClr val="6B7B8C"/>
                </a:solidFill>
                <a:latin typeface="Roboto"/>
              </a:rPr>
              <a:t>How wrong was the guess?</a:t>
            </a:r>
          </a:p>
        </p:txBody>
      </p:sp>
      <p:sp>
        <p:nvSpPr>
          <p:cNvPr id="65" name="TextBox 64"/>
          <p:cNvSpPr txBox="1"/>
          <p:nvPr/>
        </p:nvSpPr>
        <p:spPr>
          <a:xfrm>
            <a:off x="7059168" y="2157984"/>
            <a:ext cx="1554480" cy="128016"/>
          </a:xfrm>
          <a:prstGeom prst="rect">
            <a:avLst/>
          </a:prstGeom>
          <a:noFill/>
        </p:spPr>
        <p:txBody>
          <a:bodyPr wrap="square" lIns="0" tIns="0" rIns="0" bIns="0" anchor="t">
            <a:spAutoFit/>
          </a:bodyPr>
          <a:lstStyle/>
          <a:p>
            <a:pPr algn="l"/>
            <a:r>
              <a:rPr sz="850" b="0">
                <a:solidFill>
                  <a:srgbClr val="1B9AAA"/>
                </a:solidFill>
                <a:latin typeface="JetBrains Mono"/>
              </a:rPr>
              <a:t>(Calculate Loss)</a:t>
            </a:r>
          </a:p>
        </p:txBody>
      </p:sp>
      <p:sp>
        <p:nvSpPr>
          <p:cNvPr id="66" name="Rounded Rectangle 65"/>
          <p:cNvSpPr/>
          <p:nvPr/>
        </p:nvSpPr>
        <p:spPr>
          <a:xfrm>
            <a:off x="6720840" y="2514600"/>
            <a:ext cx="274320" cy="274320"/>
          </a:xfrm>
          <a:prstGeom prst="roundRect">
            <a:avLst>
              <a:gd name="adj" fmla="val 18000"/>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FFFFFF"/>
                </a:solidFill>
                <a:latin typeface="JetBrains Mono"/>
              </a:rPr>
              <a:t>b</a:t>
            </a:r>
          </a:p>
        </p:txBody>
      </p:sp>
      <p:cxnSp>
        <p:nvCxnSpPr>
          <p:cNvPr id="67" name="Connector 66"/>
          <p:cNvCxnSpPr/>
          <p:nvPr/>
        </p:nvCxnSpPr>
        <p:spPr>
          <a:xfrm>
            <a:off x="6858000" y="2862072"/>
            <a:ext cx="0" cy="411480"/>
          </a:xfrm>
          <a:prstGeom prst="line">
            <a:avLst/>
          </a:prstGeom>
          <a:ln w="15875">
            <a:solidFill>
              <a:srgbClr val="1B9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68" name="TextBox 67"/>
          <p:cNvSpPr txBox="1"/>
          <p:nvPr/>
        </p:nvSpPr>
        <p:spPr>
          <a:xfrm>
            <a:off x="7059168" y="2523744"/>
            <a:ext cx="1508760" cy="256032"/>
          </a:xfrm>
          <a:prstGeom prst="rect">
            <a:avLst/>
          </a:prstGeom>
          <a:noFill/>
        </p:spPr>
        <p:txBody>
          <a:bodyPr wrap="square" lIns="0" tIns="0" rIns="0" bIns="0" anchor="t">
            <a:spAutoFit/>
          </a:bodyPr>
          <a:lstStyle/>
          <a:p>
            <a:pPr algn="l"/>
            <a:r>
              <a:rPr sz="1500" b="0">
                <a:solidFill>
                  <a:srgbClr val="0D1B2A"/>
                </a:solidFill>
                <a:latin typeface="Oswald"/>
              </a:rPr>
              <a:t>Trace back</a:t>
            </a:r>
          </a:p>
        </p:txBody>
      </p:sp>
      <p:sp>
        <p:nvSpPr>
          <p:cNvPr id="69" name="TextBox 68"/>
          <p:cNvSpPr txBox="1"/>
          <p:nvPr/>
        </p:nvSpPr>
        <p:spPr>
          <a:xfrm>
            <a:off x="7059168" y="2825496"/>
            <a:ext cx="1645920" cy="292608"/>
          </a:xfrm>
          <a:prstGeom prst="rect">
            <a:avLst/>
          </a:prstGeom>
          <a:noFill/>
        </p:spPr>
        <p:txBody>
          <a:bodyPr wrap="square" lIns="0" tIns="0" rIns="0" bIns="0" anchor="t">
            <a:spAutoFit/>
          </a:bodyPr>
          <a:lstStyle/>
          <a:p>
            <a:pPr algn="l"/>
            <a:r>
              <a:rPr sz="950" b="0">
                <a:solidFill>
                  <a:srgbClr val="6B7B8C"/>
                </a:solidFill>
                <a:latin typeface="Roboto"/>
              </a:rPr>
              <a:t>In which direction should each weight move?</a:t>
            </a:r>
          </a:p>
        </p:txBody>
      </p:sp>
      <p:sp>
        <p:nvSpPr>
          <p:cNvPr id="70" name="TextBox 69"/>
          <p:cNvSpPr txBox="1"/>
          <p:nvPr/>
        </p:nvSpPr>
        <p:spPr>
          <a:xfrm>
            <a:off x="7059168" y="3118104"/>
            <a:ext cx="1554480" cy="128016"/>
          </a:xfrm>
          <a:prstGeom prst="rect">
            <a:avLst/>
          </a:prstGeom>
          <a:noFill/>
        </p:spPr>
        <p:txBody>
          <a:bodyPr wrap="square" lIns="0" tIns="0" rIns="0" bIns="0" anchor="t">
            <a:spAutoFit/>
          </a:bodyPr>
          <a:lstStyle/>
          <a:p>
            <a:pPr algn="l"/>
            <a:r>
              <a:rPr sz="850" b="0">
                <a:solidFill>
                  <a:srgbClr val="1B9AAA"/>
                </a:solidFill>
                <a:latin typeface="JetBrains Mono"/>
              </a:rPr>
              <a:t>(Calculate Gradients)</a:t>
            </a:r>
          </a:p>
        </p:txBody>
      </p:sp>
      <p:sp>
        <p:nvSpPr>
          <p:cNvPr id="71" name="Rounded Rectangle 70"/>
          <p:cNvSpPr/>
          <p:nvPr/>
        </p:nvSpPr>
        <p:spPr>
          <a:xfrm>
            <a:off x="6720840" y="3291839"/>
            <a:ext cx="274320" cy="274320"/>
          </a:xfrm>
          <a:prstGeom prst="roundRect">
            <a:avLst>
              <a:gd name="adj" fmla="val 18000"/>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FFFFFF"/>
                </a:solidFill>
                <a:latin typeface="JetBrains Mono"/>
              </a:rPr>
              <a:t>c</a:t>
            </a:r>
          </a:p>
        </p:txBody>
      </p:sp>
      <p:sp>
        <p:nvSpPr>
          <p:cNvPr id="72" name="TextBox 71"/>
          <p:cNvSpPr txBox="1"/>
          <p:nvPr/>
        </p:nvSpPr>
        <p:spPr>
          <a:xfrm>
            <a:off x="7059168" y="3300983"/>
            <a:ext cx="1508760" cy="256032"/>
          </a:xfrm>
          <a:prstGeom prst="rect">
            <a:avLst/>
          </a:prstGeom>
          <a:noFill/>
        </p:spPr>
        <p:txBody>
          <a:bodyPr wrap="square" lIns="0" tIns="0" rIns="0" bIns="0" anchor="t">
            <a:spAutoFit/>
          </a:bodyPr>
          <a:lstStyle/>
          <a:p>
            <a:pPr algn="l"/>
            <a:r>
              <a:rPr sz="1500" b="0">
                <a:solidFill>
                  <a:srgbClr val="0D1B2A"/>
                </a:solidFill>
                <a:latin typeface="Oswald"/>
              </a:rPr>
              <a:t>Adjust</a:t>
            </a:r>
          </a:p>
        </p:txBody>
      </p:sp>
      <p:sp>
        <p:nvSpPr>
          <p:cNvPr id="73" name="TextBox 72"/>
          <p:cNvSpPr txBox="1"/>
          <p:nvPr/>
        </p:nvSpPr>
        <p:spPr>
          <a:xfrm>
            <a:off x="7059168" y="3602735"/>
            <a:ext cx="1645920" cy="292608"/>
          </a:xfrm>
          <a:prstGeom prst="rect">
            <a:avLst/>
          </a:prstGeom>
          <a:noFill/>
        </p:spPr>
        <p:txBody>
          <a:bodyPr wrap="square" lIns="0" tIns="0" rIns="0" bIns="0" anchor="t">
            <a:spAutoFit/>
          </a:bodyPr>
          <a:lstStyle/>
          <a:p>
            <a:pPr algn="l"/>
            <a:r>
              <a:rPr sz="950" b="0">
                <a:solidFill>
                  <a:srgbClr val="6B7B8C"/>
                </a:solidFill>
                <a:latin typeface="Roboto"/>
              </a:rPr>
              <a:t>Update the weights of the neural network a tiny bit.</a:t>
            </a:r>
          </a:p>
        </p:txBody>
      </p:sp>
      <p:sp>
        <p:nvSpPr>
          <p:cNvPr id="74" name="TextBox 73"/>
          <p:cNvSpPr txBox="1"/>
          <p:nvPr/>
        </p:nvSpPr>
        <p:spPr>
          <a:xfrm>
            <a:off x="6720840" y="3895344"/>
            <a:ext cx="1920239" cy="228600"/>
          </a:xfrm>
          <a:prstGeom prst="rect">
            <a:avLst/>
          </a:prstGeom>
          <a:noFill/>
        </p:spPr>
        <p:txBody>
          <a:bodyPr wrap="square" lIns="0" tIns="0" rIns="0" bIns="0" anchor="t">
            <a:spAutoFit/>
          </a:bodyPr>
          <a:lstStyle/>
          <a:p>
            <a:pPr algn="l"/>
            <a:r>
              <a:rPr sz="900" b="0">
                <a:solidFill>
                  <a:srgbClr val="1B9AAA"/>
                </a:solidFill>
                <a:latin typeface="JetBrains Mono"/>
              </a:rPr>
              <a:t>↻  Repeat with the next batch of text</a:t>
            </a:r>
          </a:p>
        </p:txBody>
      </p:sp>
      <p:sp>
        <p:nvSpPr>
          <p:cNvPr id="75" name="Rectangle 74"/>
          <p:cNvSpPr/>
          <p:nvPr/>
        </p:nvSpPr>
        <p:spPr>
          <a:xfrm>
            <a:off x="576072" y="4297680"/>
            <a:ext cx="54864" cy="45720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694944" y="4297680"/>
            <a:ext cx="8138160" cy="457200"/>
          </a:xfrm>
          <a:prstGeom prst="rect">
            <a:avLst/>
          </a:prstGeom>
          <a:noFill/>
        </p:spPr>
        <p:txBody>
          <a:bodyPr wrap="square" lIns="0" tIns="0" rIns="0" bIns="0" anchor="t">
            <a:spAutoFit/>
          </a:bodyPr>
          <a:lstStyle/>
          <a:p>
            <a:pPr algn="l"/>
            <a:r>
              <a:rPr sz="1400" b="0">
                <a:solidFill>
                  <a:srgbClr val="14293D"/>
                </a:solidFill>
                <a:latin typeface="Roboto"/>
              </a:rPr>
              <a:t>The model reads huge amounts of text and practices predicting what comes next. Repeated over trillions of tokens, this simple game teaches the model grammar, facts and style.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514350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6492240" y="2377440"/>
            <a:ext cx="3291840" cy="3291840"/>
          </a:xfrm>
          <a:prstGeom prst="ellipse">
            <a:avLst/>
          </a:prstGeom>
          <a:solidFill>
            <a:srgbClr val="1B9AAA">
              <a:alpha val="10000"/>
            </a:srgbClr>
          </a:solidFill>
          <a:ln w="9525">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7863840" y="1600200"/>
            <a:ext cx="2103120" cy="2103120"/>
          </a:xfrm>
          <a:prstGeom prst="ellipse">
            <a:avLst/>
          </a:prstGeom>
          <a:solidFill>
            <a:srgbClr val="06D6A0">
              <a:alpha val="8000"/>
            </a:srgbClr>
          </a:solidFill>
          <a:ln w="9525">
            <a:solidFill>
              <a:srgbClr val="06D6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1371600"/>
            <a:ext cx="3657600" cy="274320"/>
          </a:xfrm>
          <a:prstGeom prst="rect">
            <a:avLst/>
          </a:prstGeom>
          <a:noFill/>
        </p:spPr>
        <p:txBody>
          <a:bodyPr wrap="square" lIns="0" tIns="0" rIns="0" bIns="0" anchor="t">
            <a:spAutoFit/>
          </a:bodyPr>
          <a:lstStyle/>
          <a:p>
            <a:pPr algn="l"/>
            <a:r>
              <a:rPr sz="1100" b="0" spc="300">
                <a:solidFill>
                  <a:srgbClr val="1B9AAA"/>
                </a:solidFill>
                <a:latin typeface="JetBrains Mono"/>
              </a:rPr>
              <a:t>PART 4 · GENERATIVE AI</a:t>
            </a:r>
          </a:p>
        </p:txBody>
      </p:sp>
      <p:sp>
        <p:nvSpPr>
          <p:cNvPr id="6" name="slide-llm-terms-divider"/>
          <p:cNvSpPr txBox="1"/>
          <p:nvPr/>
        </p:nvSpPr>
        <p:spPr>
          <a:xfrm>
            <a:off x="822960" y="1691640"/>
            <a:ext cx="4937760" cy="1371600"/>
          </a:xfrm>
          <a:prstGeom prst="rect">
            <a:avLst/>
          </a:prstGeom>
          <a:noFill/>
        </p:spPr>
        <p:txBody>
          <a:bodyPr wrap="square" lIns="0" tIns="0" rIns="0" bIns="0" anchor="t">
            <a:spAutoFit/>
          </a:bodyPr>
          <a:lstStyle/>
          <a:p>
            <a:pPr algn="l"/>
            <a:r>
              <a:rPr sz="4000" b="0">
                <a:solidFill>
                  <a:srgbClr val="0D1B2A"/>
                </a:solidFill>
                <a:latin typeface="Oswald"/>
              </a:rPr>
              <a:t>Terms you meet when</a:t>
            </a:r>
          </a:p>
          <a:p>
            <a:pPr algn="l"/>
            <a:r>
              <a:rPr sz="4000" b="0">
                <a:solidFill>
                  <a:srgbClr val="0D1B2A"/>
                </a:solidFill>
                <a:latin typeface="Oswald"/>
              </a:rPr>
              <a:t>working with LLMs</a:t>
            </a:r>
          </a:p>
        </p:txBody>
      </p:sp>
      <p:sp>
        <p:nvSpPr>
          <p:cNvPr id="7" name="Rectangle 6"/>
          <p:cNvSpPr/>
          <p:nvPr/>
        </p:nvSpPr>
        <p:spPr>
          <a:xfrm>
            <a:off x="822960" y="3200400"/>
            <a:ext cx="822960" cy="41148"/>
          </a:xfrm>
          <a:prstGeom prst="rect">
            <a:avLst/>
          </a:prstGeom>
          <a:solidFill>
            <a:srgbClr val="06D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22960" y="3456432"/>
            <a:ext cx="2098548" cy="329184"/>
          </a:xfrm>
          <a:prstGeom prst="roundRect">
            <a:avLst>
              <a:gd name="adj" fmla="val 18000"/>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0D1B2A"/>
                </a:solidFill>
                <a:latin typeface="Roboto"/>
              </a:rPr>
              <a:t>Vocabulary &amp; embeddings</a:t>
            </a:r>
          </a:p>
        </p:txBody>
      </p:sp>
      <p:sp>
        <p:nvSpPr>
          <p:cNvPr id="9" name="Rounded Rectangle 8"/>
          <p:cNvSpPr/>
          <p:nvPr/>
        </p:nvSpPr>
        <p:spPr>
          <a:xfrm>
            <a:off x="3031236" y="3456432"/>
            <a:ext cx="777240" cy="329184"/>
          </a:xfrm>
          <a:prstGeom prst="roundRect">
            <a:avLst>
              <a:gd name="adj" fmla="val 18000"/>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0D1B2A"/>
                </a:solidFill>
                <a:latin typeface="Roboto"/>
              </a:rPr>
              <a:t>Prompt</a:t>
            </a:r>
          </a:p>
        </p:txBody>
      </p:sp>
      <p:sp>
        <p:nvSpPr>
          <p:cNvPr id="10" name="Rounded Rectangle 9"/>
          <p:cNvSpPr/>
          <p:nvPr/>
        </p:nvSpPr>
        <p:spPr>
          <a:xfrm>
            <a:off x="3918204" y="3456432"/>
            <a:ext cx="1399032" cy="329184"/>
          </a:xfrm>
          <a:prstGeom prst="roundRect">
            <a:avLst>
              <a:gd name="adj" fmla="val 18000"/>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0D1B2A"/>
                </a:solidFill>
                <a:latin typeface="Roboto"/>
              </a:rPr>
              <a:t>Context window</a:t>
            </a:r>
          </a:p>
        </p:txBody>
      </p:sp>
      <p:sp>
        <p:nvSpPr>
          <p:cNvPr id="11" name="Rounded Rectangle 10"/>
          <p:cNvSpPr/>
          <p:nvPr/>
        </p:nvSpPr>
        <p:spPr>
          <a:xfrm>
            <a:off x="5426964" y="3456432"/>
            <a:ext cx="1321308" cy="329184"/>
          </a:xfrm>
          <a:prstGeom prst="roundRect">
            <a:avLst>
              <a:gd name="adj" fmla="val 18000"/>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0D1B2A"/>
                </a:solidFill>
                <a:latin typeface="Roboto"/>
              </a:rPr>
              <a:t>Hallucination</a:t>
            </a:r>
          </a:p>
        </p:txBody>
      </p:sp>
      <p:sp>
        <p:nvSpPr>
          <p:cNvPr id="12" name="TextBox 11"/>
          <p:cNvSpPr txBox="1"/>
          <p:nvPr/>
        </p:nvSpPr>
        <p:spPr>
          <a:xfrm>
            <a:off x="822960" y="4023360"/>
            <a:ext cx="5486400" cy="228600"/>
          </a:xfrm>
          <a:prstGeom prst="rect">
            <a:avLst/>
          </a:prstGeom>
          <a:noFill/>
        </p:spPr>
        <p:txBody>
          <a:bodyPr wrap="square" lIns="0" tIns="0" rIns="0" bIns="0" anchor="t">
            <a:spAutoFit/>
          </a:bodyPr>
          <a:lstStyle/>
          <a:p>
            <a:pPr algn="l"/>
            <a:r>
              <a:rPr sz="1100" b="0">
                <a:solidFill>
                  <a:srgbClr val="6B7B8C"/>
                </a:solidFill>
                <a:latin typeface="Roboto"/>
              </a:rPr>
              <a:t>The next few slides explain each of them in plain language.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514350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329184"/>
            <a:ext cx="8138160" cy="274320"/>
          </a:xfrm>
          <a:prstGeom prst="rect">
            <a:avLst/>
          </a:prstGeom>
          <a:noFill/>
        </p:spPr>
        <p:txBody>
          <a:bodyPr wrap="square" lIns="0" tIns="0" rIns="0" bIns="0" anchor="t">
            <a:spAutoFit/>
          </a:bodyPr>
          <a:lstStyle/>
          <a:p>
            <a:pPr algn="l"/>
            <a:r>
              <a:rPr sz="1100" b="0" spc="300">
                <a:solidFill>
                  <a:srgbClr val="1B9AAA"/>
                </a:solidFill>
                <a:latin typeface="JetBrains Mono"/>
              </a:rPr>
              <a:t>WORKING WITH LLMS · VOCABULARY</a:t>
            </a:r>
          </a:p>
        </p:txBody>
      </p:sp>
      <p:sp>
        <p:nvSpPr>
          <p:cNvPr id="4" name="slide-vocabulary"/>
          <p:cNvSpPr txBox="1"/>
          <p:nvPr/>
        </p:nvSpPr>
        <p:spPr>
          <a:xfrm>
            <a:off x="566928" y="603504"/>
            <a:ext cx="8138160" cy="658368"/>
          </a:xfrm>
          <a:prstGeom prst="rect">
            <a:avLst/>
          </a:prstGeom>
          <a:noFill/>
        </p:spPr>
        <p:txBody>
          <a:bodyPr wrap="square" lIns="0" tIns="0" rIns="0" bIns="0" anchor="t">
            <a:spAutoFit/>
          </a:bodyPr>
          <a:lstStyle/>
          <a:p>
            <a:pPr algn="l"/>
            <a:r>
              <a:rPr sz="3200" b="0">
                <a:solidFill>
                  <a:srgbClr val="0D1B2A"/>
                </a:solidFill>
                <a:latin typeface="Oswald"/>
              </a:rPr>
              <a:t>Vocabulary, token, embedding: one table, three terms</a:t>
            </a:r>
          </a:p>
        </p:txBody>
      </p:sp>
      <p:sp>
        <p:nvSpPr>
          <p:cNvPr id="5" name="TextBox 4"/>
          <p:cNvSpPr txBox="1"/>
          <p:nvPr/>
        </p:nvSpPr>
        <p:spPr>
          <a:xfrm>
            <a:off x="566928" y="1298448"/>
            <a:ext cx="8138160" cy="457200"/>
          </a:xfrm>
          <a:prstGeom prst="rect">
            <a:avLst/>
          </a:prstGeom>
          <a:noFill/>
        </p:spPr>
        <p:txBody>
          <a:bodyPr wrap="square" lIns="0" tIns="0" rIns="0" bIns="0" anchor="t">
            <a:spAutoFit/>
          </a:bodyPr>
          <a:lstStyle/>
          <a:p>
            <a:pPr algn="l"/>
            <a:r>
              <a:rPr sz="1400" b="0">
                <a:solidFill>
                  <a:srgbClr val="14293D"/>
                </a:solidFill>
                <a:latin typeface="Roboto"/>
              </a:rPr>
              <a:t>Every model carries a fixed list of tokens. Each entry has a number and a list of numbers.</a:t>
            </a:r>
          </a:p>
        </p:txBody>
      </p:sp>
      <p:sp>
        <p:nvSpPr>
          <p:cNvPr id="6" name="Rectangle 5"/>
          <p:cNvSpPr/>
          <p:nvPr/>
        </p:nvSpPr>
        <p:spPr>
          <a:xfrm>
            <a:off x="566928" y="1783080"/>
            <a:ext cx="5120640" cy="2743200"/>
          </a:xfrm>
          <a:prstGeom prst="rect">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66928" y="1783080"/>
            <a:ext cx="54864" cy="274320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1892807"/>
            <a:ext cx="2743200" cy="228600"/>
          </a:xfrm>
          <a:prstGeom prst="rect">
            <a:avLst/>
          </a:prstGeom>
          <a:noFill/>
        </p:spPr>
        <p:txBody>
          <a:bodyPr wrap="square" lIns="0" tIns="0" rIns="0" bIns="0" anchor="t">
            <a:spAutoFit/>
          </a:bodyPr>
          <a:lstStyle/>
          <a:p>
            <a:pPr algn="l"/>
            <a:r>
              <a:rPr sz="950" b="0" spc="100">
                <a:solidFill>
                  <a:srgbClr val="1B9AAA"/>
                </a:solidFill>
                <a:latin typeface="JetBrains Mono"/>
              </a:rPr>
              <a:t>THE MODEL'S VOCABULARY</a:t>
            </a:r>
          </a:p>
        </p:txBody>
      </p:sp>
      <p:sp>
        <p:nvSpPr>
          <p:cNvPr id="9" name="TextBox 8"/>
          <p:cNvSpPr txBox="1"/>
          <p:nvPr/>
        </p:nvSpPr>
        <p:spPr>
          <a:xfrm>
            <a:off x="841248" y="2212848"/>
            <a:ext cx="777240" cy="228600"/>
          </a:xfrm>
          <a:prstGeom prst="rect">
            <a:avLst/>
          </a:prstGeom>
          <a:noFill/>
        </p:spPr>
        <p:txBody>
          <a:bodyPr wrap="square" lIns="0" tIns="0" rIns="0" bIns="0" anchor="t">
            <a:spAutoFit/>
          </a:bodyPr>
          <a:lstStyle/>
          <a:p>
            <a:pPr algn="l"/>
            <a:r>
              <a:rPr sz="800" b="0" spc="100">
                <a:solidFill>
                  <a:srgbClr val="6B7B8C"/>
                </a:solidFill>
                <a:latin typeface="JetBrains Mono"/>
              </a:rPr>
              <a:t>ID</a:t>
            </a:r>
          </a:p>
        </p:txBody>
      </p:sp>
      <p:sp>
        <p:nvSpPr>
          <p:cNvPr id="10" name="TextBox 9"/>
          <p:cNvSpPr txBox="1"/>
          <p:nvPr/>
        </p:nvSpPr>
        <p:spPr>
          <a:xfrm>
            <a:off x="1691640" y="2212848"/>
            <a:ext cx="1234440" cy="228600"/>
          </a:xfrm>
          <a:prstGeom prst="rect">
            <a:avLst/>
          </a:prstGeom>
          <a:noFill/>
        </p:spPr>
        <p:txBody>
          <a:bodyPr wrap="square" lIns="0" tIns="0" rIns="0" bIns="0" anchor="t">
            <a:spAutoFit/>
          </a:bodyPr>
          <a:lstStyle/>
          <a:p>
            <a:pPr algn="l"/>
            <a:r>
              <a:rPr sz="800" b="0" spc="100">
                <a:solidFill>
                  <a:srgbClr val="6B7B8C"/>
                </a:solidFill>
                <a:latin typeface="JetBrains Mono"/>
              </a:rPr>
              <a:t>TOKEN</a:t>
            </a:r>
          </a:p>
        </p:txBody>
      </p:sp>
      <p:sp>
        <p:nvSpPr>
          <p:cNvPr id="11" name="TextBox 10"/>
          <p:cNvSpPr txBox="1"/>
          <p:nvPr/>
        </p:nvSpPr>
        <p:spPr>
          <a:xfrm>
            <a:off x="3017520" y="2212848"/>
            <a:ext cx="2651760" cy="228600"/>
          </a:xfrm>
          <a:prstGeom prst="rect">
            <a:avLst/>
          </a:prstGeom>
          <a:noFill/>
        </p:spPr>
        <p:txBody>
          <a:bodyPr wrap="square" lIns="0" tIns="0" rIns="0" bIns="0" anchor="t">
            <a:spAutoFit/>
          </a:bodyPr>
          <a:lstStyle/>
          <a:p>
            <a:pPr algn="l"/>
            <a:r>
              <a:rPr sz="800" b="0" spc="100">
                <a:solidFill>
                  <a:srgbClr val="6B7B8C"/>
                </a:solidFill>
                <a:latin typeface="JetBrains Mono"/>
              </a:rPr>
              <a:t>EMBEDDING</a:t>
            </a:r>
          </a:p>
        </p:txBody>
      </p:sp>
      <p:cxnSp>
        <p:nvCxnSpPr>
          <p:cNvPr id="12" name="Connector 11"/>
          <p:cNvCxnSpPr/>
          <p:nvPr/>
        </p:nvCxnSpPr>
        <p:spPr>
          <a:xfrm>
            <a:off x="841248" y="2414016"/>
            <a:ext cx="4828032" cy="0"/>
          </a:xfrm>
          <a:prstGeom prst="line">
            <a:avLst/>
          </a:prstGeom>
          <a:ln w="9525">
            <a:solidFill>
              <a:srgbClr val="DDE5E9"/>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841248" y="2505456"/>
            <a:ext cx="777240" cy="256032"/>
          </a:xfrm>
          <a:prstGeom prst="roundRect">
            <a:avLst>
              <a:gd name="adj" fmla="val 18000"/>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00">
                <a:solidFill>
                  <a:srgbClr val="0D1B2A"/>
                </a:solidFill>
                <a:latin typeface="JetBrains Mono"/>
              </a:rPr>
              <a:t>15836</a:t>
            </a:r>
          </a:p>
        </p:txBody>
      </p:sp>
      <p:sp>
        <p:nvSpPr>
          <p:cNvPr id="14" name="Rounded Rectangle 13"/>
          <p:cNvSpPr/>
          <p:nvPr/>
        </p:nvSpPr>
        <p:spPr>
          <a:xfrm>
            <a:off x="1691640" y="2505456"/>
            <a:ext cx="914400" cy="256032"/>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00">
                <a:solidFill>
                  <a:srgbClr val="0D1B2A"/>
                </a:solidFill>
                <a:latin typeface="JetBrains Mono"/>
              </a:rPr>
              <a:t>AI</a:t>
            </a:r>
          </a:p>
        </p:txBody>
      </p:sp>
      <p:sp>
        <p:nvSpPr>
          <p:cNvPr id="15" name="TextBox 14"/>
          <p:cNvSpPr txBox="1"/>
          <p:nvPr/>
        </p:nvSpPr>
        <p:spPr>
          <a:xfrm>
            <a:off x="2926080" y="2542032"/>
            <a:ext cx="182880" cy="201168"/>
          </a:xfrm>
          <a:prstGeom prst="rect">
            <a:avLst/>
          </a:prstGeom>
          <a:noFill/>
        </p:spPr>
        <p:txBody>
          <a:bodyPr wrap="square" lIns="0" tIns="0" rIns="0" bIns="0" anchor="t">
            <a:spAutoFit/>
          </a:bodyPr>
          <a:lstStyle/>
          <a:p>
            <a:pPr algn="l"/>
            <a:r>
              <a:rPr sz="900" b="0">
                <a:solidFill>
                  <a:srgbClr val="6B7B8C"/>
                </a:solidFill>
                <a:latin typeface="JetBrains Mono"/>
              </a:rPr>
              <a:t>[</a:t>
            </a:r>
          </a:p>
        </p:txBody>
      </p:sp>
      <p:sp>
        <p:nvSpPr>
          <p:cNvPr id="16" name="TextBox 15"/>
          <p:cNvSpPr txBox="1"/>
          <p:nvPr/>
        </p:nvSpPr>
        <p:spPr>
          <a:xfrm>
            <a:off x="3090672" y="2542032"/>
            <a:ext cx="603504" cy="201168"/>
          </a:xfrm>
          <a:prstGeom prst="rect">
            <a:avLst/>
          </a:prstGeom>
          <a:noFill/>
        </p:spPr>
        <p:txBody>
          <a:bodyPr wrap="square" lIns="0" tIns="0" rIns="0" bIns="0" anchor="t">
            <a:spAutoFit/>
          </a:bodyPr>
          <a:lstStyle/>
          <a:p>
            <a:pPr algn="ctr"/>
            <a:r>
              <a:rPr sz="900" b="0">
                <a:solidFill>
                  <a:srgbClr val="0D1B2A"/>
                </a:solidFill>
                <a:latin typeface="JetBrains Mono"/>
              </a:rPr>
              <a:t>0.31</a:t>
            </a:r>
          </a:p>
        </p:txBody>
      </p:sp>
      <p:sp>
        <p:nvSpPr>
          <p:cNvPr id="17" name="TextBox 16"/>
          <p:cNvSpPr txBox="1"/>
          <p:nvPr/>
        </p:nvSpPr>
        <p:spPr>
          <a:xfrm>
            <a:off x="3694176" y="2542032"/>
            <a:ext cx="603504" cy="201168"/>
          </a:xfrm>
          <a:prstGeom prst="rect">
            <a:avLst/>
          </a:prstGeom>
          <a:noFill/>
        </p:spPr>
        <p:txBody>
          <a:bodyPr wrap="square" lIns="0" tIns="0" rIns="0" bIns="0" anchor="t">
            <a:spAutoFit/>
          </a:bodyPr>
          <a:lstStyle/>
          <a:p>
            <a:pPr algn="ctr"/>
            <a:r>
              <a:rPr sz="900" b="0">
                <a:solidFill>
                  <a:srgbClr val="0D1B2A"/>
                </a:solidFill>
                <a:latin typeface="JetBrains Mono"/>
              </a:rPr>
              <a:t>−0.02</a:t>
            </a:r>
          </a:p>
        </p:txBody>
      </p:sp>
      <p:sp>
        <p:nvSpPr>
          <p:cNvPr id="18" name="TextBox 17"/>
          <p:cNvSpPr txBox="1"/>
          <p:nvPr/>
        </p:nvSpPr>
        <p:spPr>
          <a:xfrm>
            <a:off x="4297680" y="2542032"/>
            <a:ext cx="603504" cy="201168"/>
          </a:xfrm>
          <a:prstGeom prst="rect">
            <a:avLst/>
          </a:prstGeom>
          <a:noFill/>
        </p:spPr>
        <p:txBody>
          <a:bodyPr wrap="square" lIns="0" tIns="0" rIns="0" bIns="0" anchor="t">
            <a:spAutoFit/>
          </a:bodyPr>
          <a:lstStyle/>
          <a:p>
            <a:pPr algn="ctr"/>
            <a:r>
              <a:rPr sz="900" b="0">
                <a:solidFill>
                  <a:srgbClr val="0D1B2A"/>
                </a:solidFill>
                <a:latin typeface="JetBrains Mono"/>
              </a:rPr>
              <a:t>0.77</a:t>
            </a:r>
          </a:p>
        </p:txBody>
      </p:sp>
      <p:sp>
        <p:nvSpPr>
          <p:cNvPr id="19" name="TextBox 18"/>
          <p:cNvSpPr txBox="1"/>
          <p:nvPr/>
        </p:nvSpPr>
        <p:spPr>
          <a:xfrm>
            <a:off x="4901184" y="2542032"/>
            <a:ext cx="603504" cy="201168"/>
          </a:xfrm>
          <a:prstGeom prst="rect">
            <a:avLst/>
          </a:prstGeom>
          <a:noFill/>
        </p:spPr>
        <p:txBody>
          <a:bodyPr wrap="square" lIns="0" tIns="0" rIns="0" bIns="0" anchor="t">
            <a:spAutoFit/>
          </a:bodyPr>
          <a:lstStyle/>
          <a:p>
            <a:pPr algn="ctr"/>
            <a:r>
              <a:rPr sz="900" b="0">
                <a:solidFill>
                  <a:srgbClr val="6B7B8C"/>
                </a:solidFill>
                <a:latin typeface="JetBrains Mono"/>
              </a:rPr>
              <a:t>…</a:t>
            </a:r>
          </a:p>
        </p:txBody>
      </p:sp>
      <p:sp>
        <p:nvSpPr>
          <p:cNvPr id="20" name="TextBox 19"/>
          <p:cNvSpPr txBox="1"/>
          <p:nvPr/>
        </p:nvSpPr>
        <p:spPr>
          <a:xfrm>
            <a:off x="5559552" y="2542032"/>
            <a:ext cx="182880" cy="201168"/>
          </a:xfrm>
          <a:prstGeom prst="rect">
            <a:avLst/>
          </a:prstGeom>
          <a:noFill/>
        </p:spPr>
        <p:txBody>
          <a:bodyPr wrap="square" lIns="0" tIns="0" rIns="0" bIns="0" anchor="t">
            <a:spAutoFit/>
          </a:bodyPr>
          <a:lstStyle/>
          <a:p>
            <a:pPr algn="l"/>
            <a:r>
              <a:rPr sz="900" b="0">
                <a:solidFill>
                  <a:srgbClr val="6B7B8C"/>
                </a:solidFill>
                <a:latin typeface="JetBrains Mono"/>
              </a:rPr>
              <a:t>]</a:t>
            </a:r>
          </a:p>
        </p:txBody>
      </p:sp>
      <p:sp>
        <p:nvSpPr>
          <p:cNvPr id="21" name="Rounded Rectangle 20"/>
          <p:cNvSpPr/>
          <p:nvPr/>
        </p:nvSpPr>
        <p:spPr>
          <a:xfrm>
            <a:off x="841248" y="2834640"/>
            <a:ext cx="777240" cy="256032"/>
          </a:xfrm>
          <a:prstGeom prst="roundRect">
            <a:avLst>
              <a:gd name="adj" fmla="val 18000"/>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00">
                <a:solidFill>
                  <a:srgbClr val="0D1B2A"/>
                </a:solidFill>
                <a:latin typeface="JetBrains Mono"/>
              </a:rPr>
              <a:t>3872</a:t>
            </a:r>
          </a:p>
        </p:txBody>
      </p:sp>
      <p:sp>
        <p:nvSpPr>
          <p:cNvPr id="22" name="Rounded Rectangle 21"/>
          <p:cNvSpPr/>
          <p:nvPr/>
        </p:nvSpPr>
        <p:spPr>
          <a:xfrm>
            <a:off x="1691640" y="2834640"/>
            <a:ext cx="914400" cy="256032"/>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00">
                <a:solidFill>
                  <a:srgbClr val="0D1B2A"/>
                </a:solidFill>
                <a:latin typeface="JetBrains Mono"/>
              </a:rPr>
              <a:t>makes</a:t>
            </a:r>
          </a:p>
        </p:txBody>
      </p:sp>
      <p:sp>
        <p:nvSpPr>
          <p:cNvPr id="23" name="TextBox 22"/>
          <p:cNvSpPr txBox="1"/>
          <p:nvPr/>
        </p:nvSpPr>
        <p:spPr>
          <a:xfrm>
            <a:off x="2926080" y="2871216"/>
            <a:ext cx="182880" cy="201168"/>
          </a:xfrm>
          <a:prstGeom prst="rect">
            <a:avLst/>
          </a:prstGeom>
          <a:noFill/>
        </p:spPr>
        <p:txBody>
          <a:bodyPr wrap="square" lIns="0" tIns="0" rIns="0" bIns="0" anchor="t">
            <a:spAutoFit/>
          </a:bodyPr>
          <a:lstStyle/>
          <a:p>
            <a:pPr algn="l"/>
            <a:r>
              <a:rPr sz="900" b="0">
                <a:solidFill>
                  <a:srgbClr val="6B7B8C"/>
                </a:solidFill>
                <a:latin typeface="JetBrains Mono"/>
              </a:rPr>
              <a:t>[</a:t>
            </a:r>
          </a:p>
        </p:txBody>
      </p:sp>
      <p:sp>
        <p:nvSpPr>
          <p:cNvPr id="24" name="TextBox 23"/>
          <p:cNvSpPr txBox="1"/>
          <p:nvPr/>
        </p:nvSpPr>
        <p:spPr>
          <a:xfrm>
            <a:off x="3090672" y="2871216"/>
            <a:ext cx="603504" cy="201168"/>
          </a:xfrm>
          <a:prstGeom prst="rect">
            <a:avLst/>
          </a:prstGeom>
          <a:noFill/>
        </p:spPr>
        <p:txBody>
          <a:bodyPr wrap="square" lIns="0" tIns="0" rIns="0" bIns="0" anchor="t">
            <a:spAutoFit/>
          </a:bodyPr>
          <a:lstStyle/>
          <a:p>
            <a:pPr algn="ctr"/>
            <a:r>
              <a:rPr sz="900" b="0">
                <a:solidFill>
                  <a:srgbClr val="0D1B2A"/>
                </a:solidFill>
                <a:latin typeface="JetBrains Mono"/>
              </a:rPr>
              <a:t>−0.14</a:t>
            </a:r>
          </a:p>
        </p:txBody>
      </p:sp>
      <p:sp>
        <p:nvSpPr>
          <p:cNvPr id="25" name="TextBox 24"/>
          <p:cNvSpPr txBox="1"/>
          <p:nvPr/>
        </p:nvSpPr>
        <p:spPr>
          <a:xfrm>
            <a:off x="3694176" y="2871216"/>
            <a:ext cx="603504" cy="201168"/>
          </a:xfrm>
          <a:prstGeom prst="rect">
            <a:avLst/>
          </a:prstGeom>
          <a:noFill/>
        </p:spPr>
        <p:txBody>
          <a:bodyPr wrap="square" lIns="0" tIns="0" rIns="0" bIns="0" anchor="t">
            <a:spAutoFit/>
          </a:bodyPr>
          <a:lstStyle/>
          <a:p>
            <a:pPr algn="ctr"/>
            <a:r>
              <a:rPr sz="900" b="0">
                <a:solidFill>
                  <a:srgbClr val="0D1B2A"/>
                </a:solidFill>
                <a:latin typeface="JetBrains Mono"/>
              </a:rPr>
              <a:t>0.62</a:t>
            </a:r>
          </a:p>
        </p:txBody>
      </p:sp>
      <p:sp>
        <p:nvSpPr>
          <p:cNvPr id="26" name="TextBox 25"/>
          <p:cNvSpPr txBox="1"/>
          <p:nvPr/>
        </p:nvSpPr>
        <p:spPr>
          <a:xfrm>
            <a:off x="4297680" y="2871216"/>
            <a:ext cx="603504" cy="201168"/>
          </a:xfrm>
          <a:prstGeom prst="rect">
            <a:avLst/>
          </a:prstGeom>
          <a:noFill/>
        </p:spPr>
        <p:txBody>
          <a:bodyPr wrap="square" lIns="0" tIns="0" rIns="0" bIns="0" anchor="t">
            <a:spAutoFit/>
          </a:bodyPr>
          <a:lstStyle/>
          <a:p>
            <a:pPr algn="ctr"/>
            <a:r>
              <a:rPr sz="900" b="0">
                <a:solidFill>
                  <a:srgbClr val="0D1B2A"/>
                </a:solidFill>
                <a:latin typeface="JetBrains Mono"/>
              </a:rPr>
              <a:t>0.08</a:t>
            </a:r>
          </a:p>
        </p:txBody>
      </p:sp>
      <p:sp>
        <p:nvSpPr>
          <p:cNvPr id="27" name="TextBox 26"/>
          <p:cNvSpPr txBox="1"/>
          <p:nvPr/>
        </p:nvSpPr>
        <p:spPr>
          <a:xfrm>
            <a:off x="4901184" y="2871216"/>
            <a:ext cx="603504" cy="201168"/>
          </a:xfrm>
          <a:prstGeom prst="rect">
            <a:avLst/>
          </a:prstGeom>
          <a:noFill/>
        </p:spPr>
        <p:txBody>
          <a:bodyPr wrap="square" lIns="0" tIns="0" rIns="0" bIns="0" anchor="t">
            <a:spAutoFit/>
          </a:bodyPr>
          <a:lstStyle/>
          <a:p>
            <a:pPr algn="ctr"/>
            <a:r>
              <a:rPr sz="900" b="0">
                <a:solidFill>
                  <a:srgbClr val="6B7B8C"/>
                </a:solidFill>
                <a:latin typeface="JetBrains Mono"/>
              </a:rPr>
              <a:t>…</a:t>
            </a:r>
          </a:p>
        </p:txBody>
      </p:sp>
      <p:sp>
        <p:nvSpPr>
          <p:cNvPr id="28" name="TextBox 27"/>
          <p:cNvSpPr txBox="1"/>
          <p:nvPr/>
        </p:nvSpPr>
        <p:spPr>
          <a:xfrm>
            <a:off x="5559552" y="2871216"/>
            <a:ext cx="182880" cy="201168"/>
          </a:xfrm>
          <a:prstGeom prst="rect">
            <a:avLst/>
          </a:prstGeom>
          <a:noFill/>
        </p:spPr>
        <p:txBody>
          <a:bodyPr wrap="square" lIns="0" tIns="0" rIns="0" bIns="0" anchor="t">
            <a:spAutoFit/>
          </a:bodyPr>
          <a:lstStyle/>
          <a:p>
            <a:pPr algn="l"/>
            <a:r>
              <a:rPr sz="900" b="0">
                <a:solidFill>
                  <a:srgbClr val="6B7B8C"/>
                </a:solidFill>
                <a:latin typeface="JetBrains Mono"/>
              </a:rPr>
              <a:t>]</a:t>
            </a:r>
          </a:p>
        </p:txBody>
      </p:sp>
      <p:sp>
        <p:nvSpPr>
          <p:cNvPr id="29" name="Rounded Rectangle 28"/>
          <p:cNvSpPr/>
          <p:nvPr/>
        </p:nvSpPr>
        <p:spPr>
          <a:xfrm>
            <a:off x="786384" y="3127248"/>
            <a:ext cx="4937760" cy="329184"/>
          </a:xfrm>
          <a:prstGeom prst="roundRect">
            <a:avLst>
              <a:gd name="adj" fmla="val 13888"/>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841248" y="3163824"/>
            <a:ext cx="777240" cy="256032"/>
          </a:xfrm>
          <a:prstGeom prst="roundRect">
            <a:avLst>
              <a:gd name="adj" fmla="val 18000"/>
            </a:avLst>
          </a:prstGeom>
          <a:solidFill>
            <a:srgbClr val="FFFFFF"/>
          </a:solidFill>
          <a:ln w="9525">
            <a:solidFill>
              <a:srgbClr val="1B9AAA"/>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00">
                <a:solidFill>
                  <a:srgbClr val="0D1B2A"/>
                </a:solidFill>
                <a:latin typeface="JetBrains Mono"/>
              </a:rPr>
              <a:t>27291</a:t>
            </a:r>
          </a:p>
        </p:txBody>
      </p:sp>
      <p:sp>
        <p:nvSpPr>
          <p:cNvPr id="31" name="Rounded Rectangle 30"/>
          <p:cNvSpPr/>
          <p:nvPr/>
        </p:nvSpPr>
        <p:spPr>
          <a:xfrm>
            <a:off x="1691640" y="3163824"/>
            <a:ext cx="914400" cy="256032"/>
          </a:xfrm>
          <a:prstGeom prst="roundRect">
            <a:avLst>
              <a:gd name="adj" fmla="val 18000"/>
            </a:avLst>
          </a:prstGeom>
          <a:solidFill>
            <a:srgbClr val="06D6A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00">
                <a:solidFill>
                  <a:srgbClr val="0D1B2A"/>
                </a:solidFill>
                <a:latin typeface="JetBrains Mono"/>
              </a:rPr>
              <a:t>pharmac</a:t>
            </a:r>
          </a:p>
        </p:txBody>
      </p:sp>
      <p:sp>
        <p:nvSpPr>
          <p:cNvPr id="32" name="TextBox 31"/>
          <p:cNvSpPr txBox="1"/>
          <p:nvPr/>
        </p:nvSpPr>
        <p:spPr>
          <a:xfrm>
            <a:off x="2926080" y="3200400"/>
            <a:ext cx="182880" cy="201168"/>
          </a:xfrm>
          <a:prstGeom prst="rect">
            <a:avLst/>
          </a:prstGeom>
          <a:noFill/>
        </p:spPr>
        <p:txBody>
          <a:bodyPr wrap="square" lIns="0" tIns="0" rIns="0" bIns="0" anchor="t">
            <a:spAutoFit/>
          </a:bodyPr>
          <a:lstStyle/>
          <a:p>
            <a:pPr algn="l"/>
            <a:r>
              <a:rPr sz="900" b="0">
                <a:solidFill>
                  <a:srgbClr val="6B7B8C"/>
                </a:solidFill>
                <a:latin typeface="JetBrains Mono"/>
              </a:rPr>
              <a:t>[</a:t>
            </a:r>
          </a:p>
        </p:txBody>
      </p:sp>
      <p:sp>
        <p:nvSpPr>
          <p:cNvPr id="33" name="TextBox 32"/>
          <p:cNvSpPr txBox="1"/>
          <p:nvPr/>
        </p:nvSpPr>
        <p:spPr>
          <a:xfrm>
            <a:off x="3090672" y="3200400"/>
            <a:ext cx="603504" cy="201168"/>
          </a:xfrm>
          <a:prstGeom prst="rect">
            <a:avLst/>
          </a:prstGeom>
          <a:noFill/>
        </p:spPr>
        <p:txBody>
          <a:bodyPr wrap="square" lIns="0" tIns="0" rIns="0" bIns="0" anchor="t">
            <a:spAutoFit/>
          </a:bodyPr>
          <a:lstStyle/>
          <a:p>
            <a:pPr algn="ctr"/>
            <a:r>
              <a:rPr sz="900" b="0">
                <a:solidFill>
                  <a:srgbClr val="0D1B2A"/>
                </a:solidFill>
                <a:latin typeface="JetBrains Mono"/>
              </a:rPr>
              <a:t>0.12</a:t>
            </a:r>
          </a:p>
        </p:txBody>
      </p:sp>
      <p:sp>
        <p:nvSpPr>
          <p:cNvPr id="34" name="TextBox 33"/>
          <p:cNvSpPr txBox="1"/>
          <p:nvPr/>
        </p:nvSpPr>
        <p:spPr>
          <a:xfrm>
            <a:off x="3694176" y="3200400"/>
            <a:ext cx="603504" cy="201168"/>
          </a:xfrm>
          <a:prstGeom prst="rect">
            <a:avLst/>
          </a:prstGeom>
          <a:noFill/>
        </p:spPr>
        <p:txBody>
          <a:bodyPr wrap="square" lIns="0" tIns="0" rIns="0" bIns="0" anchor="t">
            <a:spAutoFit/>
          </a:bodyPr>
          <a:lstStyle/>
          <a:p>
            <a:pPr algn="ctr"/>
            <a:r>
              <a:rPr sz="900" b="0">
                <a:solidFill>
                  <a:srgbClr val="0D1B2A"/>
                </a:solidFill>
                <a:latin typeface="JetBrains Mono"/>
              </a:rPr>
              <a:t>−0.48</a:t>
            </a:r>
          </a:p>
        </p:txBody>
      </p:sp>
      <p:sp>
        <p:nvSpPr>
          <p:cNvPr id="35" name="TextBox 34"/>
          <p:cNvSpPr txBox="1"/>
          <p:nvPr/>
        </p:nvSpPr>
        <p:spPr>
          <a:xfrm>
            <a:off x="4297680" y="3200400"/>
            <a:ext cx="603504" cy="201168"/>
          </a:xfrm>
          <a:prstGeom prst="rect">
            <a:avLst/>
          </a:prstGeom>
          <a:noFill/>
        </p:spPr>
        <p:txBody>
          <a:bodyPr wrap="square" lIns="0" tIns="0" rIns="0" bIns="0" anchor="t">
            <a:spAutoFit/>
          </a:bodyPr>
          <a:lstStyle/>
          <a:p>
            <a:pPr algn="ctr"/>
            <a:r>
              <a:rPr sz="900" b="0">
                <a:solidFill>
                  <a:srgbClr val="0D1B2A"/>
                </a:solidFill>
                <a:latin typeface="JetBrains Mono"/>
              </a:rPr>
              <a:t>0.91</a:t>
            </a:r>
          </a:p>
        </p:txBody>
      </p:sp>
      <p:sp>
        <p:nvSpPr>
          <p:cNvPr id="36" name="TextBox 35"/>
          <p:cNvSpPr txBox="1"/>
          <p:nvPr/>
        </p:nvSpPr>
        <p:spPr>
          <a:xfrm>
            <a:off x="4901184" y="3200400"/>
            <a:ext cx="603504" cy="201168"/>
          </a:xfrm>
          <a:prstGeom prst="rect">
            <a:avLst/>
          </a:prstGeom>
          <a:noFill/>
        </p:spPr>
        <p:txBody>
          <a:bodyPr wrap="square" lIns="0" tIns="0" rIns="0" bIns="0" anchor="t">
            <a:spAutoFit/>
          </a:bodyPr>
          <a:lstStyle/>
          <a:p>
            <a:pPr algn="ctr"/>
            <a:r>
              <a:rPr sz="900" b="0">
                <a:solidFill>
                  <a:srgbClr val="6B7B8C"/>
                </a:solidFill>
                <a:latin typeface="JetBrains Mono"/>
              </a:rPr>
              <a:t>…</a:t>
            </a:r>
          </a:p>
        </p:txBody>
      </p:sp>
      <p:sp>
        <p:nvSpPr>
          <p:cNvPr id="37" name="TextBox 36"/>
          <p:cNvSpPr txBox="1"/>
          <p:nvPr/>
        </p:nvSpPr>
        <p:spPr>
          <a:xfrm>
            <a:off x="5559552" y="3200400"/>
            <a:ext cx="182880" cy="201168"/>
          </a:xfrm>
          <a:prstGeom prst="rect">
            <a:avLst/>
          </a:prstGeom>
          <a:noFill/>
        </p:spPr>
        <p:txBody>
          <a:bodyPr wrap="square" lIns="0" tIns="0" rIns="0" bIns="0" anchor="t">
            <a:spAutoFit/>
          </a:bodyPr>
          <a:lstStyle/>
          <a:p>
            <a:pPr algn="l"/>
            <a:r>
              <a:rPr sz="900" b="0">
                <a:solidFill>
                  <a:srgbClr val="6B7B8C"/>
                </a:solidFill>
                <a:latin typeface="JetBrains Mono"/>
              </a:rPr>
              <a:t>]</a:t>
            </a:r>
          </a:p>
        </p:txBody>
      </p:sp>
      <p:sp>
        <p:nvSpPr>
          <p:cNvPr id="38" name="Rounded Rectangle 37"/>
          <p:cNvSpPr/>
          <p:nvPr/>
        </p:nvSpPr>
        <p:spPr>
          <a:xfrm>
            <a:off x="841248" y="3493008"/>
            <a:ext cx="777240" cy="256032"/>
          </a:xfrm>
          <a:prstGeom prst="roundRect">
            <a:avLst>
              <a:gd name="adj" fmla="val 18000"/>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00">
                <a:solidFill>
                  <a:srgbClr val="0D1B2A"/>
                </a:solidFill>
                <a:latin typeface="JetBrains Mono"/>
              </a:rPr>
              <a:t>9013</a:t>
            </a:r>
          </a:p>
        </p:txBody>
      </p:sp>
      <p:sp>
        <p:nvSpPr>
          <p:cNvPr id="39" name="Rounded Rectangle 38"/>
          <p:cNvSpPr/>
          <p:nvPr/>
        </p:nvSpPr>
        <p:spPr>
          <a:xfrm>
            <a:off x="1691640" y="3493008"/>
            <a:ext cx="914400" cy="256032"/>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00">
                <a:solidFill>
                  <a:srgbClr val="0D1B2A"/>
                </a:solidFill>
                <a:latin typeface="JetBrains Mono"/>
              </a:rPr>
              <a:t>easier</a:t>
            </a:r>
          </a:p>
        </p:txBody>
      </p:sp>
      <p:sp>
        <p:nvSpPr>
          <p:cNvPr id="40" name="TextBox 39"/>
          <p:cNvSpPr txBox="1"/>
          <p:nvPr/>
        </p:nvSpPr>
        <p:spPr>
          <a:xfrm>
            <a:off x="2926080" y="3529584"/>
            <a:ext cx="182880" cy="201168"/>
          </a:xfrm>
          <a:prstGeom prst="rect">
            <a:avLst/>
          </a:prstGeom>
          <a:noFill/>
        </p:spPr>
        <p:txBody>
          <a:bodyPr wrap="square" lIns="0" tIns="0" rIns="0" bIns="0" anchor="t">
            <a:spAutoFit/>
          </a:bodyPr>
          <a:lstStyle/>
          <a:p>
            <a:pPr algn="l"/>
            <a:r>
              <a:rPr sz="900" b="0">
                <a:solidFill>
                  <a:srgbClr val="6B7B8C"/>
                </a:solidFill>
                <a:latin typeface="JetBrains Mono"/>
              </a:rPr>
              <a:t>[</a:t>
            </a:r>
          </a:p>
        </p:txBody>
      </p:sp>
      <p:sp>
        <p:nvSpPr>
          <p:cNvPr id="41" name="TextBox 40"/>
          <p:cNvSpPr txBox="1"/>
          <p:nvPr/>
        </p:nvSpPr>
        <p:spPr>
          <a:xfrm>
            <a:off x="3090672" y="3529584"/>
            <a:ext cx="603504" cy="201168"/>
          </a:xfrm>
          <a:prstGeom prst="rect">
            <a:avLst/>
          </a:prstGeom>
          <a:noFill/>
        </p:spPr>
        <p:txBody>
          <a:bodyPr wrap="square" lIns="0" tIns="0" rIns="0" bIns="0" anchor="t">
            <a:spAutoFit/>
          </a:bodyPr>
          <a:lstStyle/>
          <a:p>
            <a:pPr algn="ctr"/>
            <a:r>
              <a:rPr sz="900" b="0">
                <a:solidFill>
                  <a:srgbClr val="0D1B2A"/>
                </a:solidFill>
                <a:latin typeface="JetBrains Mono"/>
              </a:rPr>
              <a:t>0.55</a:t>
            </a:r>
          </a:p>
        </p:txBody>
      </p:sp>
      <p:sp>
        <p:nvSpPr>
          <p:cNvPr id="42" name="TextBox 41"/>
          <p:cNvSpPr txBox="1"/>
          <p:nvPr/>
        </p:nvSpPr>
        <p:spPr>
          <a:xfrm>
            <a:off x="3694176" y="3529584"/>
            <a:ext cx="603504" cy="201168"/>
          </a:xfrm>
          <a:prstGeom prst="rect">
            <a:avLst/>
          </a:prstGeom>
          <a:noFill/>
        </p:spPr>
        <p:txBody>
          <a:bodyPr wrap="square" lIns="0" tIns="0" rIns="0" bIns="0" anchor="t">
            <a:spAutoFit/>
          </a:bodyPr>
          <a:lstStyle/>
          <a:p>
            <a:pPr algn="ctr"/>
            <a:r>
              <a:rPr sz="900" b="0">
                <a:solidFill>
                  <a:srgbClr val="0D1B2A"/>
                </a:solidFill>
                <a:latin typeface="JetBrains Mono"/>
              </a:rPr>
              <a:t>0.27</a:t>
            </a:r>
          </a:p>
        </p:txBody>
      </p:sp>
      <p:sp>
        <p:nvSpPr>
          <p:cNvPr id="43" name="TextBox 42"/>
          <p:cNvSpPr txBox="1"/>
          <p:nvPr/>
        </p:nvSpPr>
        <p:spPr>
          <a:xfrm>
            <a:off x="4297680" y="3529584"/>
            <a:ext cx="603504" cy="201168"/>
          </a:xfrm>
          <a:prstGeom prst="rect">
            <a:avLst/>
          </a:prstGeom>
          <a:noFill/>
        </p:spPr>
        <p:txBody>
          <a:bodyPr wrap="square" lIns="0" tIns="0" rIns="0" bIns="0" anchor="t">
            <a:spAutoFit/>
          </a:bodyPr>
          <a:lstStyle/>
          <a:p>
            <a:pPr algn="ctr"/>
            <a:r>
              <a:rPr sz="900" b="0">
                <a:solidFill>
                  <a:srgbClr val="0D1B2A"/>
                </a:solidFill>
                <a:latin typeface="JetBrains Mono"/>
              </a:rPr>
              <a:t>−0.36</a:t>
            </a:r>
          </a:p>
        </p:txBody>
      </p:sp>
      <p:sp>
        <p:nvSpPr>
          <p:cNvPr id="44" name="TextBox 43"/>
          <p:cNvSpPr txBox="1"/>
          <p:nvPr/>
        </p:nvSpPr>
        <p:spPr>
          <a:xfrm>
            <a:off x="4901184" y="3529584"/>
            <a:ext cx="603504" cy="201168"/>
          </a:xfrm>
          <a:prstGeom prst="rect">
            <a:avLst/>
          </a:prstGeom>
          <a:noFill/>
        </p:spPr>
        <p:txBody>
          <a:bodyPr wrap="square" lIns="0" tIns="0" rIns="0" bIns="0" anchor="t">
            <a:spAutoFit/>
          </a:bodyPr>
          <a:lstStyle/>
          <a:p>
            <a:pPr algn="ctr"/>
            <a:r>
              <a:rPr sz="900" b="0">
                <a:solidFill>
                  <a:srgbClr val="6B7B8C"/>
                </a:solidFill>
                <a:latin typeface="JetBrains Mono"/>
              </a:rPr>
              <a:t>…</a:t>
            </a:r>
          </a:p>
        </p:txBody>
      </p:sp>
      <p:sp>
        <p:nvSpPr>
          <p:cNvPr id="45" name="TextBox 44"/>
          <p:cNvSpPr txBox="1"/>
          <p:nvPr/>
        </p:nvSpPr>
        <p:spPr>
          <a:xfrm>
            <a:off x="5559552" y="3529584"/>
            <a:ext cx="182880" cy="201168"/>
          </a:xfrm>
          <a:prstGeom prst="rect">
            <a:avLst/>
          </a:prstGeom>
          <a:noFill/>
        </p:spPr>
        <p:txBody>
          <a:bodyPr wrap="square" lIns="0" tIns="0" rIns="0" bIns="0" anchor="t">
            <a:spAutoFit/>
          </a:bodyPr>
          <a:lstStyle/>
          <a:p>
            <a:pPr algn="l"/>
            <a:r>
              <a:rPr sz="900" b="0">
                <a:solidFill>
                  <a:srgbClr val="6B7B8C"/>
                </a:solidFill>
                <a:latin typeface="JetBrains Mono"/>
              </a:rPr>
              <a:t>]</a:t>
            </a:r>
          </a:p>
        </p:txBody>
      </p:sp>
      <p:sp>
        <p:nvSpPr>
          <p:cNvPr id="46" name="Rounded Rectangle 45"/>
          <p:cNvSpPr/>
          <p:nvPr/>
        </p:nvSpPr>
        <p:spPr>
          <a:xfrm>
            <a:off x="841248" y="3822191"/>
            <a:ext cx="777240" cy="256032"/>
          </a:xfrm>
          <a:prstGeom prst="roundRect">
            <a:avLst>
              <a:gd name="adj" fmla="val 18000"/>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00">
                <a:solidFill>
                  <a:srgbClr val="0D1B2A"/>
                </a:solidFill>
                <a:latin typeface="JetBrains Mono"/>
              </a:rPr>
              <a:t>13</a:t>
            </a:r>
          </a:p>
        </p:txBody>
      </p:sp>
      <p:sp>
        <p:nvSpPr>
          <p:cNvPr id="47" name="Rounded Rectangle 46"/>
          <p:cNvSpPr/>
          <p:nvPr/>
        </p:nvSpPr>
        <p:spPr>
          <a:xfrm>
            <a:off x="1691640" y="3822191"/>
            <a:ext cx="914400" cy="256032"/>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00">
                <a:solidFill>
                  <a:srgbClr val="0D1B2A"/>
                </a:solidFill>
                <a:latin typeface="JetBrains Mono"/>
              </a:rPr>
              <a:t>.</a:t>
            </a:r>
          </a:p>
        </p:txBody>
      </p:sp>
      <p:sp>
        <p:nvSpPr>
          <p:cNvPr id="48" name="TextBox 47"/>
          <p:cNvSpPr txBox="1"/>
          <p:nvPr/>
        </p:nvSpPr>
        <p:spPr>
          <a:xfrm>
            <a:off x="2926080" y="3858768"/>
            <a:ext cx="182880" cy="201168"/>
          </a:xfrm>
          <a:prstGeom prst="rect">
            <a:avLst/>
          </a:prstGeom>
          <a:noFill/>
        </p:spPr>
        <p:txBody>
          <a:bodyPr wrap="square" lIns="0" tIns="0" rIns="0" bIns="0" anchor="t">
            <a:spAutoFit/>
          </a:bodyPr>
          <a:lstStyle/>
          <a:p>
            <a:pPr algn="l"/>
            <a:r>
              <a:rPr sz="900" b="0">
                <a:solidFill>
                  <a:srgbClr val="6B7B8C"/>
                </a:solidFill>
                <a:latin typeface="JetBrains Mono"/>
              </a:rPr>
              <a:t>[</a:t>
            </a:r>
          </a:p>
        </p:txBody>
      </p:sp>
      <p:sp>
        <p:nvSpPr>
          <p:cNvPr id="49" name="TextBox 48"/>
          <p:cNvSpPr txBox="1"/>
          <p:nvPr/>
        </p:nvSpPr>
        <p:spPr>
          <a:xfrm>
            <a:off x="3090672" y="3858768"/>
            <a:ext cx="603504" cy="201168"/>
          </a:xfrm>
          <a:prstGeom prst="rect">
            <a:avLst/>
          </a:prstGeom>
          <a:noFill/>
        </p:spPr>
        <p:txBody>
          <a:bodyPr wrap="square" lIns="0" tIns="0" rIns="0" bIns="0" anchor="t">
            <a:spAutoFit/>
          </a:bodyPr>
          <a:lstStyle/>
          <a:p>
            <a:pPr algn="ctr"/>
            <a:r>
              <a:rPr sz="900" b="0">
                <a:solidFill>
                  <a:srgbClr val="0D1B2A"/>
                </a:solidFill>
                <a:latin typeface="JetBrains Mono"/>
              </a:rPr>
              <a:t>0.04</a:t>
            </a:r>
          </a:p>
        </p:txBody>
      </p:sp>
      <p:sp>
        <p:nvSpPr>
          <p:cNvPr id="50" name="TextBox 49"/>
          <p:cNvSpPr txBox="1"/>
          <p:nvPr/>
        </p:nvSpPr>
        <p:spPr>
          <a:xfrm>
            <a:off x="3694176" y="3858768"/>
            <a:ext cx="603504" cy="201168"/>
          </a:xfrm>
          <a:prstGeom prst="rect">
            <a:avLst/>
          </a:prstGeom>
          <a:noFill/>
        </p:spPr>
        <p:txBody>
          <a:bodyPr wrap="square" lIns="0" tIns="0" rIns="0" bIns="0" anchor="t">
            <a:spAutoFit/>
          </a:bodyPr>
          <a:lstStyle/>
          <a:p>
            <a:pPr algn="ctr"/>
            <a:r>
              <a:rPr sz="900" b="0">
                <a:solidFill>
                  <a:srgbClr val="0D1B2A"/>
                </a:solidFill>
                <a:latin typeface="JetBrains Mono"/>
              </a:rPr>
              <a:t>−0.11</a:t>
            </a:r>
          </a:p>
        </p:txBody>
      </p:sp>
      <p:sp>
        <p:nvSpPr>
          <p:cNvPr id="51" name="TextBox 50"/>
          <p:cNvSpPr txBox="1"/>
          <p:nvPr/>
        </p:nvSpPr>
        <p:spPr>
          <a:xfrm>
            <a:off x="4297680" y="3858768"/>
            <a:ext cx="603504" cy="201168"/>
          </a:xfrm>
          <a:prstGeom prst="rect">
            <a:avLst/>
          </a:prstGeom>
          <a:noFill/>
        </p:spPr>
        <p:txBody>
          <a:bodyPr wrap="square" lIns="0" tIns="0" rIns="0" bIns="0" anchor="t">
            <a:spAutoFit/>
          </a:bodyPr>
          <a:lstStyle/>
          <a:p>
            <a:pPr algn="ctr"/>
            <a:r>
              <a:rPr sz="900" b="0">
                <a:solidFill>
                  <a:srgbClr val="0D1B2A"/>
                </a:solidFill>
                <a:latin typeface="JetBrains Mono"/>
              </a:rPr>
              <a:t>0.19</a:t>
            </a:r>
          </a:p>
        </p:txBody>
      </p:sp>
      <p:sp>
        <p:nvSpPr>
          <p:cNvPr id="52" name="TextBox 51"/>
          <p:cNvSpPr txBox="1"/>
          <p:nvPr/>
        </p:nvSpPr>
        <p:spPr>
          <a:xfrm>
            <a:off x="4901184" y="3858768"/>
            <a:ext cx="603504" cy="201168"/>
          </a:xfrm>
          <a:prstGeom prst="rect">
            <a:avLst/>
          </a:prstGeom>
          <a:noFill/>
        </p:spPr>
        <p:txBody>
          <a:bodyPr wrap="square" lIns="0" tIns="0" rIns="0" bIns="0" anchor="t">
            <a:spAutoFit/>
          </a:bodyPr>
          <a:lstStyle/>
          <a:p>
            <a:pPr algn="ctr"/>
            <a:r>
              <a:rPr sz="900" b="0">
                <a:solidFill>
                  <a:srgbClr val="6B7B8C"/>
                </a:solidFill>
                <a:latin typeface="JetBrains Mono"/>
              </a:rPr>
              <a:t>…</a:t>
            </a:r>
          </a:p>
        </p:txBody>
      </p:sp>
      <p:sp>
        <p:nvSpPr>
          <p:cNvPr id="53" name="TextBox 52"/>
          <p:cNvSpPr txBox="1"/>
          <p:nvPr/>
        </p:nvSpPr>
        <p:spPr>
          <a:xfrm>
            <a:off x="5559552" y="3858768"/>
            <a:ext cx="182880" cy="201168"/>
          </a:xfrm>
          <a:prstGeom prst="rect">
            <a:avLst/>
          </a:prstGeom>
          <a:noFill/>
        </p:spPr>
        <p:txBody>
          <a:bodyPr wrap="square" lIns="0" tIns="0" rIns="0" bIns="0" anchor="t">
            <a:spAutoFit/>
          </a:bodyPr>
          <a:lstStyle/>
          <a:p>
            <a:pPr algn="l"/>
            <a:r>
              <a:rPr sz="900" b="0">
                <a:solidFill>
                  <a:srgbClr val="6B7B8C"/>
                </a:solidFill>
                <a:latin typeface="JetBrains Mono"/>
              </a:rPr>
              <a:t>]</a:t>
            </a:r>
          </a:p>
        </p:txBody>
      </p:sp>
      <p:sp>
        <p:nvSpPr>
          <p:cNvPr id="54" name="TextBox 53"/>
          <p:cNvSpPr txBox="1"/>
          <p:nvPr/>
        </p:nvSpPr>
        <p:spPr>
          <a:xfrm>
            <a:off x="841248" y="4206240"/>
            <a:ext cx="3200400" cy="201168"/>
          </a:xfrm>
          <a:prstGeom prst="rect">
            <a:avLst/>
          </a:prstGeom>
          <a:noFill/>
        </p:spPr>
        <p:txBody>
          <a:bodyPr wrap="square" lIns="0" tIns="0" rIns="0" bIns="0" anchor="t">
            <a:spAutoFit/>
          </a:bodyPr>
          <a:lstStyle/>
          <a:p>
            <a:pPr algn="l"/>
            <a:r>
              <a:rPr sz="950" b="0">
                <a:solidFill>
                  <a:srgbClr val="6B7B8C"/>
                </a:solidFill>
                <a:latin typeface="Roboto"/>
              </a:rPr>
              <a:t>… and roughly 100,000 more rows.</a:t>
            </a:r>
          </a:p>
        </p:txBody>
      </p:sp>
      <p:sp>
        <p:nvSpPr>
          <p:cNvPr id="55" name="Rectangle 54"/>
          <p:cNvSpPr/>
          <p:nvPr/>
        </p:nvSpPr>
        <p:spPr>
          <a:xfrm>
            <a:off x="5897880" y="1783080"/>
            <a:ext cx="2807208" cy="859536"/>
          </a:xfrm>
          <a:prstGeom prst="rect">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5897880" y="1783080"/>
            <a:ext cx="54864" cy="85953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6108192" y="1892807"/>
            <a:ext cx="2441448" cy="256032"/>
          </a:xfrm>
          <a:prstGeom prst="rect">
            <a:avLst/>
          </a:prstGeom>
          <a:noFill/>
        </p:spPr>
        <p:txBody>
          <a:bodyPr wrap="square" lIns="0" tIns="0" rIns="0" bIns="0" anchor="t">
            <a:spAutoFit/>
          </a:bodyPr>
          <a:lstStyle/>
          <a:p>
            <a:pPr algn="l"/>
            <a:r>
              <a:rPr sz="1500" b="0">
                <a:solidFill>
                  <a:srgbClr val="1B9AAA"/>
                </a:solidFill>
                <a:latin typeface="Oswald"/>
              </a:rPr>
              <a:t>Vocabulary</a:t>
            </a:r>
          </a:p>
        </p:txBody>
      </p:sp>
      <p:sp>
        <p:nvSpPr>
          <p:cNvPr id="58" name="TextBox 57"/>
          <p:cNvSpPr txBox="1"/>
          <p:nvPr/>
        </p:nvSpPr>
        <p:spPr>
          <a:xfrm>
            <a:off x="6108192" y="2167128"/>
            <a:ext cx="2441448" cy="411480"/>
          </a:xfrm>
          <a:prstGeom prst="rect">
            <a:avLst/>
          </a:prstGeom>
          <a:noFill/>
        </p:spPr>
        <p:txBody>
          <a:bodyPr wrap="square" lIns="0" tIns="0" rIns="0" bIns="0" anchor="t">
            <a:spAutoFit/>
          </a:bodyPr>
          <a:lstStyle/>
          <a:p>
            <a:pPr algn="l"/>
            <a:r>
              <a:rPr sz="1000" b="0">
                <a:solidFill>
                  <a:srgbClr val="14293D"/>
                </a:solidFill>
                <a:latin typeface="Roboto"/>
              </a:rPr>
              <a:t>The fixed list of all tokens a model knows — typically 50,000 to 200,000 entries.</a:t>
            </a:r>
          </a:p>
        </p:txBody>
      </p:sp>
      <p:sp>
        <p:nvSpPr>
          <p:cNvPr id="59" name="Rectangle 58"/>
          <p:cNvSpPr/>
          <p:nvPr/>
        </p:nvSpPr>
        <p:spPr>
          <a:xfrm>
            <a:off x="5897880" y="2734056"/>
            <a:ext cx="2807208" cy="859536"/>
          </a:xfrm>
          <a:prstGeom prst="rect">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ectangle 59"/>
          <p:cNvSpPr/>
          <p:nvPr/>
        </p:nvSpPr>
        <p:spPr>
          <a:xfrm>
            <a:off x="5897880" y="2734056"/>
            <a:ext cx="54864" cy="859536"/>
          </a:xfrm>
          <a:prstGeom prst="rect">
            <a:avLst/>
          </a:prstGeom>
          <a:solidFill>
            <a:srgbClr val="06D6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6108192" y="2843784"/>
            <a:ext cx="2441448" cy="256032"/>
          </a:xfrm>
          <a:prstGeom prst="rect">
            <a:avLst/>
          </a:prstGeom>
          <a:noFill/>
        </p:spPr>
        <p:txBody>
          <a:bodyPr wrap="square" lIns="0" tIns="0" rIns="0" bIns="0" anchor="t">
            <a:spAutoFit/>
          </a:bodyPr>
          <a:lstStyle/>
          <a:p>
            <a:pPr algn="l"/>
            <a:r>
              <a:rPr sz="1500" b="0">
                <a:solidFill>
                  <a:srgbClr val="06D6A0"/>
                </a:solidFill>
                <a:latin typeface="Oswald"/>
              </a:rPr>
              <a:t>Token</a:t>
            </a:r>
          </a:p>
        </p:txBody>
      </p:sp>
      <p:sp>
        <p:nvSpPr>
          <p:cNvPr id="62" name="TextBox 61"/>
          <p:cNvSpPr txBox="1"/>
          <p:nvPr/>
        </p:nvSpPr>
        <p:spPr>
          <a:xfrm>
            <a:off x="6108192" y="3118104"/>
            <a:ext cx="2441448" cy="411480"/>
          </a:xfrm>
          <a:prstGeom prst="rect">
            <a:avLst/>
          </a:prstGeom>
          <a:noFill/>
        </p:spPr>
        <p:txBody>
          <a:bodyPr wrap="square" lIns="0" tIns="0" rIns="0" bIns="0" anchor="t">
            <a:spAutoFit/>
          </a:bodyPr>
          <a:lstStyle/>
          <a:p>
            <a:pPr algn="l"/>
            <a:r>
              <a:rPr sz="1000" b="0">
                <a:solidFill>
                  <a:srgbClr val="14293D"/>
                </a:solidFill>
                <a:latin typeface="Roboto"/>
              </a:rPr>
              <a:t>One entry in that list: a word, part of a word or a punctuation mark.</a:t>
            </a:r>
          </a:p>
        </p:txBody>
      </p:sp>
      <p:sp>
        <p:nvSpPr>
          <p:cNvPr id="63" name="Rectangle 62"/>
          <p:cNvSpPr/>
          <p:nvPr/>
        </p:nvSpPr>
        <p:spPr>
          <a:xfrm>
            <a:off x="5897880" y="3685032"/>
            <a:ext cx="2807208" cy="859536"/>
          </a:xfrm>
          <a:prstGeom prst="rect">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ectangle 63"/>
          <p:cNvSpPr/>
          <p:nvPr/>
        </p:nvSpPr>
        <p:spPr>
          <a:xfrm>
            <a:off x="5897880" y="3685032"/>
            <a:ext cx="54864" cy="859536"/>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6108192" y="3794760"/>
            <a:ext cx="2441448" cy="256032"/>
          </a:xfrm>
          <a:prstGeom prst="rect">
            <a:avLst/>
          </a:prstGeom>
          <a:noFill/>
        </p:spPr>
        <p:txBody>
          <a:bodyPr wrap="square" lIns="0" tIns="0" rIns="0" bIns="0" anchor="t">
            <a:spAutoFit/>
          </a:bodyPr>
          <a:lstStyle/>
          <a:p>
            <a:pPr algn="l"/>
            <a:r>
              <a:rPr sz="1500" b="0">
                <a:solidFill>
                  <a:srgbClr val="0D1B2A"/>
                </a:solidFill>
                <a:latin typeface="Oswald"/>
              </a:rPr>
              <a:t>Embedding</a:t>
            </a:r>
          </a:p>
        </p:txBody>
      </p:sp>
      <p:sp>
        <p:nvSpPr>
          <p:cNvPr id="66" name="TextBox 65"/>
          <p:cNvSpPr txBox="1"/>
          <p:nvPr/>
        </p:nvSpPr>
        <p:spPr>
          <a:xfrm>
            <a:off x="6108192" y="4069080"/>
            <a:ext cx="2441448" cy="411480"/>
          </a:xfrm>
          <a:prstGeom prst="rect">
            <a:avLst/>
          </a:prstGeom>
          <a:noFill/>
        </p:spPr>
        <p:txBody>
          <a:bodyPr wrap="square" lIns="0" tIns="0" rIns="0" bIns="0" anchor="t">
            <a:spAutoFit/>
          </a:bodyPr>
          <a:lstStyle/>
          <a:p>
            <a:pPr algn="l"/>
            <a:r>
              <a:rPr sz="1000" b="0">
                <a:solidFill>
                  <a:srgbClr val="14293D"/>
                </a:solidFill>
                <a:latin typeface="Roboto"/>
              </a:rPr>
              <a:t>The list of numbers stored for each entry, learned during training.</a:t>
            </a:r>
          </a:p>
        </p:txBody>
      </p:sp>
      <p:sp>
        <p:nvSpPr>
          <p:cNvPr id="67" name="Rectangle 66"/>
          <p:cNvSpPr/>
          <p:nvPr/>
        </p:nvSpPr>
        <p:spPr>
          <a:xfrm>
            <a:off x="566928" y="4681727"/>
            <a:ext cx="45720" cy="21945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713232" y="4663440"/>
            <a:ext cx="7991856" cy="274320"/>
          </a:xfrm>
          <a:prstGeom prst="rect">
            <a:avLst/>
          </a:prstGeom>
          <a:noFill/>
        </p:spPr>
        <p:txBody>
          <a:bodyPr wrap="square" lIns="0" tIns="0" rIns="0" bIns="0" anchor="t">
            <a:spAutoFit/>
          </a:bodyPr>
          <a:lstStyle/>
          <a:p>
            <a:pPr algn="l"/>
            <a:r>
              <a:rPr sz="1200" b="0">
                <a:solidFill>
                  <a:srgbClr val="0D1B2A"/>
                </a:solidFill>
                <a:latin typeface="Roboto"/>
              </a:rPr>
              <a:t>Same text, different model, different vocabulary — which is why token counts and prices differ.</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514350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329184"/>
            <a:ext cx="8138160" cy="274320"/>
          </a:xfrm>
          <a:prstGeom prst="rect">
            <a:avLst/>
          </a:prstGeom>
          <a:noFill/>
        </p:spPr>
        <p:txBody>
          <a:bodyPr wrap="square" lIns="0" tIns="0" rIns="0" bIns="0" anchor="t">
            <a:spAutoFit/>
          </a:bodyPr>
          <a:lstStyle/>
          <a:p>
            <a:pPr algn="l"/>
            <a:r>
              <a:rPr sz="1100" b="0" spc="300">
                <a:solidFill>
                  <a:srgbClr val="1B9AAA"/>
                </a:solidFill>
                <a:latin typeface="JetBrains Mono"/>
              </a:rPr>
              <a:t>WORKING WITH LLMS · PROMPT</a:t>
            </a:r>
          </a:p>
        </p:txBody>
      </p:sp>
      <p:sp>
        <p:nvSpPr>
          <p:cNvPr id="4" name="slide-prompt"/>
          <p:cNvSpPr txBox="1"/>
          <p:nvPr/>
        </p:nvSpPr>
        <p:spPr>
          <a:xfrm>
            <a:off x="566928" y="603504"/>
            <a:ext cx="8138160" cy="658368"/>
          </a:xfrm>
          <a:prstGeom prst="rect">
            <a:avLst/>
          </a:prstGeom>
          <a:noFill/>
        </p:spPr>
        <p:txBody>
          <a:bodyPr wrap="square" lIns="0" tIns="0" rIns="0" bIns="0" anchor="t">
            <a:spAutoFit/>
          </a:bodyPr>
          <a:lstStyle/>
          <a:p>
            <a:pPr algn="l"/>
            <a:r>
              <a:rPr sz="3200" b="0">
                <a:solidFill>
                  <a:srgbClr val="0D1B2A"/>
                </a:solidFill>
                <a:latin typeface="Oswald"/>
              </a:rPr>
              <a:t>The prompt: what you give the model</a:t>
            </a:r>
          </a:p>
        </p:txBody>
      </p:sp>
      <p:sp>
        <p:nvSpPr>
          <p:cNvPr id="5" name="TextBox 4"/>
          <p:cNvSpPr txBox="1"/>
          <p:nvPr/>
        </p:nvSpPr>
        <p:spPr>
          <a:xfrm>
            <a:off x="566928" y="1298448"/>
            <a:ext cx="8138160" cy="457200"/>
          </a:xfrm>
          <a:prstGeom prst="rect">
            <a:avLst/>
          </a:prstGeom>
          <a:noFill/>
        </p:spPr>
        <p:txBody>
          <a:bodyPr wrap="square" lIns="0" tIns="0" rIns="0" bIns="0" anchor="t">
            <a:spAutoFit/>
          </a:bodyPr>
          <a:lstStyle/>
          <a:p>
            <a:pPr algn="l"/>
            <a:r>
              <a:rPr sz="1250" b="0">
                <a:solidFill>
                  <a:srgbClr val="14293D"/>
                </a:solidFill>
                <a:latin typeface="Roboto"/>
              </a:rPr>
              <a:t>A prompt is the input you provide to the model, mostly a question or instruction plus some context. A good prompt nudges the generation process of the model in the right direction. Better input means better output.</a:t>
            </a:r>
          </a:p>
        </p:txBody>
      </p:sp>
      <p:sp>
        <p:nvSpPr>
          <p:cNvPr id="6" name="Rounded Rectangle 5"/>
          <p:cNvSpPr/>
          <p:nvPr/>
        </p:nvSpPr>
        <p:spPr>
          <a:xfrm>
            <a:off x="566928" y="1874519"/>
            <a:ext cx="4114800" cy="2377440"/>
          </a:xfrm>
          <a:prstGeom prst="roundRect">
            <a:avLst>
              <a:gd name="adj" fmla="val 4615"/>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68096" y="2002536"/>
            <a:ext cx="1828800" cy="228600"/>
          </a:xfrm>
          <a:prstGeom prst="rect">
            <a:avLst/>
          </a:prstGeom>
          <a:noFill/>
        </p:spPr>
        <p:txBody>
          <a:bodyPr wrap="square" lIns="0" tIns="0" rIns="0" bIns="0" anchor="t">
            <a:spAutoFit/>
          </a:bodyPr>
          <a:lstStyle/>
          <a:p>
            <a:pPr algn="l"/>
            <a:r>
              <a:rPr sz="950" b="0" spc="100">
                <a:solidFill>
                  <a:srgbClr val="1B9AAA"/>
                </a:solidFill>
                <a:latin typeface="JetBrains Mono"/>
              </a:rPr>
              <a:t>CHAT INPUT</a:t>
            </a:r>
          </a:p>
        </p:txBody>
      </p:sp>
      <p:sp>
        <p:nvSpPr>
          <p:cNvPr id="8" name="Rounded Rectangle 7"/>
          <p:cNvSpPr/>
          <p:nvPr/>
        </p:nvSpPr>
        <p:spPr>
          <a:xfrm>
            <a:off x="768096" y="2295144"/>
            <a:ext cx="3712463" cy="292608"/>
          </a:xfrm>
          <a:prstGeom prst="roundRect">
            <a:avLst>
              <a:gd name="adj" fmla="val 15625"/>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59536" y="2350008"/>
            <a:ext cx="2971800" cy="201168"/>
          </a:xfrm>
          <a:prstGeom prst="rect">
            <a:avLst/>
          </a:prstGeom>
          <a:noFill/>
        </p:spPr>
        <p:txBody>
          <a:bodyPr wrap="square" lIns="0" tIns="0" rIns="0" bIns="0" anchor="t">
            <a:spAutoFit/>
          </a:bodyPr>
          <a:lstStyle/>
          <a:p>
            <a:pPr algn="l"/>
            <a:r>
              <a:rPr sz="1050" b="0">
                <a:solidFill>
                  <a:srgbClr val="0D1B2A"/>
                </a:solidFill>
                <a:latin typeface="Roboto"/>
              </a:rPr>
              <a:t>You are an experienced science writer.</a:t>
            </a:r>
          </a:p>
        </p:txBody>
      </p:sp>
      <p:sp>
        <p:nvSpPr>
          <p:cNvPr id="10" name="TextBox 9"/>
          <p:cNvSpPr txBox="1"/>
          <p:nvPr/>
        </p:nvSpPr>
        <p:spPr>
          <a:xfrm>
            <a:off x="3767328" y="2368296"/>
            <a:ext cx="685800" cy="164592"/>
          </a:xfrm>
          <a:prstGeom prst="rect">
            <a:avLst/>
          </a:prstGeom>
          <a:noFill/>
        </p:spPr>
        <p:txBody>
          <a:bodyPr wrap="square" lIns="0" tIns="0" rIns="0" bIns="0" anchor="t">
            <a:spAutoFit/>
          </a:bodyPr>
          <a:lstStyle/>
          <a:p>
            <a:pPr algn="r"/>
            <a:r>
              <a:rPr sz="750" b="0">
                <a:solidFill>
                  <a:srgbClr val="6B7B8C"/>
                </a:solidFill>
                <a:latin typeface="JetBrains Mono"/>
              </a:rPr>
              <a:t>ROLE</a:t>
            </a:r>
          </a:p>
        </p:txBody>
      </p:sp>
      <p:sp>
        <p:nvSpPr>
          <p:cNvPr id="11" name="Rounded Rectangle 10"/>
          <p:cNvSpPr/>
          <p:nvPr/>
        </p:nvSpPr>
        <p:spPr>
          <a:xfrm>
            <a:off x="768096" y="2642615"/>
            <a:ext cx="3712463" cy="292608"/>
          </a:xfrm>
          <a:prstGeom prst="roundRect">
            <a:avLst>
              <a:gd name="adj" fmla="val 15625"/>
            </a:avLst>
          </a:prstGeom>
          <a:solidFill>
            <a:srgbClr val="CFF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59536" y="2697479"/>
            <a:ext cx="2971800" cy="201168"/>
          </a:xfrm>
          <a:prstGeom prst="rect">
            <a:avLst/>
          </a:prstGeom>
          <a:noFill/>
        </p:spPr>
        <p:txBody>
          <a:bodyPr wrap="square" lIns="0" tIns="0" rIns="0" bIns="0" anchor="t">
            <a:spAutoFit/>
          </a:bodyPr>
          <a:lstStyle/>
          <a:p>
            <a:pPr algn="l"/>
            <a:r>
              <a:rPr sz="1050" b="0">
                <a:solidFill>
                  <a:srgbClr val="0D1B2A"/>
                </a:solidFill>
                <a:latin typeface="Roboto"/>
              </a:rPr>
              <a:t>Summarize the attached study report</a:t>
            </a:r>
          </a:p>
        </p:txBody>
      </p:sp>
      <p:sp>
        <p:nvSpPr>
          <p:cNvPr id="13" name="TextBox 12"/>
          <p:cNvSpPr txBox="1"/>
          <p:nvPr/>
        </p:nvSpPr>
        <p:spPr>
          <a:xfrm>
            <a:off x="3767328" y="2715768"/>
            <a:ext cx="685800" cy="164592"/>
          </a:xfrm>
          <a:prstGeom prst="rect">
            <a:avLst/>
          </a:prstGeom>
          <a:noFill/>
        </p:spPr>
        <p:txBody>
          <a:bodyPr wrap="square" lIns="0" tIns="0" rIns="0" bIns="0" anchor="t">
            <a:spAutoFit/>
          </a:bodyPr>
          <a:lstStyle/>
          <a:p>
            <a:pPr algn="r"/>
            <a:r>
              <a:rPr sz="750" b="0">
                <a:solidFill>
                  <a:srgbClr val="6B7B8C"/>
                </a:solidFill>
                <a:latin typeface="JetBrains Mono"/>
              </a:rPr>
              <a:t>TASK</a:t>
            </a:r>
          </a:p>
        </p:txBody>
      </p:sp>
      <p:sp>
        <p:nvSpPr>
          <p:cNvPr id="14" name="Rounded Rectangle 13"/>
          <p:cNvSpPr/>
          <p:nvPr/>
        </p:nvSpPr>
        <p:spPr>
          <a:xfrm>
            <a:off x="768096" y="2990087"/>
            <a:ext cx="3712463" cy="292608"/>
          </a:xfrm>
          <a:prstGeom prst="roundRect">
            <a:avLst>
              <a:gd name="adj" fmla="val 15625"/>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59536" y="3044951"/>
            <a:ext cx="2971800" cy="201168"/>
          </a:xfrm>
          <a:prstGeom prst="rect">
            <a:avLst/>
          </a:prstGeom>
          <a:noFill/>
        </p:spPr>
        <p:txBody>
          <a:bodyPr wrap="square" lIns="0" tIns="0" rIns="0" bIns="0" anchor="t">
            <a:spAutoFit/>
          </a:bodyPr>
          <a:lstStyle/>
          <a:p>
            <a:pPr algn="l"/>
            <a:r>
              <a:rPr sz="1050" b="0">
                <a:solidFill>
                  <a:srgbClr val="0D1B2A"/>
                </a:solidFill>
                <a:latin typeface="Roboto"/>
              </a:rPr>
              <a:t>for colleagues without a medical background</a:t>
            </a:r>
          </a:p>
        </p:txBody>
      </p:sp>
      <p:sp>
        <p:nvSpPr>
          <p:cNvPr id="16" name="TextBox 15"/>
          <p:cNvSpPr txBox="1"/>
          <p:nvPr/>
        </p:nvSpPr>
        <p:spPr>
          <a:xfrm>
            <a:off x="3767328" y="3063239"/>
            <a:ext cx="685800" cy="164592"/>
          </a:xfrm>
          <a:prstGeom prst="rect">
            <a:avLst/>
          </a:prstGeom>
          <a:noFill/>
        </p:spPr>
        <p:txBody>
          <a:bodyPr wrap="square" lIns="0" tIns="0" rIns="0" bIns="0" anchor="t">
            <a:spAutoFit/>
          </a:bodyPr>
          <a:lstStyle/>
          <a:p>
            <a:pPr algn="r"/>
            <a:r>
              <a:rPr sz="750" b="0">
                <a:solidFill>
                  <a:srgbClr val="6B7B8C"/>
                </a:solidFill>
                <a:latin typeface="JetBrains Mono"/>
              </a:rPr>
              <a:t>CONTEXT</a:t>
            </a:r>
          </a:p>
        </p:txBody>
      </p:sp>
      <p:sp>
        <p:nvSpPr>
          <p:cNvPr id="17" name="Rounded Rectangle 16"/>
          <p:cNvSpPr/>
          <p:nvPr/>
        </p:nvSpPr>
        <p:spPr>
          <a:xfrm>
            <a:off x="768096" y="3337559"/>
            <a:ext cx="3712463" cy="292608"/>
          </a:xfrm>
          <a:prstGeom prst="roundRect">
            <a:avLst>
              <a:gd name="adj" fmla="val 15625"/>
            </a:avLst>
          </a:prstGeom>
          <a:solidFill>
            <a:srgbClr val="CFF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59536" y="3392423"/>
            <a:ext cx="2971800" cy="201168"/>
          </a:xfrm>
          <a:prstGeom prst="rect">
            <a:avLst/>
          </a:prstGeom>
          <a:noFill/>
        </p:spPr>
        <p:txBody>
          <a:bodyPr wrap="square" lIns="0" tIns="0" rIns="0" bIns="0" anchor="t">
            <a:spAutoFit/>
          </a:bodyPr>
          <a:lstStyle/>
          <a:p>
            <a:pPr algn="l"/>
            <a:r>
              <a:rPr sz="1050" b="0">
                <a:solidFill>
                  <a:srgbClr val="0D1B2A"/>
                </a:solidFill>
                <a:latin typeface="Roboto"/>
              </a:rPr>
              <a:t>in five short bullet points.</a:t>
            </a:r>
          </a:p>
        </p:txBody>
      </p:sp>
      <p:sp>
        <p:nvSpPr>
          <p:cNvPr id="19" name="TextBox 18"/>
          <p:cNvSpPr txBox="1"/>
          <p:nvPr/>
        </p:nvSpPr>
        <p:spPr>
          <a:xfrm>
            <a:off x="3767328" y="3410711"/>
            <a:ext cx="685800" cy="164592"/>
          </a:xfrm>
          <a:prstGeom prst="rect">
            <a:avLst/>
          </a:prstGeom>
          <a:noFill/>
        </p:spPr>
        <p:txBody>
          <a:bodyPr wrap="square" lIns="0" tIns="0" rIns="0" bIns="0" anchor="t">
            <a:spAutoFit/>
          </a:bodyPr>
          <a:lstStyle/>
          <a:p>
            <a:pPr algn="r"/>
            <a:r>
              <a:rPr sz="750" b="0">
                <a:solidFill>
                  <a:srgbClr val="6B7B8C"/>
                </a:solidFill>
                <a:latin typeface="JetBrains Mono"/>
              </a:rPr>
              <a:t>FORMAT</a:t>
            </a:r>
          </a:p>
        </p:txBody>
      </p:sp>
      <p:sp>
        <p:nvSpPr>
          <p:cNvPr id="20" name="Rounded Rectangle 19"/>
          <p:cNvSpPr/>
          <p:nvPr/>
        </p:nvSpPr>
        <p:spPr>
          <a:xfrm>
            <a:off x="768096" y="3840480"/>
            <a:ext cx="1600200" cy="237744"/>
          </a:xfrm>
          <a:prstGeom prst="roundRect">
            <a:avLst>
              <a:gd name="adj" fmla="val 19230"/>
            </a:avLst>
          </a:prstGeom>
          <a:solidFill>
            <a:srgbClr val="F4F7F8"/>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841247" y="3886200"/>
            <a:ext cx="109728" cy="146304"/>
          </a:xfrm>
          <a:prstGeom prst="rect">
            <a:avLst/>
          </a:prstGeom>
          <a:solidFill>
            <a:srgbClr val="FFFFFF"/>
          </a:solidFill>
          <a:ln w="9525">
            <a:solidFill>
              <a:srgbClr val="6B7B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59536" y="3922776"/>
            <a:ext cx="73152" cy="18288"/>
          </a:xfrm>
          <a:prstGeom prst="rect">
            <a:avLst/>
          </a:prstGeom>
          <a:solidFill>
            <a:srgbClr val="6B7B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859536" y="3959352"/>
            <a:ext cx="73152" cy="18288"/>
          </a:xfrm>
          <a:prstGeom prst="rect">
            <a:avLst/>
          </a:prstGeom>
          <a:solidFill>
            <a:srgbClr val="6B7B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05840" y="3877056"/>
            <a:ext cx="1280160" cy="182880"/>
          </a:xfrm>
          <a:prstGeom prst="rect">
            <a:avLst/>
          </a:prstGeom>
          <a:noFill/>
        </p:spPr>
        <p:txBody>
          <a:bodyPr wrap="square" lIns="0" tIns="0" rIns="0" bIns="0" anchor="t">
            <a:spAutoFit/>
          </a:bodyPr>
          <a:lstStyle/>
          <a:p>
            <a:pPr algn="l"/>
            <a:r>
              <a:rPr sz="900" b="0">
                <a:solidFill>
                  <a:srgbClr val="14293D"/>
                </a:solidFill>
                <a:latin typeface="Roboto"/>
              </a:rPr>
              <a:t>study-report.pdf</a:t>
            </a:r>
          </a:p>
        </p:txBody>
      </p:sp>
      <p:sp>
        <p:nvSpPr>
          <p:cNvPr id="25" name="Rounded Rectangle 24"/>
          <p:cNvSpPr/>
          <p:nvPr/>
        </p:nvSpPr>
        <p:spPr>
          <a:xfrm>
            <a:off x="4178808" y="3794760"/>
            <a:ext cx="310896" cy="310896"/>
          </a:xfrm>
          <a:prstGeom prst="roundRect">
            <a:avLst>
              <a:gd name="adj" fmla="val 18000"/>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a:solidFill>
                  <a:srgbClr val="FFFFFF"/>
                </a:solidFill>
                <a:latin typeface="JetBrains Mono"/>
              </a:rPr>
              <a:t>↑</a:t>
            </a:r>
          </a:p>
        </p:txBody>
      </p:sp>
      <p:cxnSp>
        <p:nvCxnSpPr>
          <p:cNvPr id="26" name="Connector 25"/>
          <p:cNvCxnSpPr/>
          <p:nvPr/>
        </p:nvCxnSpPr>
        <p:spPr>
          <a:xfrm>
            <a:off x="4754880" y="3063240"/>
            <a:ext cx="201168" cy="0"/>
          </a:xfrm>
          <a:prstGeom prst="line">
            <a:avLst/>
          </a:prstGeom>
          <a:ln w="22225">
            <a:solidFill>
              <a:srgbClr val="1B9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5029200" y="2560320"/>
            <a:ext cx="1005840" cy="1005840"/>
          </a:xfrm>
          <a:prstGeom prst="ellipse">
            <a:avLst/>
          </a:prstGeom>
          <a:solidFill>
            <a:srgbClr val="1B9AAA">
              <a:alpha val="18000"/>
            </a:srgbClr>
          </a:solidFill>
          <a:ln w="9525">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029200" y="2880360"/>
            <a:ext cx="1005840" cy="365760"/>
          </a:xfrm>
          <a:prstGeom prst="rect">
            <a:avLst/>
          </a:prstGeom>
          <a:noFill/>
        </p:spPr>
        <p:txBody>
          <a:bodyPr wrap="square" lIns="0" tIns="0" rIns="0" bIns="0" anchor="t">
            <a:spAutoFit/>
          </a:bodyPr>
          <a:lstStyle/>
          <a:p>
            <a:pPr algn="ctr"/>
            <a:r>
              <a:rPr sz="1900" b="0">
                <a:solidFill>
                  <a:srgbClr val="0D1B2A"/>
                </a:solidFill>
                <a:latin typeface="Oswald"/>
              </a:rPr>
              <a:t>LLM</a:t>
            </a:r>
          </a:p>
        </p:txBody>
      </p:sp>
      <p:cxnSp>
        <p:nvCxnSpPr>
          <p:cNvPr id="29" name="Connector 28"/>
          <p:cNvCxnSpPr/>
          <p:nvPr/>
        </p:nvCxnSpPr>
        <p:spPr>
          <a:xfrm>
            <a:off x="6108192" y="3063240"/>
            <a:ext cx="246888" cy="0"/>
          </a:xfrm>
          <a:prstGeom prst="line">
            <a:avLst/>
          </a:prstGeom>
          <a:ln w="22225">
            <a:solidFill>
              <a:srgbClr val="1B9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6428232" y="2103120"/>
            <a:ext cx="2276855" cy="1920240"/>
          </a:xfrm>
          <a:prstGeom prst="roundRect">
            <a:avLst>
              <a:gd name="adj" fmla="val 4761"/>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629400" y="2240280"/>
            <a:ext cx="3657600" cy="228600"/>
          </a:xfrm>
          <a:prstGeom prst="rect">
            <a:avLst/>
          </a:prstGeom>
          <a:noFill/>
        </p:spPr>
        <p:txBody>
          <a:bodyPr wrap="square" lIns="0" tIns="0" rIns="0" bIns="0" anchor="t">
            <a:spAutoFit/>
          </a:bodyPr>
          <a:lstStyle/>
          <a:p>
            <a:pPr algn="l"/>
            <a:r>
              <a:rPr sz="950" b="0" spc="100">
                <a:solidFill>
                  <a:srgbClr val="06D6A0"/>
                </a:solidFill>
                <a:latin typeface="JetBrains Mono"/>
              </a:rPr>
              <a:t>ANSWER</a:t>
            </a:r>
          </a:p>
        </p:txBody>
      </p:sp>
      <p:sp>
        <p:nvSpPr>
          <p:cNvPr id="32" name="TextBox 31"/>
          <p:cNvSpPr txBox="1"/>
          <p:nvPr/>
        </p:nvSpPr>
        <p:spPr>
          <a:xfrm>
            <a:off x="6629400" y="2523744"/>
            <a:ext cx="1911095" cy="219456"/>
          </a:xfrm>
          <a:prstGeom prst="rect">
            <a:avLst/>
          </a:prstGeom>
          <a:noFill/>
        </p:spPr>
        <p:txBody>
          <a:bodyPr wrap="square" lIns="0" tIns="0" rIns="0" bIns="0" anchor="t">
            <a:spAutoFit/>
          </a:bodyPr>
          <a:lstStyle/>
          <a:p>
            <a:pPr algn="l"/>
            <a:r>
              <a:rPr sz="1000" b="0">
                <a:solidFill>
                  <a:srgbClr val="AFC2CE"/>
                </a:solidFill>
                <a:latin typeface="Roboto"/>
              </a:rPr>
              <a:t>• 2,400 employees surveyed</a:t>
            </a:r>
          </a:p>
        </p:txBody>
      </p:sp>
      <p:sp>
        <p:nvSpPr>
          <p:cNvPr id="33" name="TextBox 32"/>
          <p:cNvSpPr txBox="1"/>
          <p:nvPr/>
        </p:nvSpPr>
        <p:spPr>
          <a:xfrm>
            <a:off x="6629400" y="2779776"/>
            <a:ext cx="1911095" cy="219456"/>
          </a:xfrm>
          <a:prstGeom prst="rect">
            <a:avLst/>
          </a:prstGeom>
          <a:noFill/>
        </p:spPr>
        <p:txBody>
          <a:bodyPr wrap="square" lIns="0" tIns="0" rIns="0" bIns="0" anchor="t">
            <a:spAutoFit/>
          </a:bodyPr>
          <a:lstStyle/>
          <a:p>
            <a:pPr algn="l"/>
            <a:r>
              <a:rPr sz="1000" b="0">
                <a:solidFill>
                  <a:srgbClr val="AFC2CE"/>
                </a:solidFill>
                <a:latin typeface="Roboto"/>
              </a:rPr>
              <a:t>• Productivity up 13%</a:t>
            </a:r>
          </a:p>
        </p:txBody>
      </p:sp>
      <p:sp>
        <p:nvSpPr>
          <p:cNvPr id="34" name="TextBox 33"/>
          <p:cNvSpPr txBox="1"/>
          <p:nvPr/>
        </p:nvSpPr>
        <p:spPr>
          <a:xfrm>
            <a:off x="6629400" y="3035808"/>
            <a:ext cx="1911095" cy="219456"/>
          </a:xfrm>
          <a:prstGeom prst="rect">
            <a:avLst/>
          </a:prstGeom>
          <a:noFill/>
        </p:spPr>
        <p:txBody>
          <a:bodyPr wrap="square" lIns="0" tIns="0" rIns="0" bIns="0" anchor="t">
            <a:spAutoFit/>
          </a:bodyPr>
          <a:lstStyle/>
          <a:p>
            <a:pPr algn="l"/>
            <a:r>
              <a:rPr sz="1000" b="0">
                <a:solidFill>
                  <a:srgbClr val="AFC2CE"/>
                </a:solidFill>
                <a:latin typeface="Roboto"/>
              </a:rPr>
              <a:t>• Fewer sick days</a:t>
            </a:r>
          </a:p>
        </p:txBody>
      </p:sp>
      <p:sp>
        <p:nvSpPr>
          <p:cNvPr id="35" name="TextBox 34"/>
          <p:cNvSpPr txBox="1"/>
          <p:nvPr/>
        </p:nvSpPr>
        <p:spPr>
          <a:xfrm>
            <a:off x="6629400" y="3291839"/>
            <a:ext cx="1911095" cy="219456"/>
          </a:xfrm>
          <a:prstGeom prst="rect">
            <a:avLst/>
          </a:prstGeom>
          <a:noFill/>
        </p:spPr>
        <p:txBody>
          <a:bodyPr wrap="square" lIns="0" tIns="0" rIns="0" bIns="0" anchor="t">
            <a:spAutoFit/>
          </a:bodyPr>
          <a:lstStyle/>
          <a:p>
            <a:pPr algn="l"/>
            <a:r>
              <a:rPr sz="1000" b="0">
                <a:solidFill>
                  <a:srgbClr val="AFC2CE"/>
                </a:solidFill>
                <a:latin typeface="Roboto"/>
              </a:rPr>
              <a:t>• Weaker team communication</a:t>
            </a:r>
          </a:p>
        </p:txBody>
      </p:sp>
      <p:sp>
        <p:nvSpPr>
          <p:cNvPr id="36" name="TextBox 35"/>
          <p:cNvSpPr txBox="1"/>
          <p:nvPr/>
        </p:nvSpPr>
        <p:spPr>
          <a:xfrm>
            <a:off x="6629400" y="3547872"/>
            <a:ext cx="1911095" cy="219456"/>
          </a:xfrm>
          <a:prstGeom prst="rect">
            <a:avLst/>
          </a:prstGeom>
          <a:noFill/>
        </p:spPr>
        <p:txBody>
          <a:bodyPr wrap="square" lIns="0" tIns="0" rIns="0" bIns="0" anchor="t">
            <a:spAutoFit/>
          </a:bodyPr>
          <a:lstStyle/>
          <a:p>
            <a:pPr algn="l"/>
            <a:r>
              <a:rPr sz="1000" b="0">
                <a:solidFill>
                  <a:srgbClr val="AFC2CE"/>
                </a:solidFill>
                <a:latin typeface="Roboto"/>
              </a:rPr>
              <a:t>• Hybrid work recommended</a:t>
            </a:r>
          </a:p>
        </p:txBody>
      </p:sp>
      <p:sp>
        <p:nvSpPr>
          <p:cNvPr id="37" name="Rectangle 36"/>
          <p:cNvSpPr/>
          <p:nvPr/>
        </p:nvSpPr>
        <p:spPr>
          <a:xfrm>
            <a:off x="566928" y="4590288"/>
            <a:ext cx="45720" cy="347472"/>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713232" y="4572000"/>
            <a:ext cx="7991856" cy="402336"/>
          </a:xfrm>
          <a:prstGeom prst="rect">
            <a:avLst/>
          </a:prstGeom>
          <a:noFill/>
        </p:spPr>
        <p:txBody>
          <a:bodyPr wrap="square" lIns="0" tIns="0" rIns="0" bIns="0" anchor="t">
            <a:spAutoFit/>
          </a:bodyPr>
          <a:lstStyle/>
          <a:p>
            <a:pPr algn="l"/>
            <a:r>
              <a:rPr sz="1150" b="0">
                <a:solidFill>
                  <a:srgbClr val="0D1B2A"/>
                </a:solidFill>
                <a:latin typeface="Roboto"/>
              </a:rPr>
              <a:t>Same model, different prompt, different answer. The chat tool also sends along things you never type: a system prompt, the conversation so far and attachments — together they fill the context window.</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514350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329184"/>
            <a:ext cx="8138160" cy="274320"/>
          </a:xfrm>
          <a:prstGeom prst="rect">
            <a:avLst/>
          </a:prstGeom>
          <a:noFill/>
        </p:spPr>
        <p:txBody>
          <a:bodyPr wrap="square" lIns="0" tIns="0" rIns="0" bIns="0" anchor="t">
            <a:spAutoFit/>
          </a:bodyPr>
          <a:lstStyle/>
          <a:p>
            <a:pPr algn="l"/>
            <a:r>
              <a:rPr sz="1100" b="0" spc="300">
                <a:solidFill>
                  <a:srgbClr val="1B9AAA"/>
                </a:solidFill>
                <a:latin typeface="JetBrains Mono"/>
              </a:rPr>
              <a:t>WORKING WITH LLMS · CONTEXT WINDOW</a:t>
            </a:r>
          </a:p>
        </p:txBody>
      </p:sp>
      <p:sp>
        <p:nvSpPr>
          <p:cNvPr id="4" name="slide-context-window"/>
          <p:cNvSpPr txBox="1"/>
          <p:nvPr/>
        </p:nvSpPr>
        <p:spPr>
          <a:xfrm>
            <a:off x="566928" y="603504"/>
            <a:ext cx="8138160" cy="658368"/>
          </a:xfrm>
          <a:prstGeom prst="rect">
            <a:avLst/>
          </a:prstGeom>
          <a:noFill/>
        </p:spPr>
        <p:txBody>
          <a:bodyPr wrap="square" lIns="0" tIns="0" rIns="0" bIns="0" anchor="t">
            <a:spAutoFit/>
          </a:bodyPr>
          <a:lstStyle/>
          <a:p>
            <a:pPr algn="l"/>
            <a:r>
              <a:rPr sz="3200" b="0">
                <a:solidFill>
                  <a:srgbClr val="0D1B2A"/>
                </a:solidFill>
                <a:latin typeface="Oswald"/>
              </a:rPr>
              <a:t>The context window: the model's working memory</a:t>
            </a:r>
          </a:p>
        </p:txBody>
      </p:sp>
      <p:sp>
        <p:nvSpPr>
          <p:cNvPr id="5" name="TextBox 4"/>
          <p:cNvSpPr txBox="1"/>
          <p:nvPr/>
        </p:nvSpPr>
        <p:spPr>
          <a:xfrm>
            <a:off x="566928" y="1298448"/>
            <a:ext cx="8138160" cy="457200"/>
          </a:xfrm>
          <a:prstGeom prst="rect">
            <a:avLst/>
          </a:prstGeom>
          <a:noFill/>
        </p:spPr>
        <p:txBody>
          <a:bodyPr wrap="square" lIns="0" tIns="0" rIns="0" bIns="0" anchor="t">
            <a:spAutoFit/>
          </a:bodyPr>
          <a:lstStyle/>
          <a:p>
            <a:pPr algn="l"/>
            <a:r>
              <a:rPr sz="1400" b="0">
                <a:solidFill>
                  <a:srgbClr val="14293D"/>
                </a:solidFill>
                <a:latin typeface="Roboto"/>
              </a:rPr>
              <a:t>A model can only “see” a limited amount of text at once, and everything has to fit.</a:t>
            </a:r>
          </a:p>
        </p:txBody>
      </p:sp>
      <p:sp>
        <p:nvSpPr>
          <p:cNvPr id="6" name="Rectangle 5"/>
          <p:cNvSpPr/>
          <p:nvPr/>
        </p:nvSpPr>
        <p:spPr>
          <a:xfrm>
            <a:off x="566928" y="1783080"/>
            <a:ext cx="8138160" cy="1627632"/>
          </a:xfrm>
          <a:prstGeom prst="rect">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66928" y="1783080"/>
            <a:ext cx="54864" cy="1627632"/>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1901952"/>
            <a:ext cx="3657600" cy="228600"/>
          </a:xfrm>
          <a:prstGeom prst="rect">
            <a:avLst/>
          </a:prstGeom>
          <a:noFill/>
        </p:spPr>
        <p:txBody>
          <a:bodyPr wrap="square" lIns="0" tIns="0" rIns="0" bIns="0" anchor="t">
            <a:spAutoFit/>
          </a:bodyPr>
          <a:lstStyle/>
          <a:p>
            <a:pPr algn="l"/>
            <a:r>
              <a:rPr sz="950" b="0" spc="100">
                <a:solidFill>
                  <a:srgbClr val="1B9AAA"/>
                </a:solidFill>
                <a:latin typeface="JetBrains Mono"/>
              </a:rPr>
              <a:t>A LONG CONVERSATION</a:t>
            </a:r>
          </a:p>
        </p:txBody>
      </p:sp>
      <p:sp>
        <p:nvSpPr>
          <p:cNvPr id="9" name="Rounded Rectangle 8"/>
          <p:cNvSpPr/>
          <p:nvPr/>
        </p:nvSpPr>
        <p:spPr>
          <a:xfrm>
            <a:off x="868680" y="2286000"/>
            <a:ext cx="868680" cy="438912"/>
          </a:xfrm>
          <a:prstGeom prst="roundRect">
            <a:avLst>
              <a:gd name="adj" fmla="val 18000"/>
            </a:avLst>
          </a:prstGeom>
          <a:solidFill>
            <a:srgbClr val="F4F7F8"/>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8FA6B2"/>
                </a:solidFill>
                <a:latin typeface="Roboto"/>
              </a:rPr>
              <a:t>Instructions</a:t>
            </a:r>
          </a:p>
        </p:txBody>
      </p:sp>
      <p:sp>
        <p:nvSpPr>
          <p:cNvPr id="10" name="Rounded Rectangle 9"/>
          <p:cNvSpPr/>
          <p:nvPr/>
        </p:nvSpPr>
        <p:spPr>
          <a:xfrm>
            <a:off x="1801368" y="2286000"/>
            <a:ext cx="1097280" cy="438912"/>
          </a:xfrm>
          <a:prstGeom prst="roundRect">
            <a:avLst>
              <a:gd name="adj" fmla="val 18000"/>
            </a:avLst>
          </a:prstGeom>
          <a:solidFill>
            <a:srgbClr val="F4F7F8"/>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8FA6B2"/>
                </a:solidFill>
                <a:latin typeface="Roboto"/>
              </a:rPr>
              <a:t>Document</a:t>
            </a:r>
          </a:p>
        </p:txBody>
      </p:sp>
      <p:sp>
        <p:nvSpPr>
          <p:cNvPr id="11" name="Rounded Rectangle 10"/>
          <p:cNvSpPr/>
          <p:nvPr/>
        </p:nvSpPr>
        <p:spPr>
          <a:xfrm>
            <a:off x="2962656" y="2286000"/>
            <a:ext cx="822960" cy="438912"/>
          </a:xfrm>
          <a:prstGeom prst="roundRect">
            <a:avLst>
              <a:gd name="adj" fmla="val 18000"/>
            </a:avLst>
          </a:prstGeom>
          <a:solidFill>
            <a:srgbClr val="F4F7F8"/>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8FA6B2"/>
                </a:solidFill>
                <a:latin typeface="Roboto"/>
              </a:rPr>
              <a:t>Question 1</a:t>
            </a:r>
          </a:p>
        </p:txBody>
      </p:sp>
      <p:sp>
        <p:nvSpPr>
          <p:cNvPr id="12" name="Rounded Rectangle 11"/>
          <p:cNvSpPr/>
          <p:nvPr/>
        </p:nvSpPr>
        <p:spPr>
          <a:xfrm>
            <a:off x="3849624" y="2286000"/>
            <a:ext cx="914400" cy="438912"/>
          </a:xfrm>
          <a:prstGeom prst="roundRect">
            <a:avLst>
              <a:gd name="adj" fmla="val 18000"/>
            </a:avLst>
          </a:prstGeom>
          <a:solidFill>
            <a:srgbClr val="CFF5E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0D1B2A"/>
                </a:solidFill>
                <a:latin typeface="Roboto"/>
              </a:rPr>
              <a:t>Answer 1</a:t>
            </a:r>
          </a:p>
        </p:txBody>
      </p:sp>
      <p:sp>
        <p:nvSpPr>
          <p:cNvPr id="13" name="Rounded Rectangle 12"/>
          <p:cNvSpPr/>
          <p:nvPr/>
        </p:nvSpPr>
        <p:spPr>
          <a:xfrm>
            <a:off x="4828032" y="2286000"/>
            <a:ext cx="822960" cy="438912"/>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0D1B2A"/>
                </a:solidFill>
                <a:latin typeface="Roboto"/>
              </a:rPr>
              <a:t>Question 2</a:t>
            </a:r>
          </a:p>
        </p:txBody>
      </p:sp>
      <p:sp>
        <p:nvSpPr>
          <p:cNvPr id="14" name="Rounded Rectangle 13"/>
          <p:cNvSpPr/>
          <p:nvPr/>
        </p:nvSpPr>
        <p:spPr>
          <a:xfrm>
            <a:off x="5715000" y="2286000"/>
            <a:ext cx="914400" cy="438912"/>
          </a:xfrm>
          <a:prstGeom prst="roundRect">
            <a:avLst>
              <a:gd name="adj" fmla="val 18000"/>
            </a:avLst>
          </a:prstGeom>
          <a:solidFill>
            <a:srgbClr val="CFF5E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0D1B2A"/>
                </a:solidFill>
                <a:latin typeface="Roboto"/>
              </a:rPr>
              <a:t>Answer 2</a:t>
            </a:r>
          </a:p>
        </p:txBody>
      </p:sp>
      <p:sp>
        <p:nvSpPr>
          <p:cNvPr id="15" name="Rounded Rectangle 14"/>
          <p:cNvSpPr/>
          <p:nvPr/>
        </p:nvSpPr>
        <p:spPr>
          <a:xfrm>
            <a:off x="6693408" y="2286000"/>
            <a:ext cx="822960" cy="438912"/>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0D1B2A"/>
                </a:solidFill>
                <a:latin typeface="Roboto"/>
              </a:rPr>
              <a:t>Question 3</a:t>
            </a:r>
          </a:p>
        </p:txBody>
      </p:sp>
      <p:sp>
        <p:nvSpPr>
          <p:cNvPr id="16" name="Rounded Rectangle 15"/>
          <p:cNvSpPr/>
          <p:nvPr/>
        </p:nvSpPr>
        <p:spPr>
          <a:xfrm>
            <a:off x="7580376" y="2286000"/>
            <a:ext cx="914400" cy="438912"/>
          </a:xfrm>
          <a:prstGeom prst="roundRect">
            <a:avLst>
              <a:gd name="adj" fmla="val 18000"/>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FFFFFF"/>
                </a:solidFill>
                <a:latin typeface="Roboto"/>
              </a:rPr>
              <a:t>New answer</a:t>
            </a:r>
          </a:p>
        </p:txBody>
      </p:sp>
      <p:sp>
        <p:nvSpPr>
          <p:cNvPr id="17" name="Rounded Rectangle 16"/>
          <p:cNvSpPr/>
          <p:nvPr/>
        </p:nvSpPr>
        <p:spPr>
          <a:xfrm>
            <a:off x="3776472" y="2194560"/>
            <a:ext cx="4791456" cy="621792"/>
          </a:xfrm>
          <a:prstGeom prst="roundRect">
            <a:avLst>
              <a:gd name="adj" fmla="val 18000"/>
            </a:avLst>
          </a:prstGeom>
          <a:noFill/>
          <a:ln w="28575">
            <a:solidFill>
              <a:srgbClr val="06D6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776472" y="2002536"/>
            <a:ext cx="4928616" cy="137160"/>
          </a:xfrm>
          <a:prstGeom prst="rect">
            <a:avLst/>
          </a:prstGeom>
          <a:noFill/>
        </p:spPr>
        <p:txBody>
          <a:bodyPr wrap="square" lIns="0" tIns="0" rIns="0" bIns="0" anchor="t">
            <a:spAutoFit/>
          </a:bodyPr>
          <a:lstStyle/>
          <a:p>
            <a:pPr algn="l"/>
            <a:r>
              <a:rPr sz="900" b="0" spc="100">
                <a:solidFill>
                  <a:srgbClr val="0D1B2A"/>
                </a:solidFill>
                <a:latin typeface="JetBrains Mono"/>
              </a:rPr>
              <a:t>CONTEXT WINDOW = HOW MUCH THE MODEL CAN TAKE INTO ACCOUNT AT ONCE</a:t>
            </a:r>
          </a:p>
        </p:txBody>
      </p:sp>
      <p:cxnSp>
        <p:nvCxnSpPr>
          <p:cNvPr id="19" name="Connector 18"/>
          <p:cNvCxnSpPr/>
          <p:nvPr/>
        </p:nvCxnSpPr>
        <p:spPr>
          <a:xfrm>
            <a:off x="868680" y="2907792"/>
            <a:ext cx="7717536" cy="0"/>
          </a:xfrm>
          <a:prstGeom prst="line">
            <a:avLst/>
          </a:prstGeom>
          <a:ln w="12700">
            <a:solidFill>
              <a:srgbClr val="8FA6B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868680" y="2862072"/>
            <a:ext cx="0" cy="91440"/>
          </a:xfrm>
          <a:prstGeom prst="line">
            <a:avLst/>
          </a:prstGeom>
          <a:ln w="12700">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8586216" y="2862072"/>
            <a:ext cx="0" cy="91440"/>
          </a:xfrm>
          <a:prstGeom prst="line">
            <a:avLst/>
          </a:prstGeom>
          <a:ln w="12700">
            <a:solidFill>
              <a:srgbClr val="8FA6B2"/>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868680" y="2999232"/>
            <a:ext cx="685800" cy="274320"/>
          </a:xfrm>
          <a:prstGeom prst="rect">
            <a:avLst/>
          </a:prstGeom>
          <a:noFill/>
        </p:spPr>
        <p:txBody>
          <a:bodyPr wrap="square" lIns="0" tIns="0" rIns="0" bIns="0" anchor="t">
            <a:spAutoFit/>
          </a:bodyPr>
          <a:lstStyle/>
          <a:p>
            <a:pPr algn="l"/>
            <a:r>
              <a:rPr sz="900" b="0">
                <a:solidFill>
                  <a:srgbClr val="6B7B8C"/>
                </a:solidFill>
                <a:latin typeface="Roboto"/>
              </a:rPr>
              <a:t>start of the conversation</a:t>
            </a:r>
          </a:p>
        </p:txBody>
      </p:sp>
      <p:sp>
        <p:nvSpPr>
          <p:cNvPr id="23" name="TextBox 22"/>
          <p:cNvSpPr txBox="1"/>
          <p:nvPr/>
        </p:nvSpPr>
        <p:spPr>
          <a:xfrm>
            <a:off x="7854696" y="2999232"/>
            <a:ext cx="731520" cy="182880"/>
          </a:xfrm>
          <a:prstGeom prst="rect">
            <a:avLst/>
          </a:prstGeom>
          <a:noFill/>
        </p:spPr>
        <p:txBody>
          <a:bodyPr wrap="square" lIns="0" tIns="0" rIns="0" bIns="0" anchor="t">
            <a:spAutoFit/>
          </a:bodyPr>
          <a:lstStyle/>
          <a:p>
            <a:pPr algn="r"/>
            <a:r>
              <a:rPr sz="900" b="0">
                <a:solidFill>
                  <a:srgbClr val="6B7B8C"/>
                </a:solidFill>
                <a:latin typeface="Roboto"/>
              </a:rPr>
              <a:t>now</a:t>
            </a:r>
          </a:p>
        </p:txBody>
      </p:sp>
      <p:sp>
        <p:nvSpPr>
          <p:cNvPr id="24" name="TextBox 23"/>
          <p:cNvSpPr txBox="1"/>
          <p:nvPr/>
        </p:nvSpPr>
        <p:spPr>
          <a:xfrm>
            <a:off x="2350008" y="3182112"/>
            <a:ext cx="4572000" cy="274320"/>
          </a:xfrm>
          <a:prstGeom prst="rect">
            <a:avLst/>
          </a:prstGeom>
          <a:noFill/>
        </p:spPr>
        <p:txBody>
          <a:bodyPr wrap="square" lIns="0" tIns="0" rIns="0" bIns="0" anchor="t">
            <a:spAutoFit/>
          </a:bodyPr>
          <a:lstStyle/>
          <a:p>
            <a:pPr algn="l"/>
            <a:r>
              <a:rPr sz="1050" b="0">
                <a:solidFill>
                  <a:srgbClr val="6B7B8C"/>
                </a:solidFill>
                <a:latin typeface="Roboto"/>
              </a:rPr>
              <a:t>When the window is full, the oldest parts are dropped or shortened.</a:t>
            </a:r>
          </a:p>
        </p:txBody>
      </p:sp>
      <p:sp>
        <p:nvSpPr>
          <p:cNvPr id="25" name="Rectangle 24"/>
          <p:cNvSpPr/>
          <p:nvPr/>
        </p:nvSpPr>
        <p:spPr>
          <a:xfrm>
            <a:off x="566928" y="3493008"/>
            <a:ext cx="8138160" cy="1042415"/>
          </a:xfrm>
          <a:prstGeom prst="rect">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566928" y="3493008"/>
            <a:ext cx="54864" cy="1042415"/>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77240" y="3593592"/>
            <a:ext cx="5486400" cy="228600"/>
          </a:xfrm>
          <a:prstGeom prst="rect">
            <a:avLst/>
          </a:prstGeom>
          <a:noFill/>
        </p:spPr>
        <p:txBody>
          <a:bodyPr wrap="square" lIns="0" tIns="0" rIns="0" bIns="0" anchor="t">
            <a:spAutoFit/>
          </a:bodyPr>
          <a:lstStyle/>
          <a:p>
            <a:pPr algn="l"/>
            <a:r>
              <a:rPr sz="950" b="0" spc="100">
                <a:solidFill>
                  <a:srgbClr val="1B9AAA"/>
                </a:solidFill>
                <a:latin typeface="JetBrains Mono"/>
              </a:rPr>
              <a:t>HOW MUCH FITS? (APPROXIMATE, BARS NOT TO SCALE)</a:t>
            </a:r>
          </a:p>
        </p:txBody>
      </p:sp>
      <p:sp>
        <p:nvSpPr>
          <p:cNvPr id="28" name="TextBox 27"/>
          <p:cNvSpPr txBox="1"/>
          <p:nvPr/>
        </p:nvSpPr>
        <p:spPr>
          <a:xfrm>
            <a:off x="777240" y="3858768"/>
            <a:ext cx="457200" cy="182880"/>
          </a:xfrm>
          <a:prstGeom prst="rect">
            <a:avLst/>
          </a:prstGeom>
          <a:noFill/>
        </p:spPr>
        <p:txBody>
          <a:bodyPr wrap="square" lIns="0" tIns="0" rIns="0" bIns="0" anchor="t">
            <a:spAutoFit/>
          </a:bodyPr>
          <a:lstStyle/>
          <a:p>
            <a:pPr algn="l"/>
            <a:r>
              <a:rPr sz="1000" b="0">
                <a:solidFill>
                  <a:srgbClr val="6B7B8C"/>
                </a:solidFill>
                <a:latin typeface="JetBrains Mono"/>
              </a:rPr>
              <a:t>2022</a:t>
            </a:r>
          </a:p>
        </p:txBody>
      </p:sp>
      <p:sp>
        <p:nvSpPr>
          <p:cNvPr id="29" name="Rectangle 28"/>
          <p:cNvSpPr/>
          <p:nvPr/>
        </p:nvSpPr>
        <p:spPr>
          <a:xfrm>
            <a:off x="1325880" y="3895344"/>
            <a:ext cx="228600" cy="118872"/>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691639" y="3858768"/>
            <a:ext cx="4114800" cy="182880"/>
          </a:xfrm>
          <a:prstGeom prst="rect">
            <a:avLst/>
          </a:prstGeom>
          <a:noFill/>
        </p:spPr>
        <p:txBody>
          <a:bodyPr wrap="square" lIns="0" tIns="0" rIns="0" bIns="0" anchor="t">
            <a:spAutoFit/>
          </a:bodyPr>
          <a:lstStyle/>
          <a:p>
            <a:pPr algn="l"/>
            <a:r>
              <a:rPr sz="1050" b="0">
                <a:solidFill>
                  <a:srgbClr val="0D1B2A"/>
                </a:solidFill>
                <a:latin typeface="Roboto"/>
              </a:rPr>
              <a:t>~4,000 tokens  ≈  6 pages</a:t>
            </a:r>
          </a:p>
        </p:txBody>
      </p:sp>
      <p:sp>
        <p:nvSpPr>
          <p:cNvPr id="31" name="TextBox 30"/>
          <p:cNvSpPr txBox="1"/>
          <p:nvPr/>
        </p:nvSpPr>
        <p:spPr>
          <a:xfrm>
            <a:off x="777240" y="4078224"/>
            <a:ext cx="457200" cy="182880"/>
          </a:xfrm>
          <a:prstGeom prst="rect">
            <a:avLst/>
          </a:prstGeom>
          <a:noFill/>
        </p:spPr>
        <p:txBody>
          <a:bodyPr wrap="square" lIns="0" tIns="0" rIns="0" bIns="0" anchor="t">
            <a:spAutoFit/>
          </a:bodyPr>
          <a:lstStyle/>
          <a:p>
            <a:pPr algn="l"/>
            <a:r>
              <a:rPr sz="1000" b="0">
                <a:solidFill>
                  <a:srgbClr val="6B7B8C"/>
                </a:solidFill>
                <a:latin typeface="JetBrains Mono"/>
              </a:rPr>
              <a:t>2023</a:t>
            </a:r>
          </a:p>
        </p:txBody>
      </p:sp>
      <p:sp>
        <p:nvSpPr>
          <p:cNvPr id="32" name="Rectangle 31"/>
          <p:cNvSpPr/>
          <p:nvPr/>
        </p:nvSpPr>
        <p:spPr>
          <a:xfrm>
            <a:off x="1325880" y="4114800"/>
            <a:ext cx="1188720" cy="118872"/>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651760" y="4078224"/>
            <a:ext cx="4114800" cy="182880"/>
          </a:xfrm>
          <a:prstGeom prst="rect">
            <a:avLst/>
          </a:prstGeom>
          <a:noFill/>
        </p:spPr>
        <p:txBody>
          <a:bodyPr wrap="square" lIns="0" tIns="0" rIns="0" bIns="0" anchor="t">
            <a:spAutoFit/>
          </a:bodyPr>
          <a:lstStyle/>
          <a:p>
            <a:pPr algn="l"/>
            <a:r>
              <a:rPr sz="1050" b="0">
                <a:solidFill>
                  <a:srgbClr val="0D1B2A"/>
                </a:solidFill>
                <a:latin typeface="Roboto"/>
              </a:rPr>
              <a:t>~128,000 tokens  ≈  a 200-page book</a:t>
            </a:r>
          </a:p>
        </p:txBody>
      </p:sp>
      <p:sp>
        <p:nvSpPr>
          <p:cNvPr id="34" name="TextBox 33"/>
          <p:cNvSpPr txBox="1"/>
          <p:nvPr/>
        </p:nvSpPr>
        <p:spPr>
          <a:xfrm>
            <a:off x="777240" y="4297679"/>
            <a:ext cx="457200" cy="182880"/>
          </a:xfrm>
          <a:prstGeom prst="rect">
            <a:avLst/>
          </a:prstGeom>
          <a:noFill/>
        </p:spPr>
        <p:txBody>
          <a:bodyPr wrap="square" lIns="0" tIns="0" rIns="0" bIns="0" anchor="t">
            <a:spAutoFit/>
          </a:bodyPr>
          <a:lstStyle/>
          <a:p>
            <a:pPr algn="l"/>
            <a:r>
              <a:rPr sz="1000" b="0">
                <a:solidFill>
                  <a:srgbClr val="6B7B8C"/>
                </a:solidFill>
                <a:latin typeface="JetBrains Mono"/>
              </a:rPr>
              <a:t>2024</a:t>
            </a:r>
          </a:p>
        </p:txBody>
      </p:sp>
      <p:sp>
        <p:nvSpPr>
          <p:cNvPr id="35" name="Rectangle 34"/>
          <p:cNvSpPr/>
          <p:nvPr/>
        </p:nvSpPr>
        <p:spPr>
          <a:xfrm>
            <a:off x="1325880" y="4334255"/>
            <a:ext cx="2743200" cy="118872"/>
          </a:xfrm>
          <a:prstGeom prst="rect">
            <a:avLst/>
          </a:prstGeom>
          <a:solidFill>
            <a:srgbClr val="06D6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206240" y="4297679"/>
            <a:ext cx="4114800" cy="182880"/>
          </a:xfrm>
          <a:prstGeom prst="rect">
            <a:avLst/>
          </a:prstGeom>
          <a:noFill/>
        </p:spPr>
        <p:txBody>
          <a:bodyPr wrap="square" lIns="0" tIns="0" rIns="0" bIns="0" anchor="t">
            <a:spAutoFit/>
          </a:bodyPr>
          <a:lstStyle/>
          <a:p>
            <a:pPr algn="l"/>
            <a:r>
              <a:rPr sz="1050" b="0">
                <a:solidFill>
                  <a:srgbClr val="0D1B2A"/>
                </a:solidFill>
                <a:latin typeface="Roboto"/>
              </a:rPr>
              <a:t>1,000,000+ tokens  ≈  1,500 pages</a:t>
            </a:r>
          </a:p>
        </p:txBody>
      </p:sp>
      <p:sp>
        <p:nvSpPr>
          <p:cNvPr id="37" name="Rectangle 36"/>
          <p:cNvSpPr/>
          <p:nvPr/>
        </p:nvSpPr>
        <p:spPr>
          <a:xfrm>
            <a:off x="566928" y="4681727"/>
            <a:ext cx="45720" cy="21945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713232" y="4663440"/>
            <a:ext cx="7991856" cy="274320"/>
          </a:xfrm>
          <a:prstGeom prst="rect">
            <a:avLst/>
          </a:prstGeom>
          <a:noFill/>
        </p:spPr>
        <p:txBody>
          <a:bodyPr wrap="square" lIns="0" tIns="0" rIns="0" bIns="0" anchor="t">
            <a:spAutoFit/>
          </a:bodyPr>
          <a:lstStyle/>
          <a:p>
            <a:pPr algn="l"/>
            <a:r>
              <a:rPr sz="1200" b="0">
                <a:solidFill>
                  <a:srgbClr val="0D1B2A"/>
                </a:solidFill>
                <a:latin typeface="Roboto"/>
              </a:rPr>
              <a:t>Bigger windows help, but details buried deep in very long inputs can still be overlooked.</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6" name="Rectangle 5"/>
          <p:cNvSpPr/>
          <p:nvPr/>
        </p:nvSpPr>
        <p:spPr>
          <a:xfrm>
            <a:off x="569159" y="1776467"/>
            <a:ext cx="5238253" cy="2743200"/>
          </a:xfrm>
          <a:prstGeom prst="rect">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85799" y="1874519"/>
            <a:ext cx="5020353" cy="1965960"/>
          </a:xfrm>
          <a:prstGeom prst="roundRect">
            <a:avLst>
              <a:gd name="adj" fmla="val 5581"/>
            </a:avLst>
          </a:prstGeom>
          <a:solidFill>
            <a:srgbClr val="FFFFFF"/>
          </a:solidFill>
          <a:ln w="952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Ecken des Rechtecks auf der gleichen Seite abrunden 48">
            <a:extLst>
              <a:ext uri="{FF2B5EF4-FFF2-40B4-BE49-F238E27FC236}">
                <a16:creationId xmlns:a16="http://schemas.microsoft.com/office/drawing/2014/main" id="{21A54982-BF7C-BD28-AFB7-160DF9437E9E}"/>
              </a:ext>
            </a:extLst>
          </p:cNvPr>
          <p:cNvSpPr/>
          <p:nvPr/>
        </p:nvSpPr>
        <p:spPr>
          <a:xfrm>
            <a:off x="685800" y="1874519"/>
            <a:ext cx="5020352" cy="339611"/>
          </a:xfrm>
          <a:prstGeom prst="round2SameRect">
            <a:avLst>
              <a:gd name="adj1" fmla="val 31392"/>
              <a:gd name="adj2" fmla="val 0"/>
            </a:avLst>
          </a:prstGeom>
          <a:solidFill>
            <a:srgbClr val="F4F7F8"/>
          </a:solidFill>
          <a:ln w="952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3" name="TextBox 12"/>
          <p:cNvSpPr txBox="1"/>
          <p:nvPr/>
        </p:nvSpPr>
        <p:spPr>
          <a:xfrm>
            <a:off x="1106424" y="1965960"/>
            <a:ext cx="1828800" cy="201168"/>
          </a:xfrm>
          <a:prstGeom prst="rect">
            <a:avLst/>
          </a:prstGeom>
          <a:noFill/>
        </p:spPr>
        <p:txBody>
          <a:bodyPr wrap="square" lIns="0" tIns="0" rIns="0" bIns="0" anchor="t">
            <a:spAutoFit/>
          </a:bodyPr>
          <a:lstStyle/>
          <a:p>
            <a:pPr algn="l"/>
            <a:r>
              <a:rPr sz="1100" b="0" dirty="0">
                <a:solidFill>
                  <a:srgbClr val="0D1B2A"/>
                </a:solidFill>
                <a:latin typeface="Oswald"/>
              </a:rPr>
              <a:t>AI assistant</a:t>
            </a:r>
          </a:p>
        </p:txBody>
      </p:sp>
      <p:sp>
        <p:nvSpPr>
          <p:cNvPr id="2" name="Rectangle 1"/>
          <p:cNvSpPr/>
          <p:nvPr/>
        </p:nvSpPr>
        <p:spPr>
          <a:xfrm>
            <a:off x="0" y="0"/>
            <a:ext cx="201168" cy="514350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329184"/>
            <a:ext cx="8138160" cy="274320"/>
          </a:xfrm>
          <a:prstGeom prst="rect">
            <a:avLst/>
          </a:prstGeom>
          <a:noFill/>
        </p:spPr>
        <p:txBody>
          <a:bodyPr wrap="square" lIns="0" tIns="0" rIns="0" bIns="0" anchor="t">
            <a:spAutoFit/>
          </a:bodyPr>
          <a:lstStyle/>
          <a:p>
            <a:pPr algn="l"/>
            <a:r>
              <a:rPr sz="1100" b="0" spc="300">
                <a:solidFill>
                  <a:srgbClr val="1B9AAA"/>
                </a:solidFill>
                <a:latin typeface="JetBrains Mono"/>
              </a:rPr>
              <a:t>WORKING WITH LLMS · HALLUCINATION</a:t>
            </a:r>
          </a:p>
        </p:txBody>
      </p:sp>
      <p:sp>
        <p:nvSpPr>
          <p:cNvPr id="4" name="slide-hallucination"/>
          <p:cNvSpPr txBox="1"/>
          <p:nvPr/>
        </p:nvSpPr>
        <p:spPr>
          <a:xfrm>
            <a:off x="566928" y="603504"/>
            <a:ext cx="8138160" cy="658368"/>
          </a:xfrm>
          <a:prstGeom prst="rect">
            <a:avLst/>
          </a:prstGeom>
          <a:noFill/>
        </p:spPr>
        <p:txBody>
          <a:bodyPr wrap="square" lIns="0" tIns="0" rIns="0" bIns="0" anchor="t">
            <a:spAutoFit/>
          </a:bodyPr>
          <a:lstStyle/>
          <a:p>
            <a:pPr algn="l"/>
            <a:r>
              <a:rPr sz="3200" b="0">
                <a:solidFill>
                  <a:srgbClr val="0D1B2A"/>
                </a:solidFill>
                <a:latin typeface="Oswald"/>
              </a:rPr>
              <a:t>Hallucination: fluent, confident and wrong</a:t>
            </a:r>
          </a:p>
        </p:txBody>
      </p:sp>
      <p:sp>
        <p:nvSpPr>
          <p:cNvPr id="5" name="TextBox 4"/>
          <p:cNvSpPr txBox="1"/>
          <p:nvPr/>
        </p:nvSpPr>
        <p:spPr>
          <a:xfrm>
            <a:off x="566928" y="1298448"/>
            <a:ext cx="8138160" cy="457200"/>
          </a:xfrm>
          <a:prstGeom prst="rect">
            <a:avLst/>
          </a:prstGeom>
          <a:noFill/>
        </p:spPr>
        <p:txBody>
          <a:bodyPr wrap="square" lIns="0" tIns="0" rIns="0" bIns="0" anchor="t">
            <a:spAutoFit/>
          </a:bodyPr>
          <a:lstStyle/>
          <a:p>
            <a:pPr algn="l"/>
            <a:r>
              <a:rPr sz="1400" b="0">
                <a:solidFill>
                  <a:srgbClr val="14293D"/>
                </a:solidFill>
                <a:latin typeface="Roboto"/>
              </a:rPr>
              <a:t>An LLM writes likely-sounding text, not checked facts. When it doesn't know, it may make things up.</a:t>
            </a:r>
          </a:p>
        </p:txBody>
      </p:sp>
      <p:sp>
        <p:nvSpPr>
          <p:cNvPr id="11" name="Oval 10"/>
          <p:cNvSpPr/>
          <p:nvPr/>
        </p:nvSpPr>
        <p:spPr>
          <a:xfrm>
            <a:off x="813816" y="1947672"/>
            <a:ext cx="219456" cy="219456"/>
          </a:xfrm>
          <a:prstGeom prst="ellipse">
            <a:avLst/>
          </a:prstGeom>
          <a:solidFill>
            <a:srgbClr val="1B9AAA">
              <a:alpha val="100000"/>
            </a:srgbClr>
          </a:solidFill>
          <a:ln w="635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13816" y="1980456"/>
            <a:ext cx="219456" cy="153888"/>
          </a:xfrm>
          <a:prstGeom prst="rect">
            <a:avLst/>
          </a:prstGeom>
          <a:noFill/>
        </p:spPr>
        <p:txBody>
          <a:bodyPr wrap="square" lIns="0" tIns="0" rIns="0" bIns="0" anchor="t">
            <a:spAutoFit/>
          </a:bodyPr>
          <a:lstStyle/>
          <a:p>
            <a:pPr algn="ctr"/>
            <a:r>
              <a:rPr sz="1000" b="0" dirty="0">
                <a:solidFill>
                  <a:srgbClr val="FFFFFF"/>
                </a:solidFill>
                <a:latin typeface="JetBrains Mono"/>
              </a:rPr>
              <a:t>AI</a:t>
            </a:r>
          </a:p>
        </p:txBody>
      </p:sp>
      <p:sp>
        <p:nvSpPr>
          <p:cNvPr id="14" name="Oval 13"/>
          <p:cNvSpPr/>
          <p:nvPr/>
        </p:nvSpPr>
        <p:spPr>
          <a:xfrm>
            <a:off x="5202355" y="2020239"/>
            <a:ext cx="64008" cy="64008"/>
          </a:xfrm>
          <a:prstGeom prst="ellipse">
            <a:avLst/>
          </a:prstGeom>
          <a:solidFill>
            <a:srgbClr val="8FA6B2">
              <a:alpha val="100000"/>
            </a:srgbClr>
          </a:solidFill>
          <a:ln w="6350">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5330371" y="2020239"/>
            <a:ext cx="64008" cy="64008"/>
          </a:xfrm>
          <a:prstGeom prst="ellipse">
            <a:avLst/>
          </a:prstGeom>
          <a:solidFill>
            <a:srgbClr val="8FA6B2">
              <a:alpha val="100000"/>
            </a:srgbClr>
          </a:solidFill>
          <a:ln w="6350">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5458387" y="2020239"/>
            <a:ext cx="64008" cy="64008"/>
          </a:xfrm>
          <a:prstGeom prst="ellipse">
            <a:avLst/>
          </a:prstGeom>
          <a:solidFill>
            <a:srgbClr val="8FA6B2">
              <a:alpha val="100000"/>
            </a:srgbClr>
          </a:solidFill>
          <a:ln w="6350">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461784" y="2852928"/>
            <a:ext cx="640080" cy="146304"/>
          </a:xfrm>
          <a:prstGeom prst="rect">
            <a:avLst/>
          </a:prstGeom>
          <a:noFill/>
        </p:spPr>
        <p:txBody>
          <a:bodyPr wrap="square" lIns="0" tIns="0" rIns="0" bIns="0" anchor="t">
            <a:spAutoFit/>
          </a:bodyPr>
          <a:lstStyle/>
          <a:p>
            <a:pPr algn="r"/>
            <a:r>
              <a:rPr sz="700" b="0" dirty="0">
                <a:solidFill>
                  <a:srgbClr val="6B7B8C"/>
                </a:solidFill>
                <a:latin typeface="JetBrains Mono"/>
              </a:rPr>
              <a:t>09:41</a:t>
            </a:r>
          </a:p>
        </p:txBody>
      </p:sp>
      <p:sp>
        <p:nvSpPr>
          <p:cNvPr id="23" name="Rounded Rectangle 22"/>
          <p:cNvSpPr/>
          <p:nvPr/>
        </p:nvSpPr>
        <p:spPr>
          <a:xfrm>
            <a:off x="1155705" y="2974136"/>
            <a:ext cx="3566160" cy="658368"/>
          </a:xfrm>
          <a:prstGeom prst="roundRect">
            <a:avLst>
              <a:gd name="adj" fmla="val 19444"/>
            </a:avLst>
          </a:prstGeom>
          <a:solidFill>
            <a:srgbClr val="D4ECEF"/>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302008" y="3029000"/>
            <a:ext cx="3291840" cy="182880"/>
          </a:xfrm>
          <a:prstGeom prst="rect">
            <a:avLst/>
          </a:prstGeom>
          <a:noFill/>
        </p:spPr>
        <p:txBody>
          <a:bodyPr wrap="square" lIns="0" tIns="0" rIns="0" bIns="0" anchor="t">
            <a:spAutoFit/>
          </a:bodyPr>
          <a:lstStyle/>
          <a:p>
            <a:pPr algn="l"/>
            <a:r>
              <a:rPr sz="900" b="0">
                <a:solidFill>
                  <a:srgbClr val="0D1B2A"/>
                </a:solidFill>
                <a:latin typeface="Roboto"/>
              </a:rPr>
              <a:t>Guideline SOP-4711 “Clinical Data Retention”,</a:t>
            </a:r>
          </a:p>
        </p:txBody>
      </p:sp>
      <p:sp>
        <p:nvSpPr>
          <p:cNvPr id="26" name="TextBox 25"/>
          <p:cNvSpPr txBox="1"/>
          <p:nvPr/>
        </p:nvSpPr>
        <p:spPr>
          <a:xfrm>
            <a:off x="1302008" y="3221024"/>
            <a:ext cx="3291840" cy="182880"/>
          </a:xfrm>
          <a:prstGeom prst="rect">
            <a:avLst/>
          </a:prstGeom>
          <a:noFill/>
        </p:spPr>
        <p:txBody>
          <a:bodyPr wrap="square" lIns="0" tIns="0" rIns="0" bIns="0" anchor="t">
            <a:spAutoFit/>
          </a:bodyPr>
          <a:lstStyle/>
          <a:p>
            <a:pPr algn="l"/>
            <a:r>
              <a:rPr sz="900" b="0">
                <a:solidFill>
                  <a:srgbClr val="0D1B2A"/>
                </a:solidFill>
                <a:latin typeface="Roboto"/>
              </a:rPr>
              <a:t>version 3.2 from March 2021, section 5.4:</a:t>
            </a:r>
          </a:p>
        </p:txBody>
      </p:sp>
      <p:sp>
        <p:nvSpPr>
          <p:cNvPr id="27" name="TextBox 26"/>
          <p:cNvSpPr txBox="1"/>
          <p:nvPr/>
        </p:nvSpPr>
        <p:spPr>
          <a:xfrm>
            <a:off x="1302008" y="3413048"/>
            <a:ext cx="3291840" cy="182880"/>
          </a:xfrm>
          <a:prstGeom prst="rect">
            <a:avLst/>
          </a:prstGeom>
          <a:noFill/>
        </p:spPr>
        <p:txBody>
          <a:bodyPr wrap="square" lIns="0" tIns="0" rIns="0" bIns="0" anchor="t">
            <a:spAutoFit/>
          </a:bodyPr>
          <a:lstStyle/>
          <a:p>
            <a:pPr algn="l"/>
            <a:r>
              <a:rPr sz="900" b="0">
                <a:solidFill>
                  <a:srgbClr val="0D1B2A"/>
                </a:solidFill>
                <a:latin typeface="Roboto"/>
              </a:rPr>
              <a:t>records are kept for 15 years after study end.</a:t>
            </a:r>
          </a:p>
        </p:txBody>
      </p:sp>
      <p:sp>
        <p:nvSpPr>
          <p:cNvPr id="28" name="TextBox 27"/>
          <p:cNvSpPr txBox="1"/>
          <p:nvPr/>
        </p:nvSpPr>
        <p:spPr>
          <a:xfrm>
            <a:off x="1247145" y="3671086"/>
            <a:ext cx="640080" cy="107722"/>
          </a:xfrm>
          <a:prstGeom prst="rect">
            <a:avLst/>
          </a:prstGeom>
          <a:noFill/>
        </p:spPr>
        <p:txBody>
          <a:bodyPr wrap="square" lIns="0" tIns="0" rIns="0" bIns="0" anchor="t">
            <a:spAutoFit/>
          </a:bodyPr>
          <a:lstStyle/>
          <a:p>
            <a:pPr algn="l"/>
            <a:r>
              <a:rPr sz="700" b="0" dirty="0">
                <a:solidFill>
                  <a:srgbClr val="6B7B8C"/>
                </a:solidFill>
                <a:latin typeface="JetBrains Mono"/>
              </a:rPr>
              <a:t>09:4</a:t>
            </a:r>
            <a:r>
              <a:rPr lang="de-DE" sz="700" b="0" dirty="0">
                <a:solidFill>
                  <a:srgbClr val="6B7B8C"/>
                </a:solidFill>
                <a:latin typeface="JetBrains Mono"/>
              </a:rPr>
              <a:t>2</a:t>
            </a:r>
            <a:endParaRPr sz="700" b="0" dirty="0">
              <a:solidFill>
                <a:srgbClr val="6B7B8C"/>
              </a:solidFill>
              <a:latin typeface="JetBrains Mono"/>
            </a:endParaRPr>
          </a:p>
        </p:txBody>
      </p:sp>
      <p:cxnSp>
        <p:nvCxnSpPr>
          <p:cNvPr id="29" name="Connector 28"/>
          <p:cNvCxnSpPr>
            <a:cxnSpLocks/>
          </p:cNvCxnSpPr>
          <p:nvPr/>
        </p:nvCxnSpPr>
        <p:spPr>
          <a:xfrm>
            <a:off x="2388583" y="3651313"/>
            <a:ext cx="0" cy="295751"/>
          </a:xfrm>
          <a:prstGeom prst="line">
            <a:avLst/>
          </a:prstGeom>
          <a:ln w="12700">
            <a:solidFill>
              <a:srgbClr val="06D6A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1152144" y="3952739"/>
            <a:ext cx="3566160" cy="502920"/>
          </a:xfrm>
          <a:prstGeom prst="roundRect">
            <a:avLst>
              <a:gd name="adj" fmla="val 18181"/>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252728" y="4007603"/>
            <a:ext cx="1463040" cy="146304"/>
          </a:xfrm>
          <a:prstGeom prst="rect">
            <a:avLst/>
          </a:prstGeom>
          <a:noFill/>
        </p:spPr>
        <p:txBody>
          <a:bodyPr wrap="square" lIns="0" tIns="0" rIns="0" bIns="0" anchor="t">
            <a:spAutoFit/>
          </a:bodyPr>
          <a:lstStyle/>
          <a:p>
            <a:pPr algn="l"/>
            <a:r>
              <a:rPr sz="750" b="0" spc="100">
                <a:solidFill>
                  <a:srgbClr val="06D6A0"/>
                </a:solidFill>
                <a:latin typeface="JetBrains Mono"/>
              </a:rPr>
              <a:t>REALITY CHECK</a:t>
            </a:r>
          </a:p>
        </p:txBody>
      </p:sp>
      <p:sp>
        <p:nvSpPr>
          <p:cNvPr id="32" name="TextBox 31"/>
          <p:cNvSpPr txBox="1"/>
          <p:nvPr/>
        </p:nvSpPr>
        <p:spPr>
          <a:xfrm>
            <a:off x="1252728" y="4153907"/>
            <a:ext cx="3410712" cy="261610"/>
          </a:xfrm>
          <a:prstGeom prst="rect">
            <a:avLst/>
          </a:prstGeom>
          <a:noFill/>
        </p:spPr>
        <p:txBody>
          <a:bodyPr wrap="square" lIns="0" tIns="0" rIns="0" bIns="0" anchor="t">
            <a:spAutoFit/>
          </a:bodyPr>
          <a:lstStyle/>
          <a:p>
            <a:pPr algn="l"/>
            <a:r>
              <a:rPr sz="850" b="0" dirty="0">
                <a:solidFill>
                  <a:srgbClr val="AFC2CE"/>
                </a:solidFill>
                <a:latin typeface="Roboto"/>
              </a:rPr>
              <a:t>No SOP-4711 in the document system</a:t>
            </a:r>
            <a:r>
              <a:rPr lang="de-DE" sz="850" b="0" dirty="0">
                <a:solidFill>
                  <a:srgbClr val="AFC2CE"/>
                </a:solidFill>
                <a:latin typeface="Roboto"/>
              </a:rPr>
              <a:t>. </a:t>
            </a:r>
            <a:r>
              <a:rPr sz="850" b="0" dirty="0">
                <a:solidFill>
                  <a:srgbClr val="AFC2CE"/>
                </a:solidFill>
                <a:latin typeface="Roboto"/>
              </a:rPr>
              <a:t>No version 3.2, no section 5.4</a:t>
            </a:r>
            <a:r>
              <a:rPr lang="de-DE" sz="850" b="0" dirty="0">
                <a:solidFill>
                  <a:srgbClr val="AFC2CE"/>
                </a:solidFill>
                <a:latin typeface="Roboto"/>
              </a:rPr>
              <a:t>. </a:t>
            </a:r>
            <a:r>
              <a:rPr sz="850" b="0" dirty="0">
                <a:solidFill>
                  <a:srgbClr val="AFC2CE"/>
                </a:solidFill>
                <a:latin typeface="Roboto"/>
              </a:rPr>
              <a:t>The 15 years are invented too</a:t>
            </a:r>
          </a:p>
        </p:txBody>
      </p:sp>
      <p:sp>
        <p:nvSpPr>
          <p:cNvPr id="33" name="Rectangle 32"/>
          <p:cNvSpPr/>
          <p:nvPr/>
        </p:nvSpPr>
        <p:spPr>
          <a:xfrm>
            <a:off x="5944573" y="1783080"/>
            <a:ext cx="2868687" cy="1298448"/>
          </a:xfrm>
          <a:prstGeom prst="rect">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5944573" y="1783080"/>
            <a:ext cx="54864" cy="1298448"/>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173173" y="1901952"/>
            <a:ext cx="3657600" cy="228600"/>
          </a:xfrm>
          <a:prstGeom prst="rect">
            <a:avLst/>
          </a:prstGeom>
          <a:noFill/>
        </p:spPr>
        <p:txBody>
          <a:bodyPr wrap="square" lIns="0" tIns="0" rIns="0" bIns="0" anchor="t">
            <a:spAutoFit/>
          </a:bodyPr>
          <a:lstStyle/>
          <a:p>
            <a:pPr algn="l"/>
            <a:r>
              <a:rPr sz="950" b="0" spc="100">
                <a:solidFill>
                  <a:srgbClr val="1B9AAA"/>
                </a:solidFill>
                <a:latin typeface="JetBrains Mono"/>
              </a:rPr>
              <a:t>WHY IT HAPPENS</a:t>
            </a:r>
          </a:p>
        </p:txBody>
      </p:sp>
      <p:sp>
        <p:nvSpPr>
          <p:cNvPr id="36" name="TextBox 35"/>
          <p:cNvSpPr txBox="1"/>
          <p:nvPr/>
        </p:nvSpPr>
        <p:spPr>
          <a:xfrm>
            <a:off x="6173173" y="2148840"/>
            <a:ext cx="2531915" cy="507831"/>
          </a:xfrm>
          <a:prstGeom prst="rect">
            <a:avLst/>
          </a:prstGeom>
          <a:noFill/>
        </p:spPr>
        <p:txBody>
          <a:bodyPr wrap="square" lIns="0" tIns="0" rIns="0" bIns="0" anchor="t">
            <a:spAutoFit/>
          </a:bodyPr>
          <a:lstStyle/>
          <a:p>
            <a:pPr algn="l"/>
            <a:r>
              <a:rPr sz="1100" b="0" dirty="0">
                <a:solidFill>
                  <a:srgbClr val="14293D"/>
                </a:solidFill>
                <a:latin typeface="Roboto"/>
              </a:rPr>
              <a:t>The model always writes the most likely next token. It has no built-in fact check, and plausible is not the same as true.</a:t>
            </a:r>
          </a:p>
        </p:txBody>
      </p:sp>
      <p:sp>
        <p:nvSpPr>
          <p:cNvPr id="37" name="Rectangle 36"/>
          <p:cNvSpPr/>
          <p:nvPr/>
        </p:nvSpPr>
        <p:spPr>
          <a:xfrm>
            <a:off x="5944573" y="3227832"/>
            <a:ext cx="2868687" cy="1298448"/>
          </a:xfrm>
          <a:prstGeom prst="rect">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5944573" y="3227832"/>
            <a:ext cx="54864" cy="1298448"/>
          </a:xfrm>
          <a:prstGeom prst="rect">
            <a:avLst/>
          </a:prstGeom>
          <a:solidFill>
            <a:srgbClr val="06D6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173173" y="3346704"/>
            <a:ext cx="3657600" cy="228600"/>
          </a:xfrm>
          <a:prstGeom prst="rect">
            <a:avLst/>
          </a:prstGeom>
          <a:noFill/>
        </p:spPr>
        <p:txBody>
          <a:bodyPr wrap="square" lIns="0" tIns="0" rIns="0" bIns="0" anchor="t">
            <a:spAutoFit/>
          </a:bodyPr>
          <a:lstStyle/>
          <a:p>
            <a:pPr algn="l"/>
            <a:r>
              <a:rPr sz="950" b="0" spc="100">
                <a:solidFill>
                  <a:srgbClr val="1B9AAA"/>
                </a:solidFill>
                <a:latin typeface="JetBrains Mono"/>
              </a:rPr>
              <a:t>WHAT HELPS</a:t>
            </a:r>
          </a:p>
        </p:txBody>
      </p:sp>
      <p:sp>
        <p:nvSpPr>
          <p:cNvPr id="40" name="TextBox 39"/>
          <p:cNvSpPr txBox="1"/>
          <p:nvPr/>
        </p:nvSpPr>
        <p:spPr>
          <a:xfrm>
            <a:off x="6173173" y="3593592"/>
            <a:ext cx="2401668" cy="677108"/>
          </a:xfrm>
          <a:prstGeom prst="rect">
            <a:avLst/>
          </a:prstGeom>
          <a:noFill/>
        </p:spPr>
        <p:txBody>
          <a:bodyPr wrap="square" lIns="0" tIns="0" rIns="0" bIns="0" anchor="t">
            <a:spAutoFit/>
          </a:bodyPr>
          <a:lstStyle/>
          <a:p>
            <a:pPr algn="l"/>
            <a:r>
              <a:rPr sz="1100" b="0" dirty="0">
                <a:solidFill>
                  <a:srgbClr val="14293D"/>
                </a:solidFill>
                <a:latin typeface="Roboto"/>
              </a:rPr>
              <a:t>• Give it the source documents (RAG, later in this talk)</a:t>
            </a:r>
          </a:p>
          <a:p>
            <a:pPr algn="l"/>
            <a:r>
              <a:rPr sz="1100" b="0" dirty="0">
                <a:solidFill>
                  <a:srgbClr val="14293D"/>
                </a:solidFill>
                <a:latin typeface="Roboto"/>
              </a:rPr>
              <a:t>• Ask for sources, then check them</a:t>
            </a:r>
          </a:p>
          <a:p>
            <a:pPr algn="l"/>
            <a:r>
              <a:rPr sz="1100" b="0" dirty="0">
                <a:solidFill>
                  <a:srgbClr val="14293D"/>
                </a:solidFill>
                <a:latin typeface="Roboto"/>
              </a:rPr>
              <a:t>• Treat every answer as a first draft</a:t>
            </a:r>
          </a:p>
        </p:txBody>
      </p:sp>
      <p:sp>
        <p:nvSpPr>
          <p:cNvPr id="41" name="Rectangle 40"/>
          <p:cNvSpPr/>
          <p:nvPr/>
        </p:nvSpPr>
        <p:spPr>
          <a:xfrm>
            <a:off x="566928" y="4681727"/>
            <a:ext cx="45720" cy="21945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713232" y="4663440"/>
            <a:ext cx="7991856" cy="274320"/>
          </a:xfrm>
          <a:prstGeom prst="rect">
            <a:avLst/>
          </a:prstGeom>
          <a:noFill/>
        </p:spPr>
        <p:txBody>
          <a:bodyPr wrap="square" lIns="0" tIns="0" rIns="0" bIns="0" anchor="t">
            <a:spAutoFit/>
          </a:bodyPr>
          <a:lstStyle/>
          <a:p>
            <a:pPr algn="l"/>
            <a:r>
              <a:rPr sz="1200" b="0">
                <a:solidFill>
                  <a:srgbClr val="0D1B2A"/>
                </a:solidFill>
                <a:latin typeface="Roboto"/>
              </a:rPr>
              <a:t>You stay responsible for the facts, especially names, numbers and sources.</a:t>
            </a:r>
          </a:p>
        </p:txBody>
      </p:sp>
      <p:sp>
        <p:nvSpPr>
          <p:cNvPr id="46" name="Rounded Rectangle 11">
            <a:extLst>
              <a:ext uri="{FF2B5EF4-FFF2-40B4-BE49-F238E27FC236}">
                <a16:creationId xmlns:a16="http://schemas.microsoft.com/office/drawing/2014/main" id="{E9002F9B-B2F5-C5D2-34A3-927785E780D4}"/>
              </a:ext>
            </a:extLst>
          </p:cNvPr>
          <p:cNvSpPr/>
          <p:nvPr/>
        </p:nvSpPr>
        <p:spPr>
          <a:xfrm>
            <a:off x="1576852" y="2377439"/>
            <a:ext cx="3611880" cy="438912"/>
          </a:xfrm>
          <a:prstGeom prst="roundRect">
            <a:avLst>
              <a:gd name="adj" fmla="val 18000"/>
            </a:avLst>
          </a:prstGeom>
          <a:solidFill>
            <a:srgbClr val="CFF5EA"/>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de-DE" sz="1000" dirty="0" err="1">
                <a:solidFill>
                  <a:srgbClr val="0D1B2A"/>
                </a:solidFill>
                <a:latin typeface="Roboto"/>
              </a:rPr>
              <a:t>Which</a:t>
            </a:r>
            <a:r>
              <a:rPr lang="de-DE" sz="1000" dirty="0">
                <a:solidFill>
                  <a:srgbClr val="0D1B2A"/>
                </a:solidFill>
                <a:latin typeface="Roboto"/>
              </a:rPr>
              <a:t> internal </a:t>
            </a:r>
            <a:r>
              <a:rPr lang="de-DE" sz="1000" dirty="0" err="1">
                <a:solidFill>
                  <a:srgbClr val="0D1B2A"/>
                </a:solidFill>
                <a:latin typeface="Roboto"/>
              </a:rPr>
              <a:t>guideline</a:t>
            </a:r>
            <a:r>
              <a:rPr lang="de-DE" sz="1000" dirty="0">
                <a:solidFill>
                  <a:srgbClr val="0D1B2A"/>
                </a:solidFill>
                <a:latin typeface="Roboto"/>
              </a:rPr>
              <a:t> </a:t>
            </a:r>
            <a:r>
              <a:rPr lang="de-DE" sz="1000" dirty="0" err="1">
                <a:solidFill>
                  <a:srgbClr val="0D1B2A"/>
                </a:solidFill>
                <a:latin typeface="Roboto"/>
              </a:rPr>
              <a:t>covers</a:t>
            </a:r>
            <a:r>
              <a:rPr lang="de-DE" sz="1000" dirty="0">
                <a:solidFill>
                  <a:srgbClr val="0D1B2A"/>
                </a:solidFill>
                <a:latin typeface="Roboto"/>
              </a:rPr>
              <a:t> </a:t>
            </a:r>
            <a:r>
              <a:rPr lang="de-DE" sz="1000" dirty="0" err="1">
                <a:solidFill>
                  <a:srgbClr val="0D1B2A"/>
                </a:solidFill>
                <a:latin typeface="Roboto"/>
              </a:rPr>
              <a:t>data</a:t>
            </a:r>
            <a:r>
              <a:rPr lang="de-DE" sz="1000" dirty="0">
                <a:solidFill>
                  <a:srgbClr val="0D1B2A"/>
                </a:solidFill>
                <a:latin typeface="Roboto"/>
              </a:rPr>
              <a:t> </a:t>
            </a:r>
            <a:r>
              <a:rPr lang="de-DE" sz="1000" dirty="0" err="1">
                <a:solidFill>
                  <a:srgbClr val="0D1B2A"/>
                </a:solidFill>
                <a:latin typeface="Roboto"/>
              </a:rPr>
              <a:t>retention</a:t>
            </a:r>
            <a:r>
              <a:rPr lang="de-DE" sz="1000" dirty="0">
                <a:solidFill>
                  <a:srgbClr val="0D1B2A"/>
                </a:solidFill>
                <a:latin typeface="Roboto"/>
              </a:rPr>
              <a:t> in </a:t>
            </a:r>
            <a:r>
              <a:rPr lang="de-DE" sz="1000" dirty="0" err="1">
                <a:solidFill>
                  <a:srgbClr val="0D1B2A"/>
                </a:solidFill>
                <a:latin typeface="Roboto"/>
              </a:rPr>
              <a:t>clinical</a:t>
            </a:r>
            <a:r>
              <a:rPr lang="de-DE" sz="1000" dirty="0">
                <a:solidFill>
                  <a:srgbClr val="0D1B2A"/>
                </a:solidFill>
                <a:latin typeface="Roboto"/>
              </a:rPr>
              <a:t> </a:t>
            </a:r>
            <a:r>
              <a:rPr lang="de-DE" sz="1000" dirty="0" err="1">
                <a:solidFill>
                  <a:srgbClr val="0D1B2A"/>
                </a:solidFill>
                <a:latin typeface="Roboto"/>
              </a:rPr>
              <a:t>trials</a:t>
            </a:r>
            <a:r>
              <a:rPr lang="de-DE" sz="1000" dirty="0">
                <a:solidFill>
                  <a:srgbClr val="0D1B2A"/>
                </a:solidFill>
                <a:latin typeface="Roboto"/>
              </a:rPr>
              <a:t>?</a:t>
            </a:r>
          </a:p>
        </p:txBody>
      </p:sp>
      <p:pic>
        <p:nvPicPr>
          <p:cNvPr id="51" name="Grafik 50" descr="Benutzer mit einfarbiger Füllung">
            <a:extLst>
              <a:ext uri="{FF2B5EF4-FFF2-40B4-BE49-F238E27FC236}">
                <a16:creationId xmlns:a16="http://schemas.microsoft.com/office/drawing/2014/main" id="{0B532170-E05E-823B-3BD0-7D3DCB04C4F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239095" y="2386475"/>
            <a:ext cx="420840" cy="420840"/>
          </a:xfrm>
          <a:prstGeom prst="rect">
            <a:avLst/>
          </a:prstGeom>
          <a:effectLst/>
        </p:spPr>
      </p:pic>
      <p:pic>
        <p:nvPicPr>
          <p:cNvPr id="54" name="Grafik 53" descr="Künstliche Intelligenz mit einfarbiger Füllung">
            <a:extLst>
              <a:ext uri="{FF2B5EF4-FFF2-40B4-BE49-F238E27FC236}">
                <a16:creationId xmlns:a16="http://schemas.microsoft.com/office/drawing/2014/main" id="{162CD648-8194-37BD-DE05-F7899400B2D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16405" y="3092720"/>
            <a:ext cx="421200" cy="421200"/>
          </a:xfrm>
          <a:prstGeom prst="rect">
            <a:avLst/>
          </a:prstGeom>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Oval 1"/>
          <p:cNvSpPr/>
          <p:nvPr/>
        </p:nvSpPr>
        <p:spPr>
          <a:xfrm>
            <a:off x="4572000" y="320040"/>
            <a:ext cx="4572000" cy="4572000"/>
          </a:xfrm>
          <a:prstGeom prst="ellipse">
            <a:avLst/>
          </a:prstGeom>
          <a:solidFill>
            <a:srgbClr val="1B9AAA">
              <a:alpha val="6000"/>
            </a:srgbClr>
          </a:solidFill>
          <a:ln w="635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 name="Connector 2"/>
          <p:cNvCxnSpPr/>
          <p:nvPr/>
        </p:nvCxnSpPr>
        <p:spPr>
          <a:xfrm>
            <a:off x="6309360" y="1234440"/>
            <a:ext cx="0" cy="25146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H="1">
            <a:off x="5349240" y="1485900"/>
            <a:ext cx="960120" cy="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349240" y="1485900"/>
            <a:ext cx="0" cy="25146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309360" y="1234440"/>
            <a:ext cx="0" cy="251460"/>
          </a:xfrm>
          <a:prstGeom prst="line">
            <a:avLst/>
          </a:prstGeom>
          <a:ln w="25400">
            <a:solidFill>
              <a:srgbClr val="1B9AAA"/>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309360" y="1485900"/>
            <a:ext cx="960120" cy="0"/>
          </a:xfrm>
          <a:prstGeom prst="line">
            <a:avLst/>
          </a:prstGeom>
          <a:ln w="25400">
            <a:solidFill>
              <a:srgbClr val="1B9AAA"/>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269480" y="1485900"/>
            <a:ext cx="0" cy="251460"/>
          </a:xfrm>
          <a:prstGeom prst="line">
            <a:avLst/>
          </a:prstGeom>
          <a:ln w="25400">
            <a:solidFill>
              <a:srgbClr val="1B9AAA"/>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269480" y="2286000"/>
            <a:ext cx="0" cy="251460"/>
          </a:xfrm>
          <a:prstGeom prst="line">
            <a:avLst/>
          </a:prstGeom>
          <a:ln w="25400">
            <a:solidFill>
              <a:srgbClr val="1B9AAA"/>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6583680" y="2537460"/>
            <a:ext cx="685800" cy="0"/>
          </a:xfrm>
          <a:prstGeom prst="line">
            <a:avLst/>
          </a:prstGeom>
          <a:ln w="25400">
            <a:solidFill>
              <a:srgbClr val="1B9AAA"/>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583680" y="2537460"/>
            <a:ext cx="0" cy="251460"/>
          </a:xfrm>
          <a:prstGeom prst="line">
            <a:avLst/>
          </a:prstGeom>
          <a:ln w="25400">
            <a:solidFill>
              <a:srgbClr val="1B9AAA"/>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583680" y="3337560"/>
            <a:ext cx="0" cy="25146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5715000" y="3589020"/>
            <a:ext cx="868680" cy="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715000" y="3589020"/>
            <a:ext cx="0" cy="25146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583680" y="3337560"/>
            <a:ext cx="0" cy="251460"/>
          </a:xfrm>
          <a:prstGeom prst="line">
            <a:avLst/>
          </a:prstGeom>
          <a:ln w="25400">
            <a:solidFill>
              <a:srgbClr val="1B9AAA"/>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583680" y="3589020"/>
            <a:ext cx="868680" cy="0"/>
          </a:xfrm>
          <a:prstGeom prst="line">
            <a:avLst/>
          </a:prstGeom>
          <a:ln w="25400">
            <a:solidFill>
              <a:srgbClr val="1B9AAA"/>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7452360" y="3589020"/>
            <a:ext cx="0" cy="251460"/>
          </a:xfrm>
          <a:prstGeom prst="line">
            <a:avLst/>
          </a:prstGeom>
          <a:ln w="25400">
            <a:solidFill>
              <a:srgbClr val="1B9AAA"/>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309360" y="1485900"/>
            <a:ext cx="2194560" cy="0"/>
          </a:xfrm>
          <a:prstGeom prst="line">
            <a:avLst/>
          </a:prstGeom>
          <a:ln w="9525">
            <a:solidFill>
              <a:srgbClr val="8FA6B2"/>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8503920" y="1485900"/>
            <a:ext cx="0" cy="324612"/>
          </a:xfrm>
          <a:prstGeom prst="line">
            <a:avLst/>
          </a:prstGeom>
          <a:ln w="9525">
            <a:solidFill>
              <a:srgbClr val="8FA6B2"/>
            </a:solidFill>
            <a:prstDash val="dash"/>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8343900" y="1920240"/>
            <a:ext cx="64008" cy="64008"/>
          </a:xfrm>
          <a:prstGeom prst="ellipse">
            <a:avLst/>
          </a:prstGeom>
          <a:solidFill>
            <a:srgbClr val="8FA6B2">
              <a:alpha val="100000"/>
            </a:srgbClr>
          </a:solidFill>
          <a:ln w="6350">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8471916" y="1920240"/>
            <a:ext cx="64008" cy="64008"/>
          </a:xfrm>
          <a:prstGeom prst="ellipse">
            <a:avLst/>
          </a:prstGeom>
          <a:solidFill>
            <a:srgbClr val="8FA6B2">
              <a:alpha val="100000"/>
            </a:srgbClr>
          </a:solidFill>
          <a:ln w="6350">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8599932" y="1920240"/>
            <a:ext cx="64008" cy="64008"/>
          </a:xfrm>
          <a:prstGeom prst="ellipse">
            <a:avLst/>
          </a:prstGeom>
          <a:solidFill>
            <a:srgbClr val="8FA6B2">
              <a:alpha val="100000"/>
            </a:srgbClr>
          </a:solidFill>
          <a:ln w="6350">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3" name="Connector 22"/>
          <p:cNvCxnSpPr/>
          <p:nvPr/>
        </p:nvCxnSpPr>
        <p:spPr>
          <a:xfrm>
            <a:off x="7269480" y="2537460"/>
            <a:ext cx="1234440" cy="0"/>
          </a:xfrm>
          <a:prstGeom prst="line">
            <a:avLst/>
          </a:prstGeom>
          <a:ln w="9525">
            <a:solidFill>
              <a:srgbClr val="8FA6B2"/>
            </a:solidFill>
            <a:prstDash val="dash"/>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8503920" y="2537460"/>
            <a:ext cx="0" cy="324612"/>
          </a:xfrm>
          <a:prstGeom prst="line">
            <a:avLst/>
          </a:prstGeom>
          <a:ln w="9525">
            <a:solidFill>
              <a:srgbClr val="8FA6B2"/>
            </a:solidFill>
            <a:prstDash val="dash"/>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8343900" y="2971800"/>
            <a:ext cx="64008" cy="64008"/>
          </a:xfrm>
          <a:prstGeom prst="ellipse">
            <a:avLst/>
          </a:prstGeom>
          <a:solidFill>
            <a:srgbClr val="8FA6B2">
              <a:alpha val="100000"/>
            </a:srgbClr>
          </a:solidFill>
          <a:ln w="6350">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8471916" y="2971800"/>
            <a:ext cx="64008" cy="64008"/>
          </a:xfrm>
          <a:prstGeom prst="ellipse">
            <a:avLst/>
          </a:prstGeom>
          <a:solidFill>
            <a:srgbClr val="8FA6B2">
              <a:alpha val="100000"/>
            </a:srgbClr>
          </a:solidFill>
          <a:ln w="6350">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8599932" y="2971800"/>
            <a:ext cx="64008" cy="64008"/>
          </a:xfrm>
          <a:prstGeom prst="ellipse">
            <a:avLst/>
          </a:prstGeom>
          <a:solidFill>
            <a:srgbClr val="8FA6B2">
              <a:alpha val="100000"/>
            </a:srgbClr>
          </a:solidFill>
          <a:ln w="6350">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5509260" y="685800"/>
            <a:ext cx="1600200" cy="548640"/>
          </a:xfrm>
          <a:prstGeom prst="roundRect">
            <a:avLst>
              <a:gd name="adj" fmla="val 18000"/>
            </a:avLst>
          </a:prstGeom>
          <a:solidFill>
            <a:srgbClr val="14293D"/>
          </a:solidFill>
          <a:ln w="1905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509260" y="749808"/>
            <a:ext cx="1600200" cy="274320"/>
          </a:xfrm>
          <a:prstGeom prst="rect">
            <a:avLst/>
          </a:prstGeom>
          <a:noFill/>
        </p:spPr>
        <p:txBody>
          <a:bodyPr wrap="square" lIns="0" tIns="0" rIns="0" bIns="0" anchor="t">
            <a:spAutoFit/>
          </a:bodyPr>
          <a:lstStyle/>
          <a:p>
            <a:pPr algn="ctr"/>
            <a:r>
              <a:rPr sz="1300" b="0">
                <a:solidFill>
                  <a:srgbClr val="FFFFFF"/>
                </a:solidFill>
                <a:latin typeface="Oswald"/>
              </a:rPr>
              <a:t>Artificial Intelligence</a:t>
            </a:r>
          </a:p>
        </p:txBody>
      </p:sp>
      <p:sp>
        <p:nvSpPr>
          <p:cNvPr id="30" name="TextBox 29"/>
          <p:cNvSpPr txBox="1"/>
          <p:nvPr/>
        </p:nvSpPr>
        <p:spPr>
          <a:xfrm>
            <a:off x="5509260" y="1014983"/>
            <a:ext cx="1600200" cy="182880"/>
          </a:xfrm>
          <a:prstGeom prst="rect">
            <a:avLst/>
          </a:prstGeom>
          <a:noFill/>
        </p:spPr>
        <p:txBody>
          <a:bodyPr wrap="square" lIns="0" tIns="0" rIns="0" bIns="0" anchor="t">
            <a:spAutoFit/>
          </a:bodyPr>
          <a:lstStyle/>
          <a:p>
            <a:pPr algn="ctr"/>
            <a:r>
              <a:rPr sz="850" b="0" spc="100">
                <a:solidFill>
                  <a:srgbClr val="1B9AAA"/>
                </a:solidFill>
                <a:latin typeface="JetBrains Mono"/>
              </a:rPr>
              <a:t>1955</a:t>
            </a:r>
          </a:p>
        </p:txBody>
      </p:sp>
      <p:sp>
        <p:nvSpPr>
          <p:cNvPr id="31" name="Rounded Rectangle 30"/>
          <p:cNvSpPr/>
          <p:nvPr/>
        </p:nvSpPr>
        <p:spPr>
          <a:xfrm>
            <a:off x="4549140" y="1737360"/>
            <a:ext cx="1600200" cy="548640"/>
          </a:xfrm>
          <a:prstGeom prst="roundRect">
            <a:avLst>
              <a:gd name="adj" fmla="val 18000"/>
            </a:avLst>
          </a:prstGeom>
          <a:solidFill>
            <a:srgbClr val="0D1B2A"/>
          </a:solidFill>
          <a:ln w="9525">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549140" y="1801368"/>
            <a:ext cx="1600200" cy="274320"/>
          </a:xfrm>
          <a:prstGeom prst="rect">
            <a:avLst/>
          </a:prstGeom>
          <a:noFill/>
        </p:spPr>
        <p:txBody>
          <a:bodyPr wrap="square" lIns="0" tIns="0" rIns="0" bIns="0" anchor="t">
            <a:spAutoFit/>
          </a:bodyPr>
          <a:lstStyle/>
          <a:p>
            <a:pPr algn="ctr"/>
            <a:r>
              <a:rPr sz="1300" b="0">
                <a:solidFill>
                  <a:srgbClr val="8FA6B2"/>
                </a:solidFill>
                <a:latin typeface="Oswald"/>
              </a:rPr>
              <a:t>Rule-based AI</a:t>
            </a:r>
          </a:p>
        </p:txBody>
      </p:sp>
      <p:sp>
        <p:nvSpPr>
          <p:cNvPr id="33" name="TextBox 32"/>
          <p:cNvSpPr txBox="1"/>
          <p:nvPr/>
        </p:nvSpPr>
        <p:spPr>
          <a:xfrm>
            <a:off x="4549140" y="2066543"/>
            <a:ext cx="1600200" cy="182880"/>
          </a:xfrm>
          <a:prstGeom prst="rect">
            <a:avLst/>
          </a:prstGeom>
          <a:noFill/>
        </p:spPr>
        <p:txBody>
          <a:bodyPr wrap="square" lIns="0" tIns="0" rIns="0" bIns="0" anchor="t">
            <a:spAutoFit/>
          </a:bodyPr>
          <a:lstStyle/>
          <a:p>
            <a:pPr algn="ctr"/>
            <a:r>
              <a:rPr sz="850" b="0" spc="100">
                <a:solidFill>
                  <a:srgbClr val="8FA6B2"/>
                </a:solidFill>
                <a:latin typeface="JetBrains Mono"/>
              </a:rPr>
              <a:t>1950s</a:t>
            </a:r>
          </a:p>
        </p:txBody>
      </p:sp>
      <p:sp>
        <p:nvSpPr>
          <p:cNvPr id="34" name="Rounded Rectangle 33"/>
          <p:cNvSpPr/>
          <p:nvPr/>
        </p:nvSpPr>
        <p:spPr>
          <a:xfrm>
            <a:off x="6469380" y="1737360"/>
            <a:ext cx="1600200" cy="548640"/>
          </a:xfrm>
          <a:prstGeom prst="roundRect">
            <a:avLst>
              <a:gd name="adj" fmla="val 18000"/>
            </a:avLst>
          </a:prstGeom>
          <a:solidFill>
            <a:srgbClr val="14293D"/>
          </a:solidFill>
          <a:ln w="1905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469380" y="1801368"/>
            <a:ext cx="1600200" cy="274320"/>
          </a:xfrm>
          <a:prstGeom prst="rect">
            <a:avLst/>
          </a:prstGeom>
          <a:noFill/>
        </p:spPr>
        <p:txBody>
          <a:bodyPr wrap="square" lIns="0" tIns="0" rIns="0" bIns="0" anchor="t">
            <a:spAutoFit/>
          </a:bodyPr>
          <a:lstStyle/>
          <a:p>
            <a:pPr algn="ctr"/>
            <a:r>
              <a:rPr sz="1300" b="0">
                <a:solidFill>
                  <a:srgbClr val="FFFFFF"/>
                </a:solidFill>
                <a:latin typeface="Oswald"/>
              </a:rPr>
              <a:t>Machine Learning</a:t>
            </a:r>
          </a:p>
        </p:txBody>
      </p:sp>
      <p:sp>
        <p:nvSpPr>
          <p:cNvPr id="36" name="TextBox 35"/>
          <p:cNvSpPr txBox="1"/>
          <p:nvPr/>
        </p:nvSpPr>
        <p:spPr>
          <a:xfrm>
            <a:off x="6469380" y="2066543"/>
            <a:ext cx="1600200" cy="182880"/>
          </a:xfrm>
          <a:prstGeom prst="rect">
            <a:avLst/>
          </a:prstGeom>
          <a:noFill/>
        </p:spPr>
        <p:txBody>
          <a:bodyPr wrap="square" lIns="0" tIns="0" rIns="0" bIns="0" anchor="t">
            <a:spAutoFit/>
          </a:bodyPr>
          <a:lstStyle/>
          <a:p>
            <a:pPr algn="ctr"/>
            <a:r>
              <a:rPr sz="850" b="0" spc="100">
                <a:solidFill>
                  <a:srgbClr val="1B9AAA"/>
                </a:solidFill>
                <a:latin typeface="JetBrains Mono"/>
              </a:rPr>
              <a:t>1959</a:t>
            </a:r>
          </a:p>
        </p:txBody>
      </p:sp>
      <p:sp>
        <p:nvSpPr>
          <p:cNvPr id="37" name="Rounded Rectangle 36"/>
          <p:cNvSpPr/>
          <p:nvPr/>
        </p:nvSpPr>
        <p:spPr>
          <a:xfrm>
            <a:off x="5783580" y="2788920"/>
            <a:ext cx="1600200" cy="548640"/>
          </a:xfrm>
          <a:prstGeom prst="roundRect">
            <a:avLst>
              <a:gd name="adj" fmla="val 18000"/>
            </a:avLst>
          </a:prstGeom>
          <a:solidFill>
            <a:srgbClr val="14293D"/>
          </a:solidFill>
          <a:ln w="1905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5783580" y="2852927"/>
            <a:ext cx="1600200" cy="274320"/>
          </a:xfrm>
          <a:prstGeom prst="rect">
            <a:avLst/>
          </a:prstGeom>
          <a:noFill/>
        </p:spPr>
        <p:txBody>
          <a:bodyPr wrap="square" lIns="0" tIns="0" rIns="0" bIns="0" anchor="t">
            <a:spAutoFit/>
          </a:bodyPr>
          <a:lstStyle/>
          <a:p>
            <a:pPr algn="ctr"/>
            <a:r>
              <a:rPr sz="1300" b="0">
                <a:solidFill>
                  <a:srgbClr val="FFFFFF"/>
                </a:solidFill>
                <a:latin typeface="Oswald"/>
              </a:rPr>
              <a:t>Deep Learning</a:t>
            </a:r>
          </a:p>
        </p:txBody>
      </p:sp>
      <p:sp>
        <p:nvSpPr>
          <p:cNvPr id="39" name="TextBox 38"/>
          <p:cNvSpPr txBox="1"/>
          <p:nvPr/>
        </p:nvSpPr>
        <p:spPr>
          <a:xfrm>
            <a:off x="5783580" y="3118103"/>
            <a:ext cx="1600200" cy="182880"/>
          </a:xfrm>
          <a:prstGeom prst="rect">
            <a:avLst/>
          </a:prstGeom>
          <a:noFill/>
        </p:spPr>
        <p:txBody>
          <a:bodyPr wrap="square" lIns="0" tIns="0" rIns="0" bIns="0" anchor="t">
            <a:spAutoFit/>
          </a:bodyPr>
          <a:lstStyle/>
          <a:p>
            <a:pPr algn="ctr"/>
            <a:r>
              <a:rPr sz="850" b="0" spc="100">
                <a:solidFill>
                  <a:srgbClr val="1B9AAA"/>
                </a:solidFill>
                <a:latin typeface="JetBrains Mono"/>
              </a:rPr>
              <a:t>2012</a:t>
            </a:r>
          </a:p>
        </p:txBody>
      </p:sp>
      <p:sp>
        <p:nvSpPr>
          <p:cNvPr id="40" name="Rounded Rectangle 39"/>
          <p:cNvSpPr/>
          <p:nvPr/>
        </p:nvSpPr>
        <p:spPr>
          <a:xfrm>
            <a:off x="4914900" y="3840480"/>
            <a:ext cx="1600200" cy="548640"/>
          </a:xfrm>
          <a:prstGeom prst="roundRect">
            <a:avLst>
              <a:gd name="adj" fmla="val 18000"/>
            </a:avLst>
          </a:prstGeom>
          <a:solidFill>
            <a:srgbClr val="0D1B2A"/>
          </a:solidFill>
          <a:ln w="9525">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914900" y="3904488"/>
            <a:ext cx="1600200" cy="274320"/>
          </a:xfrm>
          <a:prstGeom prst="rect">
            <a:avLst/>
          </a:prstGeom>
          <a:noFill/>
        </p:spPr>
        <p:txBody>
          <a:bodyPr wrap="square" lIns="0" tIns="0" rIns="0" bIns="0" anchor="t">
            <a:spAutoFit/>
          </a:bodyPr>
          <a:lstStyle/>
          <a:p>
            <a:pPr algn="ctr"/>
            <a:r>
              <a:rPr sz="1300" b="0">
                <a:solidFill>
                  <a:srgbClr val="8FA6B2"/>
                </a:solidFill>
                <a:latin typeface="Oswald"/>
              </a:rPr>
              <a:t>Generative AI</a:t>
            </a:r>
          </a:p>
        </p:txBody>
      </p:sp>
      <p:sp>
        <p:nvSpPr>
          <p:cNvPr id="42" name="TextBox 41"/>
          <p:cNvSpPr txBox="1"/>
          <p:nvPr/>
        </p:nvSpPr>
        <p:spPr>
          <a:xfrm>
            <a:off x="4914900" y="4169664"/>
            <a:ext cx="1600200" cy="182880"/>
          </a:xfrm>
          <a:prstGeom prst="rect">
            <a:avLst/>
          </a:prstGeom>
          <a:noFill/>
        </p:spPr>
        <p:txBody>
          <a:bodyPr wrap="square" lIns="0" tIns="0" rIns="0" bIns="0" anchor="t">
            <a:spAutoFit/>
          </a:bodyPr>
          <a:lstStyle/>
          <a:p>
            <a:pPr algn="ctr"/>
            <a:r>
              <a:rPr sz="850" b="0" spc="100">
                <a:solidFill>
                  <a:srgbClr val="8FA6B2"/>
                </a:solidFill>
                <a:latin typeface="JetBrains Mono"/>
              </a:rPr>
              <a:t>2018</a:t>
            </a:r>
          </a:p>
        </p:txBody>
      </p:sp>
      <p:sp>
        <p:nvSpPr>
          <p:cNvPr id="43" name="Rounded Rectangle 42"/>
          <p:cNvSpPr/>
          <p:nvPr/>
        </p:nvSpPr>
        <p:spPr>
          <a:xfrm>
            <a:off x="6652260" y="3840480"/>
            <a:ext cx="1600200" cy="548640"/>
          </a:xfrm>
          <a:prstGeom prst="roundRect">
            <a:avLst>
              <a:gd name="adj" fmla="val 18000"/>
            </a:avLst>
          </a:prstGeom>
          <a:solidFill>
            <a:srgbClr val="06D6A0"/>
          </a:solidFill>
          <a:ln w="19050">
            <a:solidFill>
              <a:srgbClr val="06D6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652260" y="3904488"/>
            <a:ext cx="1600200" cy="274320"/>
          </a:xfrm>
          <a:prstGeom prst="rect">
            <a:avLst/>
          </a:prstGeom>
          <a:noFill/>
        </p:spPr>
        <p:txBody>
          <a:bodyPr wrap="square" lIns="0" tIns="0" rIns="0" bIns="0" anchor="t">
            <a:spAutoFit/>
          </a:bodyPr>
          <a:lstStyle/>
          <a:p>
            <a:pPr algn="ctr"/>
            <a:r>
              <a:rPr sz="1300" b="0">
                <a:solidFill>
                  <a:srgbClr val="0D1B2A"/>
                </a:solidFill>
                <a:latin typeface="Oswald"/>
              </a:rPr>
              <a:t>Agentic AI</a:t>
            </a:r>
          </a:p>
        </p:txBody>
      </p:sp>
      <p:sp>
        <p:nvSpPr>
          <p:cNvPr id="45" name="TextBox 44"/>
          <p:cNvSpPr txBox="1"/>
          <p:nvPr/>
        </p:nvSpPr>
        <p:spPr>
          <a:xfrm>
            <a:off x="6652260" y="4169664"/>
            <a:ext cx="1600200" cy="182880"/>
          </a:xfrm>
          <a:prstGeom prst="rect">
            <a:avLst/>
          </a:prstGeom>
          <a:noFill/>
        </p:spPr>
        <p:txBody>
          <a:bodyPr wrap="square" lIns="0" tIns="0" rIns="0" bIns="0" anchor="t">
            <a:spAutoFit/>
          </a:bodyPr>
          <a:lstStyle/>
          <a:p>
            <a:pPr algn="ctr"/>
            <a:r>
              <a:rPr sz="850" b="0" spc="100">
                <a:solidFill>
                  <a:srgbClr val="0D1B2A"/>
                </a:solidFill>
                <a:latin typeface="JetBrains Mono"/>
              </a:rPr>
              <a:t>2024</a:t>
            </a:r>
          </a:p>
        </p:txBody>
      </p:sp>
      <p:sp>
        <p:nvSpPr>
          <p:cNvPr id="46" name="TextBox 45"/>
          <p:cNvSpPr txBox="1"/>
          <p:nvPr/>
        </p:nvSpPr>
        <p:spPr>
          <a:xfrm>
            <a:off x="731520" y="960120"/>
            <a:ext cx="3657600" cy="274320"/>
          </a:xfrm>
          <a:prstGeom prst="rect">
            <a:avLst/>
          </a:prstGeom>
          <a:noFill/>
        </p:spPr>
        <p:txBody>
          <a:bodyPr wrap="square" lIns="0" tIns="0" rIns="0" bIns="0" anchor="t">
            <a:spAutoFit/>
          </a:bodyPr>
          <a:lstStyle/>
          <a:p>
            <a:pPr algn="l"/>
            <a:r>
              <a:rPr sz="1100" b="0" spc="300">
                <a:solidFill>
                  <a:srgbClr val="06D6A0"/>
                </a:solidFill>
                <a:latin typeface="JetBrains Mono"/>
              </a:rPr>
              <a:t>PART 5 OF 5 · SINCE 2024</a:t>
            </a:r>
          </a:p>
        </p:txBody>
      </p:sp>
      <p:sp>
        <p:nvSpPr>
          <p:cNvPr id="47" name="section-agentic"/>
          <p:cNvSpPr txBox="1"/>
          <p:nvPr/>
        </p:nvSpPr>
        <p:spPr>
          <a:xfrm>
            <a:off x="731520" y="1234440"/>
            <a:ext cx="3657600" cy="1554480"/>
          </a:xfrm>
          <a:prstGeom prst="rect">
            <a:avLst/>
          </a:prstGeom>
          <a:noFill/>
        </p:spPr>
        <p:txBody>
          <a:bodyPr wrap="square" lIns="0" tIns="0" rIns="0" bIns="0" anchor="t">
            <a:spAutoFit/>
          </a:bodyPr>
          <a:lstStyle/>
          <a:p>
            <a:pPr algn="l"/>
            <a:r>
              <a:rPr sz="4800" b="0">
                <a:solidFill>
                  <a:srgbClr val="FFFFFF"/>
                </a:solidFill>
                <a:latin typeface="Oswald"/>
              </a:rPr>
              <a:t>Agentic</a:t>
            </a:r>
          </a:p>
          <a:p>
            <a:pPr algn="l"/>
            <a:r>
              <a:rPr sz="4800" b="0">
                <a:solidFill>
                  <a:srgbClr val="FFFFFF"/>
                </a:solidFill>
                <a:latin typeface="Oswald"/>
              </a:rPr>
              <a:t>AI</a:t>
            </a:r>
          </a:p>
        </p:txBody>
      </p:sp>
      <p:sp>
        <p:nvSpPr>
          <p:cNvPr id="48" name="TextBox 47"/>
          <p:cNvSpPr txBox="1"/>
          <p:nvPr/>
        </p:nvSpPr>
        <p:spPr>
          <a:xfrm>
            <a:off x="731520" y="2834640"/>
            <a:ext cx="3566160" cy="502920"/>
          </a:xfrm>
          <a:prstGeom prst="rect">
            <a:avLst/>
          </a:prstGeom>
          <a:noFill/>
        </p:spPr>
        <p:txBody>
          <a:bodyPr wrap="square" lIns="0" tIns="0" rIns="0" bIns="0" anchor="t">
            <a:spAutoFit/>
          </a:bodyPr>
          <a:lstStyle/>
          <a:p>
            <a:pPr algn="l"/>
            <a:r>
              <a:rPr sz="1400" b="0">
                <a:solidFill>
                  <a:srgbClr val="AFC2CE"/>
                </a:solidFill>
                <a:latin typeface="Roboto"/>
              </a:rPr>
              <a:t>AI that doesn't just answer, but plans, uses tools and acts toward a goal.</a:t>
            </a:r>
          </a:p>
        </p:txBody>
      </p:sp>
      <p:sp>
        <p:nvSpPr>
          <p:cNvPr id="49" name="Rectangle 48"/>
          <p:cNvSpPr/>
          <p:nvPr/>
        </p:nvSpPr>
        <p:spPr>
          <a:xfrm>
            <a:off x="731520" y="3520440"/>
            <a:ext cx="822960" cy="41148"/>
          </a:xfrm>
          <a:prstGeom prst="rect">
            <a:avLst/>
          </a:prstGeom>
          <a:solidFill>
            <a:srgbClr val="06D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731520" y="3675887"/>
            <a:ext cx="2743200" cy="228600"/>
          </a:xfrm>
          <a:prstGeom prst="rect">
            <a:avLst/>
          </a:prstGeom>
          <a:noFill/>
        </p:spPr>
        <p:txBody>
          <a:bodyPr wrap="square" lIns="0" tIns="0" rIns="0" bIns="0" anchor="t">
            <a:spAutoFit/>
          </a:bodyPr>
          <a:lstStyle/>
          <a:p>
            <a:pPr algn="l"/>
            <a:r>
              <a:rPr sz="900" b="0" spc="100">
                <a:solidFill>
                  <a:srgbClr val="8FA6B2"/>
                </a:solidFill>
                <a:latin typeface="JetBrains Mono"/>
              </a:rPr>
              <a:t>IN THIS PART</a:t>
            </a:r>
          </a:p>
        </p:txBody>
      </p:sp>
      <p:sp>
        <p:nvSpPr>
          <p:cNvPr id="51" name="TextBox 50"/>
          <p:cNvSpPr txBox="1"/>
          <p:nvPr/>
        </p:nvSpPr>
        <p:spPr>
          <a:xfrm>
            <a:off x="731520" y="3904487"/>
            <a:ext cx="3566160" cy="640080"/>
          </a:xfrm>
          <a:prstGeom prst="rect">
            <a:avLst/>
          </a:prstGeom>
          <a:noFill/>
        </p:spPr>
        <p:txBody>
          <a:bodyPr wrap="square" lIns="0" tIns="0" rIns="0" bIns="0" anchor="t">
            <a:spAutoFit/>
          </a:bodyPr>
          <a:lstStyle/>
          <a:p>
            <a:pPr algn="l"/>
            <a:r>
              <a:rPr sz="1100" b="0">
                <a:solidFill>
                  <a:srgbClr val="AFC2CE"/>
                </a:solidFill>
                <a:latin typeface="Roboto"/>
              </a:rPr>
              <a:t>Chatbot vs. agent · What an agent is made of · RAG · Tool use · MCP</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4F7F8"/>
        </a:solidFill>
        <a:effectLst/>
      </p:bgPr>
    </p:bg>
    <p:spTree>
      <p:nvGrpSpPr>
        <p:cNvPr id="1" name=""/>
        <p:cNvGrpSpPr/>
        <p:nvPr/>
      </p:nvGrpSpPr>
      <p:grpSpPr/>
      <p:sp>
        <p:nvSpPr>
          <p:cNvPr id="2" name="Rectangle 1"/>
          <p:cNvSpPr/>
          <p:nvPr/>
        </p:nvSpPr>
        <p:spPr>
          <a:xfrm>
            <a:off x="0" y="0"/>
            <a:ext cx="201168" cy="514350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29184"/>
            <a:ext cx="8138160" cy="274320"/>
          </a:xfrm>
          <a:prstGeom prst="rect">
            <a:avLst/>
          </a:prstGeom>
          <a:noFill/>
        </p:spPr>
        <p:txBody>
          <a:bodyPr wrap="square" anchor="t" lIns="0" rIns="0" tIns="0" bIns="0">
            <a:spAutoFit/>
          </a:bodyPr>
          <a:lstStyle/>
          <a:p>
            <a:pPr algn="l"/>
            <a:r>
              <a:rPr sz="1100" b="0" spc="300">
                <a:solidFill>
                  <a:srgbClr val="1B9AAA"/>
                </a:solidFill>
                <a:latin typeface="JetBrains Mono"/>
              </a:rPr>
              <a:t>THE SHIFT</a:t>
            </a:r>
          </a:p>
        </p:txBody>
      </p:sp>
      <p:sp>
        <p:nvSpPr>
          <p:cNvPr id="4" name="slide-chatbot-vs-agent"/>
          <p:cNvSpPr txBox="1"/>
          <p:nvPr/>
        </p:nvSpPr>
        <p:spPr>
          <a:xfrm>
            <a:off x="566928" y="603504"/>
            <a:ext cx="8138160" cy="658368"/>
          </a:xfrm>
          <a:prstGeom prst="rect">
            <a:avLst/>
          </a:prstGeom>
          <a:noFill/>
        </p:spPr>
        <p:txBody>
          <a:bodyPr wrap="square" anchor="t" lIns="0" rIns="0" tIns="0" bIns="0">
            <a:spAutoFit/>
          </a:bodyPr>
          <a:lstStyle/>
          <a:p>
            <a:pPr algn="l"/>
            <a:r>
              <a:rPr sz="3200" b="0">
                <a:solidFill>
                  <a:srgbClr val="0D1B2A"/>
                </a:solidFill>
                <a:latin typeface="Oswald"/>
              </a:rPr>
              <a:t>From just answering to actually doing</a:t>
            </a:r>
          </a:p>
        </p:txBody>
      </p:sp>
      <p:sp>
        <p:nvSpPr>
          <p:cNvPr id="5" name="TextBox 4"/>
          <p:cNvSpPr txBox="1"/>
          <p:nvPr/>
        </p:nvSpPr>
        <p:spPr>
          <a:xfrm>
            <a:off x="566928" y="1298448"/>
            <a:ext cx="8138160" cy="457200"/>
          </a:xfrm>
          <a:prstGeom prst="rect">
            <a:avLst/>
          </a:prstGeom>
          <a:noFill/>
        </p:spPr>
        <p:txBody>
          <a:bodyPr wrap="square" anchor="t" lIns="0" rIns="0" tIns="0" bIns="0">
            <a:spAutoFit/>
          </a:bodyPr>
          <a:lstStyle/>
          <a:p>
            <a:pPr algn="l"/>
            <a:r>
              <a:rPr sz="1150" b="0">
                <a:solidFill>
                  <a:srgbClr val="14293D"/>
                </a:solidFill>
                <a:latin typeface="Roboto"/>
              </a:rPr>
              <a:t>LLMs generate text and answer queries. AI Agents can set or interpret goals, plan and sequence actions, use tools (like web browsers, code, or APIs), make decisions based on feedback and adapt over time to complete tasks.</a:t>
            </a:r>
          </a:p>
        </p:txBody>
      </p:sp>
      <p:sp>
        <p:nvSpPr>
          <p:cNvPr id="6" name="Rectangle 5"/>
          <p:cNvSpPr/>
          <p:nvPr/>
        </p:nvSpPr>
        <p:spPr>
          <a:xfrm>
            <a:off x="566928" y="1920240"/>
            <a:ext cx="4005072" cy="2606040"/>
          </a:xfrm>
          <a:prstGeom prst="rect">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920240"/>
            <a:ext cx="54864" cy="260604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011680"/>
            <a:ext cx="3639312" cy="274320"/>
          </a:xfrm>
          <a:prstGeom prst="rect">
            <a:avLst/>
          </a:prstGeom>
          <a:noFill/>
        </p:spPr>
        <p:txBody>
          <a:bodyPr wrap="square" anchor="t" lIns="0" rIns="0" tIns="0" bIns="0">
            <a:spAutoFit/>
          </a:bodyPr>
          <a:lstStyle/>
          <a:p>
            <a:pPr algn="l"/>
            <a:r>
              <a:rPr sz="1500" b="0">
                <a:solidFill>
                  <a:srgbClr val="0D1B2A"/>
                </a:solidFill>
                <a:latin typeface="Oswald"/>
              </a:rPr>
              <a:t>Generative AI chatbot</a:t>
            </a:r>
          </a:p>
        </p:txBody>
      </p:sp>
      <p:sp>
        <p:nvSpPr>
          <p:cNvPr id="9" name="Rectangle 8"/>
          <p:cNvSpPr/>
          <p:nvPr/>
        </p:nvSpPr>
        <p:spPr>
          <a:xfrm>
            <a:off x="4700016" y="1920240"/>
            <a:ext cx="4005072" cy="2606040"/>
          </a:xfrm>
          <a:prstGeom prst="rect">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700016" y="1920240"/>
            <a:ext cx="54864" cy="2606040"/>
          </a:xfrm>
          <a:prstGeom prst="rect">
            <a:avLst/>
          </a:prstGeom>
          <a:solidFill>
            <a:srgbClr val="06D6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10328" y="2011680"/>
            <a:ext cx="3639312" cy="274320"/>
          </a:xfrm>
          <a:prstGeom prst="rect">
            <a:avLst/>
          </a:prstGeom>
          <a:noFill/>
        </p:spPr>
        <p:txBody>
          <a:bodyPr wrap="square" anchor="t" lIns="0" rIns="0" tIns="0" bIns="0">
            <a:spAutoFit/>
          </a:bodyPr>
          <a:lstStyle/>
          <a:p>
            <a:pPr algn="l"/>
            <a:r>
              <a:rPr sz="1500" b="0">
                <a:solidFill>
                  <a:srgbClr val="0D1B2A"/>
                </a:solidFill>
                <a:latin typeface="Oswald"/>
              </a:rPr>
              <a:t>Agentic AI</a:t>
            </a:r>
          </a:p>
        </p:txBody>
      </p:sp>
      <p:sp>
        <p:nvSpPr>
          <p:cNvPr id="12" name="Rounded Rectangle 11"/>
          <p:cNvSpPr/>
          <p:nvPr/>
        </p:nvSpPr>
        <p:spPr>
          <a:xfrm>
            <a:off x="777240" y="2304288"/>
            <a:ext cx="3584448" cy="1481328"/>
          </a:xfrm>
          <a:prstGeom prst="roundRect">
            <a:avLst>
              <a:gd name="adj" fmla="val 6172"/>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77240" y="2304288"/>
            <a:ext cx="3584448" cy="274320"/>
          </a:xfrm>
          <a:prstGeom prst="roundRect">
            <a:avLst>
              <a:gd name="adj" fmla="val 33333"/>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2487168"/>
            <a:ext cx="3584448" cy="91440"/>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68680" y="2359152"/>
            <a:ext cx="164592" cy="164592"/>
          </a:xfrm>
          <a:prstGeom prst="ellipse">
            <a:avLst/>
          </a:prstGeom>
          <a:solidFill>
            <a:srgbClr val="1B9AAA">
              <a:alpha val="100000"/>
            </a:srgbClr>
          </a:solidFill>
          <a:ln w="635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2386584"/>
            <a:ext cx="164592" cy="128016"/>
          </a:xfrm>
          <a:prstGeom prst="rect">
            <a:avLst/>
          </a:prstGeom>
          <a:noFill/>
        </p:spPr>
        <p:txBody>
          <a:bodyPr wrap="square" anchor="t" lIns="0" rIns="0" tIns="0" bIns="0">
            <a:spAutoFit/>
          </a:bodyPr>
          <a:lstStyle/>
          <a:p>
            <a:pPr algn="ctr"/>
            <a:r>
              <a:rPr sz="600" b="0">
                <a:solidFill>
                  <a:srgbClr val="FFFFFF"/>
                </a:solidFill>
                <a:latin typeface="JetBrains Mono"/>
              </a:rPr>
              <a:t>AI</a:t>
            </a:r>
          </a:p>
        </p:txBody>
      </p:sp>
      <p:sp>
        <p:nvSpPr>
          <p:cNvPr id="17" name="TextBox 16"/>
          <p:cNvSpPr txBox="1"/>
          <p:nvPr/>
        </p:nvSpPr>
        <p:spPr>
          <a:xfrm>
            <a:off x="1088136" y="2368296"/>
            <a:ext cx="1463040" cy="164592"/>
          </a:xfrm>
          <a:prstGeom prst="rect">
            <a:avLst/>
          </a:prstGeom>
          <a:noFill/>
        </p:spPr>
        <p:txBody>
          <a:bodyPr wrap="square" anchor="t" lIns="0" rIns="0" tIns="0" bIns="0">
            <a:spAutoFit/>
          </a:bodyPr>
          <a:lstStyle/>
          <a:p>
            <a:pPr algn="l"/>
            <a:r>
              <a:rPr sz="900" b="0">
                <a:solidFill>
                  <a:srgbClr val="0D1B2A"/>
                </a:solidFill>
                <a:latin typeface="Oswald"/>
              </a:rPr>
              <a:t>AI assistant</a:t>
            </a:r>
          </a:p>
        </p:txBody>
      </p:sp>
      <p:sp>
        <p:nvSpPr>
          <p:cNvPr id="18" name="Rounded Rectangle 17"/>
          <p:cNvSpPr/>
          <p:nvPr/>
        </p:nvSpPr>
        <p:spPr>
          <a:xfrm>
            <a:off x="1344168" y="2688336"/>
            <a:ext cx="2606040" cy="292608"/>
          </a:xfrm>
          <a:prstGeom prst="roundRect">
            <a:avLst>
              <a:gd name="adj" fmla="val 18000"/>
            </a:avLst>
          </a:prstGeom>
          <a:solidFill>
            <a:srgbClr val="CFF5E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850">
                <a:solidFill>
                  <a:srgbClr val="0D1B2A"/>
                </a:solidFill>
                <a:latin typeface="Roboto"/>
              </a:rPr>
              <a:t>Summarize these meeting notes.</a:t>
            </a:r>
          </a:p>
        </p:txBody>
      </p:sp>
      <p:sp>
        <p:nvSpPr>
          <p:cNvPr id="19" name="Rounded Rectangle 18"/>
          <p:cNvSpPr/>
          <p:nvPr/>
        </p:nvSpPr>
        <p:spPr>
          <a:xfrm>
            <a:off x="1179576" y="3054096"/>
            <a:ext cx="2606040" cy="292608"/>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850">
                <a:solidFill>
                  <a:srgbClr val="0D1B2A"/>
                </a:solidFill>
                <a:latin typeface="Roboto"/>
              </a:rPr>
              <a:t>Here are the five key points …</a:t>
            </a:r>
          </a:p>
        </p:txBody>
      </p:sp>
      <p:sp>
        <p:nvSpPr>
          <p:cNvPr id="20" name="Rounded Rectangle 19"/>
          <p:cNvSpPr/>
          <p:nvPr/>
        </p:nvSpPr>
        <p:spPr>
          <a:xfrm>
            <a:off x="1344168" y="3419856"/>
            <a:ext cx="2606040" cy="292608"/>
          </a:xfrm>
          <a:prstGeom prst="roundRect">
            <a:avLst>
              <a:gd name="adj" fmla="val 18000"/>
            </a:avLst>
          </a:prstGeom>
          <a:solidFill>
            <a:srgbClr val="CFF5E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850">
                <a:solidFill>
                  <a:srgbClr val="0D1B2A"/>
                </a:solidFill>
                <a:latin typeface="Roboto"/>
              </a:rPr>
              <a:t>Now draft the text for an email from it.</a:t>
            </a:r>
          </a:p>
        </p:txBody>
      </p:sp>
      <p:sp>
        <p:nvSpPr>
          <p:cNvPr id="21" name="TextBox 20"/>
          <p:cNvSpPr txBox="1"/>
          <p:nvPr/>
        </p:nvSpPr>
        <p:spPr>
          <a:xfrm>
            <a:off x="777240" y="3840480"/>
            <a:ext cx="2286000" cy="182880"/>
          </a:xfrm>
          <a:prstGeom prst="rect">
            <a:avLst/>
          </a:prstGeom>
          <a:noFill/>
        </p:spPr>
        <p:txBody>
          <a:bodyPr wrap="square" anchor="t" lIns="0" rIns="0" tIns="0" bIns="0">
            <a:spAutoFit/>
          </a:bodyPr>
          <a:lstStyle/>
          <a:p>
            <a:pPr algn="l"/>
            <a:r>
              <a:rPr sz="950" b="0">
                <a:solidFill>
                  <a:srgbClr val="6B7B8C"/>
                </a:solidFill>
                <a:latin typeface="Roboto"/>
              </a:rPr>
              <a:t>Every step waits for you.</a:t>
            </a:r>
          </a:p>
        </p:txBody>
      </p:sp>
      <p:sp>
        <p:nvSpPr>
          <p:cNvPr id="22" name="Rounded Rectangle 21"/>
          <p:cNvSpPr/>
          <p:nvPr/>
        </p:nvSpPr>
        <p:spPr>
          <a:xfrm>
            <a:off x="5989320" y="2267712"/>
            <a:ext cx="2231136" cy="292608"/>
          </a:xfrm>
          <a:prstGeom prst="roundRect">
            <a:avLst>
              <a:gd name="adj" fmla="val 18000"/>
            </a:avLst>
          </a:prstGeom>
          <a:solidFill>
            <a:srgbClr val="CFF5E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850">
                <a:solidFill>
                  <a:srgbClr val="0D1B2A"/>
                </a:solidFill>
                <a:latin typeface="Roboto"/>
              </a:rPr>
              <a:t>Turn these notes into follow-ups.</a:t>
            </a:r>
          </a:p>
        </p:txBody>
      </p:sp>
      <p:sp>
        <p:nvSpPr>
          <p:cNvPr id="23" name="Rounded Rectangle 22"/>
          <p:cNvSpPr/>
          <p:nvPr/>
        </p:nvSpPr>
        <p:spPr>
          <a:xfrm>
            <a:off x="5184648" y="2615184"/>
            <a:ext cx="3374136" cy="749808"/>
          </a:xfrm>
          <a:prstGeom prst="roundRect">
            <a:avLst>
              <a:gd name="adj" fmla="val 9756"/>
            </a:avLst>
          </a:prstGeom>
          <a:solidFill>
            <a:srgbClr val="F4F7F8"/>
          </a:solidFill>
          <a:ln w="9525">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230368" y="2660904"/>
            <a:ext cx="2377440" cy="182880"/>
          </a:xfrm>
          <a:prstGeom prst="rect">
            <a:avLst/>
          </a:prstGeom>
          <a:noFill/>
        </p:spPr>
        <p:txBody>
          <a:bodyPr wrap="square" anchor="t" lIns="0" rIns="0" tIns="0" bIns="0">
            <a:spAutoFit/>
          </a:bodyPr>
          <a:lstStyle/>
          <a:p>
            <a:pPr algn="l"/>
            <a:r>
              <a:rPr sz="800" b="0" spc="100">
                <a:solidFill>
                  <a:srgbClr val="1B9AAA"/>
                </a:solidFill>
                <a:latin typeface="JetBrains Mono"/>
              </a:rPr>
              <a:t>↻  the agent repeats on its own</a:t>
            </a:r>
          </a:p>
        </p:txBody>
      </p:sp>
      <p:sp>
        <p:nvSpPr>
          <p:cNvPr id="25" name="Rounded Rectangle 24"/>
          <p:cNvSpPr/>
          <p:nvPr/>
        </p:nvSpPr>
        <p:spPr>
          <a:xfrm>
            <a:off x="5230368" y="2843784"/>
            <a:ext cx="923544" cy="274320"/>
          </a:xfrm>
          <a:prstGeom prst="roundRect">
            <a:avLst>
              <a:gd name="adj" fmla="val 18000"/>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850">
                <a:solidFill>
                  <a:srgbClr val="0D1B2A"/>
                </a:solidFill>
                <a:latin typeface="Roboto"/>
              </a:rPr>
              <a:t>Plans the steps</a:t>
            </a:r>
          </a:p>
        </p:txBody>
      </p:sp>
      <p:cxnSp>
        <p:nvCxnSpPr>
          <p:cNvPr id="26" name="Connector 25"/>
          <p:cNvCxnSpPr/>
          <p:nvPr/>
        </p:nvCxnSpPr>
        <p:spPr>
          <a:xfrm>
            <a:off x="6190488" y="2980944"/>
            <a:ext cx="173736" cy="0"/>
          </a:xfrm>
          <a:prstGeom prst="line">
            <a:avLst/>
          </a:prstGeom>
          <a:ln w="12700">
            <a:solidFill>
              <a:srgbClr val="1B9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6409944" y="2843784"/>
            <a:ext cx="923544" cy="274320"/>
          </a:xfrm>
          <a:prstGeom prst="roundRect">
            <a:avLst>
              <a:gd name="adj" fmla="val 18000"/>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850">
                <a:solidFill>
                  <a:srgbClr val="0D1B2A"/>
                </a:solidFill>
                <a:latin typeface="Roboto"/>
              </a:rPr>
              <a:t>Uses tools</a:t>
            </a:r>
          </a:p>
        </p:txBody>
      </p:sp>
      <p:cxnSp>
        <p:nvCxnSpPr>
          <p:cNvPr id="28" name="Connector 27"/>
          <p:cNvCxnSpPr/>
          <p:nvPr/>
        </p:nvCxnSpPr>
        <p:spPr>
          <a:xfrm>
            <a:off x="7370064" y="2980944"/>
            <a:ext cx="173736" cy="0"/>
          </a:xfrm>
          <a:prstGeom prst="line">
            <a:avLst/>
          </a:prstGeom>
          <a:ln w="12700">
            <a:solidFill>
              <a:srgbClr val="1B9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7589520" y="2843784"/>
            <a:ext cx="923544" cy="274320"/>
          </a:xfrm>
          <a:prstGeom prst="roundRect">
            <a:avLst>
              <a:gd name="adj" fmla="val 18000"/>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850">
                <a:solidFill>
                  <a:srgbClr val="0D1B2A"/>
                </a:solidFill>
                <a:latin typeface="Roboto"/>
              </a:rPr>
              <a:t>Checks the result</a:t>
            </a:r>
          </a:p>
        </p:txBody>
      </p:sp>
      <p:sp>
        <p:nvSpPr>
          <p:cNvPr id="30" name="Rounded Rectangle 29"/>
          <p:cNvSpPr/>
          <p:nvPr/>
        </p:nvSpPr>
        <p:spPr>
          <a:xfrm>
            <a:off x="6300216" y="3145536"/>
            <a:ext cx="365760" cy="182880"/>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00">
                <a:solidFill>
                  <a:srgbClr val="0D1B2A"/>
                </a:solidFill>
                <a:latin typeface="Roboto"/>
              </a:rPr>
              <a:t>Outlook</a:t>
            </a:r>
          </a:p>
        </p:txBody>
      </p:sp>
      <p:sp>
        <p:nvSpPr>
          <p:cNvPr id="31" name="Rounded Rectangle 30"/>
          <p:cNvSpPr/>
          <p:nvPr/>
        </p:nvSpPr>
        <p:spPr>
          <a:xfrm>
            <a:off x="6707124" y="3145536"/>
            <a:ext cx="365760" cy="182880"/>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00">
                <a:solidFill>
                  <a:srgbClr val="0D1B2A"/>
                </a:solidFill>
                <a:latin typeface="Roboto"/>
              </a:rPr>
              <a:t>File Sys.</a:t>
            </a:r>
          </a:p>
        </p:txBody>
      </p:sp>
      <p:sp>
        <p:nvSpPr>
          <p:cNvPr id="32" name="Rounded Rectangle 31"/>
          <p:cNvSpPr/>
          <p:nvPr/>
        </p:nvSpPr>
        <p:spPr>
          <a:xfrm>
            <a:off x="7114031" y="3145536"/>
            <a:ext cx="365760" cy="182880"/>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850">
                <a:solidFill>
                  <a:srgbClr val="0D1B2A"/>
                </a:solidFill>
                <a:latin typeface="Roboto"/>
              </a:rPr>
              <a:t>…</a:t>
            </a:r>
          </a:p>
        </p:txBody>
      </p:sp>
      <p:sp>
        <p:nvSpPr>
          <p:cNvPr id="33" name="Rounded Rectangle 32"/>
          <p:cNvSpPr/>
          <p:nvPr/>
        </p:nvSpPr>
        <p:spPr>
          <a:xfrm>
            <a:off x="5184648" y="3401568"/>
            <a:ext cx="1764792" cy="548640"/>
          </a:xfrm>
          <a:prstGeom prst="roundRect">
            <a:avLst>
              <a:gd name="adj" fmla="val 10000"/>
            </a:avLst>
          </a:prstGeom>
          <a:solidFill>
            <a:srgbClr val="FFFFFF"/>
          </a:solidFill>
          <a:ln w="9525">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221224" y="3419856"/>
            <a:ext cx="182880" cy="164592"/>
          </a:xfrm>
          <a:prstGeom prst="rect">
            <a:avLst/>
          </a:prstGeom>
          <a:noFill/>
        </p:spPr>
        <p:txBody>
          <a:bodyPr wrap="square" anchor="t" lIns="0" rIns="0" tIns="0" bIns="0">
            <a:spAutoFit/>
          </a:bodyPr>
          <a:lstStyle/>
          <a:p>
            <a:pPr algn="l"/>
            <a:r>
              <a:rPr sz="800" b="0">
                <a:solidFill>
                  <a:srgbClr val="1B9AAA"/>
                </a:solidFill>
                <a:latin typeface="Roboto"/>
              </a:rPr>
              <a:t>▾</a:t>
            </a:r>
          </a:p>
        </p:txBody>
      </p:sp>
      <p:sp>
        <p:nvSpPr>
          <p:cNvPr id="35" name="TextBox 34"/>
          <p:cNvSpPr txBox="1"/>
          <p:nvPr/>
        </p:nvSpPr>
        <p:spPr>
          <a:xfrm>
            <a:off x="5385816" y="3429000"/>
            <a:ext cx="1463040" cy="109728"/>
          </a:xfrm>
          <a:prstGeom prst="rect">
            <a:avLst/>
          </a:prstGeom>
          <a:noFill/>
        </p:spPr>
        <p:txBody>
          <a:bodyPr wrap="square" anchor="t" lIns="0" rIns="0" tIns="0" bIns="0">
            <a:spAutoFit/>
          </a:bodyPr>
          <a:lstStyle/>
          <a:p>
            <a:pPr algn="l"/>
            <a:r>
              <a:rPr sz="700" b="0" spc="100">
                <a:solidFill>
                  <a:srgbClr val="1B9AAA"/>
                </a:solidFill>
                <a:latin typeface="JetBrains Mono"/>
              </a:rPr>
              <a:t>Executed 3 tasks</a:t>
            </a:r>
          </a:p>
        </p:txBody>
      </p:sp>
      <p:cxnSp>
        <p:nvCxnSpPr>
          <p:cNvPr id="36" name="Connector 35"/>
          <p:cNvCxnSpPr/>
          <p:nvPr/>
        </p:nvCxnSpPr>
        <p:spPr>
          <a:xfrm>
            <a:off x="5184648" y="3538728"/>
            <a:ext cx="1755648" cy="0"/>
          </a:xfrm>
          <a:prstGeom prst="line">
            <a:avLst/>
          </a:prstGeom>
          <a:ln w="9525">
            <a:solidFill>
              <a:srgbClr val="DDE5E9"/>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5312664" y="3566160"/>
            <a:ext cx="1463040" cy="91440"/>
          </a:xfrm>
          <a:prstGeom prst="rect">
            <a:avLst/>
          </a:prstGeom>
          <a:noFill/>
        </p:spPr>
        <p:txBody>
          <a:bodyPr wrap="square" anchor="t" lIns="0" rIns="0" tIns="0" bIns="0">
            <a:spAutoFit/>
          </a:bodyPr>
          <a:lstStyle/>
          <a:p>
            <a:pPr algn="l"/>
            <a:r>
              <a:rPr sz="600" b="0">
                <a:solidFill>
                  <a:srgbClr val="1B9AAA"/>
                </a:solidFill>
                <a:latin typeface="Roboto"/>
              </a:rPr>
              <a:t>✓  Draft email written in Outlook</a:t>
            </a:r>
          </a:p>
        </p:txBody>
      </p:sp>
      <p:sp>
        <p:nvSpPr>
          <p:cNvPr id="38" name="TextBox 37"/>
          <p:cNvSpPr txBox="1"/>
          <p:nvPr/>
        </p:nvSpPr>
        <p:spPr>
          <a:xfrm>
            <a:off x="5312664" y="3703320"/>
            <a:ext cx="1463040" cy="91440"/>
          </a:xfrm>
          <a:prstGeom prst="rect">
            <a:avLst/>
          </a:prstGeom>
          <a:noFill/>
        </p:spPr>
        <p:txBody>
          <a:bodyPr wrap="square" anchor="t" lIns="0" rIns="0" tIns="0" bIns="0">
            <a:spAutoFit/>
          </a:bodyPr>
          <a:lstStyle/>
          <a:p>
            <a:pPr algn="l"/>
            <a:r>
              <a:rPr sz="600" b="0">
                <a:solidFill>
                  <a:srgbClr val="1B9AAA"/>
                </a:solidFill>
                <a:latin typeface="Roboto"/>
              </a:rPr>
              <a:t>✓  Schedule follow-up meetings</a:t>
            </a:r>
          </a:p>
        </p:txBody>
      </p:sp>
      <p:sp>
        <p:nvSpPr>
          <p:cNvPr id="39" name="TextBox 38"/>
          <p:cNvSpPr txBox="1"/>
          <p:nvPr/>
        </p:nvSpPr>
        <p:spPr>
          <a:xfrm>
            <a:off x="5312664" y="3840480"/>
            <a:ext cx="1463040" cy="91440"/>
          </a:xfrm>
          <a:prstGeom prst="rect">
            <a:avLst/>
          </a:prstGeom>
          <a:noFill/>
        </p:spPr>
        <p:txBody>
          <a:bodyPr wrap="square" anchor="t" lIns="0" rIns="0" tIns="0" bIns="0">
            <a:spAutoFit/>
          </a:bodyPr>
          <a:lstStyle/>
          <a:p>
            <a:pPr algn="l"/>
            <a:r>
              <a:rPr sz="600" b="0">
                <a:solidFill>
                  <a:srgbClr val="1B9AAA"/>
                </a:solidFill>
                <a:latin typeface="Roboto"/>
              </a:rPr>
              <a:t>✓  Store meeting notes on sharepoint</a:t>
            </a:r>
          </a:p>
        </p:txBody>
      </p:sp>
      <p:sp>
        <p:nvSpPr>
          <p:cNvPr id="40" name="Rounded Rectangle 39"/>
          <p:cNvSpPr/>
          <p:nvPr/>
        </p:nvSpPr>
        <p:spPr>
          <a:xfrm>
            <a:off x="5184648" y="3986784"/>
            <a:ext cx="3374136" cy="210312"/>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700">
                <a:solidFill>
                  <a:srgbClr val="0D1B2A"/>
                </a:solidFill>
                <a:latin typeface="Roboto"/>
              </a:rPr>
              <a:t>I have executed all tasks. The draft email is waiting for your approval.</a:t>
            </a:r>
          </a:p>
        </p:txBody>
      </p:sp>
      <p:cxnSp>
        <p:nvCxnSpPr>
          <p:cNvPr id="41" name="Connector 40"/>
          <p:cNvCxnSpPr/>
          <p:nvPr/>
        </p:nvCxnSpPr>
        <p:spPr>
          <a:xfrm>
            <a:off x="777240" y="4279392"/>
            <a:ext cx="3584448" cy="0"/>
          </a:xfrm>
          <a:prstGeom prst="line">
            <a:avLst/>
          </a:prstGeom>
          <a:ln w="9525">
            <a:solidFill>
              <a:srgbClr val="DDE5E9"/>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777240" y="4334256"/>
            <a:ext cx="3593592" cy="182880"/>
          </a:xfrm>
          <a:prstGeom prst="rect">
            <a:avLst/>
          </a:prstGeom>
          <a:noFill/>
        </p:spPr>
        <p:txBody>
          <a:bodyPr wrap="square" anchor="t" lIns="0" rIns="0" tIns="0" bIns="0">
            <a:spAutoFit/>
          </a:bodyPr>
          <a:lstStyle/>
          <a:p>
            <a:pPr algn="l"/>
            <a:r>
              <a:rPr sz="900" b="0">
                <a:solidFill>
                  <a:srgbClr val="14293D"/>
                </a:solidFill>
                <a:latin typeface="Roboto"/>
              </a:rPr>
              <a:t>A structured exchange that needs a human for every decision.</a:t>
            </a:r>
          </a:p>
        </p:txBody>
      </p:sp>
      <p:cxnSp>
        <p:nvCxnSpPr>
          <p:cNvPr id="43" name="Connector 42"/>
          <p:cNvCxnSpPr/>
          <p:nvPr/>
        </p:nvCxnSpPr>
        <p:spPr>
          <a:xfrm>
            <a:off x="4910328" y="4279392"/>
            <a:ext cx="3584448" cy="0"/>
          </a:xfrm>
          <a:prstGeom prst="line">
            <a:avLst/>
          </a:prstGeom>
          <a:ln w="9525">
            <a:solidFill>
              <a:srgbClr val="DDE5E9"/>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4910328" y="4334256"/>
            <a:ext cx="3593592" cy="182880"/>
          </a:xfrm>
          <a:prstGeom prst="rect">
            <a:avLst/>
          </a:prstGeom>
          <a:noFill/>
        </p:spPr>
        <p:txBody>
          <a:bodyPr wrap="square" anchor="t" lIns="0" rIns="0" tIns="0" bIns="0">
            <a:spAutoFit/>
          </a:bodyPr>
          <a:lstStyle/>
          <a:p>
            <a:pPr algn="l"/>
            <a:r>
              <a:rPr sz="900" b="0">
                <a:solidFill>
                  <a:srgbClr val="14293D"/>
                </a:solidFill>
                <a:latin typeface="Roboto"/>
              </a:rPr>
              <a:t>An autonomous system that pursues a goal on its own.</a:t>
            </a:r>
          </a:p>
        </p:txBody>
      </p:sp>
      <p:sp>
        <p:nvSpPr>
          <p:cNvPr id="45" name="Rectangle 44"/>
          <p:cNvSpPr/>
          <p:nvPr/>
        </p:nvSpPr>
        <p:spPr>
          <a:xfrm>
            <a:off x="566928" y="4681727"/>
            <a:ext cx="45720" cy="21945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13232" y="4663440"/>
            <a:ext cx="7991856" cy="274320"/>
          </a:xfrm>
          <a:prstGeom prst="rect">
            <a:avLst/>
          </a:prstGeom>
          <a:noFill/>
        </p:spPr>
        <p:txBody>
          <a:bodyPr wrap="square" anchor="t" lIns="0" rIns="0" tIns="0" bIns="0">
            <a:spAutoFit/>
          </a:bodyPr>
          <a:lstStyle/>
          <a:p>
            <a:pPr algn="l"/>
            <a:r>
              <a:rPr sz="1200" b="0">
                <a:solidFill>
                  <a:srgbClr val="0D1B2A"/>
                </a:solidFill>
                <a:latin typeface="Roboto"/>
              </a:rPr>
              <a:t>The chatbot waits for your next instruction. The agent decides the next step itself.</a:t>
            </a:r>
          </a:p>
        </p:txBody>
      </p:sp>
      <p:pic>
        <p:nvPicPr>
          <p:cNvPr id="47" name="Picture 47"/>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014215" y="2679192"/>
            <a:ext cx="310896" cy="310896"/>
          </a:xfrm>
          <a:prstGeom prst="rect">
            <a:avLst/>
          </a:prstGeom>
        </p:spPr>
      </p:pic>
      <p:pic>
        <p:nvPicPr>
          <p:cNvPr id="48" name="Picture 48"/>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50392" y="3044952"/>
            <a:ext cx="310896" cy="310896"/>
          </a:xfrm>
          <a:prstGeom prst="rect">
            <a:avLst/>
          </a:prstGeom>
        </p:spPr>
      </p:pic>
      <p:pic>
        <p:nvPicPr>
          <p:cNvPr id="49" name="Picture 49"/>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014215" y="3410712"/>
            <a:ext cx="310896" cy="310896"/>
          </a:xfrm>
          <a:prstGeom prst="rect">
            <a:avLst/>
          </a:prstGeom>
        </p:spPr>
      </p:pic>
      <p:pic>
        <p:nvPicPr>
          <p:cNvPr id="50" name="Picture 50"/>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266175" y="2258568"/>
            <a:ext cx="310896" cy="310896"/>
          </a:xfrm>
          <a:prstGeom prst="rect">
            <a:avLst/>
          </a:prstGeom>
        </p:spPr>
      </p:pic>
      <p:pic>
        <p:nvPicPr>
          <p:cNvPr id="51" name="Picture 51"/>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855464" y="3218688"/>
            <a:ext cx="310896" cy="310896"/>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5">
    <p:bg>
      <p:bgPr>
        <a:solidFill>
          <a:srgbClr val="14293D"/>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06D6A0"/>
          </a:solidFill>
          <a:ln/>
        </p:spPr>
        <p:txBody>
          <a:bodyPr/>
          <a:lstStyle/>
          <a:p>
            <a:endParaRPr lang="en-US"/>
          </a:p>
        </p:txBody>
      </p:sp>
      <p:sp>
        <p:nvSpPr>
          <p:cNvPr id="3" name="Text 1"/>
          <p:cNvSpPr/>
          <p:nvPr/>
        </p:nvSpPr>
        <p:spPr>
          <a:xfrm>
            <a:off x="822960" y="1234440"/>
            <a:ext cx="7315200" cy="274320"/>
          </a:xfrm>
          <a:prstGeom prst="rect">
            <a:avLst/>
          </a:prstGeom>
          <a:noFill/>
          <a:ln/>
        </p:spPr>
        <p:txBody>
          <a:bodyPr wrap="square" lIns="0" tIns="0" rIns="0" bIns="0" rtlCol="0" anchor="ctr"/>
          <a:lstStyle/>
          <a:p>
            <a:pPr marL="0" indent="0">
              <a:buNone/>
            </a:pPr>
            <a:r>
              <a:rPr lang="en-US" sz="1100" kern="0" spc="250" dirty="0">
                <a:solidFill>
                  <a:srgbClr val="06D6A0"/>
                </a:solidFill>
                <a:latin typeface="JetBrains Mono" pitchFamily="34" charset="0"/>
                <a:ea typeface="JetBrains Mono" pitchFamily="34" charset="-122"/>
                <a:cs typeface="JetBrains Mono" pitchFamily="34" charset="-120"/>
              </a:rPr>
              <a:t>FROM FOUNDATIONS TO MECHANICS</a:t>
            </a:r>
            <a:endParaRPr lang="en-US" sz="1100" dirty="0"/>
          </a:p>
        </p:txBody>
      </p:sp>
      <p:sp>
        <p:nvSpPr>
          <p:cNvPr id="4" name="Text 2"/>
          <p:cNvSpPr/>
          <p:nvPr/>
        </p:nvSpPr>
        <p:spPr>
          <a:xfrm>
            <a:off x="822960" y="1627632"/>
            <a:ext cx="7498080" cy="1188720"/>
          </a:xfrm>
          <a:prstGeom prst="rect">
            <a:avLst/>
          </a:prstGeom>
          <a:noFill/>
          <a:ln/>
        </p:spPr>
        <p:txBody>
          <a:bodyPr wrap="square" lIns="0" tIns="0" rIns="0" bIns="0" rtlCol="0" anchor="ctr"/>
          <a:lstStyle/>
          <a:p>
            <a:pPr marL="0" indent="0">
              <a:buNone/>
            </a:pPr>
            <a:r>
              <a:rPr lang="en-US" sz="3800" dirty="0">
                <a:solidFill>
                  <a:srgbClr val="FFFFFF"/>
                </a:solidFill>
                <a:latin typeface="Oswald" pitchFamily="34" charset="0"/>
                <a:ea typeface="Oswald" pitchFamily="34" charset="-122"/>
                <a:cs typeface="Oswald" pitchFamily="34" charset="-120"/>
              </a:rPr>
              <a:t>So how does a model</a:t>
            </a:r>
            <a:endParaRPr lang="en-US" sz="3800" dirty="0"/>
          </a:p>
          <a:p>
            <a:pPr marL="0" indent="0">
              <a:buNone/>
            </a:pPr>
            <a:r>
              <a:rPr lang="en-US" sz="3800" dirty="0">
                <a:solidFill>
                  <a:srgbClr val="FFFFFF"/>
                </a:solidFill>
                <a:latin typeface="Oswald" pitchFamily="34" charset="0"/>
                <a:ea typeface="Oswald" pitchFamily="34" charset="-122"/>
                <a:cs typeface="Oswald" pitchFamily="34" charset="-120"/>
              </a:rPr>
              <a:t>get hands and eyes?</a:t>
            </a:r>
            <a:endParaRPr lang="en-US" sz="3800" dirty="0"/>
          </a:p>
        </p:txBody>
      </p:sp>
      <p:sp>
        <p:nvSpPr>
          <p:cNvPr id="5" name="Text 3"/>
          <p:cNvSpPr/>
          <p:nvPr/>
        </p:nvSpPr>
        <p:spPr>
          <a:xfrm>
            <a:off x="841248" y="3017520"/>
            <a:ext cx="6766560" cy="822960"/>
          </a:xfrm>
          <a:prstGeom prst="rect">
            <a:avLst/>
          </a:prstGeom>
          <a:noFill/>
          <a:ln/>
        </p:spPr>
        <p:txBody>
          <a:bodyPr wrap="square" lIns="0" tIns="0" rIns="0" bIns="0" rtlCol="0" anchor="ctr"/>
          <a:lstStyle/>
          <a:p>
            <a:pPr marL="0" indent="0">
              <a:buNone/>
            </a:pPr>
            <a:r>
              <a:rPr lang="en-US" sz="1500" dirty="0">
                <a:solidFill>
                  <a:srgbClr val="AFC2CE"/>
                </a:solidFill>
                <a:latin typeface="Roboto" pitchFamily="34" charset="0"/>
                <a:ea typeface="Roboto" pitchFamily="34" charset="-122"/>
                <a:cs typeface="Roboto" pitchFamily="34" charset="-120"/>
              </a:rPr>
              <a:t>The definitions place agentic AI at the end of a seventy-year lineage. The rest of this deck is about the machinery that got it there — retrieval, tools, standards, and the loop that ties them together.</a:t>
            </a:r>
            <a:endParaRPr lang="en-US" sz="15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6">
    <p:bg>
      <p:bgPr>
        <a:solidFill>
          <a:srgbClr val="F4F7F8"/>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0D1B2A"/>
          </a:solidFill>
          <a:ln/>
        </p:spPr>
        <p:txBody>
          <a:bodyPr/>
          <a:lstStyle/>
          <a:p>
            <a:endParaRPr lang="en-US"/>
          </a:p>
        </p:txBody>
      </p:sp>
      <p:sp>
        <p:nvSpPr>
          <p:cNvPr id="3" name="Text 1"/>
          <p:cNvSpPr/>
          <p:nvPr/>
        </p:nvSpPr>
        <p:spPr>
          <a:xfrm>
            <a:off x="566928" y="329184"/>
            <a:ext cx="8138160" cy="256032"/>
          </a:xfrm>
          <a:prstGeom prst="rect">
            <a:avLst/>
          </a:prstGeom>
          <a:noFill/>
          <a:ln/>
        </p:spPr>
        <p:txBody>
          <a:bodyPr wrap="square" lIns="0" tIns="0" rIns="0" bIns="0" rtlCol="0" anchor="ctr"/>
          <a:lstStyle/>
          <a:p>
            <a:pPr marL="0" indent="0">
              <a:buNone/>
            </a:pPr>
            <a:r>
              <a:rPr lang="en-US" sz="1050" kern="0" spc="200" dirty="0">
                <a:solidFill>
                  <a:srgbClr val="1B9AAA"/>
                </a:solidFill>
                <a:latin typeface="JetBrains Mono" pitchFamily="34" charset="0"/>
                <a:ea typeface="JetBrains Mono" pitchFamily="34" charset="-122"/>
                <a:cs typeface="JetBrains Mono" pitchFamily="34" charset="-120"/>
              </a:rPr>
              <a:t>THE STARTING POINT</a:t>
            </a:r>
            <a:endParaRPr lang="en-US" sz="1050" dirty="0"/>
          </a:p>
        </p:txBody>
      </p:sp>
      <p:sp>
        <p:nvSpPr>
          <p:cNvPr id="4" name="Text 2"/>
          <p:cNvSpPr/>
          <p:nvPr/>
        </p:nvSpPr>
        <p:spPr>
          <a:xfrm>
            <a:off x="566928" y="603504"/>
            <a:ext cx="8138160" cy="658368"/>
          </a:xfrm>
          <a:prstGeom prst="rect">
            <a:avLst/>
          </a:prstGeom>
          <a:noFill/>
          <a:ln/>
        </p:spPr>
        <p:txBody>
          <a:bodyPr wrap="square" lIns="0" tIns="0" rIns="0" bIns="0" rtlCol="0" anchor="ctr"/>
          <a:lstStyle/>
          <a:p>
            <a:pPr marL="0" indent="0">
              <a:buNone/>
            </a:pPr>
            <a:r>
              <a:rPr lang="en-US" sz="3200" dirty="0">
                <a:solidFill>
                  <a:srgbClr val="0D1B2A"/>
                </a:solidFill>
                <a:latin typeface="Oswald" pitchFamily="34" charset="0"/>
                <a:ea typeface="Oswald" pitchFamily="34" charset="-122"/>
                <a:cs typeface="Oswald" pitchFamily="34" charset="-120"/>
              </a:rPr>
              <a:t>A model alone can only talk</a:t>
            </a:r>
            <a:endParaRPr lang="en-US" sz="3200" dirty="0"/>
          </a:p>
        </p:txBody>
      </p:sp>
      <p:sp>
        <p:nvSpPr>
          <p:cNvPr id="5" name="Shape 3"/>
          <p:cNvSpPr/>
          <p:nvPr/>
        </p:nvSpPr>
        <p:spPr>
          <a:xfrm>
            <a:off x="566928" y="1481328"/>
            <a:ext cx="3840480" cy="1371600"/>
          </a:xfrm>
          <a:prstGeom prst="rect">
            <a:avLst/>
          </a:prstGeom>
          <a:solidFill>
            <a:srgbClr val="FFFFFF"/>
          </a:solidFill>
          <a:ln w="9525">
            <a:solidFill>
              <a:srgbClr val="DDE5E9"/>
            </a:solidFill>
            <a:prstDash val="solid"/>
          </a:ln>
        </p:spPr>
        <p:txBody>
          <a:bodyPr/>
          <a:lstStyle/>
          <a:p>
            <a:endParaRPr lang="en-US"/>
          </a:p>
        </p:txBody>
      </p:sp>
      <p:sp>
        <p:nvSpPr>
          <p:cNvPr id="6" name="Shape 4"/>
          <p:cNvSpPr/>
          <p:nvPr/>
        </p:nvSpPr>
        <p:spPr>
          <a:xfrm>
            <a:off x="566928" y="1481328"/>
            <a:ext cx="54864" cy="1371600"/>
          </a:xfrm>
          <a:prstGeom prst="rect">
            <a:avLst/>
          </a:prstGeom>
          <a:solidFill>
            <a:srgbClr val="1B9AAA"/>
          </a:solidFill>
          <a:ln/>
        </p:spPr>
        <p:txBody>
          <a:bodyPr/>
          <a:lstStyle/>
          <a:p>
            <a:endParaRPr lang="en-US"/>
          </a:p>
        </p:txBody>
      </p:sp>
      <p:sp>
        <p:nvSpPr>
          <p:cNvPr id="7" name="Text 5"/>
          <p:cNvSpPr/>
          <p:nvPr/>
        </p:nvSpPr>
        <p:spPr>
          <a:xfrm>
            <a:off x="822960" y="1645920"/>
            <a:ext cx="3429000" cy="310896"/>
          </a:xfrm>
          <a:prstGeom prst="rect">
            <a:avLst/>
          </a:prstGeom>
          <a:noFill/>
          <a:ln/>
        </p:spPr>
        <p:txBody>
          <a:bodyPr wrap="square" lIns="0" tIns="0" rIns="0" bIns="0" rtlCol="0" anchor="ctr"/>
          <a:lstStyle/>
          <a:p>
            <a:pPr marL="0" indent="0">
              <a:buNone/>
            </a:pPr>
            <a:r>
              <a:rPr lang="en-US" sz="1600" dirty="0">
                <a:solidFill>
                  <a:srgbClr val="0D1B2A"/>
                </a:solidFill>
                <a:latin typeface="Oswald" pitchFamily="34" charset="0"/>
                <a:ea typeface="Oswald" pitchFamily="34" charset="-122"/>
                <a:cs typeface="Oswald" pitchFamily="34" charset="-120"/>
              </a:rPr>
              <a:t>Weights are lossy</a:t>
            </a:r>
            <a:endParaRPr lang="en-US" sz="1600" dirty="0"/>
          </a:p>
        </p:txBody>
      </p:sp>
      <p:sp>
        <p:nvSpPr>
          <p:cNvPr id="8" name="Text 6"/>
          <p:cNvSpPr/>
          <p:nvPr/>
        </p:nvSpPr>
        <p:spPr>
          <a:xfrm>
            <a:off x="822960" y="2011680"/>
            <a:ext cx="3429000" cy="731520"/>
          </a:xfrm>
          <a:prstGeom prst="rect">
            <a:avLst/>
          </a:prstGeom>
          <a:noFill/>
          <a:ln/>
        </p:spPr>
        <p:txBody>
          <a:bodyPr wrap="square" lIns="0" tIns="0" rIns="0" bIns="0" rtlCol="0" anchor="ctr"/>
          <a:lstStyle/>
          <a:p>
            <a:pPr marL="0" indent="0">
              <a:buNone/>
            </a:pPr>
            <a:r>
              <a:rPr lang="en-US" sz="1250" dirty="0">
                <a:solidFill>
                  <a:srgbClr val="6B7B8C"/>
                </a:solidFill>
                <a:latin typeface="Roboto" pitchFamily="34" charset="0"/>
                <a:ea typeface="Roboto" pitchFamily="34" charset="-122"/>
                <a:cs typeface="Roboto" pitchFamily="34" charset="-120"/>
              </a:rPr>
              <a:t>Facts stored parametrically are approximate and unattributable.</a:t>
            </a:r>
            <a:endParaRPr lang="en-US" sz="1250" dirty="0"/>
          </a:p>
        </p:txBody>
      </p:sp>
      <p:sp>
        <p:nvSpPr>
          <p:cNvPr id="9" name="Shape 7"/>
          <p:cNvSpPr/>
          <p:nvPr/>
        </p:nvSpPr>
        <p:spPr>
          <a:xfrm>
            <a:off x="4681728" y="1481328"/>
            <a:ext cx="3840480" cy="1371600"/>
          </a:xfrm>
          <a:prstGeom prst="rect">
            <a:avLst/>
          </a:prstGeom>
          <a:solidFill>
            <a:srgbClr val="FFFFFF"/>
          </a:solidFill>
          <a:ln w="9525">
            <a:solidFill>
              <a:srgbClr val="DDE5E9"/>
            </a:solidFill>
            <a:prstDash val="solid"/>
          </a:ln>
        </p:spPr>
        <p:txBody>
          <a:bodyPr/>
          <a:lstStyle/>
          <a:p>
            <a:endParaRPr lang="en-US"/>
          </a:p>
        </p:txBody>
      </p:sp>
      <p:sp>
        <p:nvSpPr>
          <p:cNvPr id="10" name="Shape 8"/>
          <p:cNvSpPr/>
          <p:nvPr/>
        </p:nvSpPr>
        <p:spPr>
          <a:xfrm>
            <a:off x="4681728" y="1481328"/>
            <a:ext cx="54864" cy="1371600"/>
          </a:xfrm>
          <a:prstGeom prst="rect">
            <a:avLst/>
          </a:prstGeom>
          <a:solidFill>
            <a:srgbClr val="1B9AAA"/>
          </a:solidFill>
          <a:ln/>
        </p:spPr>
        <p:txBody>
          <a:bodyPr/>
          <a:lstStyle/>
          <a:p>
            <a:endParaRPr lang="en-US"/>
          </a:p>
        </p:txBody>
      </p:sp>
      <p:sp>
        <p:nvSpPr>
          <p:cNvPr id="11" name="Text 9"/>
          <p:cNvSpPr/>
          <p:nvPr/>
        </p:nvSpPr>
        <p:spPr>
          <a:xfrm>
            <a:off x="4937760" y="1645920"/>
            <a:ext cx="3429000" cy="310896"/>
          </a:xfrm>
          <a:prstGeom prst="rect">
            <a:avLst/>
          </a:prstGeom>
          <a:noFill/>
          <a:ln/>
        </p:spPr>
        <p:txBody>
          <a:bodyPr wrap="square" lIns="0" tIns="0" rIns="0" bIns="0" rtlCol="0" anchor="ctr"/>
          <a:lstStyle/>
          <a:p>
            <a:pPr marL="0" indent="0">
              <a:buNone/>
            </a:pPr>
            <a:r>
              <a:rPr lang="en-US" sz="1600" dirty="0">
                <a:solidFill>
                  <a:srgbClr val="0D1B2A"/>
                </a:solidFill>
                <a:latin typeface="Oswald" pitchFamily="34" charset="0"/>
                <a:ea typeface="Oswald" pitchFamily="34" charset="-122"/>
                <a:cs typeface="Oswald" pitchFamily="34" charset="-120"/>
              </a:rPr>
              <a:t>Weights go stale</a:t>
            </a:r>
            <a:endParaRPr lang="en-US" sz="1600" dirty="0"/>
          </a:p>
        </p:txBody>
      </p:sp>
      <p:sp>
        <p:nvSpPr>
          <p:cNvPr id="12" name="Text 10"/>
          <p:cNvSpPr/>
          <p:nvPr/>
        </p:nvSpPr>
        <p:spPr>
          <a:xfrm>
            <a:off x="4937760" y="2011680"/>
            <a:ext cx="3429000" cy="731520"/>
          </a:xfrm>
          <a:prstGeom prst="rect">
            <a:avLst/>
          </a:prstGeom>
          <a:noFill/>
          <a:ln/>
        </p:spPr>
        <p:txBody>
          <a:bodyPr wrap="square" lIns="0" tIns="0" rIns="0" bIns="0" rtlCol="0" anchor="ctr"/>
          <a:lstStyle/>
          <a:p>
            <a:pPr marL="0" indent="0">
              <a:buNone/>
            </a:pPr>
            <a:r>
              <a:rPr lang="en-US" sz="1250" dirty="0">
                <a:solidFill>
                  <a:srgbClr val="6B7B8C"/>
                </a:solidFill>
                <a:latin typeface="Roboto" pitchFamily="34" charset="0"/>
                <a:ea typeface="Roboto" pitchFamily="34" charset="-122"/>
                <a:cs typeface="Roboto" pitchFamily="34" charset="-120"/>
              </a:rPr>
              <a:t>Anything real-time or high-churn would need retraining.</a:t>
            </a:r>
            <a:endParaRPr lang="en-US" sz="1250" dirty="0"/>
          </a:p>
        </p:txBody>
      </p:sp>
      <p:sp>
        <p:nvSpPr>
          <p:cNvPr id="13" name="Shape 11"/>
          <p:cNvSpPr/>
          <p:nvPr/>
        </p:nvSpPr>
        <p:spPr>
          <a:xfrm>
            <a:off x="566928" y="3054096"/>
            <a:ext cx="3840480" cy="1371600"/>
          </a:xfrm>
          <a:prstGeom prst="rect">
            <a:avLst/>
          </a:prstGeom>
          <a:solidFill>
            <a:srgbClr val="FFFFFF"/>
          </a:solidFill>
          <a:ln w="9525">
            <a:solidFill>
              <a:srgbClr val="DDE5E9"/>
            </a:solidFill>
            <a:prstDash val="solid"/>
          </a:ln>
        </p:spPr>
        <p:txBody>
          <a:bodyPr/>
          <a:lstStyle/>
          <a:p>
            <a:endParaRPr lang="en-US"/>
          </a:p>
        </p:txBody>
      </p:sp>
      <p:sp>
        <p:nvSpPr>
          <p:cNvPr id="14" name="Shape 12"/>
          <p:cNvSpPr/>
          <p:nvPr/>
        </p:nvSpPr>
        <p:spPr>
          <a:xfrm>
            <a:off x="566928" y="3054096"/>
            <a:ext cx="54864" cy="1371600"/>
          </a:xfrm>
          <a:prstGeom prst="rect">
            <a:avLst/>
          </a:prstGeom>
          <a:solidFill>
            <a:srgbClr val="1B9AAA"/>
          </a:solidFill>
          <a:ln/>
        </p:spPr>
        <p:txBody>
          <a:bodyPr/>
          <a:lstStyle/>
          <a:p>
            <a:endParaRPr lang="en-US"/>
          </a:p>
        </p:txBody>
      </p:sp>
      <p:sp>
        <p:nvSpPr>
          <p:cNvPr id="15" name="Text 13"/>
          <p:cNvSpPr/>
          <p:nvPr/>
        </p:nvSpPr>
        <p:spPr>
          <a:xfrm>
            <a:off x="822960" y="3218688"/>
            <a:ext cx="3429000" cy="310896"/>
          </a:xfrm>
          <a:prstGeom prst="rect">
            <a:avLst/>
          </a:prstGeom>
          <a:noFill/>
          <a:ln/>
        </p:spPr>
        <p:txBody>
          <a:bodyPr wrap="square" lIns="0" tIns="0" rIns="0" bIns="0" rtlCol="0" anchor="ctr"/>
          <a:lstStyle/>
          <a:p>
            <a:pPr marL="0" indent="0">
              <a:buNone/>
            </a:pPr>
            <a:r>
              <a:rPr lang="en-US" sz="1600" dirty="0">
                <a:solidFill>
                  <a:srgbClr val="0D1B2A"/>
                </a:solidFill>
                <a:latin typeface="Oswald" pitchFamily="34" charset="0"/>
                <a:ea typeface="Oswald" pitchFamily="34" charset="-122"/>
                <a:cs typeface="Oswald" pitchFamily="34" charset="-120"/>
              </a:rPr>
              <a:t>Weights are public</a:t>
            </a:r>
            <a:endParaRPr lang="en-US" sz="1600" dirty="0"/>
          </a:p>
        </p:txBody>
      </p:sp>
      <p:sp>
        <p:nvSpPr>
          <p:cNvPr id="16" name="Text 14"/>
          <p:cNvSpPr/>
          <p:nvPr/>
        </p:nvSpPr>
        <p:spPr>
          <a:xfrm>
            <a:off x="822960" y="3584448"/>
            <a:ext cx="3429000" cy="731520"/>
          </a:xfrm>
          <a:prstGeom prst="rect">
            <a:avLst/>
          </a:prstGeom>
          <a:noFill/>
          <a:ln/>
        </p:spPr>
        <p:txBody>
          <a:bodyPr wrap="square" lIns="0" tIns="0" rIns="0" bIns="0" rtlCol="0" anchor="ctr"/>
          <a:lstStyle/>
          <a:p>
            <a:pPr marL="0" indent="0">
              <a:buNone/>
            </a:pPr>
            <a:r>
              <a:rPr lang="en-US" sz="1250" dirty="0">
                <a:solidFill>
                  <a:srgbClr val="6B7B8C"/>
                </a:solidFill>
                <a:latin typeface="Roboto" pitchFamily="34" charset="0"/>
                <a:ea typeface="Roboto" pitchFamily="34" charset="-122"/>
                <a:cs typeface="Roboto" pitchFamily="34" charset="-120"/>
              </a:rPr>
              <a:t>Internal documents and systems of record were never in training data.</a:t>
            </a:r>
            <a:endParaRPr lang="en-US" sz="1250" dirty="0"/>
          </a:p>
        </p:txBody>
      </p:sp>
      <p:sp>
        <p:nvSpPr>
          <p:cNvPr id="17" name="Shape 15"/>
          <p:cNvSpPr/>
          <p:nvPr/>
        </p:nvSpPr>
        <p:spPr>
          <a:xfrm>
            <a:off x="4681728" y="3054096"/>
            <a:ext cx="3840480" cy="1371600"/>
          </a:xfrm>
          <a:prstGeom prst="rect">
            <a:avLst/>
          </a:prstGeom>
          <a:solidFill>
            <a:srgbClr val="FFFFFF"/>
          </a:solidFill>
          <a:ln w="9525">
            <a:solidFill>
              <a:srgbClr val="DDE5E9"/>
            </a:solidFill>
            <a:prstDash val="solid"/>
          </a:ln>
        </p:spPr>
        <p:txBody>
          <a:bodyPr/>
          <a:lstStyle/>
          <a:p>
            <a:endParaRPr lang="en-US"/>
          </a:p>
        </p:txBody>
      </p:sp>
      <p:sp>
        <p:nvSpPr>
          <p:cNvPr id="18" name="Shape 16"/>
          <p:cNvSpPr/>
          <p:nvPr/>
        </p:nvSpPr>
        <p:spPr>
          <a:xfrm>
            <a:off x="4681728" y="3054096"/>
            <a:ext cx="54864" cy="1371600"/>
          </a:xfrm>
          <a:prstGeom prst="rect">
            <a:avLst/>
          </a:prstGeom>
          <a:solidFill>
            <a:srgbClr val="1B9AAA"/>
          </a:solidFill>
          <a:ln/>
        </p:spPr>
        <p:txBody>
          <a:bodyPr/>
          <a:lstStyle/>
          <a:p>
            <a:endParaRPr lang="en-US"/>
          </a:p>
        </p:txBody>
      </p:sp>
      <p:sp>
        <p:nvSpPr>
          <p:cNvPr id="19" name="Text 17"/>
          <p:cNvSpPr/>
          <p:nvPr/>
        </p:nvSpPr>
        <p:spPr>
          <a:xfrm>
            <a:off x="4937760" y="3218688"/>
            <a:ext cx="3429000" cy="310896"/>
          </a:xfrm>
          <a:prstGeom prst="rect">
            <a:avLst/>
          </a:prstGeom>
          <a:noFill/>
          <a:ln/>
        </p:spPr>
        <p:txBody>
          <a:bodyPr wrap="square" lIns="0" tIns="0" rIns="0" bIns="0" rtlCol="0" anchor="ctr"/>
          <a:lstStyle/>
          <a:p>
            <a:pPr marL="0" indent="0">
              <a:buNone/>
            </a:pPr>
            <a:r>
              <a:rPr lang="en-US" sz="1600" dirty="0">
                <a:solidFill>
                  <a:srgbClr val="0D1B2A"/>
                </a:solidFill>
                <a:latin typeface="Oswald" pitchFamily="34" charset="0"/>
                <a:ea typeface="Oswald" pitchFamily="34" charset="-122"/>
                <a:cs typeface="Oswald" pitchFamily="34" charset="-120"/>
              </a:rPr>
              <a:t>Weights cannot act</a:t>
            </a:r>
            <a:endParaRPr lang="en-US" sz="1600" dirty="0"/>
          </a:p>
        </p:txBody>
      </p:sp>
      <p:sp>
        <p:nvSpPr>
          <p:cNvPr id="20" name="Text 18"/>
          <p:cNvSpPr/>
          <p:nvPr/>
        </p:nvSpPr>
        <p:spPr>
          <a:xfrm>
            <a:off x="4937760" y="3584448"/>
            <a:ext cx="3429000" cy="731520"/>
          </a:xfrm>
          <a:prstGeom prst="rect">
            <a:avLst/>
          </a:prstGeom>
          <a:noFill/>
          <a:ln/>
        </p:spPr>
        <p:txBody>
          <a:bodyPr wrap="square" lIns="0" tIns="0" rIns="0" bIns="0" rtlCol="0" anchor="ctr"/>
          <a:lstStyle/>
          <a:p>
            <a:pPr marL="0" indent="0">
              <a:buNone/>
            </a:pPr>
            <a:r>
              <a:rPr lang="en-US" sz="1250" dirty="0">
                <a:solidFill>
                  <a:srgbClr val="6B7B8C"/>
                </a:solidFill>
                <a:latin typeface="Roboto" pitchFamily="34" charset="0"/>
                <a:ea typeface="Roboto" pitchFamily="34" charset="-122"/>
                <a:cs typeface="Roboto" pitchFamily="34" charset="-120"/>
              </a:rPr>
              <a:t>No amount of generation sends an email or writes to a database.</a:t>
            </a:r>
            <a:endParaRPr lang="en-US" sz="12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7">
    <p:bg>
      <p:bgPr>
        <a:solidFill>
          <a:srgbClr val="F4F7F8"/>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0D1B2A"/>
          </a:solidFill>
          <a:ln/>
        </p:spPr>
        <p:txBody>
          <a:bodyPr/>
          <a:lstStyle/>
          <a:p>
            <a:endParaRPr lang="en-US"/>
          </a:p>
        </p:txBody>
      </p:sp>
      <p:sp>
        <p:nvSpPr>
          <p:cNvPr id="3" name="Text 1"/>
          <p:cNvSpPr/>
          <p:nvPr/>
        </p:nvSpPr>
        <p:spPr>
          <a:xfrm>
            <a:off x="566928" y="329184"/>
            <a:ext cx="8138160" cy="256032"/>
          </a:xfrm>
          <a:prstGeom prst="rect">
            <a:avLst/>
          </a:prstGeom>
          <a:noFill/>
          <a:ln/>
        </p:spPr>
        <p:txBody>
          <a:bodyPr wrap="square" lIns="0" tIns="0" rIns="0" bIns="0" rtlCol="0" anchor="ctr"/>
          <a:lstStyle/>
          <a:p>
            <a:pPr marL="0" indent="0">
              <a:buNone/>
            </a:pPr>
            <a:r>
              <a:rPr lang="en-US" sz="1050" kern="0" spc="200" dirty="0">
                <a:solidFill>
                  <a:srgbClr val="1B9AAA"/>
                </a:solidFill>
                <a:latin typeface="JetBrains Mono" pitchFamily="34" charset="0"/>
                <a:ea typeface="JetBrains Mono" pitchFamily="34" charset="-122"/>
                <a:cs typeface="JetBrains Mono" pitchFamily="34" charset="-120"/>
              </a:rPr>
              <a:t>CHRONOLOGY</a:t>
            </a:r>
            <a:endParaRPr lang="en-US" sz="1050" dirty="0"/>
          </a:p>
        </p:txBody>
      </p:sp>
      <p:sp>
        <p:nvSpPr>
          <p:cNvPr id="4" name="Text 2"/>
          <p:cNvSpPr/>
          <p:nvPr/>
        </p:nvSpPr>
        <p:spPr>
          <a:xfrm>
            <a:off x="566928" y="603504"/>
            <a:ext cx="8138160" cy="658368"/>
          </a:xfrm>
          <a:prstGeom prst="rect">
            <a:avLst/>
          </a:prstGeom>
          <a:noFill/>
          <a:ln/>
        </p:spPr>
        <p:txBody>
          <a:bodyPr wrap="square" lIns="0" tIns="0" rIns="0" bIns="0" rtlCol="0" anchor="ctr"/>
          <a:lstStyle/>
          <a:p>
            <a:pPr marL="0" indent="0">
              <a:buNone/>
            </a:pPr>
            <a:r>
              <a:rPr lang="en-US" sz="3200" dirty="0">
                <a:solidFill>
                  <a:srgbClr val="0D1B2A"/>
                </a:solidFill>
                <a:latin typeface="Oswald" pitchFamily="34" charset="0"/>
                <a:ea typeface="Oswald" pitchFamily="34" charset="-122"/>
                <a:cs typeface="Oswald" pitchFamily="34" charset="-120"/>
              </a:rPr>
              <a:t>Evolution of Agentic</a:t>
            </a:r>
            <a:endParaRPr lang="en-US" sz="3200" dirty="0"/>
          </a:p>
        </p:txBody>
      </p:sp>
      <p:sp>
        <p:nvSpPr>
          <p:cNvPr id="5" name="Shape 3"/>
          <p:cNvSpPr/>
          <p:nvPr/>
        </p:nvSpPr>
        <p:spPr>
          <a:xfrm>
            <a:off x="822960" y="2606040"/>
            <a:ext cx="7589520" cy="32004"/>
          </a:xfrm>
          <a:prstGeom prst="rect">
            <a:avLst/>
          </a:prstGeom>
          <a:solidFill>
            <a:srgbClr val="C9D6DC"/>
          </a:solidFill>
          <a:ln/>
        </p:spPr>
        <p:txBody>
          <a:bodyPr/>
          <a:lstStyle/>
          <a:p>
            <a:endParaRPr lang="en-US"/>
          </a:p>
        </p:txBody>
      </p:sp>
      <p:sp>
        <p:nvSpPr>
          <p:cNvPr id="6" name="Shape 4"/>
          <p:cNvSpPr/>
          <p:nvPr/>
        </p:nvSpPr>
        <p:spPr>
          <a:xfrm>
            <a:off x="1024128" y="2487168"/>
            <a:ext cx="237744" cy="237744"/>
          </a:xfrm>
          <a:prstGeom prst="ellipse">
            <a:avLst/>
          </a:prstGeom>
          <a:solidFill>
            <a:srgbClr val="1B9AAA"/>
          </a:solidFill>
          <a:ln/>
        </p:spPr>
        <p:txBody>
          <a:bodyPr/>
          <a:lstStyle/>
          <a:p>
            <a:endParaRPr lang="en-US"/>
          </a:p>
        </p:txBody>
      </p:sp>
      <p:sp>
        <p:nvSpPr>
          <p:cNvPr id="7" name="Text 5"/>
          <p:cNvSpPr/>
          <p:nvPr/>
        </p:nvSpPr>
        <p:spPr>
          <a:xfrm>
            <a:off x="457200" y="2057400"/>
            <a:ext cx="1371600" cy="274320"/>
          </a:xfrm>
          <a:prstGeom prst="rect">
            <a:avLst/>
          </a:prstGeom>
          <a:noFill/>
          <a:ln/>
        </p:spPr>
        <p:txBody>
          <a:bodyPr wrap="square" lIns="0" tIns="0" rIns="0" bIns="0" rtlCol="0" anchor="ctr"/>
          <a:lstStyle/>
          <a:p>
            <a:pPr marL="0" indent="0" algn="ctr">
              <a:buNone/>
            </a:pPr>
            <a:r>
              <a:rPr lang="en-US" sz="1100" dirty="0">
                <a:solidFill>
                  <a:srgbClr val="6B7B8C"/>
                </a:solidFill>
                <a:latin typeface="JetBrains Mono" pitchFamily="34" charset="0"/>
                <a:ea typeface="JetBrains Mono" pitchFamily="34" charset="-122"/>
                <a:cs typeface="JetBrains Mono" pitchFamily="34" charset="-120"/>
              </a:rPr>
              <a:t>2020</a:t>
            </a:r>
            <a:endParaRPr lang="en-US" sz="1100" dirty="0"/>
          </a:p>
        </p:txBody>
      </p:sp>
      <p:sp>
        <p:nvSpPr>
          <p:cNvPr id="8" name="Text 6"/>
          <p:cNvSpPr/>
          <p:nvPr/>
        </p:nvSpPr>
        <p:spPr>
          <a:xfrm>
            <a:off x="320040" y="2880360"/>
            <a:ext cx="2011680" cy="329184"/>
          </a:xfrm>
          <a:prstGeom prst="rect">
            <a:avLst/>
          </a:prstGeom>
          <a:noFill/>
          <a:ln/>
        </p:spPr>
        <p:txBody>
          <a:bodyPr wrap="square" lIns="0" tIns="0" rIns="0" bIns="0" rtlCol="0" anchor="ctr"/>
          <a:lstStyle/>
          <a:p>
            <a:pPr marL="0" indent="0" algn="ctr">
              <a:buNone/>
            </a:pPr>
            <a:r>
              <a:rPr lang="en-US" sz="2000" dirty="0">
                <a:solidFill>
                  <a:srgbClr val="0D1B2A"/>
                </a:solidFill>
                <a:latin typeface="Oswald" pitchFamily="34" charset="0"/>
                <a:ea typeface="Oswald" pitchFamily="34" charset="-122"/>
                <a:cs typeface="Oswald" pitchFamily="34" charset="-120"/>
              </a:rPr>
              <a:t>RAG</a:t>
            </a:r>
            <a:endParaRPr lang="en-US" sz="2000" dirty="0"/>
          </a:p>
        </p:txBody>
      </p:sp>
      <p:sp>
        <p:nvSpPr>
          <p:cNvPr id="9" name="Text 7"/>
          <p:cNvSpPr/>
          <p:nvPr/>
        </p:nvSpPr>
        <p:spPr>
          <a:xfrm>
            <a:off x="274320" y="3273552"/>
            <a:ext cx="2103120" cy="822960"/>
          </a:xfrm>
          <a:prstGeom prst="rect">
            <a:avLst/>
          </a:prstGeom>
          <a:noFill/>
          <a:ln/>
        </p:spPr>
        <p:txBody>
          <a:bodyPr wrap="square" lIns="0" tIns="0" rIns="0" bIns="0" rtlCol="0" anchor="ctr"/>
          <a:lstStyle/>
          <a:p>
            <a:pPr marL="0" indent="0" algn="ctr">
              <a:buNone/>
            </a:pPr>
            <a:r>
              <a:rPr lang="en-US" sz="1150" dirty="0">
                <a:solidFill>
                  <a:srgbClr val="6B7B8C"/>
                </a:solidFill>
                <a:latin typeface="Roboto" pitchFamily="34" charset="0"/>
                <a:ea typeface="Roboto" pitchFamily="34" charset="-122"/>
                <a:cs typeface="Roboto" pitchFamily="34" charset="-120"/>
              </a:rPr>
              <a:t>REALM, Lewis et al.</a:t>
            </a:r>
            <a:endParaRPr lang="en-US" sz="1150" dirty="0"/>
          </a:p>
          <a:p>
            <a:pPr marL="0" indent="0" algn="ctr">
              <a:buNone/>
            </a:pPr>
            <a:r>
              <a:rPr lang="en-US" sz="1150" dirty="0">
                <a:solidFill>
                  <a:srgbClr val="6B7B8C"/>
                </a:solidFill>
                <a:latin typeface="Roboto" pitchFamily="34" charset="0"/>
                <a:ea typeface="Roboto" pitchFamily="34" charset="-122"/>
                <a:cs typeface="Roboto" pitchFamily="34" charset="-120"/>
              </a:rPr>
              <a:t>Retrieval as a fixed step</a:t>
            </a:r>
            <a:endParaRPr lang="en-US" sz="1150" dirty="0"/>
          </a:p>
        </p:txBody>
      </p:sp>
      <p:sp>
        <p:nvSpPr>
          <p:cNvPr id="10" name="Shape 8"/>
          <p:cNvSpPr/>
          <p:nvPr/>
        </p:nvSpPr>
        <p:spPr>
          <a:xfrm>
            <a:off x="3264408" y="2487168"/>
            <a:ext cx="237744" cy="237744"/>
          </a:xfrm>
          <a:prstGeom prst="ellipse">
            <a:avLst/>
          </a:prstGeom>
          <a:solidFill>
            <a:srgbClr val="1B9AAA"/>
          </a:solidFill>
          <a:ln/>
        </p:spPr>
        <p:txBody>
          <a:bodyPr/>
          <a:lstStyle/>
          <a:p>
            <a:endParaRPr lang="en-US"/>
          </a:p>
        </p:txBody>
      </p:sp>
      <p:sp>
        <p:nvSpPr>
          <p:cNvPr id="11" name="Text 9"/>
          <p:cNvSpPr/>
          <p:nvPr/>
        </p:nvSpPr>
        <p:spPr>
          <a:xfrm>
            <a:off x="2697480" y="2057400"/>
            <a:ext cx="1371600" cy="274320"/>
          </a:xfrm>
          <a:prstGeom prst="rect">
            <a:avLst/>
          </a:prstGeom>
          <a:noFill/>
          <a:ln/>
        </p:spPr>
        <p:txBody>
          <a:bodyPr wrap="square" lIns="0" tIns="0" rIns="0" bIns="0" rtlCol="0" anchor="ctr"/>
          <a:lstStyle/>
          <a:p>
            <a:pPr marL="0" indent="0" algn="ctr">
              <a:buNone/>
            </a:pPr>
            <a:r>
              <a:rPr lang="en-US" sz="1100" dirty="0">
                <a:solidFill>
                  <a:srgbClr val="6B7B8C"/>
                </a:solidFill>
                <a:latin typeface="JetBrains Mono" pitchFamily="34" charset="0"/>
                <a:ea typeface="JetBrains Mono" pitchFamily="34" charset="-122"/>
                <a:cs typeface="JetBrains Mono" pitchFamily="34" charset="-120"/>
              </a:rPr>
              <a:t>2021–23</a:t>
            </a:r>
            <a:endParaRPr lang="en-US" sz="1100" dirty="0"/>
          </a:p>
        </p:txBody>
      </p:sp>
      <p:sp>
        <p:nvSpPr>
          <p:cNvPr id="12" name="Text 10"/>
          <p:cNvSpPr/>
          <p:nvPr/>
        </p:nvSpPr>
        <p:spPr>
          <a:xfrm>
            <a:off x="2560320" y="2880360"/>
            <a:ext cx="2011680" cy="329184"/>
          </a:xfrm>
          <a:prstGeom prst="rect">
            <a:avLst/>
          </a:prstGeom>
          <a:noFill/>
          <a:ln/>
        </p:spPr>
        <p:txBody>
          <a:bodyPr wrap="square" lIns="0" tIns="0" rIns="0" bIns="0" rtlCol="0" anchor="ctr"/>
          <a:lstStyle/>
          <a:p>
            <a:pPr marL="0" indent="0" algn="ctr">
              <a:buNone/>
            </a:pPr>
            <a:r>
              <a:rPr lang="en-US" sz="2000" dirty="0">
                <a:solidFill>
                  <a:srgbClr val="0D1B2A"/>
                </a:solidFill>
                <a:latin typeface="Oswald" pitchFamily="34" charset="0"/>
                <a:ea typeface="Oswald" pitchFamily="34" charset="-122"/>
                <a:cs typeface="Oswald" pitchFamily="34" charset="-120"/>
              </a:rPr>
              <a:t>Tool use</a:t>
            </a:r>
            <a:endParaRPr lang="en-US" sz="2000" dirty="0"/>
          </a:p>
        </p:txBody>
      </p:sp>
      <p:sp>
        <p:nvSpPr>
          <p:cNvPr id="13" name="Text 11"/>
          <p:cNvSpPr/>
          <p:nvPr/>
        </p:nvSpPr>
        <p:spPr>
          <a:xfrm>
            <a:off x="2514600" y="3273552"/>
            <a:ext cx="2103120" cy="822960"/>
          </a:xfrm>
          <a:prstGeom prst="rect">
            <a:avLst/>
          </a:prstGeom>
          <a:noFill/>
          <a:ln/>
        </p:spPr>
        <p:txBody>
          <a:bodyPr wrap="square" lIns="0" tIns="0" rIns="0" bIns="0" rtlCol="0" anchor="ctr"/>
          <a:lstStyle/>
          <a:p>
            <a:pPr marL="0" indent="0" algn="ctr">
              <a:buNone/>
            </a:pPr>
            <a:r>
              <a:rPr lang="en-US" sz="1150" dirty="0">
                <a:solidFill>
                  <a:srgbClr val="6B7B8C"/>
                </a:solidFill>
                <a:latin typeface="Roboto" pitchFamily="34" charset="0"/>
                <a:ea typeface="Roboto" pitchFamily="34" charset="-122"/>
                <a:cs typeface="Roboto" pitchFamily="34" charset="-120"/>
              </a:rPr>
              <a:t>WebGPT, MRKL, ReAct,</a:t>
            </a:r>
            <a:endParaRPr lang="en-US" sz="1150" dirty="0"/>
          </a:p>
          <a:p>
            <a:pPr marL="0" indent="0" algn="ctr">
              <a:buNone/>
            </a:pPr>
            <a:r>
              <a:rPr lang="en-US" sz="1150" dirty="0">
                <a:solidFill>
                  <a:srgbClr val="6B7B8C"/>
                </a:solidFill>
                <a:latin typeface="Roboto" pitchFamily="34" charset="0"/>
                <a:ea typeface="Roboto" pitchFamily="34" charset="-122"/>
                <a:cs typeface="Roboto" pitchFamily="34" charset="-120"/>
              </a:rPr>
              <a:t>Toolformer, function calling</a:t>
            </a:r>
            <a:endParaRPr lang="en-US" sz="1150" dirty="0"/>
          </a:p>
        </p:txBody>
      </p:sp>
      <p:sp>
        <p:nvSpPr>
          <p:cNvPr id="14" name="Shape 12"/>
          <p:cNvSpPr/>
          <p:nvPr/>
        </p:nvSpPr>
        <p:spPr>
          <a:xfrm>
            <a:off x="5504688" y="2487168"/>
            <a:ext cx="237744" cy="237744"/>
          </a:xfrm>
          <a:prstGeom prst="ellipse">
            <a:avLst/>
          </a:prstGeom>
          <a:solidFill>
            <a:srgbClr val="1B9AAA"/>
          </a:solidFill>
          <a:ln/>
        </p:spPr>
        <p:txBody>
          <a:bodyPr/>
          <a:lstStyle/>
          <a:p>
            <a:endParaRPr lang="en-US"/>
          </a:p>
        </p:txBody>
      </p:sp>
      <p:sp>
        <p:nvSpPr>
          <p:cNvPr id="15" name="Text 13"/>
          <p:cNvSpPr/>
          <p:nvPr/>
        </p:nvSpPr>
        <p:spPr>
          <a:xfrm>
            <a:off x="4937760" y="2057400"/>
            <a:ext cx="1371600" cy="274320"/>
          </a:xfrm>
          <a:prstGeom prst="rect">
            <a:avLst/>
          </a:prstGeom>
          <a:noFill/>
          <a:ln/>
        </p:spPr>
        <p:txBody>
          <a:bodyPr wrap="square" lIns="0" tIns="0" rIns="0" bIns="0" rtlCol="0" anchor="ctr"/>
          <a:lstStyle/>
          <a:p>
            <a:pPr marL="0" indent="0" algn="ctr">
              <a:buNone/>
            </a:pPr>
            <a:r>
              <a:rPr lang="en-US" sz="1100" dirty="0">
                <a:solidFill>
                  <a:srgbClr val="6B7B8C"/>
                </a:solidFill>
                <a:latin typeface="JetBrains Mono" pitchFamily="34" charset="0"/>
                <a:ea typeface="JetBrains Mono" pitchFamily="34" charset="-122"/>
                <a:cs typeface="JetBrains Mono" pitchFamily="34" charset="-120"/>
              </a:rPr>
              <a:t>2023+</a:t>
            </a:r>
            <a:endParaRPr lang="en-US" sz="1100" dirty="0"/>
          </a:p>
        </p:txBody>
      </p:sp>
      <p:sp>
        <p:nvSpPr>
          <p:cNvPr id="16" name="Text 14"/>
          <p:cNvSpPr/>
          <p:nvPr/>
        </p:nvSpPr>
        <p:spPr>
          <a:xfrm>
            <a:off x="4800600" y="2880360"/>
            <a:ext cx="2011680" cy="329184"/>
          </a:xfrm>
          <a:prstGeom prst="rect">
            <a:avLst/>
          </a:prstGeom>
          <a:noFill/>
          <a:ln/>
        </p:spPr>
        <p:txBody>
          <a:bodyPr wrap="square" lIns="0" tIns="0" rIns="0" bIns="0" rtlCol="0" anchor="ctr"/>
          <a:lstStyle/>
          <a:p>
            <a:pPr marL="0" indent="0" algn="ctr">
              <a:buNone/>
            </a:pPr>
            <a:r>
              <a:rPr lang="en-US" sz="2000" dirty="0">
                <a:solidFill>
                  <a:srgbClr val="0D1B2A"/>
                </a:solidFill>
                <a:latin typeface="Oswald" pitchFamily="34" charset="0"/>
                <a:ea typeface="Oswald" pitchFamily="34" charset="-122"/>
                <a:cs typeface="Oswald" pitchFamily="34" charset="-120"/>
              </a:rPr>
              <a:t>Agents</a:t>
            </a:r>
            <a:endParaRPr lang="en-US" sz="2000" dirty="0"/>
          </a:p>
        </p:txBody>
      </p:sp>
      <p:sp>
        <p:nvSpPr>
          <p:cNvPr id="17" name="Text 15"/>
          <p:cNvSpPr/>
          <p:nvPr/>
        </p:nvSpPr>
        <p:spPr>
          <a:xfrm>
            <a:off x="4754880" y="3273552"/>
            <a:ext cx="2103120" cy="822960"/>
          </a:xfrm>
          <a:prstGeom prst="rect">
            <a:avLst/>
          </a:prstGeom>
          <a:noFill/>
          <a:ln/>
        </p:spPr>
        <p:txBody>
          <a:bodyPr wrap="square" lIns="0" tIns="0" rIns="0" bIns="0" rtlCol="0" anchor="ctr"/>
          <a:lstStyle/>
          <a:p>
            <a:pPr marL="0" indent="0" algn="ctr">
              <a:buNone/>
            </a:pPr>
            <a:r>
              <a:rPr lang="en-US" sz="1150" dirty="0">
                <a:solidFill>
                  <a:srgbClr val="6B7B8C"/>
                </a:solidFill>
                <a:latin typeface="Roboto" pitchFamily="34" charset="0"/>
                <a:ea typeface="Roboto" pitchFamily="34" charset="-122"/>
                <a:cs typeface="Roboto" pitchFamily="34" charset="-120"/>
              </a:rPr>
              <a:t>Planning, loops,</a:t>
            </a:r>
            <a:endParaRPr lang="en-US" sz="1150" dirty="0"/>
          </a:p>
          <a:p>
            <a:pPr marL="0" indent="0" algn="ctr">
              <a:buNone/>
            </a:pPr>
            <a:r>
              <a:rPr lang="en-US" sz="1150" dirty="0">
                <a:solidFill>
                  <a:srgbClr val="6B7B8C"/>
                </a:solidFill>
                <a:latin typeface="Roboto" pitchFamily="34" charset="0"/>
                <a:ea typeface="Roboto" pitchFamily="34" charset="-122"/>
                <a:cs typeface="Roboto" pitchFamily="34" charset="-120"/>
              </a:rPr>
              <a:t>memory, autonomy</a:t>
            </a:r>
            <a:endParaRPr lang="en-US" sz="1150" dirty="0"/>
          </a:p>
        </p:txBody>
      </p:sp>
      <p:sp>
        <p:nvSpPr>
          <p:cNvPr id="18" name="Shape 16"/>
          <p:cNvSpPr/>
          <p:nvPr/>
        </p:nvSpPr>
        <p:spPr>
          <a:xfrm>
            <a:off x="7744968" y="2487168"/>
            <a:ext cx="237744" cy="237744"/>
          </a:xfrm>
          <a:prstGeom prst="ellipse">
            <a:avLst/>
          </a:prstGeom>
          <a:solidFill>
            <a:srgbClr val="06D6A0"/>
          </a:solidFill>
          <a:ln/>
        </p:spPr>
        <p:txBody>
          <a:bodyPr/>
          <a:lstStyle/>
          <a:p>
            <a:endParaRPr lang="en-US"/>
          </a:p>
        </p:txBody>
      </p:sp>
      <p:sp>
        <p:nvSpPr>
          <p:cNvPr id="19" name="Text 17"/>
          <p:cNvSpPr/>
          <p:nvPr/>
        </p:nvSpPr>
        <p:spPr>
          <a:xfrm>
            <a:off x="7178040" y="2057400"/>
            <a:ext cx="1371600" cy="274320"/>
          </a:xfrm>
          <a:prstGeom prst="rect">
            <a:avLst/>
          </a:prstGeom>
          <a:noFill/>
          <a:ln/>
        </p:spPr>
        <p:txBody>
          <a:bodyPr wrap="square" lIns="0" tIns="0" rIns="0" bIns="0" rtlCol="0" anchor="ctr"/>
          <a:lstStyle/>
          <a:p>
            <a:pPr marL="0" indent="0" algn="ctr">
              <a:buNone/>
            </a:pPr>
            <a:r>
              <a:rPr lang="en-US" sz="1100" dirty="0">
                <a:solidFill>
                  <a:srgbClr val="6B7B8C"/>
                </a:solidFill>
                <a:latin typeface="JetBrains Mono" pitchFamily="34" charset="0"/>
                <a:ea typeface="JetBrains Mono" pitchFamily="34" charset="-122"/>
                <a:cs typeface="JetBrains Mono" pitchFamily="34" charset="-120"/>
              </a:rPr>
              <a:t>2024</a:t>
            </a:r>
            <a:endParaRPr lang="en-US" sz="1100" dirty="0"/>
          </a:p>
        </p:txBody>
      </p:sp>
      <p:sp>
        <p:nvSpPr>
          <p:cNvPr id="20" name="Text 18"/>
          <p:cNvSpPr/>
          <p:nvPr/>
        </p:nvSpPr>
        <p:spPr>
          <a:xfrm>
            <a:off x="7040880" y="2880360"/>
            <a:ext cx="2011680" cy="329184"/>
          </a:xfrm>
          <a:prstGeom prst="rect">
            <a:avLst/>
          </a:prstGeom>
          <a:noFill/>
          <a:ln/>
        </p:spPr>
        <p:txBody>
          <a:bodyPr wrap="square" lIns="0" tIns="0" rIns="0" bIns="0" rtlCol="0" anchor="ctr"/>
          <a:lstStyle/>
          <a:p>
            <a:pPr marL="0" indent="0" algn="ctr">
              <a:buNone/>
            </a:pPr>
            <a:r>
              <a:rPr lang="en-US" sz="2000" dirty="0">
                <a:solidFill>
                  <a:srgbClr val="0D1B2A"/>
                </a:solidFill>
                <a:latin typeface="Oswald" pitchFamily="34" charset="0"/>
                <a:ea typeface="Oswald" pitchFamily="34" charset="-122"/>
                <a:cs typeface="Oswald" pitchFamily="34" charset="-120"/>
              </a:rPr>
              <a:t>MCP</a:t>
            </a:r>
            <a:endParaRPr lang="en-US" sz="2000" dirty="0"/>
          </a:p>
        </p:txBody>
      </p:sp>
      <p:sp>
        <p:nvSpPr>
          <p:cNvPr id="21" name="Text 19"/>
          <p:cNvSpPr/>
          <p:nvPr/>
        </p:nvSpPr>
        <p:spPr>
          <a:xfrm>
            <a:off x="6995160" y="3273552"/>
            <a:ext cx="2103120" cy="822960"/>
          </a:xfrm>
          <a:prstGeom prst="rect">
            <a:avLst/>
          </a:prstGeom>
          <a:noFill/>
          <a:ln/>
        </p:spPr>
        <p:txBody>
          <a:bodyPr wrap="square" lIns="0" tIns="0" rIns="0" bIns="0" rtlCol="0" anchor="ctr"/>
          <a:lstStyle/>
          <a:p>
            <a:pPr marL="0" indent="0" algn="ctr">
              <a:buNone/>
            </a:pPr>
            <a:r>
              <a:rPr lang="en-US" sz="1150" dirty="0">
                <a:solidFill>
                  <a:srgbClr val="6B7B8C"/>
                </a:solidFill>
                <a:latin typeface="Roboto" pitchFamily="34" charset="0"/>
                <a:ea typeface="Roboto" pitchFamily="34" charset="-122"/>
                <a:cs typeface="Roboto" pitchFamily="34" charset="-120"/>
              </a:rPr>
              <a:t>One standard interface</a:t>
            </a:r>
            <a:endParaRPr lang="en-US" sz="1150" dirty="0"/>
          </a:p>
          <a:p>
            <a:pPr marL="0" indent="0" algn="ctr">
              <a:buNone/>
            </a:pPr>
            <a:r>
              <a:rPr lang="en-US" sz="1150" dirty="0">
                <a:solidFill>
                  <a:srgbClr val="6B7B8C"/>
                </a:solidFill>
                <a:latin typeface="Roboto" pitchFamily="34" charset="0"/>
                <a:ea typeface="Roboto" pitchFamily="34" charset="-122"/>
                <a:cs typeface="Roboto" pitchFamily="34" charset="-120"/>
              </a:rPr>
              <a:t>for tools and context</a:t>
            </a:r>
            <a:endParaRPr lang="en-US" sz="1150" dirty="0"/>
          </a:p>
        </p:txBody>
      </p:sp>
      <p:sp>
        <p:nvSpPr>
          <p:cNvPr id="22" name="Text 20"/>
          <p:cNvSpPr/>
          <p:nvPr/>
        </p:nvSpPr>
        <p:spPr>
          <a:xfrm>
            <a:off x="566928" y="1417320"/>
            <a:ext cx="8138160" cy="365760"/>
          </a:xfrm>
          <a:prstGeom prst="rect">
            <a:avLst/>
          </a:prstGeom>
          <a:noFill/>
          <a:ln/>
        </p:spPr>
        <p:txBody>
          <a:bodyPr wrap="square" lIns="0" tIns="0" rIns="0" bIns="0" rtlCol="0" anchor="ctr"/>
          <a:lstStyle/>
          <a:p>
            <a:pPr marL="0" indent="0">
              <a:buNone/>
            </a:pPr>
            <a:r>
              <a:rPr lang="en-US" sz="1400" i="1" dirty="0">
                <a:solidFill>
                  <a:srgbClr val="14293D"/>
                </a:solidFill>
                <a:latin typeface="Roboto" pitchFamily="34" charset="0"/>
                <a:ea typeface="Roboto" pitchFamily="34" charset="-122"/>
                <a:cs typeface="Roboto" pitchFamily="34" charset="-120"/>
              </a:rPr>
              <a:t>RAG was already established when tool use became a topic. It was the proof of concept for the whole idea.</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8">
    <p:bg>
      <p:bgPr>
        <a:solidFill>
          <a:srgbClr val="F4F7F8"/>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0D1B2A"/>
          </a:solidFill>
          <a:ln/>
        </p:spPr>
        <p:txBody>
          <a:bodyPr/>
          <a:lstStyle/>
          <a:p>
            <a:endParaRPr lang="en-US"/>
          </a:p>
        </p:txBody>
      </p:sp>
      <p:sp>
        <p:nvSpPr>
          <p:cNvPr id="3" name="Text 1"/>
          <p:cNvSpPr/>
          <p:nvPr/>
        </p:nvSpPr>
        <p:spPr>
          <a:xfrm>
            <a:off x="566928" y="329184"/>
            <a:ext cx="8138160" cy="256032"/>
          </a:xfrm>
          <a:prstGeom prst="rect">
            <a:avLst/>
          </a:prstGeom>
          <a:noFill/>
          <a:ln/>
        </p:spPr>
        <p:txBody>
          <a:bodyPr wrap="square" lIns="0" tIns="0" rIns="0" bIns="0" rtlCol="0" anchor="ctr"/>
          <a:lstStyle/>
          <a:p>
            <a:pPr marL="0" indent="0">
              <a:buNone/>
            </a:pPr>
            <a:r>
              <a:rPr lang="en-US" sz="1050" kern="0" spc="200" dirty="0">
                <a:solidFill>
                  <a:srgbClr val="1B9AAA"/>
                </a:solidFill>
                <a:latin typeface="JetBrains Mono" pitchFamily="34" charset="0"/>
                <a:ea typeface="JetBrains Mono" pitchFamily="34" charset="-122"/>
                <a:cs typeface="JetBrains Mono" pitchFamily="34" charset="-120"/>
              </a:rPr>
              <a:t>2020 · RAG</a:t>
            </a:r>
            <a:endParaRPr lang="en-US" sz="1050" dirty="0"/>
          </a:p>
        </p:txBody>
      </p:sp>
      <p:sp>
        <p:nvSpPr>
          <p:cNvPr id="4" name="Text 2"/>
          <p:cNvSpPr/>
          <p:nvPr/>
        </p:nvSpPr>
        <p:spPr>
          <a:xfrm>
            <a:off x="566928" y="603504"/>
            <a:ext cx="8138160" cy="658368"/>
          </a:xfrm>
          <a:prstGeom prst="rect">
            <a:avLst/>
          </a:prstGeom>
          <a:noFill/>
          <a:ln/>
        </p:spPr>
        <p:txBody>
          <a:bodyPr wrap="square" lIns="0" tIns="0" rIns="0" bIns="0" rtlCol="0" anchor="ctr"/>
          <a:lstStyle/>
          <a:p>
            <a:pPr marL="0" indent="0">
              <a:buNone/>
            </a:pPr>
            <a:r>
              <a:rPr lang="en-US" sz="3200" dirty="0">
                <a:solidFill>
                  <a:srgbClr val="0D1B2A"/>
                </a:solidFill>
                <a:latin typeface="Oswald" pitchFamily="34" charset="0"/>
                <a:ea typeface="Oswald" pitchFamily="34" charset="-122"/>
                <a:cs typeface="Oswald" pitchFamily="34" charset="-120"/>
              </a:rPr>
              <a:t>The first admission</a:t>
            </a:r>
            <a:endParaRPr lang="en-US" sz="3200" dirty="0"/>
          </a:p>
        </p:txBody>
      </p:sp>
      <p:sp>
        <p:nvSpPr>
          <p:cNvPr id="5" name="Shape 3"/>
          <p:cNvSpPr/>
          <p:nvPr/>
        </p:nvSpPr>
        <p:spPr>
          <a:xfrm>
            <a:off x="566928" y="1463040"/>
            <a:ext cx="3931920" cy="3108960"/>
          </a:xfrm>
          <a:prstGeom prst="rect">
            <a:avLst/>
          </a:prstGeom>
          <a:solidFill>
            <a:srgbClr val="FFFFFF"/>
          </a:solidFill>
          <a:ln w="9525">
            <a:solidFill>
              <a:srgbClr val="DDE5E9"/>
            </a:solidFill>
            <a:prstDash val="solid"/>
          </a:ln>
        </p:spPr>
        <p:txBody>
          <a:bodyPr/>
          <a:lstStyle/>
          <a:p>
            <a:endParaRPr lang="en-US"/>
          </a:p>
        </p:txBody>
      </p:sp>
      <p:sp>
        <p:nvSpPr>
          <p:cNvPr id="6" name="Text 4"/>
          <p:cNvSpPr/>
          <p:nvPr/>
        </p:nvSpPr>
        <p:spPr>
          <a:xfrm>
            <a:off x="822960" y="1691640"/>
            <a:ext cx="3474720" cy="292608"/>
          </a:xfrm>
          <a:prstGeom prst="rect">
            <a:avLst/>
          </a:prstGeom>
          <a:noFill/>
          <a:ln/>
        </p:spPr>
        <p:txBody>
          <a:bodyPr wrap="square" lIns="0" tIns="0" rIns="0" bIns="0" rtlCol="0" anchor="ctr"/>
          <a:lstStyle/>
          <a:p>
            <a:pPr marL="0" indent="0">
              <a:buNone/>
            </a:pPr>
            <a:r>
              <a:rPr lang="en-US" sz="1700" dirty="0">
                <a:solidFill>
                  <a:srgbClr val="0D1B2A"/>
                </a:solidFill>
                <a:latin typeface="Oswald" pitchFamily="34" charset="0"/>
                <a:ea typeface="Oswald" pitchFamily="34" charset="-122"/>
                <a:cs typeface="Oswald" pitchFamily="34" charset="-120"/>
              </a:rPr>
              <a:t>The problem it answered</a:t>
            </a:r>
            <a:endParaRPr lang="en-US" sz="1700" dirty="0"/>
          </a:p>
        </p:txBody>
      </p:sp>
      <p:sp>
        <p:nvSpPr>
          <p:cNvPr id="7" name="Text 5"/>
          <p:cNvSpPr/>
          <p:nvPr/>
        </p:nvSpPr>
        <p:spPr>
          <a:xfrm>
            <a:off x="822960" y="2103120"/>
            <a:ext cx="3474720" cy="2194560"/>
          </a:xfrm>
          <a:prstGeom prst="rect">
            <a:avLst/>
          </a:prstGeom>
          <a:noFill/>
          <a:ln/>
        </p:spPr>
        <p:txBody>
          <a:bodyPr wrap="square" rtlCol="0" anchor="ctr"/>
          <a:lstStyle/>
          <a:p>
            <a:pPr marL="342900" indent="-342900">
              <a:spcAft>
                <a:spcPts val="800"/>
              </a:spcAft>
              <a:buSzPct val="100000"/>
              <a:buChar char="•"/>
            </a:pPr>
            <a:r>
              <a:rPr lang="en-US" sz="1300" dirty="0">
                <a:solidFill>
                  <a:srgbClr val="14293D"/>
                </a:solidFill>
                <a:latin typeface="Roboto" pitchFamily="34" charset="0"/>
                <a:ea typeface="Roboto" pitchFamily="34" charset="-122"/>
                <a:cs typeface="Roboto" pitchFamily="34" charset="-120"/>
              </a:rPr>
              <a:t>Knowledge, not action</a:t>
            </a:r>
            <a:endParaRPr lang="en-US" sz="1300" dirty="0"/>
          </a:p>
          <a:p>
            <a:pPr marL="342900" indent="-342900">
              <a:spcAft>
                <a:spcPts val="800"/>
              </a:spcAft>
              <a:buSzPct val="100000"/>
              <a:buChar char="•"/>
            </a:pPr>
            <a:r>
              <a:rPr lang="en-US" sz="1300" dirty="0">
                <a:solidFill>
                  <a:srgbClr val="14293D"/>
                </a:solidFill>
                <a:latin typeface="Roboto" pitchFamily="34" charset="0"/>
                <a:ea typeface="Roboto" pitchFamily="34" charset="-122"/>
                <a:cs typeface="Roboto" pitchFamily="34" charset="-120"/>
              </a:rPr>
              <a:t>Parametric memory is lossy and hard to update</a:t>
            </a:r>
            <a:endParaRPr lang="en-US" sz="1300" dirty="0"/>
          </a:p>
          <a:p>
            <a:pPr marL="342900" indent="-342900">
              <a:spcAft>
                <a:spcPts val="800"/>
              </a:spcAft>
              <a:buSzPct val="100000"/>
              <a:buChar char="•"/>
            </a:pPr>
            <a:r>
              <a:rPr lang="en-US" sz="1300" dirty="0">
                <a:solidFill>
                  <a:srgbClr val="14293D"/>
                </a:solidFill>
                <a:latin typeface="Roboto" pitchFamily="34" charset="0"/>
                <a:ea typeface="Roboto" pitchFamily="34" charset="-122"/>
                <a:cs typeface="Roboto" pitchFamily="34" charset="-120"/>
              </a:rPr>
              <a:t>Add non-parametric memory: a retrievable index</a:t>
            </a:r>
            <a:endParaRPr lang="en-US" sz="1300" dirty="0"/>
          </a:p>
          <a:p>
            <a:pPr marL="342900" indent="-342900">
              <a:spcAft>
                <a:spcPts val="800"/>
              </a:spcAft>
              <a:buSzPct val="100000"/>
              <a:buChar char="•"/>
            </a:pPr>
            <a:r>
              <a:rPr lang="en-US" sz="1300" dirty="0">
                <a:solidFill>
                  <a:srgbClr val="14293D"/>
                </a:solidFill>
                <a:latin typeface="Roboto" pitchFamily="34" charset="0"/>
                <a:ea typeface="Roboto" pitchFamily="34" charset="-122"/>
                <a:cs typeface="Roboto" pitchFamily="34" charset="-120"/>
              </a:rPr>
              <a:t>Answers become attributable</a:t>
            </a:r>
            <a:endParaRPr lang="en-US" sz="1300" dirty="0"/>
          </a:p>
        </p:txBody>
      </p:sp>
      <p:sp>
        <p:nvSpPr>
          <p:cNvPr id="8" name="Shape 6"/>
          <p:cNvSpPr/>
          <p:nvPr/>
        </p:nvSpPr>
        <p:spPr>
          <a:xfrm>
            <a:off x="4754880" y="1463040"/>
            <a:ext cx="3840480" cy="3108960"/>
          </a:xfrm>
          <a:prstGeom prst="rect">
            <a:avLst/>
          </a:prstGeom>
          <a:solidFill>
            <a:srgbClr val="0D1B2A"/>
          </a:solidFill>
          <a:ln/>
        </p:spPr>
        <p:txBody>
          <a:bodyPr/>
          <a:lstStyle/>
          <a:p>
            <a:endParaRPr lang="en-US"/>
          </a:p>
        </p:txBody>
      </p:sp>
      <p:sp>
        <p:nvSpPr>
          <p:cNvPr id="9" name="Text 7"/>
          <p:cNvSpPr/>
          <p:nvPr/>
        </p:nvSpPr>
        <p:spPr>
          <a:xfrm>
            <a:off x="5029200" y="1691640"/>
            <a:ext cx="3291840" cy="292608"/>
          </a:xfrm>
          <a:prstGeom prst="rect">
            <a:avLst/>
          </a:prstGeom>
          <a:noFill/>
          <a:ln/>
        </p:spPr>
        <p:txBody>
          <a:bodyPr wrap="square" lIns="0" tIns="0" rIns="0" bIns="0" rtlCol="0" anchor="ctr"/>
          <a:lstStyle/>
          <a:p>
            <a:pPr marL="0" indent="0">
              <a:buNone/>
            </a:pPr>
            <a:r>
              <a:rPr lang="en-US" sz="1700" dirty="0">
                <a:solidFill>
                  <a:srgbClr val="06D6A0"/>
                </a:solidFill>
                <a:latin typeface="Oswald" pitchFamily="34" charset="0"/>
                <a:ea typeface="Oswald" pitchFamily="34" charset="-122"/>
                <a:cs typeface="Oswald" pitchFamily="34" charset="-120"/>
              </a:rPr>
              <a:t>Classic pipeline</a:t>
            </a:r>
            <a:endParaRPr lang="en-US" sz="1700" dirty="0"/>
          </a:p>
        </p:txBody>
      </p:sp>
      <p:sp>
        <p:nvSpPr>
          <p:cNvPr id="10" name="Shape 8"/>
          <p:cNvSpPr/>
          <p:nvPr/>
        </p:nvSpPr>
        <p:spPr>
          <a:xfrm>
            <a:off x="5029200" y="2148840"/>
            <a:ext cx="3291840" cy="402336"/>
          </a:xfrm>
          <a:prstGeom prst="rect">
            <a:avLst/>
          </a:prstGeom>
          <a:solidFill>
            <a:srgbClr val="14293D"/>
          </a:solidFill>
          <a:ln/>
        </p:spPr>
        <p:txBody>
          <a:bodyPr/>
          <a:lstStyle/>
          <a:p>
            <a:endParaRPr lang="en-US"/>
          </a:p>
        </p:txBody>
      </p:sp>
      <p:sp>
        <p:nvSpPr>
          <p:cNvPr id="11" name="Text 9"/>
          <p:cNvSpPr/>
          <p:nvPr/>
        </p:nvSpPr>
        <p:spPr>
          <a:xfrm>
            <a:off x="5212080" y="2212848"/>
            <a:ext cx="2926080" cy="274320"/>
          </a:xfrm>
          <a:prstGeom prst="rect">
            <a:avLst/>
          </a:prstGeom>
          <a:noFill/>
          <a:ln/>
        </p:spPr>
        <p:txBody>
          <a:bodyPr wrap="square" lIns="0" tIns="0" rIns="0" bIns="0" rtlCol="0" anchor="ctr"/>
          <a:lstStyle/>
          <a:p>
            <a:pPr marL="0" indent="0">
              <a:buNone/>
            </a:pPr>
            <a:r>
              <a:rPr lang="en-US" sz="1200" dirty="0">
                <a:solidFill>
                  <a:srgbClr val="D7E3E9"/>
                </a:solidFill>
                <a:latin typeface="JetBrains Mono" pitchFamily="34" charset="0"/>
                <a:ea typeface="JetBrains Mono" pitchFamily="34" charset="-122"/>
                <a:cs typeface="JetBrains Mono" pitchFamily="34" charset="-120"/>
              </a:rPr>
              <a:t>query</a:t>
            </a:r>
            <a:endParaRPr lang="en-US" sz="1200" dirty="0"/>
          </a:p>
        </p:txBody>
      </p:sp>
      <p:sp>
        <p:nvSpPr>
          <p:cNvPr id="12" name="Shape 10"/>
          <p:cNvSpPr/>
          <p:nvPr/>
        </p:nvSpPr>
        <p:spPr>
          <a:xfrm>
            <a:off x="5029200" y="2651760"/>
            <a:ext cx="3291840" cy="402336"/>
          </a:xfrm>
          <a:prstGeom prst="rect">
            <a:avLst/>
          </a:prstGeom>
          <a:solidFill>
            <a:srgbClr val="14293D"/>
          </a:solidFill>
          <a:ln/>
        </p:spPr>
        <p:txBody>
          <a:bodyPr/>
          <a:lstStyle/>
          <a:p>
            <a:endParaRPr lang="en-US"/>
          </a:p>
        </p:txBody>
      </p:sp>
      <p:sp>
        <p:nvSpPr>
          <p:cNvPr id="13" name="Text 11"/>
          <p:cNvSpPr/>
          <p:nvPr/>
        </p:nvSpPr>
        <p:spPr>
          <a:xfrm>
            <a:off x="5212080" y="2715768"/>
            <a:ext cx="2926080" cy="274320"/>
          </a:xfrm>
          <a:prstGeom prst="rect">
            <a:avLst/>
          </a:prstGeom>
          <a:noFill/>
          <a:ln/>
        </p:spPr>
        <p:txBody>
          <a:bodyPr wrap="square" lIns="0" tIns="0" rIns="0" bIns="0" rtlCol="0" anchor="ctr"/>
          <a:lstStyle/>
          <a:p>
            <a:pPr marL="0" indent="0">
              <a:buNone/>
            </a:pPr>
            <a:r>
              <a:rPr lang="en-US" sz="1200" dirty="0">
                <a:solidFill>
                  <a:srgbClr val="D7E3E9"/>
                </a:solidFill>
                <a:latin typeface="JetBrains Mono" pitchFamily="34" charset="0"/>
                <a:ea typeface="JetBrains Mono" pitchFamily="34" charset="-122"/>
                <a:cs typeface="JetBrains Mono" pitchFamily="34" charset="-120"/>
              </a:rPr>
              <a:t>embed</a:t>
            </a:r>
            <a:endParaRPr lang="en-US" sz="1200" dirty="0"/>
          </a:p>
        </p:txBody>
      </p:sp>
      <p:sp>
        <p:nvSpPr>
          <p:cNvPr id="14" name="Shape 12"/>
          <p:cNvSpPr/>
          <p:nvPr/>
        </p:nvSpPr>
        <p:spPr>
          <a:xfrm>
            <a:off x="5029200" y="3154680"/>
            <a:ext cx="3291840" cy="402336"/>
          </a:xfrm>
          <a:prstGeom prst="rect">
            <a:avLst/>
          </a:prstGeom>
          <a:solidFill>
            <a:srgbClr val="14293D"/>
          </a:solidFill>
          <a:ln/>
        </p:spPr>
        <p:txBody>
          <a:bodyPr/>
          <a:lstStyle/>
          <a:p>
            <a:endParaRPr lang="en-US"/>
          </a:p>
        </p:txBody>
      </p:sp>
      <p:sp>
        <p:nvSpPr>
          <p:cNvPr id="15" name="Text 13"/>
          <p:cNvSpPr/>
          <p:nvPr/>
        </p:nvSpPr>
        <p:spPr>
          <a:xfrm>
            <a:off x="5212080" y="3218688"/>
            <a:ext cx="2926080" cy="274320"/>
          </a:xfrm>
          <a:prstGeom prst="rect">
            <a:avLst/>
          </a:prstGeom>
          <a:noFill/>
          <a:ln/>
        </p:spPr>
        <p:txBody>
          <a:bodyPr wrap="square" lIns="0" tIns="0" rIns="0" bIns="0" rtlCol="0" anchor="ctr"/>
          <a:lstStyle/>
          <a:p>
            <a:pPr marL="0" indent="0">
              <a:buNone/>
            </a:pPr>
            <a:r>
              <a:rPr lang="en-US" sz="1200" dirty="0">
                <a:solidFill>
                  <a:srgbClr val="D7E3E9"/>
                </a:solidFill>
                <a:latin typeface="JetBrains Mono" pitchFamily="34" charset="0"/>
                <a:ea typeface="JetBrains Mono" pitchFamily="34" charset="-122"/>
                <a:cs typeface="JetBrains Mono" pitchFamily="34" charset="-120"/>
              </a:rPr>
              <a:t>top-k fetch</a:t>
            </a:r>
            <a:endParaRPr lang="en-US" sz="1200" dirty="0"/>
          </a:p>
        </p:txBody>
      </p:sp>
      <p:sp>
        <p:nvSpPr>
          <p:cNvPr id="16" name="Shape 14"/>
          <p:cNvSpPr/>
          <p:nvPr/>
        </p:nvSpPr>
        <p:spPr>
          <a:xfrm>
            <a:off x="5029200" y="3657600"/>
            <a:ext cx="3291840" cy="402336"/>
          </a:xfrm>
          <a:prstGeom prst="rect">
            <a:avLst/>
          </a:prstGeom>
          <a:solidFill>
            <a:srgbClr val="14293D"/>
          </a:solidFill>
          <a:ln/>
        </p:spPr>
        <p:txBody>
          <a:bodyPr/>
          <a:lstStyle/>
          <a:p>
            <a:endParaRPr lang="en-US"/>
          </a:p>
        </p:txBody>
      </p:sp>
      <p:sp>
        <p:nvSpPr>
          <p:cNvPr id="17" name="Text 15"/>
          <p:cNvSpPr/>
          <p:nvPr/>
        </p:nvSpPr>
        <p:spPr>
          <a:xfrm>
            <a:off x="5212080" y="3721608"/>
            <a:ext cx="2926080" cy="274320"/>
          </a:xfrm>
          <a:prstGeom prst="rect">
            <a:avLst/>
          </a:prstGeom>
          <a:noFill/>
          <a:ln/>
        </p:spPr>
        <p:txBody>
          <a:bodyPr wrap="square" lIns="0" tIns="0" rIns="0" bIns="0" rtlCol="0" anchor="ctr"/>
          <a:lstStyle/>
          <a:p>
            <a:pPr marL="0" indent="0">
              <a:buNone/>
            </a:pPr>
            <a:r>
              <a:rPr lang="en-US" sz="1200" dirty="0">
                <a:solidFill>
                  <a:srgbClr val="D7E3E9"/>
                </a:solidFill>
                <a:latin typeface="JetBrains Mono" pitchFamily="34" charset="0"/>
                <a:ea typeface="JetBrains Mono" pitchFamily="34" charset="-122"/>
                <a:cs typeface="JetBrains Mono" pitchFamily="34" charset="-120"/>
              </a:rPr>
              <a:t>generate</a:t>
            </a:r>
            <a:endParaRPr lang="en-US" sz="1200" dirty="0"/>
          </a:p>
        </p:txBody>
      </p:sp>
      <p:sp>
        <p:nvSpPr>
          <p:cNvPr id="18" name="Text 16"/>
          <p:cNvSpPr/>
          <p:nvPr/>
        </p:nvSpPr>
        <p:spPr>
          <a:xfrm>
            <a:off x="5029200" y="4160520"/>
            <a:ext cx="3291840" cy="384048"/>
          </a:xfrm>
          <a:prstGeom prst="rect">
            <a:avLst/>
          </a:prstGeom>
          <a:noFill/>
          <a:ln/>
        </p:spPr>
        <p:txBody>
          <a:bodyPr wrap="square" lIns="0" tIns="0" rIns="0" bIns="0" rtlCol="0" anchor="ctr"/>
          <a:lstStyle/>
          <a:p>
            <a:pPr marL="0" indent="0">
              <a:buNone/>
            </a:pPr>
            <a:r>
              <a:rPr lang="en-US" sz="1050" i="1" dirty="0">
                <a:solidFill>
                  <a:srgbClr val="1B9AAA"/>
                </a:solidFill>
                <a:latin typeface="Roboto" pitchFamily="34" charset="0"/>
                <a:ea typeface="Roboto" pitchFamily="34" charset="-122"/>
                <a:cs typeface="Roboto" pitchFamily="34" charset="-120"/>
              </a:rPr>
              <a:t>Unconditional. The engineer decides when to retrieve.</a:t>
            </a:r>
            <a:endParaRPr lang="en-US" sz="1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9">
    <p:bg>
      <p:bgPr>
        <a:solidFill>
          <a:srgbClr val="F4F7F8"/>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0D1B2A"/>
          </a:solidFill>
          <a:ln/>
        </p:spPr>
        <p:txBody>
          <a:bodyPr/>
          <a:lstStyle/>
          <a:p>
            <a:endParaRPr lang="en-US"/>
          </a:p>
        </p:txBody>
      </p:sp>
      <p:sp>
        <p:nvSpPr>
          <p:cNvPr id="3" name="Text 1"/>
          <p:cNvSpPr/>
          <p:nvPr/>
        </p:nvSpPr>
        <p:spPr>
          <a:xfrm>
            <a:off x="566928" y="329184"/>
            <a:ext cx="8138160" cy="256032"/>
          </a:xfrm>
          <a:prstGeom prst="rect">
            <a:avLst/>
          </a:prstGeom>
          <a:noFill/>
          <a:ln/>
        </p:spPr>
        <p:txBody>
          <a:bodyPr wrap="square" lIns="0" tIns="0" rIns="0" bIns="0" rtlCol="0" anchor="ctr"/>
          <a:lstStyle/>
          <a:p>
            <a:pPr marL="0" indent="0">
              <a:buNone/>
            </a:pPr>
            <a:r>
              <a:rPr lang="en-US" sz="1050" kern="0" spc="200" dirty="0">
                <a:solidFill>
                  <a:srgbClr val="1B9AAA"/>
                </a:solidFill>
                <a:latin typeface="JetBrains Mono" pitchFamily="34" charset="0"/>
                <a:ea typeface="JetBrains Mono" pitchFamily="34" charset="-122"/>
                <a:cs typeface="JetBrains Mono" pitchFamily="34" charset="-120"/>
              </a:rPr>
              <a:t>2021–2023 · TOOL USE</a:t>
            </a:r>
            <a:endParaRPr lang="en-US" sz="1050" dirty="0"/>
          </a:p>
        </p:txBody>
      </p:sp>
      <p:sp>
        <p:nvSpPr>
          <p:cNvPr id="4" name="Text 2"/>
          <p:cNvSpPr/>
          <p:nvPr/>
        </p:nvSpPr>
        <p:spPr>
          <a:xfrm>
            <a:off x="566928" y="603504"/>
            <a:ext cx="8138160" cy="658368"/>
          </a:xfrm>
          <a:prstGeom prst="rect">
            <a:avLst/>
          </a:prstGeom>
          <a:noFill/>
          <a:ln/>
        </p:spPr>
        <p:txBody>
          <a:bodyPr wrap="square" lIns="0" tIns="0" rIns="0" bIns="0" rtlCol="0" anchor="ctr"/>
          <a:lstStyle/>
          <a:p>
            <a:pPr marL="0" indent="0">
              <a:buNone/>
            </a:pPr>
            <a:r>
              <a:rPr lang="en-US" sz="3200" dirty="0">
                <a:solidFill>
                  <a:srgbClr val="0D1B2A"/>
                </a:solidFill>
                <a:latin typeface="Oswald" pitchFamily="34" charset="0"/>
                <a:ea typeface="Oswald" pitchFamily="34" charset="-122"/>
                <a:cs typeface="Oswald" pitchFamily="34" charset="-120"/>
              </a:rPr>
              <a:t>From knowledge to capability</a:t>
            </a:r>
            <a:endParaRPr lang="en-US" sz="3200" dirty="0"/>
          </a:p>
        </p:txBody>
      </p:sp>
      <p:sp>
        <p:nvSpPr>
          <p:cNvPr id="5" name="Text 3"/>
          <p:cNvSpPr/>
          <p:nvPr/>
        </p:nvSpPr>
        <p:spPr>
          <a:xfrm>
            <a:off x="566928" y="1389888"/>
            <a:ext cx="8138160" cy="457200"/>
          </a:xfrm>
          <a:prstGeom prst="rect">
            <a:avLst/>
          </a:prstGeom>
          <a:noFill/>
          <a:ln/>
        </p:spPr>
        <p:txBody>
          <a:bodyPr wrap="square" lIns="0" tIns="0" rIns="0" bIns="0" rtlCol="0" anchor="ctr"/>
          <a:lstStyle/>
          <a:p>
            <a:pPr marL="0" indent="0">
              <a:buNone/>
            </a:pPr>
            <a:r>
              <a:rPr lang="en-US" sz="1400" dirty="0">
                <a:solidFill>
                  <a:srgbClr val="14293D"/>
                </a:solidFill>
                <a:latin typeface="Roboto" pitchFamily="34" charset="0"/>
                <a:ea typeface="Roboto" pitchFamily="34" charset="-122"/>
                <a:cs typeface="Roboto" pitchFamily="34" charset="-120"/>
              </a:rPr>
              <a:t>A control-flow answer to an action problem: let the model decide when to reach outside itself — and let it reach for anything, not just documents.</a:t>
            </a:r>
            <a:endParaRPr lang="en-US" sz="1400" dirty="0"/>
          </a:p>
        </p:txBody>
      </p:sp>
      <p:sp>
        <p:nvSpPr>
          <p:cNvPr id="6" name="Shape 4"/>
          <p:cNvSpPr/>
          <p:nvPr/>
        </p:nvSpPr>
        <p:spPr>
          <a:xfrm>
            <a:off x="566928" y="2011680"/>
            <a:ext cx="3931920" cy="2514600"/>
          </a:xfrm>
          <a:prstGeom prst="rect">
            <a:avLst/>
          </a:prstGeom>
          <a:solidFill>
            <a:srgbClr val="FFFFFF"/>
          </a:solidFill>
          <a:ln w="9525">
            <a:solidFill>
              <a:srgbClr val="DDE5E9"/>
            </a:solidFill>
            <a:prstDash val="solid"/>
          </a:ln>
        </p:spPr>
        <p:txBody>
          <a:bodyPr/>
          <a:lstStyle/>
          <a:p>
            <a:endParaRPr lang="en-US"/>
          </a:p>
        </p:txBody>
      </p:sp>
      <p:sp>
        <p:nvSpPr>
          <p:cNvPr id="7" name="Text 5"/>
          <p:cNvSpPr/>
          <p:nvPr/>
        </p:nvSpPr>
        <p:spPr>
          <a:xfrm>
            <a:off x="822960" y="2212848"/>
            <a:ext cx="3474720" cy="274320"/>
          </a:xfrm>
          <a:prstGeom prst="rect">
            <a:avLst/>
          </a:prstGeom>
          <a:noFill/>
          <a:ln/>
        </p:spPr>
        <p:txBody>
          <a:bodyPr wrap="square" lIns="0" tIns="0" rIns="0" bIns="0" rtlCol="0" anchor="ctr"/>
          <a:lstStyle/>
          <a:p>
            <a:pPr marL="0" indent="0">
              <a:buNone/>
            </a:pPr>
            <a:r>
              <a:rPr lang="en-US" sz="1600" dirty="0">
                <a:solidFill>
                  <a:srgbClr val="0D1B2A"/>
                </a:solidFill>
                <a:latin typeface="Oswald" pitchFamily="34" charset="0"/>
                <a:ea typeface="Oswald" pitchFamily="34" charset="-122"/>
                <a:cs typeface="Oswald" pitchFamily="34" charset="-120"/>
              </a:rPr>
              <a:t>What it unlocks</a:t>
            </a:r>
            <a:endParaRPr lang="en-US" sz="1600" dirty="0"/>
          </a:p>
        </p:txBody>
      </p:sp>
      <p:sp>
        <p:nvSpPr>
          <p:cNvPr id="8" name="Text 6"/>
          <p:cNvSpPr/>
          <p:nvPr/>
        </p:nvSpPr>
        <p:spPr>
          <a:xfrm>
            <a:off x="822960" y="2578608"/>
            <a:ext cx="3474720" cy="1783080"/>
          </a:xfrm>
          <a:prstGeom prst="rect">
            <a:avLst/>
          </a:prstGeom>
          <a:noFill/>
          <a:ln/>
        </p:spPr>
        <p:txBody>
          <a:bodyPr wrap="square" rtlCol="0" anchor="ctr"/>
          <a:lstStyle/>
          <a:p>
            <a:pPr marL="342900" indent="-342900">
              <a:spcAft>
                <a:spcPts val="700"/>
              </a:spcAft>
              <a:buSzPct val="100000"/>
              <a:buChar char="•"/>
            </a:pPr>
            <a:r>
              <a:rPr lang="en-US" sz="1250" dirty="0">
                <a:solidFill>
                  <a:srgbClr val="14293D"/>
                </a:solidFill>
                <a:latin typeface="Roboto" pitchFamily="34" charset="0"/>
                <a:ea typeface="Roboto" pitchFamily="34" charset="-122"/>
                <a:cs typeface="Roboto" pitchFamily="34" charset="-120"/>
              </a:rPr>
              <a:t>Deterministic computation, done deterministically</a:t>
            </a:r>
            <a:endParaRPr lang="en-US" sz="1250" dirty="0"/>
          </a:p>
          <a:p>
            <a:pPr marL="342900" indent="-342900">
              <a:spcAft>
                <a:spcPts val="700"/>
              </a:spcAft>
              <a:buSzPct val="100000"/>
              <a:buChar char="•"/>
            </a:pPr>
            <a:r>
              <a:rPr lang="en-US" sz="1250" dirty="0">
                <a:solidFill>
                  <a:srgbClr val="14293D"/>
                </a:solidFill>
                <a:latin typeface="Roboto" pitchFamily="34" charset="0"/>
                <a:ea typeface="Roboto" pitchFamily="34" charset="-122"/>
                <a:cs typeface="Roboto" pitchFamily="34" charset="-120"/>
              </a:rPr>
              <a:t>Reads from systems of record</a:t>
            </a:r>
            <a:endParaRPr lang="en-US" sz="1250" dirty="0"/>
          </a:p>
          <a:p>
            <a:pPr marL="342900" indent="-342900">
              <a:spcAft>
                <a:spcPts val="700"/>
              </a:spcAft>
              <a:buSzPct val="100000"/>
              <a:buChar char="•"/>
            </a:pPr>
            <a:r>
              <a:rPr lang="en-US" sz="1250" dirty="0">
                <a:solidFill>
                  <a:srgbClr val="14293D"/>
                </a:solidFill>
                <a:latin typeface="Roboto" pitchFamily="34" charset="0"/>
                <a:ea typeface="Roboto" pitchFamily="34" charset="-122"/>
                <a:cs typeface="Roboto" pitchFamily="34" charset="-120"/>
              </a:rPr>
              <a:t>Side effects — writes, sends, bookings</a:t>
            </a:r>
            <a:endParaRPr lang="en-US" sz="1250" dirty="0"/>
          </a:p>
          <a:p>
            <a:pPr marL="342900" indent="-342900">
              <a:spcAft>
                <a:spcPts val="700"/>
              </a:spcAft>
              <a:buSzPct val="100000"/>
              <a:buChar char="•"/>
            </a:pPr>
            <a:r>
              <a:rPr lang="en-US" sz="1250" dirty="0">
                <a:solidFill>
                  <a:srgbClr val="14293D"/>
                </a:solidFill>
                <a:latin typeface="Roboto" pitchFamily="34" charset="0"/>
                <a:ea typeface="Roboto" pitchFamily="34" charset="-122"/>
                <a:cs typeface="Roboto" pitchFamily="34" charset="-120"/>
              </a:rPr>
              <a:t>Loggable, permissioned, auditable actions</a:t>
            </a:r>
            <a:endParaRPr lang="en-US" sz="1250" dirty="0"/>
          </a:p>
        </p:txBody>
      </p:sp>
      <p:sp>
        <p:nvSpPr>
          <p:cNvPr id="9" name="Shape 7"/>
          <p:cNvSpPr/>
          <p:nvPr/>
        </p:nvSpPr>
        <p:spPr>
          <a:xfrm>
            <a:off x="4754880" y="2011680"/>
            <a:ext cx="3840480" cy="2514600"/>
          </a:xfrm>
          <a:prstGeom prst="rect">
            <a:avLst/>
          </a:prstGeom>
          <a:solidFill>
            <a:srgbClr val="FFFFFF"/>
          </a:solidFill>
          <a:ln w="9525">
            <a:solidFill>
              <a:srgbClr val="DDE5E9"/>
            </a:solidFill>
            <a:prstDash val="solid"/>
          </a:ln>
        </p:spPr>
        <p:txBody>
          <a:bodyPr/>
          <a:lstStyle/>
          <a:p>
            <a:endParaRPr lang="en-US"/>
          </a:p>
        </p:txBody>
      </p:sp>
      <p:sp>
        <p:nvSpPr>
          <p:cNvPr id="10" name="Text 8"/>
          <p:cNvSpPr/>
          <p:nvPr/>
        </p:nvSpPr>
        <p:spPr>
          <a:xfrm>
            <a:off x="5010912" y="2212848"/>
            <a:ext cx="3383280" cy="274320"/>
          </a:xfrm>
          <a:prstGeom prst="rect">
            <a:avLst/>
          </a:prstGeom>
          <a:noFill/>
          <a:ln/>
        </p:spPr>
        <p:txBody>
          <a:bodyPr wrap="square" lIns="0" tIns="0" rIns="0" bIns="0" rtlCol="0" anchor="ctr"/>
          <a:lstStyle/>
          <a:p>
            <a:pPr marL="0" indent="0">
              <a:buNone/>
            </a:pPr>
            <a:r>
              <a:rPr lang="en-US" sz="1600" dirty="0">
                <a:solidFill>
                  <a:srgbClr val="0D1B2A"/>
                </a:solidFill>
                <a:latin typeface="Oswald" pitchFamily="34" charset="0"/>
                <a:ea typeface="Oswald" pitchFamily="34" charset="-122"/>
                <a:cs typeface="Oswald" pitchFamily="34" charset="-120"/>
              </a:rPr>
              <a:t>Naming it</a:t>
            </a:r>
            <a:endParaRPr lang="en-US" sz="1600" dirty="0"/>
          </a:p>
        </p:txBody>
      </p:sp>
      <p:sp>
        <p:nvSpPr>
          <p:cNvPr id="11" name="Text 9"/>
          <p:cNvSpPr/>
          <p:nvPr/>
        </p:nvSpPr>
        <p:spPr>
          <a:xfrm>
            <a:off x="5010912" y="2606040"/>
            <a:ext cx="1874520" cy="274320"/>
          </a:xfrm>
          <a:prstGeom prst="rect">
            <a:avLst/>
          </a:prstGeom>
          <a:noFill/>
          <a:ln/>
        </p:spPr>
        <p:txBody>
          <a:bodyPr wrap="square" lIns="0" tIns="0" rIns="0" bIns="0" rtlCol="0" anchor="ctr"/>
          <a:lstStyle/>
          <a:p>
            <a:pPr marL="0" indent="0">
              <a:buNone/>
            </a:pPr>
            <a:r>
              <a:rPr lang="en-US" sz="1100" dirty="0">
                <a:solidFill>
                  <a:srgbClr val="1B9AAA"/>
                </a:solidFill>
                <a:latin typeface="JetBrains Mono" pitchFamily="34" charset="0"/>
                <a:ea typeface="JetBrains Mono" pitchFamily="34" charset="-122"/>
                <a:cs typeface="JetBrains Mono" pitchFamily="34" charset="-120"/>
              </a:rPr>
              <a:t>tool use / tool calling</a:t>
            </a:r>
            <a:endParaRPr lang="en-US" sz="1100" dirty="0"/>
          </a:p>
        </p:txBody>
      </p:sp>
      <p:sp>
        <p:nvSpPr>
          <p:cNvPr id="12" name="Text 10"/>
          <p:cNvSpPr/>
          <p:nvPr/>
        </p:nvSpPr>
        <p:spPr>
          <a:xfrm>
            <a:off x="6903720" y="2606040"/>
            <a:ext cx="1600200" cy="384048"/>
          </a:xfrm>
          <a:prstGeom prst="rect">
            <a:avLst/>
          </a:prstGeom>
          <a:noFill/>
          <a:ln/>
        </p:spPr>
        <p:txBody>
          <a:bodyPr wrap="square" lIns="0" tIns="0" rIns="0" bIns="0" rtlCol="0" anchor="ctr"/>
          <a:lstStyle/>
          <a:p>
            <a:pPr marL="0" indent="0">
              <a:buNone/>
            </a:pPr>
            <a:r>
              <a:rPr lang="en-US" sz="1050" dirty="0">
                <a:solidFill>
                  <a:srgbClr val="6B7B8C"/>
                </a:solidFill>
                <a:latin typeface="Roboto" pitchFamily="34" charset="0"/>
                <a:ea typeface="Roboto" pitchFamily="34" charset="-122"/>
                <a:cs typeface="Roboto" pitchFamily="34" charset="-120"/>
              </a:rPr>
              <a:t>the category term — use this</a:t>
            </a:r>
            <a:endParaRPr lang="en-US" sz="1050" dirty="0"/>
          </a:p>
        </p:txBody>
      </p:sp>
      <p:sp>
        <p:nvSpPr>
          <p:cNvPr id="13" name="Text 11"/>
          <p:cNvSpPr/>
          <p:nvPr/>
        </p:nvSpPr>
        <p:spPr>
          <a:xfrm>
            <a:off x="5010912" y="3063240"/>
            <a:ext cx="1874520" cy="274320"/>
          </a:xfrm>
          <a:prstGeom prst="rect">
            <a:avLst/>
          </a:prstGeom>
          <a:noFill/>
          <a:ln/>
        </p:spPr>
        <p:txBody>
          <a:bodyPr wrap="square" lIns="0" tIns="0" rIns="0" bIns="0" rtlCol="0" anchor="ctr"/>
          <a:lstStyle/>
          <a:p>
            <a:pPr marL="0" indent="0">
              <a:buNone/>
            </a:pPr>
            <a:r>
              <a:rPr lang="en-US" sz="1100" dirty="0">
                <a:solidFill>
                  <a:srgbClr val="0D1B2A"/>
                </a:solidFill>
                <a:latin typeface="JetBrains Mono" pitchFamily="34" charset="0"/>
                <a:ea typeface="JetBrains Mono" pitchFamily="34" charset="-122"/>
                <a:cs typeface="JetBrains Mono" pitchFamily="34" charset="-120"/>
              </a:rPr>
              <a:t>function calling</a:t>
            </a:r>
            <a:endParaRPr lang="en-US" sz="1100" dirty="0"/>
          </a:p>
        </p:txBody>
      </p:sp>
      <p:sp>
        <p:nvSpPr>
          <p:cNvPr id="14" name="Text 12"/>
          <p:cNvSpPr/>
          <p:nvPr/>
        </p:nvSpPr>
        <p:spPr>
          <a:xfrm>
            <a:off x="6903720" y="3063240"/>
            <a:ext cx="1600200" cy="384048"/>
          </a:xfrm>
          <a:prstGeom prst="rect">
            <a:avLst/>
          </a:prstGeom>
          <a:noFill/>
          <a:ln/>
        </p:spPr>
        <p:txBody>
          <a:bodyPr wrap="square" lIns="0" tIns="0" rIns="0" bIns="0" rtlCol="0" anchor="ctr"/>
          <a:lstStyle/>
          <a:p>
            <a:pPr marL="0" indent="0">
              <a:buNone/>
            </a:pPr>
            <a:r>
              <a:rPr lang="en-US" sz="1050" dirty="0">
                <a:solidFill>
                  <a:srgbClr val="6B7B8C"/>
                </a:solidFill>
                <a:latin typeface="Roboto" pitchFamily="34" charset="0"/>
                <a:ea typeface="Roboto" pitchFamily="34" charset="-122"/>
                <a:cs typeface="Roboto" pitchFamily="34" charset="-120"/>
              </a:rPr>
              <a:t>the concrete API mechanism</a:t>
            </a:r>
            <a:endParaRPr lang="en-US" sz="1050" dirty="0"/>
          </a:p>
        </p:txBody>
      </p:sp>
      <p:sp>
        <p:nvSpPr>
          <p:cNvPr id="15" name="Text 13"/>
          <p:cNvSpPr/>
          <p:nvPr/>
        </p:nvSpPr>
        <p:spPr>
          <a:xfrm>
            <a:off x="5010912" y="3520440"/>
            <a:ext cx="1874520" cy="274320"/>
          </a:xfrm>
          <a:prstGeom prst="rect">
            <a:avLst/>
          </a:prstGeom>
          <a:noFill/>
          <a:ln/>
        </p:spPr>
        <p:txBody>
          <a:bodyPr wrap="square" lIns="0" tIns="0" rIns="0" bIns="0" rtlCol="0" anchor="ctr"/>
          <a:lstStyle/>
          <a:p>
            <a:pPr marL="0" indent="0">
              <a:buNone/>
            </a:pPr>
            <a:r>
              <a:rPr lang="en-US" sz="1100" dirty="0">
                <a:solidFill>
                  <a:srgbClr val="0D1B2A"/>
                </a:solidFill>
                <a:latin typeface="JetBrains Mono" pitchFamily="34" charset="0"/>
                <a:ea typeface="JetBrains Mono" pitchFamily="34" charset="-122"/>
                <a:cs typeface="JetBrains Mono" pitchFamily="34" charset="-120"/>
              </a:rPr>
              <a:t>tool-augmented LLMs</a:t>
            </a:r>
            <a:endParaRPr lang="en-US" sz="1100" dirty="0"/>
          </a:p>
        </p:txBody>
      </p:sp>
      <p:sp>
        <p:nvSpPr>
          <p:cNvPr id="16" name="Text 14"/>
          <p:cNvSpPr/>
          <p:nvPr/>
        </p:nvSpPr>
        <p:spPr>
          <a:xfrm>
            <a:off x="6903720" y="3520440"/>
            <a:ext cx="1600200" cy="384048"/>
          </a:xfrm>
          <a:prstGeom prst="rect">
            <a:avLst/>
          </a:prstGeom>
          <a:noFill/>
          <a:ln/>
        </p:spPr>
        <p:txBody>
          <a:bodyPr wrap="square" lIns="0" tIns="0" rIns="0" bIns="0" rtlCol="0" anchor="ctr"/>
          <a:lstStyle/>
          <a:p>
            <a:pPr marL="0" indent="0">
              <a:buNone/>
            </a:pPr>
            <a:r>
              <a:rPr lang="en-US" sz="1050" dirty="0">
                <a:solidFill>
                  <a:srgbClr val="6B7B8C"/>
                </a:solidFill>
                <a:latin typeface="Roboto" pitchFamily="34" charset="0"/>
                <a:ea typeface="Roboto" pitchFamily="34" charset="-122"/>
                <a:cs typeface="Roboto" pitchFamily="34" charset="-120"/>
              </a:rPr>
              <a:t>the academic register</a:t>
            </a:r>
            <a:endParaRPr lang="en-US" sz="1050" dirty="0"/>
          </a:p>
        </p:txBody>
      </p:sp>
      <p:sp>
        <p:nvSpPr>
          <p:cNvPr id="17" name="Text 15"/>
          <p:cNvSpPr/>
          <p:nvPr/>
        </p:nvSpPr>
        <p:spPr>
          <a:xfrm>
            <a:off x="5010912" y="3977640"/>
            <a:ext cx="1874520" cy="274320"/>
          </a:xfrm>
          <a:prstGeom prst="rect">
            <a:avLst/>
          </a:prstGeom>
          <a:noFill/>
          <a:ln/>
        </p:spPr>
        <p:txBody>
          <a:bodyPr wrap="square" lIns="0" tIns="0" rIns="0" bIns="0" rtlCol="0" anchor="ctr"/>
          <a:lstStyle/>
          <a:p>
            <a:pPr marL="0" indent="0">
              <a:buNone/>
            </a:pPr>
            <a:r>
              <a:rPr lang="en-US" sz="1100" dirty="0">
                <a:solidFill>
                  <a:srgbClr val="0D1B2A"/>
                </a:solidFill>
                <a:latin typeface="JetBrains Mono" pitchFamily="34" charset="0"/>
                <a:ea typeface="JetBrains Mono" pitchFamily="34" charset="-122"/>
                <a:cs typeface="JetBrains Mono" pitchFamily="34" charset="-120"/>
              </a:rPr>
              <a:t>grounding</a:t>
            </a:r>
            <a:endParaRPr lang="en-US" sz="1100" dirty="0"/>
          </a:p>
        </p:txBody>
      </p:sp>
      <p:sp>
        <p:nvSpPr>
          <p:cNvPr id="18" name="Text 16"/>
          <p:cNvSpPr/>
          <p:nvPr/>
        </p:nvSpPr>
        <p:spPr>
          <a:xfrm>
            <a:off x="6903720" y="3977640"/>
            <a:ext cx="1600200" cy="384048"/>
          </a:xfrm>
          <a:prstGeom prst="rect">
            <a:avLst/>
          </a:prstGeom>
          <a:noFill/>
          <a:ln/>
        </p:spPr>
        <p:txBody>
          <a:bodyPr wrap="square" lIns="0" tIns="0" rIns="0" bIns="0" rtlCol="0" anchor="ctr"/>
          <a:lstStyle/>
          <a:p>
            <a:pPr marL="0" indent="0">
              <a:buNone/>
            </a:pPr>
            <a:r>
              <a:rPr lang="en-US" sz="1050" dirty="0">
                <a:solidFill>
                  <a:srgbClr val="6B7B8C"/>
                </a:solidFill>
                <a:latin typeface="Roboto" pitchFamily="34" charset="0"/>
                <a:ea typeface="Roboto" pitchFamily="34" charset="-122"/>
                <a:cs typeface="Roboto" pitchFamily="34" charset="-120"/>
              </a:rPr>
              <a:t>tying output to external state</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10">
    <p:bg>
      <p:bgPr>
        <a:solidFill>
          <a:srgbClr val="F4F7F8"/>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0D1B2A"/>
          </a:solidFill>
          <a:ln/>
        </p:spPr>
        <p:txBody>
          <a:bodyPr/>
          <a:lstStyle/>
          <a:p>
            <a:endParaRPr lang="en-US"/>
          </a:p>
        </p:txBody>
      </p:sp>
      <p:sp>
        <p:nvSpPr>
          <p:cNvPr id="3" name="Text 1"/>
          <p:cNvSpPr/>
          <p:nvPr/>
        </p:nvSpPr>
        <p:spPr>
          <a:xfrm>
            <a:off x="566928" y="329184"/>
            <a:ext cx="8138160" cy="256032"/>
          </a:xfrm>
          <a:prstGeom prst="rect">
            <a:avLst/>
          </a:prstGeom>
          <a:noFill/>
          <a:ln/>
        </p:spPr>
        <p:txBody>
          <a:bodyPr wrap="square" lIns="0" tIns="0" rIns="0" bIns="0" rtlCol="0" anchor="ctr"/>
          <a:lstStyle/>
          <a:p>
            <a:pPr marL="0" indent="0">
              <a:buNone/>
            </a:pPr>
            <a:r>
              <a:rPr lang="en-US" sz="1050" kern="0" spc="200" dirty="0">
                <a:solidFill>
                  <a:srgbClr val="1B9AAA"/>
                </a:solidFill>
                <a:latin typeface="JetBrains Mono" pitchFamily="34" charset="0"/>
                <a:ea typeface="JetBrains Mono" pitchFamily="34" charset="-122"/>
                <a:cs typeface="JetBrains Mono" pitchFamily="34" charset="-120"/>
              </a:rPr>
              <a:t>2024 · MCP</a:t>
            </a:r>
            <a:endParaRPr lang="en-US" sz="1050" dirty="0"/>
          </a:p>
        </p:txBody>
      </p:sp>
      <p:sp>
        <p:nvSpPr>
          <p:cNvPr id="4" name="Text 2"/>
          <p:cNvSpPr/>
          <p:nvPr/>
        </p:nvSpPr>
        <p:spPr>
          <a:xfrm>
            <a:off x="566928" y="603504"/>
            <a:ext cx="8138160" cy="658368"/>
          </a:xfrm>
          <a:prstGeom prst="rect">
            <a:avLst/>
          </a:prstGeom>
          <a:noFill/>
          <a:ln/>
        </p:spPr>
        <p:txBody>
          <a:bodyPr wrap="square" lIns="0" tIns="0" rIns="0" bIns="0" rtlCol="0" anchor="ctr"/>
          <a:lstStyle/>
          <a:p>
            <a:pPr marL="0" indent="0">
              <a:buNone/>
            </a:pPr>
            <a:r>
              <a:rPr lang="en-US" sz="3200" dirty="0">
                <a:solidFill>
                  <a:srgbClr val="0D1B2A"/>
                </a:solidFill>
                <a:latin typeface="Oswald" pitchFamily="34" charset="0"/>
                <a:ea typeface="Oswald" pitchFamily="34" charset="-122"/>
                <a:cs typeface="Oswald" pitchFamily="34" charset="-120"/>
              </a:rPr>
              <a:t>An integration problem, not a model one</a:t>
            </a:r>
            <a:endParaRPr lang="en-US" sz="3200" dirty="0"/>
          </a:p>
        </p:txBody>
      </p:sp>
      <p:sp>
        <p:nvSpPr>
          <p:cNvPr id="5" name="Shape 3"/>
          <p:cNvSpPr/>
          <p:nvPr/>
        </p:nvSpPr>
        <p:spPr>
          <a:xfrm>
            <a:off x="566928" y="1463040"/>
            <a:ext cx="8046720" cy="960120"/>
          </a:xfrm>
          <a:prstGeom prst="rect">
            <a:avLst/>
          </a:prstGeom>
          <a:solidFill>
            <a:srgbClr val="0D1B2A"/>
          </a:solidFill>
          <a:ln/>
        </p:spPr>
        <p:txBody>
          <a:bodyPr/>
          <a:lstStyle/>
          <a:p>
            <a:endParaRPr lang="en-US"/>
          </a:p>
        </p:txBody>
      </p:sp>
      <p:sp>
        <p:nvSpPr>
          <p:cNvPr id="6" name="Text 4"/>
          <p:cNvSpPr/>
          <p:nvPr/>
        </p:nvSpPr>
        <p:spPr>
          <a:xfrm>
            <a:off x="868680" y="1691640"/>
            <a:ext cx="7498080" cy="457200"/>
          </a:xfrm>
          <a:prstGeom prst="rect">
            <a:avLst/>
          </a:prstGeom>
          <a:noFill/>
          <a:ln/>
        </p:spPr>
        <p:txBody>
          <a:bodyPr wrap="square" lIns="0" tIns="0" rIns="0" bIns="0" rtlCol="0" anchor="ctr"/>
          <a:lstStyle/>
          <a:p>
            <a:pPr marL="0" indent="0">
              <a:buNone/>
            </a:pPr>
            <a:r>
              <a:rPr lang="en-US" sz="2400" dirty="0">
                <a:solidFill>
                  <a:srgbClr val="FFFFFF"/>
                </a:solidFill>
                <a:latin typeface="Oswald" pitchFamily="34" charset="0"/>
                <a:ea typeface="Oswald" pitchFamily="34" charset="-122"/>
                <a:cs typeface="Oswald" pitchFamily="34" charset="-120"/>
              </a:rPr>
              <a:t>M models × N systems = M×N bespoke connectors</a:t>
            </a:r>
            <a:endParaRPr lang="en-US" sz="2400" dirty="0"/>
          </a:p>
        </p:txBody>
      </p:sp>
      <p:sp>
        <p:nvSpPr>
          <p:cNvPr id="7" name="Text 5"/>
          <p:cNvSpPr/>
          <p:nvPr/>
        </p:nvSpPr>
        <p:spPr>
          <a:xfrm>
            <a:off x="566928" y="2651760"/>
            <a:ext cx="4846320" cy="1280160"/>
          </a:xfrm>
          <a:prstGeom prst="rect">
            <a:avLst/>
          </a:prstGeom>
          <a:noFill/>
          <a:ln/>
        </p:spPr>
        <p:txBody>
          <a:bodyPr wrap="square" lIns="0" tIns="0" rIns="0" bIns="0" rtlCol="0" anchor="ctr"/>
          <a:lstStyle/>
          <a:p>
            <a:pPr marL="0" indent="0">
              <a:buNone/>
            </a:pPr>
            <a:r>
              <a:rPr lang="en-US" sz="1400" dirty="0">
                <a:solidFill>
                  <a:srgbClr val="14293D"/>
                </a:solidFill>
                <a:latin typeface="Roboto" pitchFamily="34" charset="0"/>
                <a:ea typeface="Roboto" pitchFamily="34" charset="-122"/>
                <a:cs typeface="Roboto" pitchFamily="34" charset="-120"/>
              </a:rPr>
              <a:t>Every vendor had its own incompatible tool format. MCP is a standard description and transport layer — build a tool once, use it with any compliant client. Closer in spirit to LSP for code editors than to anything about model architecture.</a:t>
            </a:r>
            <a:endParaRPr lang="en-US" sz="1400" dirty="0"/>
          </a:p>
        </p:txBody>
      </p:sp>
      <p:sp>
        <p:nvSpPr>
          <p:cNvPr id="8" name="Shape 6"/>
          <p:cNvSpPr/>
          <p:nvPr/>
        </p:nvSpPr>
        <p:spPr>
          <a:xfrm>
            <a:off x="5715000" y="2606040"/>
            <a:ext cx="2898648" cy="1600200"/>
          </a:xfrm>
          <a:prstGeom prst="rect">
            <a:avLst/>
          </a:prstGeom>
          <a:solidFill>
            <a:srgbClr val="FFFFFF"/>
          </a:solidFill>
          <a:ln w="15875">
            <a:solidFill>
              <a:srgbClr val="06D6A0"/>
            </a:solidFill>
            <a:prstDash val="solid"/>
          </a:ln>
        </p:spPr>
        <p:txBody>
          <a:bodyPr/>
          <a:lstStyle/>
          <a:p>
            <a:endParaRPr lang="en-US"/>
          </a:p>
        </p:txBody>
      </p:sp>
      <p:sp>
        <p:nvSpPr>
          <p:cNvPr id="9" name="Text 7"/>
          <p:cNvSpPr/>
          <p:nvPr/>
        </p:nvSpPr>
        <p:spPr>
          <a:xfrm>
            <a:off x="5943600" y="2834640"/>
            <a:ext cx="2468880" cy="548640"/>
          </a:xfrm>
          <a:prstGeom prst="rect">
            <a:avLst/>
          </a:prstGeom>
          <a:noFill/>
          <a:ln/>
        </p:spPr>
        <p:txBody>
          <a:bodyPr wrap="square" lIns="0" tIns="0" rIns="0" bIns="0" rtlCol="0" anchor="ctr"/>
          <a:lstStyle/>
          <a:p>
            <a:pPr marL="0" indent="0">
              <a:buNone/>
            </a:pPr>
            <a:r>
              <a:rPr lang="en-US" sz="1600" dirty="0">
                <a:solidFill>
                  <a:srgbClr val="0D1B2A"/>
                </a:solidFill>
                <a:latin typeface="Oswald" pitchFamily="34" charset="0"/>
                <a:ea typeface="Oswald" pitchFamily="34" charset="-122"/>
                <a:cs typeface="Oswald" pitchFamily="34" charset="-120"/>
              </a:rPr>
              <a:t>No model semantics of its own</a:t>
            </a:r>
            <a:endParaRPr lang="en-US" sz="1600" dirty="0"/>
          </a:p>
        </p:txBody>
      </p:sp>
      <p:sp>
        <p:nvSpPr>
          <p:cNvPr id="10" name="Text 8"/>
          <p:cNvSpPr/>
          <p:nvPr/>
        </p:nvSpPr>
        <p:spPr>
          <a:xfrm>
            <a:off x="5943600" y="3401568"/>
            <a:ext cx="2468880" cy="640080"/>
          </a:xfrm>
          <a:prstGeom prst="rect">
            <a:avLst/>
          </a:prstGeom>
          <a:noFill/>
          <a:ln/>
        </p:spPr>
        <p:txBody>
          <a:bodyPr wrap="square" lIns="0" tIns="0" rIns="0" bIns="0" rtlCol="0" anchor="ctr"/>
          <a:lstStyle/>
          <a:p>
            <a:pPr marL="0" indent="0">
              <a:buNone/>
            </a:pPr>
            <a:r>
              <a:rPr lang="en-US" sz="1150" dirty="0">
                <a:solidFill>
                  <a:srgbClr val="6B7B8C"/>
                </a:solidFill>
                <a:latin typeface="Roboto" pitchFamily="34" charset="0"/>
                <a:ea typeface="Roboto" pitchFamily="34" charset="-122"/>
                <a:cs typeface="Roboto" pitchFamily="34" charset="-120"/>
              </a:rPr>
              <a:t>It standardises how a capability is described — not whether or when to use it.</a:t>
            </a:r>
            <a:endParaRPr lang="en-US" sz="11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11">
    <p:bg>
      <p:bgPr>
        <a:solidFill>
          <a:srgbClr val="F4F7F8"/>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0D1B2A"/>
          </a:solidFill>
          <a:ln/>
        </p:spPr>
        <p:txBody>
          <a:bodyPr/>
          <a:lstStyle/>
          <a:p>
            <a:endParaRPr lang="en-US"/>
          </a:p>
        </p:txBody>
      </p:sp>
      <p:sp>
        <p:nvSpPr>
          <p:cNvPr id="3" name="Text 1"/>
          <p:cNvSpPr/>
          <p:nvPr/>
        </p:nvSpPr>
        <p:spPr>
          <a:xfrm>
            <a:off x="566928" y="329184"/>
            <a:ext cx="8138160" cy="256032"/>
          </a:xfrm>
          <a:prstGeom prst="rect">
            <a:avLst/>
          </a:prstGeom>
          <a:noFill/>
          <a:ln/>
        </p:spPr>
        <p:txBody>
          <a:bodyPr wrap="square" lIns="0" tIns="0" rIns="0" bIns="0" rtlCol="0" anchor="ctr"/>
          <a:lstStyle/>
          <a:p>
            <a:pPr marL="0" indent="0">
              <a:buNone/>
            </a:pPr>
            <a:r>
              <a:rPr lang="en-US" sz="1050" kern="0" spc="200" dirty="0">
                <a:solidFill>
                  <a:srgbClr val="1B9AAA"/>
                </a:solidFill>
                <a:latin typeface="JetBrains Mono" pitchFamily="34" charset="0"/>
                <a:ea typeface="JetBrains Mono" pitchFamily="34" charset="-122"/>
                <a:cs typeface="JetBrains Mono" pitchFamily="34" charset="-120"/>
              </a:rPr>
              <a:t>THE STACK</a:t>
            </a:r>
            <a:endParaRPr lang="en-US" sz="1050" dirty="0"/>
          </a:p>
        </p:txBody>
      </p:sp>
      <p:sp>
        <p:nvSpPr>
          <p:cNvPr id="4" name="Text 2"/>
          <p:cNvSpPr/>
          <p:nvPr/>
        </p:nvSpPr>
        <p:spPr>
          <a:xfrm>
            <a:off x="566928" y="603504"/>
            <a:ext cx="8138160" cy="658368"/>
          </a:xfrm>
          <a:prstGeom prst="rect">
            <a:avLst/>
          </a:prstGeom>
          <a:noFill/>
          <a:ln/>
        </p:spPr>
        <p:txBody>
          <a:bodyPr wrap="square" lIns="0" tIns="0" rIns="0" bIns="0" rtlCol="0" anchor="ctr"/>
          <a:lstStyle/>
          <a:p>
            <a:pPr marL="0" indent="0">
              <a:buNone/>
            </a:pPr>
            <a:r>
              <a:rPr lang="en-US" sz="3200" dirty="0">
                <a:solidFill>
                  <a:srgbClr val="0D1B2A"/>
                </a:solidFill>
                <a:latin typeface="Oswald" pitchFamily="34" charset="0"/>
                <a:ea typeface="Oswald" pitchFamily="34" charset="-122"/>
                <a:cs typeface="Oswald" pitchFamily="34" charset="-120"/>
              </a:rPr>
              <a:t>Four layers, one direction of travel</a:t>
            </a:r>
            <a:endParaRPr lang="en-US" sz="3200" dirty="0"/>
          </a:p>
        </p:txBody>
      </p:sp>
      <p:sp>
        <p:nvSpPr>
          <p:cNvPr id="5" name="Shape 3"/>
          <p:cNvSpPr/>
          <p:nvPr/>
        </p:nvSpPr>
        <p:spPr>
          <a:xfrm>
            <a:off x="566928" y="1463040"/>
            <a:ext cx="8046720" cy="658368"/>
          </a:xfrm>
          <a:prstGeom prst="rect">
            <a:avLst/>
          </a:prstGeom>
          <a:solidFill>
            <a:srgbClr val="0D1B2A"/>
          </a:solidFill>
          <a:ln w="9525">
            <a:solidFill>
              <a:srgbClr val="0D1B2A"/>
            </a:solidFill>
            <a:prstDash val="solid"/>
          </a:ln>
        </p:spPr>
        <p:txBody>
          <a:bodyPr/>
          <a:lstStyle/>
          <a:p>
            <a:endParaRPr lang="en-US"/>
          </a:p>
        </p:txBody>
      </p:sp>
      <p:sp>
        <p:nvSpPr>
          <p:cNvPr id="6" name="Shape 4"/>
          <p:cNvSpPr/>
          <p:nvPr/>
        </p:nvSpPr>
        <p:spPr>
          <a:xfrm>
            <a:off x="566928" y="1463040"/>
            <a:ext cx="82296" cy="658368"/>
          </a:xfrm>
          <a:prstGeom prst="rect">
            <a:avLst/>
          </a:prstGeom>
          <a:solidFill>
            <a:srgbClr val="06D6A0"/>
          </a:solidFill>
          <a:ln/>
        </p:spPr>
        <p:txBody>
          <a:bodyPr/>
          <a:lstStyle/>
          <a:p>
            <a:endParaRPr lang="en-US"/>
          </a:p>
        </p:txBody>
      </p:sp>
      <p:sp>
        <p:nvSpPr>
          <p:cNvPr id="7" name="Text 5"/>
          <p:cNvSpPr/>
          <p:nvPr/>
        </p:nvSpPr>
        <p:spPr>
          <a:xfrm>
            <a:off x="868680" y="1545336"/>
            <a:ext cx="2651760" cy="274320"/>
          </a:xfrm>
          <a:prstGeom prst="rect">
            <a:avLst/>
          </a:prstGeom>
          <a:noFill/>
          <a:ln/>
        </p:spPr>
        <p:txBody>
          <a:bodyPr wrap="square" lIns="0" tIns="0" rIns="0" bIns="0" rtlCol="0" anchor="ctr"/>
          <a:lstStyle/>
          <a:p>
            <a:pPr marL="0" indent="0">
              <a:buNone/>
            </a:pPr>
            <a:r>
              <a:rPr lang="en-US" sz="1800" dirty="0">
                <a:solidFill>
                  <a:srgbClr val="FFFFFF"/>
                </a:solidFill>
                <a:latin typeface="Oswald" pitchFamily="34" charset="0"/>
                <a:ea typeface="Oswald" pitchFamily="34" charset="-122"/>
                <a:cs typeface="Oswald" pitchFamily="34" charset="-120"/>
              </a:rPr>
              <a:t>Agentic system</a:t>
            </a:r>
            <a:endParaRPr lang="en-US" sz="1800" dirty="0"/>
          </a:p>
        </p:txBody>
      </p:sp>
      <p:sp>
        <p:nvSpPr>
          <p:cNvPr id="8" name="Text 6"/>
          <p:cNvSpPr/>
          <p:nvPr/>
        </p:nvSpPr>
        <p:spPr>
          <a:xfrm>
            <a:off x="3566160" y="1600200"/>
            <a:ext cx="3566160" cy="365760"/>
          </a:xfrm>
          <a:prstGeom prst="rect">
            <a:avLst/>
          </a:prstGeom>
          <a:noFill/>
          <a:ln/>
        </p:spPr>
        <p:txBody>
          <a:bodyPr wrap="square" lIns="0" tIns="0" rIns="0" bIns="0" rtlCol="0" anchor="ctr"/>
          <a:lstStyle/>
          <a:p>
            <a:pPr marL="0" indent="0">
              <a:buNone/>
            </a:pPr>
            <a:r>
              <a:rPr lang="en-US" sz="1250" dirty="0">
                <a:solidFill>
                  <a:srgbClr val="AFC2CE"/>
                </a:solidFill>
                <a:latin typeface="Roboto" pitchFamily="34" charset="0"/>
                <a:ea typeface="Roboto" pitchFamily="34" charset="-122"/>
                <a:cs typeface="Roboto" pitchFamily="34" charset="-120"/>
              </a:rPr>
              <a:t>planning · loop · memory · autonomy</a:t>
            </a:r>
            <a:endParaRPr lang="en-US" sz="1250" dirty="0"/>
          </a:p>
        </p:txBody>
      </p:sp>
      <p:sp>
        <p:nvSpPr>
          <p:cNvPr id="9" name="Text 7"/>
          <p:cNvSpPr/>
          <p:nvPr/>
        </p:nvSpPr>
        <p:spPr>
          <a:xfrm>
            <a:off x="7223760" y="1627632"/>
            <a:ext cx="1234440" cy="274320"/>
          </a:xfrm>
          <a:prstGeom prst="rect">
            <a:avLst/>
          </a:prstGeom>
          <a:noFill/>
          <a:ln/>
        </p:spPr>
        <p:txBody>
          <a:bodyPr wrap="square" lIns="0" tIns="0" rIns="0" bIns="0" rtlCol="0" anchor="ctr"/>
          <a:lstStyle/>
          <a:p>
            <a:pPr marL="0" indent="0" algn="r">
              <a:buNone/>
            </a:pPr>
            <a:r>
              <a:rPr lang="en-US" sz="1000" kern="0" spc="150" dirty="0">
                <a:solidFill>
                  <a:srgbClr val="06D6A0"/>
                </a:solidFill>
                <a:latin typeface="JetBrains Mono" pitchFamily="34" charset="0"/>
                <a:ea typeface="JetBrains Mono" pitchFamily="34" charset="-122"/>
                <a:cs typeface="JetBrains Mono" pitchFamily="34" charset="-120"/>
              </a:rPr>
              <a:t>CONTROL</a:t>
            </a:r>
            <a:endParaRPr lang="en-US" sz="1000" dirty="0"/>
          </a:p>
        </p:txBody>
      </p:sp>
      <p:sp>
        <p:nvSpPr>
          <p:cNvPr id="10" name="Shape 8"/>
          <p:cNvSpPr/>
          <p:nvPr/>
        </p:nvSpPr>
        <p:spPr>
          <a:xfrm>
            <a:off x="566928" y="2240280"/>
            <a:ext cx="8046720" cy="658368"/>
          </a:xfrm>
          <a:prstGeom prst="rect">
            <a:avLst/>
          </a:prstGeom>
          <a:solidFill>
            <a:srgbClr val="FFFFFF"/>
          </a:solidFill>
          <a:ln w="9525">
            <a:solidFill>
              <a:srgbClr val="DDE5E9"/>
            </a:solidFill>
            <a:prstDash val="solid"/>
          </a:ln>
        </p:spPr>
        <p:txBody>
          <a:bodyPr/>
          <a:lstStyle/>
          <a:p>
            <a:endParaRPr lang="en-US"/>
          </a:p>
        </p:txBody>
      </p:sp>
      <p:sp>
        <p:nvSpPr>
          <p:cNvPr id="11" name="Shape 9"/>
          <p:cNvSpPr/>
          <p:nvPr/>
        </p:nvSpPr>
        <p:spPr>
          <a:xfrm>
            <a:off x="566928" y="2240280"/>
            <a:ext cx="82296" cy="658368"/>
          </a:xfrm>
          <a:prstGeom prst="rect">
            <a:avLst/>
          </a:prstGeom>
          <a:solidFill>
            <a:srgbClr val="1B9AAA"/>
          </a:solidFill>
          <a:ln/>
        </p:spPr>
        <p:txBody>
          <a:bodyPr/>
          <a:lstStyle/>
          <a:p>
            <a:endParaRPr lang="en-US"/>
          </a:p>
        </p:txBody>
      </p:sp>
      <p:sp>
        <p:nvSpPr>
          <p:cNvPr id="12" name="Text 10"/>
          <p:cNvSpPr/>
          <p:nvPr/>
        </p:nvSpPr>
        <p:spPr>
          <a:xfrm>
            <a:off x="868680" y="2322576"/>
            <a:ext cx="2651760" cy="274320"/>
          </a:xfrm>
          <a:prstGeom prst="rect">
            <a:avLst/>
          </a:prstGeom>
          <a:noFill/>
          <a:ln/>
        </p:spPr>
        <p:txBody>
          <a:bodyPr wrap="square" lIns="0" tIns="0" rIns="0" bIns="0" rtlCol="0" anchor="ctr"/>
          <a:lstStyle/>
          <a:p>
            <a:pPr marL="0" indent="0">
              <a:buNone/>
            </a:pPr>
            <a:r>
              <a:rPr lang="en-US" sz="1800" dirty="0">
                <a:solidFill>
                  <a:srgbClr val="0D1B2A"/>
                </a:solidFill>
                <a:latin typeface="Oswald" pitchFamily="34" charset="0"/>
                <a:ea typeface="Oswald" pitchFamily="34" charset="-122"/>
                <a:cs typeface="Oswald" pitchFamily="34" charset="-120"/>
              </a:rPr>
              <a:t>Tool use / RAG</a:t>
            </a:r>
            <a:endParaRPr lang="en-US" sz="1800" dirty="0"/>
          </a:p>
        </p:txBody>
      </p:sp>
      <p:sp>
        <p:nvSpPr>
          <p:cNvPr id="13" name="Text 11"/>
          <p:cNvSpPr/>
          <p:nvPr/>
        </p:nvSpPr>
        <p:spPr>
          <a:xfrm>
            <a:off x="3566160" y="2377440"/>
            <a:ext cx="3566160" cy="365760"/>
          </a:xfrm>
          <a:prstGeom prst="rect">
            <a:avLst/>
          </a:prstGeom>
          <a:noFill/>
          <a:ln/>
        </p:spPr>
        <p:txBody>
          <a:bodyPr wrap="square" lIns="0" tIns="0" rIns="0" bIns="0" rtlCol="0" anchor="ctr"/>
          <a:lstStyle/>
          <a:p>
            <a:pPr marL="0" indent="0">
              <a:buNone/>
            </a:pPr>
            <a:r>
              <a:rPr lang="en-US" sz="1250" dirty="0">
                <a:solidFill>
                  <a:srgbClr val="6B7B8C"/>
                </a:solidFill>
                <a:latin typeface="Roboto" pitchFamily="34" charset="0"/>
                <a:ea typeface="Roboto" pitchFamily="34" charset="-122"/>
                <a:cs typeface="Roboto" pitchFamily="34" charset="-120"/>
              </a:rPr>
              <a:t>perception and actuation</a:t>
            </a:r>
            <a:endParaRPr lang="en-US" sz="1250" dirty="0"/>
          </a:p>
        </p:txBody>
      </p:sp>
      <p:sp>
        <p:nvSpPr>
          <p:cNvPr id="14" name="Text 12"/>
          <p:cNvSpPr/>
          <p:nvPr/>
        </p:nvSpPr>
        <p:spPr>
          <a:xfrm>
            <a:off x="7223760" y="2404872"/>
            <a:ext cx="1234440" cy="274320"/>
          </a:xfrm>
          <a:prstGeom prst="rect">
            <a:avLst/>
          </a:prstGeom>
          <a:noFill/>
          <a:ln/>
        </p:spPr>
        <p:txBody>
          <a:bodyPr wrap="square" lIns="0" tIns="0" rIns="0" bIns="0" rtlCol="0" anchor="ctr"/>
          <a:lstStyle/>
          <a:p>
            <a:pPr marL="0" indent="0" algn="r">
              <a:buNone/>
            </a:pPr>
            <a:r>
              <a:rPr lang="en-US" sz="1000" kern="0" spc="150" dirty="0">
                <a:solidFill>
                  <a:srgbClr val="1B9AAA"/>
                </a:solidFill>
                <a:latin typeface="JetBrains Mono" pitchFamily="34" charset="0"/>
                <a:ea typeface="JetBrains Mono" pitchFamily="34" charset="-122"/>
                <a:cs typeface="JetBrains Mono" pitchFamily="34" charset="-120"/>
              </a:rPr>
              <a:t>CAPABILITY</a:t>
            </a:r>
            <a:endParaRPr lang="en-US" sz="1000" dirty="0"/>
          </a:p>
        </p:txBody>
      </p:sp>
      <p:sp>
        <p:nvSpPr>
          <p:cNvPr id="15" name="Shape 13"/>
          <p:cNvSpPr/>
          <p:nvPr/>
        </p:nvSpPr>
        <p:spPr>
          <a:xfrm>
            <a:off x="566928" y="3017520"/>
            <a:ext cx="8046720" cy="658368"/>
          </a:xfrm>
          <a:prstGeom prst="rect">
            <a:avLst/>
          </a:prstGeom>
          <a:solidFill>
            <a:srgbClr val="FFFFFF"/>
          </a:solidFill>
          <a:ln w="9525">
            <a:solidFill>
              <a:srgbClr val="DDE5E9"/>
            </a:solidFill>
            <a:prstDash val="solid"/>
          </a:ln>
        </p:spPr>
        <p:txBody>
          <a:bodyPr/>
          <a:lstStyle/>
          <a:p>
            <a:endParaRPr lang="en-US"/>
          </a:p>
        </p:txBody>
      </p:sp>
      <p:sp>
        <p:nvSpPr>
          <p:cNvPr id="16" name="Shape 14"/>
          <p:cNvSpPr/>
          <p:nvPr/>
        </p:nvSpPr>
        <p:spPr>
          <a:xfrm>
            <a:off x="566928" y="3017520"/>
            <a:ext cx="82296" cy="658368"/>
          </a:xfrm>
          <a:prstGeom prst="rect">
            <a:avLst/>
          </a:prstGeom>
          <a:solidFill>
            <a:srgbClr val="4E7C8C"/>
          </a:solidFill>
          <a:ln/>
        </p:spPr>
        <p:txBody>
          <a:bodyPr/>
          <a:lstStyle/>
          <a:p>
            <a:endParaRPr lang="en-US"/>
          </a:p>
        </p:txBody>
      </p:sp>
      <p:sp>
        <p:nvSpPr>
          <p:cNvPr id="17" name="Text 15"/>
          <p:cNvSpPr/>
          <p:nvPr/>
        </p:nvSpPr>
        <p:spPr>
          <a:xfrm>
            <a:off x="868680" y="3099816"/>
            <a:ext cx="2651760" cy="274320"/>
          </a:xfrm>
          <a:prstGeom prst="rect">
            <a:avLst/>
          </a:prstGeom>
          <a:noFill/>
          <a:ln/>
        </p:spPr>
        <p:txBody>
          <a:bodyPr wrap="square" lIns="0" tIns="0" rIns="0" bIns="0" rtlCol="0" anchor="ctr"/>
          <a:lstStyle/>
          <a:p>
            <a:pPr marL="0" indent="0">
              <a:buNone/>
            </a:pPr>
            <a:r>
              <a:rPr lang="en-US" sz="1800" dirty="0">
                <a:solidFill>
                  <a:srgbClr val="0D1B2A"/>
                </a:solidFill>
                <a:latin typeface="Oswald" pitchFamily="34" charset="0"/>
                <a:ea typeface="Oswald" pitchFamily="34" charset="-122"/>
                <a:cs typeface="Oswald" pitchFamily="34" charset="-120"/>
              </a:rPr>
              <a:t>MCP</a:t>
            </a:r>
            <a:endParaRPr lang="en-US" sz="1800" dirty="0"/>
          </a:p>
        </p:txBody>
      </p:sp>
      <p:sp>
        <p:nvSpPr>
          <p:cNvPr id="18" name="Text 16"/>
          <p:cNvSpPr/>
          <p:nvPr/>
        </p:nvSpPr>
        <p:spPr>
          <a:xfrm>
            <a:off x="3566160" y="3154680"/>
            <a:ext cx="3566160" cy="365760"/>
          </a:xfrm>
          <a:prstGeom prst="rect">
            <a:avLst/>
          </a:prstGeom>
          <a:noFill/>
          <a:ln/>
        </p:spPr>
        <p:txBody>
          <a:bodyPr wrap="square" lIns="0" tIns="0" rIns="0" bIns="0" rtlCol="0" anchor="ctr"/>
          <a:lstStyle/>
          <a:p>
            <a:pPr marL="0" indent="0">
              <a:buNone/>
            </a:pPr>
            <a:r>
              <a:rPr lang="en-US" sz="1250" dirty="0">
                <a:solidFill>
                  <a:srgbClr val="6B7B8C"/>
                </a:solidFill>
                <a:latin typeface="Roboto" pitchFamily="34" charset="0"/>
                <a:ea typeface="Roboto" pitchFamily="34" charset="-122"/>
                <a:cs typeface="Roboto" pitchFamily="34" charset="-120"/>
              </a:rPr>
              <a:t>standardised interface to tools</a:t>
            </a:r>
            <a:endParaRPr lang="en-US" sz="1250" dirty="0"/>
          </a:p>
        </p:txBody>
      </p:sp>
      <p:sp>
        <p:nvSpPr>
          <p:cNvPr id="19" name="Text 17"/>
          <p:cNvSpPr/>
          <p:nvPr/>
        </p:nvSpPr>
        <p:spPr>
          <a:xfrm>
            <a:off x="7223760" y="3182112"/>
            <a:ext cx="1234440" cy="274320"/>
          </a:xfrm>
          <a:prstGeom prst="rect">
            <a:avLst/>
          </a:prstGeom>
          <a:noFill/>
          <a:ln/>
        </p:spPr>
        <p:txBody>
          <a:bodyPr wrap="square" lIns="0" tIns="0" rIns="0" bIns="0" rtlCol="0" anchor="ctr"/>
          <a:lstStyle/>
          <a:p>
            <a:pPr marL="0" indent="0" algn="r">
              <a:buNone/>
            </a:pPr>
            <a:r>
              <a:rPr lang="en-US" sz="1000" kern="0" spc="150" dirty="0">
                <a:solidFill>
                  <a:srgbClr val="4E7C8C"/>
                </a:solidFill>
                <a:latin typeface="JetBrains Mono" pitchFamily="34" charset="0"/>
                <a:ea typeface="JetBrains Mono" pitchFamily="34" charset="-122"/>
                <a:cs typeface="JetBrains Mono" pitchFamily="34" charset="-120"/>
              </a:rPr>
              <a:t>PLUMBING</a:t>
            </a:r>
            <a:endParaRPr lang="en-US" sz="1000" dirty="0"/>
          </a:p>
        </p:txBody>
      </p:sp>
      <p:sp>
        <p:nvSpPr>
          <p:cNvPr id="20" name="Shape 18"/>
          <p:cNvSpPr/>
          <p:nvPr/>
        </p:nvSpPr>
        <p:spPr>
          <a:xfrm>
            <a:off x="566928" y="3794760"/>
            <a:ext cx="8046720" cy="658368"/>
          </a:xfrm>
          <a:prstGeom prst="rect">
            <a:avLst/>
          </a:prstGeom>
          <a:solidFill>
            <a:srgbClr val="FFFFFF"/>
          </a:solidFill>
          <a:ln w="9525">
            <a:solidFill>
              <a:srgbClr val="DDE5E9"/>
            </a:solidFill>
            <a:prstDash val="solid"/>
          </a:ln>
        </p:spPr>
        <p:txBody>
          <a:bodyPr/>
          <a:lstStyle/>
          <a:p>
            <a:endParaRPr lang="en-US"/>
          </a:p>
        </p:txBody>
      </p:sp>
      <p:sp>
        <p:nvSpPr>
          <p:cNvPr id="21" name="Shape 19"/>
          <p:cNvSpPr/>
          <p:nvPr/>
        </p:nvSpPr>
        <p:spPr>
          <a:xfrm>
            <a:off x="566928" y="3794760"/>
            <a:ext cx="82296" cy="658368"/>
          </a:xfrm>
          <a:prstGeom prst="rect">
            <a:avLst/>
          </a:prstGeom>
          <a:solidFill>
            <a:srgbClr val="8FA6B2"/>
          </a:solidFill>
          <a:ln/>
        </p:spPr>
        <p:txBody>
          <a:bodyPr/>
          <a:lstStyle/>
          <a:p>
            <a:endParaRPr lang="en-US"/>
          </a:p>
        </p:txBody>
      </p:sp>
      <p:sp>
        <p:nvSpPr>
          <p:cNvPr id="22" name="Text 20"/>
          <p:cNvSpPr/>
          <p:nvPr/>
        </p:nvSpPr>
        <p:spPr>
          <a:xfrm>
            <a:off x="868680" y="3877056"/>
            <a:ext cx="2651760" cy="274320"/>
          </a:xfrm>
          <a:prstGeom prst="rect">
            <a:avLst/>
          </a:prstGeom>
          <a:noFill/>
          <a:ln/>
        </p:spPr>
        <p:txBody>
          <a:bodyPr wrap="square" lIns="0" tIns="0" rIns="0" bIns="0" rtlCol="0" anchor="ctr"/>
          <a:lstStyle/>
          <a:p>
            <a:pPr marL="0" indent="0">
              <a:buNone/>
            </a:pPr>
            <a:r>
              <a:rPr lang="en-US" sz="1800" dirty="0">
                <a:solidFill>
                  <a:srgbClr val="0D1B2A"/>
                </a:solidFill>
                <a:latin typeface="Oswald" pitchFamily="34" charset="0"/>
                <a:ea typeface="Oswald" pitchFamily="34" charset="-122"/>
                <a:cs typeface="Oswald" pitchFamily="34" charset="-120"/>
              </a:rPr>
              <a:t>Foundation model</a:t>
            </a:r>
            <a:endParaRPr lang="en-US" sz="1800" dirty="0"/>
          </a:p>
        </p:txBody>
      </p:sp>
      <p:sp>
        <p:nvSpPr>
          <p:cNvPr id="23" name="Text 21"/>
          <p:cNvSpPr/>
          <p:nvPr/>
        </p:nvSpPr>
        <p:spPr>
          <a:xfrm>
            <a:off x="3566160" y="3931920"/>
            <a:ext cx="3566160" cy="365760"/>
          </a:xfrm>
          <a:prstGeom prst="rect">
            <a:avLst/>
          </a:prstGeom>
          <a:noFill/>
          <a:ln/>
        </p:spPr>
        <p:txBody>
          <a:bodyPr wrap="square" lIns="0" tIns="0" rIns="0" bIns="0" rtlCol="0" anchor="ctr"/>
          <a:lstStyle/>
          <a:p>
            <a:pPr marL="0" indent="0">
              <a:buNone/>
            </a:pPr>
            <a:r>
              <a:rPr lang="en-US" sz="1250" dirty="0">
                <a:solidFill>
                  <a:srgbClr val="6B7B8C"/>
                </a:solidFill>
                <a:latin typeface="Roboto" pitchFamily="34" charset="0"/>
                <a:ea typeface="Roboto" pitchFamily="34" charset="-122"/>
                <a:cs typeface="Roboto" pitchFamily="34" charset="-120"/>
              </a:rPr>
              <a:t>language, reasoning, orchestration</a:t>
            </a:r>
            <a:endParaRPr lang="en-US" sz="1250" dirty="0"/>
          </a:p>
        </p:txBody>
      </p:sp>
      <p:sp>
        <p:nvSpPr>
          <p:cNvPr id="24" name="Text 22"/>
          <p:cNvSpPr/>
          <p:nvPr/>
        </p:nvSpPr>
        <p:spPr>
          <a:xfrm>
            <a:off x="7223760" y="3959352"/>
            <a:ext cx="1234440" cy="274320"/>
          </a:xfrm>
          <a:prstGeom prst="rect">
            <a:avLst/>
          </a:prstGeom>
          <a:noFill/>
          <a:ln/>
        </p:spPr>
        <p:txBody>
          <a:bodyPr wrap="square" lIns="0" tIns="0" rIns="0" bIns="0" rtlCol="0" anchor="ctr"/>
          <a:lstStyle/>
          <a:p>
            <a:pPr marL="0" indent="0" algn="r">
              <a:buNone/>
            </a:pPr>
            <a:r>
              <a:rPr lang="en-US" sz="1000" kern="0" spc="150" dirty="0">
                <a:solidFill>
                  <a:srgbClr val="8FA6B2"/>
                </a:solidFill>
                <a:latin typeface="JetBrains Mono" pitchFamily="34" charset="0"/>
                <a:ea typeface="JetBrains Mono" pitchFamily="34" charset="-122"/>
                <a:cs typeface="JetBrains Mono" pitchFamily="34" charset="-120"/>
              </a:rPr>
              <a:t>SUBSTRATE</a:t>
            </a:r>
            <a:endParaRPr lang="en-US" sz="1000" dirty="0"/>
          </a:p>
        </p:txBody>
      </p:sp>
      <p:sp>
        <p:nvSpPr>
          <p:cNvPr id="25" name="Text 23"/>
          <p:cNvSpPr/>
          <p:nvPr/>
        </p:nvSpPr>
        <p:spPr>
          <a:xfrm>
            <a:off x="566928" y="4617720"/>
            <a:ext cx="8046720" cy="274320"/>
          </a:xfrm>
          <a:prstGeom prst="rect">
            <a:avLst/>
          </a:prstGeom>
          <a:noFill/>
          <a:ln/>
        </p:spPr>
        <p:txBody>
          <a:bodyPr wrap="square" lIns="0" tIns="0" rIns="0" bIns="0" rtlCol="0" anchor="ctr"/>
          <a:lstStyle/>
          <a:p>
            <a:pPr marL="0" indent="0">
              <a:buNone/>
            </a:pPr>
            <a:r>
              <a:rPr lang="en-US" sz="1250" i="1" dirty="0">
                <a:solidFill>
                  <a:srgbClr val="14293D"/>
                </a:solidFill>
                <a:latin typeface="Roboto" pitchFamily="34" charset="0"/>
                <a:ea typeface="Roboto" pitchFamily="34" charset="-122"/>
                <a:cs typeface="Roboto" pitchFamily="34" charset="-120"/>
              </a:rPr>
              <a:t>Hands and eyes are the capability layer. Agency lives one level up.</a:t>
            </a:r>
            <a:endParaRPr lang="en-US" sz="12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92024" cy="5143500"/>
          </a:xfrm>
          <a:prstGeom prst="rect">
            <a:avLst/>
          </a:prstGeom>
          <a:solidFill>
            <a:srgbClr val="0D1B2A"/>
          </a:solidFill>
          <a:ln w="12700">
            <a:solidFill>
              <a:srgbClr val="0D1B2A"/>
            </a:solidFill>
            <a:prstDash val="solid"/>
          </a:ln>
        </p:spPr>
        <p:txBody>
          <a:bodyPr/>
          <a:lstStyle/>
          <a:p>
            <a:endParaRPr lang="en-US" sz="1350"/>
          </a:p>
        </p:txBody>
      </p:sp>
      <p:sp>
        <p:nvSpPr>
          <p:cNvPr id="3" name="Text 1"/>
          <p:cNvSpPr txBox="1"/>
          <p:nvPr/>
        </p:nvSpPr>
        <p:spPr>
          <a:xfrm>
            <a:off x="562356" y="288036"/>
            <a:ext cx="4114800" cy="205740"/>
          </a:xfrm>
          <a:prstGeom prst="rect">
            <a:avLst/>
          </a:prstGeom>
          <a:noFill/>
          <a:ln/>
        </p:spPr>
        <p:txBody>
          <a:bodyPr wrap="square" lIns="0" tIns="0" rIns="0" bIns="0" rtlCol="0" anchor="ctr"/>
          <a:lstStyle/>
          <a:p>
            <a:r>
              <a:rPr lang="en-US" sz="900" b="1" kern="0" spc="225" dirty="0">
                <a:solidFill>
                  <a:srgbClr val="0E9B86"/>
                </a:solidFill>
                <a:latin typeface="Courier New" pitchFamily="34" charset="0"/>
                <a:ea typeface="Courier New" pitchFamily="34" charset="-122"/>
                <a:cs typeface="Courier New" pitchFamily="34" charset="-120"/>
              </a:rPr>
              <a:t>MCP · ARCHITECTURE</a:t>
            </a:r>
            <a:endParaRPr lang="en-US" sz="900" dirty="0"/>
          </a:p>
        </p:txBody>
      </p:sp>
      <p:sp>
        <p:nvSpPr>
          <p:cNvPr id="4" name="Text 2"/>
          <p:cNvSpPr txBox="1"/>
          <p:nvPr/>
        </p:nvSpPr>
        <p:spPr>
          <a:xfrm>
            <a:off x="562356" y="521208"/>
            <a:ext cx="8078724" cy="514350"/>
          </a:xfrm>
          <a:prstGeom prst="rect">
            <a:avLst/>
          </a:prstGeom>
          <a:noFill/>
          <a:ln/>
        </p:spPr>
        <p:txBody>
          <a:bodyPr wrap="square" lIns="0" tIns="0" rIns="0" bIns="0" rtlCol="0" anchor="ctr"/>
          <a:lstStyle/>
          <a:p>
            <a:r>
              <a:rPr lang="en-US" sz="3000" b="1" dirty="0">
                <a:solidFill>
                  <a:srgbClr val="0D1B2A"/>
                </a:solidFill>
                <a:latin typeface="Arial" pitchFamily="34" charset="0"/>
                <a:ea typeface="Arial" pitchFamily="34" charset="-122"/>
                <a:cs typeface="Arial" pitchFamily="34" charset="-120"/>
              </a:rPr>
              <a:t>One host, many capabilities</a:t>
            </a:r>
            <a:endParaRPr lang="en-US" sz="3000" dirty="0"/>
          </a:p>
        </p:txBody>
      </p:sp>
      <p:sp>
        <p:nvSpPr>
          <p:cNvPr id="5" name="Text 3"/>
          <p:cNvSpPr txBox="1"/>
          <p:nvPr/>
        </p:nvSpPr>
        <p:spPr>
          <a:xfrm>
            <a:off x="562356" y="1110996"/>
            <a:ext cx="8078724" cy="246888"/>
          </a:xfrm>
          <a:prstGeom prst="rect">
            <a:avLst/>
          </a:prstGeom>
          <a:noFill/>
          <a:ln/>
        </p:spPr>
        <p:txBody>
          <a:bodyPr wrap="square" lIns="0" tIns="0" rIns="0" bIns="0" rtlCol="0" anchor="ctr"/>
          <a:lstStyle/>
          <a:p>
            <a:r>
              <a:rPr lang="en-US" sz="1088" dirty="0">
                <a:solidFill>
                  <a:srgbClr val="3C4A52"/>
                </a:solidFill>
                <a:latin typeface="Arial" pitchFamily="34" charset="0"/>
                <a:ea typeface="Arial" pitchFamily="34" charset="-122"/>
                <a:cs typeface="Arial" pitchFamily="34" charset="-120"/>
              </a:rPr>
              <a:t>MCP separates the application that hosts the model from the servers that expose context and actions.</a:t>
            </a:r>
            <a:endParaRPr lang="en-US" sz="1088" dirty="0"/>
          </a:p>
        </p:txBody>
      </p:sp>
      <p:sp>
        <p:nvSpPr>
          <p:cNvPr id="6" name="Shape 4"/>
          <p:cNvSpPr/>
          <p:nvPr/>
        </p:nvSpPr>
        <p:spPr>
          <a:xfrm>
            <a:off x="562356" y="1543050"/>
            <a:ext cx="2350008" cy="1748790"/>
          </a:xfrm>
          <a:prstGeom prst="rect">
            <a:avLst/>
          </a:prstGeom>
          <a:solidFill>
            <a:srgbClr val="0D1B2A"/>
          </a:solidFill>
          <a:ln w="15875">
            <a:solidFill>
              <a:srgbClr val="0D1B2A"/>
            </a:solidFill>
            <a:prstDash val="solid"/>
          </a:ln>
        </p:spPr>
        <p:txBody>
          <a:bodyPr/>
          <a:lstStyle/>
          <a:p>
            <a:endParaRPr lang="en-US" sz="1350"/>
          </a:p>
        </p:txBody>
      </p:sp>
      <p:sp>
        <p:nvSpPr>
          <p:cNvPr id="7" name="Text 5"/>
          <p:cNvSpPr txBox="1"/>
          <p:nvPr/>
        </p:nvSpPr>
        <p:spPr>
          <a:xfrm>
            <a:off x="768096" y="1721358"/>
            <a:ext cx="1938528" cy="178308"/>
          </a:xfrm>
          <a:prstGeom prst="rect">
            <a:avLst/>
          </a:prstGeom>
          <a:noFill/>
          <a:ln/>
        </p:spPr>
        <p:txBody>
          <a:bodyPr wrap="square" lIns="0" tIns="0" rIns="0" bIns="0" rtlCol="0" anchor="ctr"/>
          <a:lstStyle/>
          <a:p>
            <a:r>
              <a:rPr lang="en-US" sz="863" b="1" kern="0" spc="225" dirty="0">
                <a:solidFill>
                  <a:srgbClr val="12E29B"/>
                </a:solidFill>
                <a:latin typeface="Courier New" pitchFamily="34" charset="0"/>
                <a:ea typeface="Courier New" pitchFamily="34" charset="-122"/>
                <a:cs typeface="Courier New" pitchFamily="34" charset="-120"/>
              </a:rPr>
              <a:t>HOST</a:t>
            </a:r>
            <a:endParaRPr lang="en-US" sz="863" dirty="0"/>
          </a:p>
        </p:txBody>
      </p:sp>
      <p:sp>
        <p:nvSpPr>
          <p:cNvPr id="8" name="Text 6"/>
          <p:cNvSpPr txBox="1"/>
          <p:nvPr/>
        </p:nvSpPr>
        <p:spPr>
          <a:xfrm>
            <a:off x="768096" y="1954530"/>
            <a:ext cx="1938528" cy="534924"/>
          </a:xfrm>
          <a:prstGeom prst="rect">
            <a:avLst/>
          </a:prstGeom>
          <a:noFill/>
          <a:ln/>
        </p:spPr>
        <p:txBody>
          <a:bodyPr wrap="square" lIns="0" tIns="0" rIns="0" bIns="0" rtlCol="0" anchor="t"/>
          <a:lstStyle/>
          <a:p>
            <a:r>
              <a:rPr lang="en-US" sz="1575" b="1" dirty="0">
                <a:solidFill>
                  <a:srgbClr val="FFFFFF"/>
                </a:solidFill>
                <a:latin typeface="Arial" pitchFamily="34" charset="0"/>
                <a:ea typeface="Arial" pitchFamily="34" charset="-122"/>
                <a:cs typeface="Arial" pitchFamily="34" charset="-120"/>
              </a:rPr>
              <a:t>The AI application</a:t>
            </a:r>
            <a:endParaRPr lang="en-US" sz="1575" dirty="0"/>
          </a:p>
        </p:txBody>
      </p:sp>
      <p:sp>
        <p:nvSpPr>
          <p:cNvPr id="9" name="Text 7"/>
          <p:cNvSpPr txBox="1"/>
          <p:nvPr/>
        </p:nvSpPr>
        <p:spPr>
          <a:xfrm>
            <a:off x="768096" y="2537460"/>
            <a:ext cx="1938528" cy="651510"/>
          </a:xfrm>
          <a:prstGeom prst="rect">
            <a:avLst/>
          </a:prstGeom>
          <a:noFill/>
          <a:ln/>
        </p:spPr>
        <p:txBody>
          <a:bodyPr wrap="square" lIns="0" tIns="0" rIns="0" bIns="0" rtlCol="0" anchor="t"/>
          <a:lstStyle/>
          <a:p>
            <a:pPr>
              <a:lnSpc>
                <a:spcPct val="118000"/>
              </a:lnSpc>
            </a:pPr>
            <a:r>
              <a:rPr lang="en-US" sz="938" dirty="0">
                <a:solidFill>
                  <a:srgbClr val="D6DFE4"/>
                </a:solidFill>
                <a:latin typeface="Arial" pitchFamily="34" charset="0"/>
                <a:ea typeface="Arial" pitchFamily="34" charset="-122"/>
                <a:cs typeface="Arial" pitchFamily="34" charset="-120"/>
              </a:rPr>
              <a:t>Owns the user experience, model, permissions and orchestration. It can manage multiple MCP clients.</a:t>
            </a:r>
            <a:endParaRPr lang="en-US" sz="938" dirty="0"/>
          </a:p>
        </p:txBody>
      </p:sp>
      <p:sp>
        <p:nvSpPr>
          <p:cNvPr id="10" name="Shape 8"/>
          <p:cNvSpPr/>
          <p:nvPr/>
        </p:nvSpPr>
        <p:spPr>
          <a:xfrm>
            <a:off x="3426714" y="1543050"/>
            <a:ext cx="2350008" cy="1748790"/>
          </a:xfrm>
          <a:prstGeom prst="rect">
            <a:avLst/>
          </a:prstGeom>
          <a:solidFill>
            <a:srgbClr val="FFFFFF"/>
          </a:solidFill>
          <a:ln w="15875">
            <a:solidFill>
              <a:srgbClr val="12E29B"/>
            </a:solidFill>
            <a:prstDash val="solid"/>
          </a:ln>
        </p:spPr>
        <p:txBody>
          <a:bodyPr/>
          <a:lstStyle/>
          <a:p>
            <a:endParaRPr lang="en-US" sz="1350"/>
          </a:p>
        </p:txBody>
      </p:sp>
      <p:sp>
        <p:nvSpPr>
          <p:cNvPr id="11" name="Text 9"/>
          <p:cNvSpPr txBox="1"/>
          <p:nvPr/>
        </p:nvSpPr>
        <p:spPr>
          <a:xfrm>
            <a:off x="3632454" y="1721358"/>
            <a:ext cx="1938528" cy="178308"/>
          </a:xfrm>
          <a:prstGeom prst="rect">
            <a:avLst/>
          </a:prstGeom>
          <a:noFill/>
          <a:ln/>
        </p:spPr>
        <p:txBody>
          <a:bodyPr wrap="square" lIns="0" tIns="0" rIns="0" bIns="0" rtlCol="0" anchor="ctr"/>
          <a:lstStyle/>
          <a:p>
            <a:r>
              <a:rPr lang="en-US" sz="863" b="1" kern="0" spc="225" dirty="0">
                <a:solidFill>
                  <a:srgbClr val="0E9B86"/>
                </a:solidFill>
                <a:latin typeface="Courier New" pitchFamily="34" charset="0"/>
                <a:ea typeface="Courier New" pitchFamily="34" charset="-122"/>
                <a:cs typeface="Courier New" pitchFamily="34" charset="-120"/>
              </a:rPr>
              <a:t>CLIENT</a:t>
            </a:r>
            <a:endParaRPr lang="en-US" sz="863" dirty="0"/>
          </a:p>
        </p:txBody>
      </p:sp>
      <p:sp>
        <p:nvSpPr>
          <p:cNvPr id="12" name="Text 10"/>
          <p:cNvSpPr txBox="1"/>
          <p:nvPr/>
        </p:nvSpPr>
        <p:spPr>
          <a:xfrm>
            <a:off x="3632454" y="1954530"/>
            <a:ext cx="1938528" cy="534924"/>
          </a:xfrm>
          <a:prstGeom prst="rect">
            <a:avLst/>
          </a:prstGeom>
          <a:noFill/>
          <a:ln/>
        </p:spPr>
        <p:txBody>
          <a:bodyPr wrap="square" lIns="0" tIns="0" rIns="0" bIns="0" rtlCol="0" anchor="t"/>
          <a:lstStyle/>
          <a:p>
            <a:r>
              <a:rPr lang="en-US" sz="1575" b="1" dirty="0">
                <a:solidFill>
                  <a:srgbClr val="0D1B2A"/>
                </a:solidFill>
                <a:latin typeface="Arial" pitchFamily="34" charset="0"/>
                <a:ea typeface="Arial" pitchFamily="34" charset="-122"/>
                <a:cs typeface="Arial" pitchFamily="34" charset="-120"/>
              </a:rPr>
              <a:t>One connection per server</a:t>
            </a:r>
            <a:endParaRPr lang="en-US" sz="1575" dirty="0"/>
          </a:p>
        </p:txBody>
      </p:sp>
      <p:sp>
        <p:nvSpPr>
          <p:cNvPr id="13" name="Text 11"/>
          <p:cNvSpPr txBox="1"/>
          <p:nvPr/>
        </p:nvSpPr>
        <p:spPr>
          <a:xfrm>
            <a:off x="3632454" y="2537460"/>
            <a:ext cx="1938528" cy="651510"/>
          </a:xfrm>
          <a:prstGeom prst="rect">
            <a:avLst/>
          </a:prstGeom>
          <a:noFill/>
          <a:ln/>
        </p:spPr>
        <p:txBody>
          <a:bodyPr wrap="square" lIns="0" tIns="0" rIns="0" bIns="0" rtlCol="0" anchor="t"/>
          <a:lstStyle/>
          <a:p>
            <a:pPr>
              <a:lnSpc>
                <a:spcPct val="118000"/>
              </a:lnSpc>
            </a:pPr>
            <a:r>
              <a:rPr lang="en-US" sz="938" dirty="0">
                <a:solidFill>
                  <a:srgbClr val="3C4A52"/>
                </a:solidFill>
                <a:latin typeface="Arial" pitchFamily="34" charset="0"/>
                <a:ea typeface="Arial" pitchFamily="34" charset="-122"/>
                <a:cs typeface="Arial" pitchFamily="34" charset="-120"/>
              </a:rPr>
              <a:t>Maintains the MCP session and translates between host requests and the server protocol.</a:t>
            </a:r>
            <a:endParaRPr lang="en-US" sz="938" dirty="0"/>
          </a:p>
        </p:txBody>
      </p:sp>
      <p:sp>
        <p:nvSpPr>
          <p:cNvPr id="14" name="Shape 12"/>
          <p:cNvSpPr/>
          <p:nvPr/>
        </p:nvSpPr>
        <p:spPr>
          <a:xfrm>
            <a:off x="6291072" y="1543050"/>
            <a:ext cx="2350008" cy="1748790"/>
          </a:xfrm>
          <a:prstGeom prst="rect">
            <a:avLst/>
          </a:prstGeom>
          <a:solidFill>
            <a:srgbClr val="0D1B2A"/>
          </a:solidFill>
          <a:ln w="15875">
            <a:solidFill>
              <a:srgbClr val="0D1B2A"/>
            </a:solidFill>
            <a:prstDash val="solid"/>
          </a:ln>
        </p:spPr>
        <p:txBody>
          <a:bodyPr/>
          <a:lstStyle/>
          <a:p>
            <a:endParaRPr lang="en-US" sz="1350"/>
          </a:p>
        </p:txBody>
      </p:sp>
      <p:sp>
        <p:nvSpPr>
          <p:cNvPr id="15" name="Text 13"/>
          <p:cNvSpPr txBox="1"/>
          <p:nvPr/>
        </p:nvSpPr>
        <p:spPr>
          <a:xfrm>
            <a:off x="6496812" y="1721358"/>
            <a:ext cx="1938528" cy="178308"/>
          </a:xfrm>
          <a:prstGeom prst="rect">
            <a:avLst/>
          </a:prstGeom>
          <a:noFill/>
          <a:ln/>
        </p:spPr>
        <p:txBody>
          <a:bodyPr wrap="square" lIns="0" tIns="0" rIns="0" bIns="0" rtlCol="0" anchor="ctr"/>
          <a:lstStyle/>
          <a:p>
            <a:r>
              <a:rPr lang="en-US" sz="863" b="1" kern="0" spc="225" dirty="0">
                <a:solidFill>
                  <a:srgbClr val="12E29B"/>
                </a:solidFill>
                <a:latin typeface="Courier New" pitchFamily="34" charset="0"/>
                <a:ea typeface="Courier New" pitchFamily="34" charset="-122"/>
                <a:cs typeface="Courier New" pitchFamily="34" charset="-120"/>
              </a:rPr>
              <a:t>SERVER</a:t>
            </a:r>
            <a:endParaRPr lang="en-US" sz="863" dirty="0"/>
          </a:p>
        </p:txBody>
      </p:sp>
      <p:sp>
        <p:nvSpPr>
          <p:cNvPr id="16" name="Text 14"/>
          <p:cNvSpPr txBox="1"/>
          <p:nvPr/>
        </p:nvSpPr>
        <p:spPr>
          <a:xfrm>
            <a:off x="6496812" y="1954530"/>
            <a:ext cx="1938528" cy="534924"/>
          </a:xfrm>
          <a:prstGeom prst="rect">
            <a:avLst/>
          </a:prstGeom>
          <a:noFill/>
          <a:ln/>
        </p:spPr>
        <p:txBody>
          <a:bodyPr wrap="square" lIns="0" tIns="0" rIns="0" bIns="0" rtlCol="0" anchor="t"/>
          <a:lstStyle/>
          <a:p>
            <a:r>
              <a:rPr lang="en-US" sz="1575" b="1" dirty="0">
                <a:solidFill>
                  <a:srgbClr val="FFFFFF"/>
                </a:solidFill>
                <a:latin typeface="Arial" pitchFamily="34" charset="0"/>
                <a:ea typeface="Arial" pitchFamily="34" charset="-122"/>
                <a:cs typeface="Arial" pitchFamily="34" charset="-120"/>
              </a:rPr>
              <a:t>A focused capability</a:t>
            </a:r>
            <a:endParaRPr lang="en-US" sz="1575" dirty="0"/>
          </a:p>
        </p:txBody>
      </p:sp>
      <p:sp>
        <p:nvSpPr>
          <p:cNvPr id="17" name="Text 15"/>
          <p:cNvSpPr txBox="1"/>
          <p:nvPr/>
        </p:nvSpPr>
        <p:spPr>
          <a:xfrm>
            <a:off x="6496812" y="2537460"/>
            <a:ext cx="1938528" cy="651510"/>
          </a:xfrm>
          <a:prstGeom prst="rect">
            <a:avLst/>
          </a:prstGeom>
          <a:noFill/>
          <a:ln/>
        </p:spPr>
        <p:txBody>
          <a:bodyPr wrap="square" lIns="0" tIns="0" rIns="0" bIns="0" rtlCol="0" anchor="t"/>
          <a:lstStyle/>
          <a:p>
            <a:pPr>
              <a:lnSpc>
                <a:spcPct val="118000"/>
              </a:lnSpc>
            </a:pPr>
            <a:r>
              <a:rPr lang="en-US" sz="938" dirty="0">
                <a:solidFill>
                  <a:srgbClr val="D6DFE4"/>
                </a:solidFill>
                <a:latin typeface="Arial" pitchFamily="34" charset="0"/>
                <a:ea typeface="Arial" pitchFamily="34" charset="-122"/>
                <a:cs typeface="Arial" pitchFamily="34" charset="-120"/>
              </a:rPr>
              <a:t>Exposes tools, resources and prompts through a standard interface — close to the data or system it represents.</a:t>
            </a:r>
            <a:endParaRPr lang="en-US" sz="938" dirty="0"/>
          </a:p>
        </p:txBody>
      </p:sp>
      <p:sp>
        <p:nvSpPr>
          <p:cNvPr id="18" name="Shape 16"/>
          <p:cNvSpPr/>
          <p:nvPr/>
        </p:nvSpPr>
        <p:spPr>
          <a:xfrm>
            <a:off x="3052953" y="2125980"/>
            <a:ext cx="233172" cy="0"/>
          </a:xfrm>
          <a:prstGeom prst="line">
            <a:avLst/>
          </a:prstGeom>
          <a:noFill/>
          <a:ln w="25400">
            <a:solidFill>
              <a:srgbClr val="12E29B"/>
            </a:solidFill>
            <a:prstDash val="solid"/>
            <a:tailEnd type="triangle"/>
          </a:ln>
        </p:spPr>
        <p:txBody>
          <a:bodyPr/>
          <a:lstStyle/>
          <a:p>
            <a:endParaRPr lang="en-US" sz="1350"/>
          </a:p>
        </p:txBody>
      </p:sp>
      <p:sp>
        <p:nvSpPr>
          <p:cNvPr id="19" name="Text 17"/>
          <p:cNvSpPr txBox="1"/>
          <p:nvPr/>
        </p:nvSpPr>
        <p:spPr>
          <a:xfrm rot="16200000">
            <a:off x="2758059" y="2606040"/>
            <a:ext cx="822960" cy="178308"/>
          </a:xfrm>
          <a:prstGeom prst="rect">
            <a:avLst/>
          </a:prstGeom>
          <a:noFill/>
          <a:ln/>
        </p:spPr>
        <p:txBody>
          <a:bodyPr wrap="square" lIns="0" tIns="0" rIns="0" bIns="0" rtlCol="0" anchor="ctr"/>
          <a:lstStyle/>
          <a:p>
            <a:pPr algn="ctr"/>
            <a:r>
              <a:rPr lang="en-US" sz="713" dirty="0">
                <a:solidFill>
                  <a:srgbClr val="0E9B86"/>
                </a:solidFill>
                <a:latin typeface="Courier New" pitchFamily="34" charset="0"/>
                <a:ea typeface="Courier New" pitchFamily="34" charset="-122"/>
                <a:cs typeface="Courier New" pitchFamily="34" charset="-120"/>
              </a:rPr>
              <a:t>MCP protocol</a:t>
            </a:r>
            <a:endParaRPr lang="en-US" sz="713" dirty="0"/>
          </a:p>
        </p:txBody>
      </p:sp>
      <p:sp>
        <p:nvSpPr>
          <p:cNvPr id="20" name="Shape 18"/>
          <p:cNvSpPr/>
          <p:nvPr/>
        </p:nvSpPr>
        <p:spPr>
          <a:xfrm>
            <a:off x="5917311" y="2125980"/>
            <a:ext cx="233172" cy="0"/>
          </a:xfrm>
          <a:prstGeom prst="line">
            <a:avLst/>
          </a:prstGeom>
          <a:noFill/>
          <a:ln w="25400">
            <a:solidFill>
              <a:srgbClr val="12E29B"/>
            </a:solidFill>
            <a:prstDash val="solid"/>
            <a:tailEnd type="triangle"/>
          </a:ln>
        </p:spPr>
        <p:txBody>
          <a:bodyPr/>
          <a:lstStyle/>
          <a:p>
            <a:endParaRPr lang="en-US" sz="1350"/>
          </a:p>
        </p:txBody>
      </p:sp>
      <p:sp>
        <p:nvSpPr>
          <p:cNvPr id="21" name="Text 19"/>
          <p:cNvSpPr txBox="1"/>
          <p:nvPr/>
        </p:nvSpPr>
        <p:spPr>
          <a:xfrm rot="16200000">
            <a:off x="5622417" y="2606040"/>
            <a:ext cx="822960" cy="178308"/>
          </a:xfrm>
          <a:prstGeom prst="rect">
            <a:avLst/>
          </a:prstGeom>
          <a:noFill/>
          <a:ln/>
        </p:spPr>
        <p:txBody>
          <a:bodyPr wrap="square" lIns="0" tIns="0" rIns="0" bIns="0" rtlCol="0" anchor="ctr"/>
          <a:lstStyle/>
          <a:p>
            <a:pPr algn="ctr"/>
            <a:r>
              <a:rPr lang="en-US" sz="713" dirty="0">
                <a:solidFill>
                  <a:srgbClr val="0E9B86"/>
                </a:solidFill>
                <a:latin typeface="Courier New" pitchFamily="34" charset="0"/>
                <a:ea typeface="Courier New" pitchFamily="34" charset="-122"/>
                <a:cs typeface="Courier New" pitchFamily="34" charset="-120"/>
              </a:rPr>
              <a:t>MCP protocol</a:t>
            </a:r>
            <a:endParaRPr lang="en-US" sz="713" dirty="0"/>
          </a:p>
        </p:txBody>
      </p:sp>
      <p:sp>
        <p:nvSpPr>
          <p:cNvPr id="22" name="Text 20"/>
          <p:cNvSpPr txBox="1"/>
          <p:nvPr/>
        </p:nvSpPr>
        <p:spPr>
          <a:xfrm>
            <a:off x="562356" y="3511296"/>
            <a:ext cx="4114800" cy="192024"/>
          </a:xfrm>
          <a:prstGeom prst="rect">
            <a:avLst/>
          </a:prstGeom>
          <a:noFill/>
          <a:ln/>
        </p:spPr>
        <p:txBody>
          <a:bodyPr wrap="square" lIns="0" tIns="0" rIns="0" bIns="0" rtlCol="0" anchor="ctr"/>
          <a:lstStyle/>
          <a:p>
            <a:r>
              <a:rPr lang="en-US" sz="863" b="1" kern="0" spc="225" dirty="0">
                <a:solidFill>
                  <a:srgbClr val="0E9B86"/>
                </a:solidFill>
                <a:latin typeface="Courier New" pitchFamily="34" charset="0"/>
                <a:ea typeface="Courier New" pitchFamily="34" charset="-122"/>
                <a:cs typeface="Courier New" pitchFamily="34" charset="-120"/>
              </a:rPr>
              <a:t>SERVER PRIMITIVES</a:t>
            </a:r>
            <a:endParaRPr lang="en-US" sz="863" dirty="0"/>
          </a:p>
        </p:txBody>
      </p:sp>
      <p:sp>
        <p:nvSpPr>
          <p:cNvPr id="23" name="Shape 21"/>
          <p:cNvSpPr/>
          <p:nvPr/>
        </p:nvSpPr>
        <p:spPr>
          <a:xfrm>
            <a:off x="562356" y="3806190"/>
            <a:ext cx="2350008" cy="905256"/>
          </a:xfrm>
          <a:prstGeom prst="rect">
            <a:avLst/>
          </a:prstGeom>
          <a:solidFill>
            <a:srgbClr val="12E29B"/>
          </a:solidFill>
          <a:ln w="12700">
            <a:solidFill>
              <a:srgbClr val="12E29B"/>
            </a:solidFill>
            <a:prstDash val="solid"/>
          </a:ln>
        </p:spPr>
        <p:txBody>
          <a:bodyPr/>
          <a:lstStyle/>
          <a:p>
            <a:endParaRPr lang="en-US" sz="1350"/>
          </a:p>
        </p:txBody>
      </p:sp>
      <p:sp>
        <p:nvSpPr>
          <p:cNvPr id="24" name="Text 22"/>
          <p:cNvSpPr txBox="1"/>
          <p:nvPr/>
        </p:nvSpPr>
        <p:spPr>
          <a:xfrm>
            <a:off x="768096" y="3984498"/>
            <a:ext cx="1938528" cy="233172"/>
          </a:xfrm>
          <a:prstGeom prst="rect">
            <a:avLst/>
          </a:prstGeom>
          <a:noFill/>
          <a:ln/>
        </p:spPr>
        <p:txBody>
          <a:bodyPr wrap="square" lIns="0" tIns="0" rIns="0" bIns="0" rtlCol="0" anchor="ctr"/>
          <a:lstStyle/>
          <a:p>
            <a:r>
              <a:rPr lang="en-US" sz="1200" b="1" dirty="0">
                <a:solidFill>
                  <a:srgbClr val="0D1B2A"/>
                </a:solidFill>
                <a:latin typeface="Arial" pitchFamily="34" charset="0"/>
                <a:ea typeface="Arial" pitchFamily="34" charset="-122"/>
                <a:cs typeface="Arial" pitchFamily="34" charset="-120"/>
              </a:rPr>
              <a:t>TOOLS</a:t>
            </a:r>
            <a:endParaRPr lang="en-US" sz="1200" dirty="0"/>
          </a:p>
        </p:txBody>
      </p:sp>
      <p:sp>
        <p:nvSpPr>
          <p:cNvPr id="25" name="Text 23"/>
          <p:cNvSpPr txBox="1"/>
          <p:nvPr/>
        </p:nvSpPr>
        <p:spPr>
          <a:xfrm>
            <a:off x="768096" y="4299966"/>
            <a:ext cx="1938528" cy="205740"/>
          </a:xfrm>
          <a:prstGeom prst="rect">
            <a:avLst/>
          </a:prstGeom>
          <a:noFill/>
          <a:ln/>
        </p:spPr>
        <p:txBody>
          <a:bodyPr wrap="square" lIns="0" tIns="0" rIns="0" bIns="0" rtlCol="0" anchor="ctr"/>
          <a:lstStyle/>
          <a:p>
            <a:r>
              <a:rPr lang="en-US" sz="788" dirty="0">
                <a:solidFill>
                  <a:srgbClr val="0D1B2A"/>
                </a:solidFill>
                <a:latin typeface="Courier New" pitchFamily="34" charset="0"/>
                <a:ea typeface="Courier New" pitchFamily="34" charset="-122"/>
                <a:cs typeface="Courier New" pitchFamily="34" charset="-120"/>
              </a:rPr>
              <a:t>list_tools  ·  call_tool</a:t>
            </a:r>
            <a:endParaRPr lang="en-US" sz="788" dirty="0"/>
          </a:p>
        </p:txBody>
      </p:sp>
      <p:sp>
        <p:nvSpPr>
          <p:cNvPr id="26" name="Shape 24"/>
          <p:cNvSpPr/>
          <p:nvPr/>
        </p:nvSpPr>
        <p:spPr>
          <a:xfrm>
            <a:off x="3426714" y="3806190"/>
            <a:ext cx="2350008" cy="905256"/>
          </a:xfrm>
          <a:prstGeom prst="rect">
            <a:avLst/>
          </a:prstGeom>
          <a:solidFill>
            <a:srgbClr val="FFFFFF"/>
          </a:solidFill>
          <a:ln w="12700">
            <a:solidFill>
              <a:srgbClr val="D5DEE0"/>
            </a:solidFill>
            <a:prstDash val="solid"/>
          </a:ln>
        </p:spPr>
        <p:txBody>
          <a:bodyPr/>
          <a:lstStyle/>
          <a:p>
            <a:endParaRPr lang="en-US" sz="1350"/>
          </a:p>
        </p:txBody>
      </p:sp>
      <p:sp>
        <p:nvSpPr>
          <p:cNvPr id="27" name="Text 25"/>
          <p:cNvSpPr txBox="1"/>
          <p:nvPr/>
        </p:nvSpPr>
        <p:spPr>
          <a:xfrm>
            <a:off x="3632454" y="3984498"/>
            <a:ext cx="1938528" cy="233172"/>
          </a:xfrm>
          <a:prstGeom prst="rect">
            <a:avLst/>
          </a:prstGeom>
          <a:noFill/>
          <a:ln/>
        </p:spPr>
        <p:txBody>
          <a:bodyPr wrap="square" lIns="0" tIns="0" rIns="0" bIns="0" rtlCol="0" anchor="ctr"/>
          <a:lstStyle/>
          <a:p>
            <a:r>
              <a:rPr lang="en-US" sz="1200" b="1" dirty="0">
                <a:solidFill>
                  <a:srgbClr val="0D1B2A"/>
                </a:solidFill>
                <a:latin typeface="Arial" pitchFamily="34" charset="0"/>
                <a:ea typeface="Arial" pitchFamily="34" charset="-122"/>
                <a:cs typeface="Arial" pitchFamily="34" charset="-120"/>
              </a:rPr>
              <a:t>RESOURCES</a:t>
            </a:r>
            <a:endParaRPr lang="en-US" sz="1200" dirty="0"/>
          </a:p>
        </p:txBody>
      </p:sp>
      <p:sp>
        <p:nvSpPr>
          <p:cNvPr id="28" name="Text 26"/>
          <p:cNvSpPr txBox="1"/>
          <p:nvPr/>
        </p:nvSpPr>
        <p:spPr>
          <a:xfrm>
            <a:off x="3632454" y="4299966"/>
            <a:ext cx="1938528" cy="205740"/>
          </a:xfrm>
          <a:prstGeom prst="rect">
            <a:avLst/>
          </a:prstGeom>
          <a:noFill/>
          <a:ln/>
        </p:spPr>
        <p:txBody>
          <a:bodyPr wrap="square" lIns="0" tIns="0" rIns="0" bIns="0" rtlCol="0" anchor="ctr"/>
          <a:lstStyle/>
          <a:p>
            <a:r>
              <a:rPr lang="en-US" sz="788" dirty="0">
                <a:solidFill>
                  <a:srgbClr val="0E9B86"/>
                </a:solidFill>
                <a:latin typeface="Courier New" pitchFamily="34" charset="0"/>
                <a:ea typeface="Courier New" pitchFamily="34" charset="-122"/>
                <a:cs typeface="Courier New" pitchFamily="34" charset="-120"/>
              </a:rPr>
              <a:t>list_resources  ·  read_resource</a:t>
            </a:r>
            <a:endParaRPr lang="en-US" sz="788" dirty="0"/>
          </a:p>
        </p:txBody>
      </p:sp>
      <p:sp>
        <p:nvSpPr>
          <p:cNvPr id="29" name="Shape 27"/>
          <p:cNvSpPr/>
          <p:nvPr/>
        </p:nvSpPr>
        <p:spPr>
          <a:xfrm>
            <a:off x="6291072" y="3806190"/>
            <a:ext cx="2350008" cy="905256"/>
          </a:xfrm>
          <a:prstGeom prst="rect">
            <a:avLst/>
          </a:prstGeom>
          <a:solidFill>
            <a:srgbClr val="FFFFFF"/>
          </a:solidFill>
          <a:ln w="12700">
            <a:solidFill>
              <a:srgbClr val="D5DEE0"/>
            </a:solidFill>
            <a:prstDash val="solid"/>
          </a:ln>
        </p:spPr>
        <p:txBody>
          <a:bodyPr/>
          <a:lstStyle/>
          <a:p>
            <a:endParaRPr lang="en-US" sz="1350"/>
          </a:p>
        </p:txBody>
      </p:sp>
      <p:sp>
        <p:nvSpPr>
          <p:cNvPr id="30" name="Text 28"/>
          <p:cNvSpPr txBox="1"/>
          <p:nvPr/>
        </p:nvSpPr>
        <p:spPr>
          <a:xfrm>
            <a:off x="6496812" y="3984498"/>
            <a:ext cx="1938528" cy="233172"/>
          </a:xfrm>
          <a:prstGeom prst="rect">
            <a:avLst/>
          </a:prstGeom>
          <a:noFill/>
          <a:ln/>
        </p:spPr>
        <p:txBody>
          <a:bodyPr wrap="square" lIns="0" tIns="0" rIns="0" bIns="0" rtlCol="0" anchor="ctr"/>
          <a:lstStyle/>
          <a:p>
            <a:r>
              <a:rPr lang="en-US" sz="1200" b="1" dirty="0">
                <a:solidFill>
                  <a:srgbClr val="0D1B2A"/>
                </a:solidFill>
                <a:latin typeface="Arial" pitchFamily="34" charset="0"/>
                <a:ea typeface="Arial" pitchFamily="34" charset="-122"/>
                <a:cs typeface="Arial" pitchFamily="34" charset="-120"/>
              </a:rPr>
              <a:t>PROMPTS</a:t>
            </a:r>
            <a:endParaRPr lang="en-US" sz="1200" dirty="0"/>
          </a:p>
        </p:txBody>
      </p:sp>
      <p:sp>
        <p:nvSpPr>
          <p:cNvPr id="31" name="Text 29"/>
          <p:cNvSpPr txBox="1"/>
          <p:nvPr/>
        </p:nvSpPr>
        <p:spPr>
          <a:xfrm>
            <a:off x="6496812" y="4299966"/>
            <a:ext cx="1938528" cy="205740"/>
          </a:xfrm>
          <a:prstGeom prst="rect">
            <a:avLst/>
          </a:prstGeom>
          <a:noFill/>
          <a:ln/>
        </p:spPr>
        <p:txBody>
          <a:bodyPr wrap="square" lIns="0" tIns="0" rIns="0" bIns="0" rtlCol="0" anchor="ctr"/>
          <a:lstStyle/>
          <a:p>
            <a:r>
              <a:rPr lang="en-US" sz="788" dirty="0">
                <a:solidFill>
                  <a:srgbClr val="0E9B86"/>
                </a:solidFill>
                <a:latin typeface="Courier New" pitchFamily="34" charset="0"/>
                <a:ea typeface="Courier New" pitchFamily="34" charset="-122"/>
                <a:cs typeface="Courier New" pitchFamily="34" charset="-120"/>
              </a:rPr>
              <a:t>list_prompts  ·  get_prompt</a:t>
            </a:r>
            <a:endParaRPr lang="en-US" sz="788"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14">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1828800" y="2377440"/>
            <a:ext cx="4754880" cy="4754880"/>
          </a:xfrm>
          <a:prstGeom prst="ellipse">
            <a:avLst/>
          </a:prstGeom>
          <a:solidFill>
            <a:srgbClr val="1B9AAA">
              <a:alpha val="15000"/>
            </a:srgbClr>
          </a:solidFill>
          <a:ln w="9525">
            <a:solidFill>
              <a:srgbClr val="1B9AAA"/>
            </a:solidFill>
            <a:prstDash val="solid"/>
          </a:ln>
        </p:spPr>
        <p:txBody>
          <a:bodyPr/>
          <a:lstStyle/>
          <a:p>
            <a:endParaRPr lang="en-US"/>
          </a:p>
        </p:txBody>
      </p:sp>
      <p:sp>
        <p:nvSpPr>
          <p:cNvPr id="3" name="Text 1"/>
          <p:cNvSpPr/>
          <p:nvPr/>
        </p:nvSpPr>
        <p:spPr>
          <a:xfrm>
            <a:off x="822960" y="960120"/>
            <a:ext cx="7315200" cy="274320"/>
          </a:xfrm>
          <a:prstGeom prst="rect">
            <a:avLst/>
          </a:prstGeom>
          <a:noFill/>
          <a:ln/>
        </p:spPr>
        <p:txBody>
          <a:bodyPr wrap="square" lIns="0" tIns="0" rIns="0" bIns="0" rtlCol="0" anchor="ctr"/>
          <a:lstStyle/>
          <a:p>
            <a:pPr marL="0" indent="0">
              <a:buNone/>
            </a:pPr>
            <a:r>
              <a:rPr lang="en-US" sz="1100" kern="0" spc="250" dirty="0">
                <a:solidFill>
                  <a:srgbClr val="06D6A0"/>
                </a:solidFill>
                <a:latin typeface="JetBrains Mono" pitchFamily="34" charset="0"/>
                <a:ea typeface="JetBrains Mono" pitchFamily="34" charset="-122"/>
                <a:cs typeface="JetBrains Mono" pitchFamily="34" charset="-120"/>
              </a:rPr>
              <a:t>THE PART THAT IS ACTUALLY HARD</a:t>
            </a:r>
            <a:endParaRPr lang="en-US" sz="1100" dirty="0"/>
          </a:p>
        </p:txBody>
      </p:sp>
      <p:sp>
        <p:nvSpPr>
          <p:cNvPr id="4" name="Text 2"/>
          <p:cNvSpPr/>
          <p:nvPr/>
        </p:nvSpPr>
        <p:spPr>
          <a:xfrm>
            <a:off x="822960" y="1371600"/>
            <a:ext cx="7498080" cy="1234440"/>
          </a:xfrm>
          <a:prstGeom prst="rect">
            <a:avLst/>
          </a:prstGeom>
          <a:noFill/>
          <a:ln/>
        </p:spPr>
        <p:txBody>
          <a:bodyPr wrap="square" lIns="0" tIns="0" rIns="0" bIns="0" rtlCol="0" anchor="ctr"/>
          <a:lstStyle/>
          <a:p>
            <a:pPr marL="0" indent="0">
              <a:buNone/>
            </a:pPr>
            <a:r>
              <a:rPr lang="en-US" sz="3800" dirty="0">
                <a:solidFill>
                  <a:srgbClr val="FFFFFF"/>
                </a:solidFill>
                <a:latin typeface="Oswald" pitchFamily="34" charset="0"/>
                <a:ea typeface="Oswald" pitchFamily="34" charset="-122"/>
                <a:cs typeface="Oswald" pitchFamily="34" charset="-120"/>
              </a:rPr>
              <a:t>Wiring a tool is easy.</a:t>
            </a:r>
            <a:endParaRPr lang="en-US" sz="3800" dirty="0"/>
          </a:p>
          <a:p>
            <a:pPr marL="0" indent="0">
              <a:buNone/>
            </a:pPr>
            <a:r>
              <a:rPr lang="en-US" sz="3800" dirty="0">
                <a:solidFill>
                  <a:srgbClr val="FFFFFF"/>
                </a:solidFill>
                <a:latin typeface="Oswald" pitchFamily="34" charset="0"/>
                <a:ea typeface="Oswald" pitchFamily="34" charset="-122"/>
                <a:cs typeface="Oswald" pitchFamily="34" charset="-120"/>
              </a:rPr>
              <a:t>Constraining a loop is not.</a:t>
            </a:r>
            <a:endParaRPr lang="en-US" sz="3800" dirty="0"/>
          </a:p>
        </p:txBody>
      </p:sp>
      <p:sp>
        <p:nvSpPr>
          <p:cNvPr id="5" name="Text 3"/>
          <p:cNvSpPr/>
          <p:nvPr/>
        </p:nvSpPr>
        <p:spPr>
          <a:xfrm>
            <a:off x="841248" y="2788920"/>
            <a:ext cx="6949440" cy="1005840"/>
          </a:xfrm>
          <a:prstGeom prst="rect">
            <a:avLst/>
          </a:prstGeom>
          <a:noFill/>
          <a:ln/>
        </p:spPr>
        <p:txBody>
          <a:bodyPr wrap="square" lIns="0" tIns="0" rIns="0" bIns="0" rtlCol="0" anchor="ctr"/>
          <a:lstStyle/>
          <a:p>
            <a:pPr marL="0" indent="0">
              <a:buNone/>
            </a:pPr>
            <a:r>
              <a:rPr lang="en-US" sz="1500" dirty="0">
                <a:solidFill>
                  <a:srgbClr val="AFC2CE"/>
                </a:solidFill>
                <a:latin typeface="Roboto" pitchFamily="34" charset="0"/>
                <a:ea typeface="Roboto" pitchFamily="34" charset="-122"/>
                <a:cs typeface="Roboto" pitchFamily="34" charset="-120"/>
              </a:rPr>
              <a:t>Reliable termination · graceful handling of failed calls · no irreversible action without approval · a trail that can be audited. Difficulty scales with the control layer, not the capability layer — and in a regulated environment, so does the governance work.</a:t>
            </a:r>
            <a:endParaRPr lang="en-US" sz="1500" dirty="0"/>
          </a:p>
        </p:txBody>
      </p:sp>
      <p:sp>
        <p:nvSpPr>
          <p:cNvPr id="6" name="Shape 4"/>
          <p:cNvSpPr/>
          <p:nvPr/>
        </p:nvSpPr>
        <p:spPr>
          <a:xfrm>
            <a:off x="841248" y="3977640"/>
            <a:ext cx="822960" cy="41148"/>
          </a:xfrm>
          <a:prstGeom prst="rect">
            <a:avLst/>
          </a:prstGeom>
          <a:solidFill>
            <a:srgbClr val="06D6A0"/>
          </a:solidFill>
          <a:ln/>
        </p:spPr>
        <p:txBody>
          <a:bodyPr/>
          <a:lstStyle/>
          <a:p>
            <a:endParaRPr lang="en-US"/>
          </a:p>
        </p:txBody>
      </p:sp>
      <p:sp>
        <p:nvSpPr>
          <p:cNvPr id="7" name="Text 5"/>
          <p:cNvSpPr/>
          <p:nvPr/>
        </p:nvSpPr>
        <p:spPr>
          <a:xfrm>
            <a:off x="841248" y="4224528"/>
            <a:ext cx="7315200" cy="274320"/>
          </a:xfrm>
          <a:prstGeom prst="rect">
            <a:avLst/>
          </a:prstGeom>
          <a:noFill/>
          <a:ln/>
        </p:spPr>
        <p:txBody>
          <a:bodyPr wrap="square" lIns="0" tIns="0" rIns="0" bIns="0" rtlCol="0" anchor="ctr"/>
          <a:lstStyle/>
          <a:p>
            <a:pPr marL="0" indent="0">
              <a:buNone/>
            </a:pPr>
            <a:r>
              <a:rPr lang="en-US" sz="950" dirty="0">
                <a:solidFill>
                  <a:srgbClr val="6B7B8C"/>
                </a:solidFill>
                <a:latin typeface="JetBrains Mono" pitchFamily="34" charset="0"/>
                <a:ea typeface="JetBrains Mono" pitchFamily="34" charset="-122"/>
                <a:cs typeface="JetBrains Mono" pitchFamily="34" charset="-120"/>
              </a:rPr>
              <a:t>Knowledge cutoff applies — verify current MCP and framework specifics before relying on them.</a:t>
            </a:r>
            <a:endParaRPr lang="en-US" sz="9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0D1B2A"/>
          </a:solidFill>
          <a:ln/>
        </p:spPr>
        <p:txBody>
          <a:bodyPr/>
          <a:lstStyle/>
          <a:p>
            <a:endParaRPr lang="en-US"/>
          </a:p>
        </p:txBody>
      </p:sp>
      <p:sp>
        <p:nvSpPr>
          <p:cNvPr id="3" name="Text 1"/>
          <p:cNvSpPr/>
          <p:nvPr/>
        </p:nvSpPr>
        <p:spPr>
          <a:xfrm>
            <a:off x="566928" y="329184"/>
            <a:ext cx="8138160" cy="256032"/>
          </a:xfrm>
          <a:prstGeom prst="rect">
            <a:avLst/>
          </a:prstGeom>
          <a:noFill/>
          <a:ln/>
        </p:spPr>
        <p:txBody>
          <a:bodyPr wrap="square" lIns="0" tIns="0" rIns="0" bIns="0" rtlCol="0" anchor="ctr"/>
          <a:lstStyle/>
          <a:p>
            <a:pPr marL="0" indent="0">
              <a:buNone/>
            </a:pPr>
            <a:r>
              <a:rPr lang="en-US" sz="1050" kern="0" spc="200" dirty="0">
                <a:solidFill>
                  <a:srgbClr val="1B9AAA"/>
                </a:solidFill>
                <a:latin typeface="JetBrains Mono" pitchFamily="34" charset="0"/>
                <a:ea typeface="JetBrains Mono" pitchFamily="34" charset="-122"/>
                <a:cs typeface="JetBrains Mono" pitchFamily="34" charset="-120"/>
              </a:rPr>
              <a:t>SOURCES</a:t>
            </a:r>
            <a:endParaRPr lang="en-US" sz="1050" dirty="0"/>
          </a:p>
        </p:txBody>
      </p:sp>
      <p:sp>
        <p:nvSpPr>
          <p:cNvPr id="4" name="Text 2"/>
          <p:cNvSpPr/>
          <p:nvPr/>
        </p:nvSpPr>
        <p:spPr>
          <a:xfrm>
            <a:off x="566928" y="603504"/>
            <a:ext cx="8138160" cy="658368"/>
          </a:xfrm>
          <a:prstGeom prst="rect">
            <a:avLst/>
          </a:prstGeom>
          <a:noFill/>
          <a:ln/>
        </p:spPr>
        <p:txBody>
          <a:bodyPr wrap="square" lIns="0" tIns="0" rIns="0" bIns="0" rtlCol="0" anchor="ctr"/>
          <a:lstStyle/>
          <a:p>
            <a:pPr marL="0" indent="0">
              <a:buNone/>
            </a:pPr>
            <a:r>
              <a:rPr lang="en-US" sz="3200" dirty="0">
                <a:solidFill>
                  <a:srgbClr val="0D1B2A"/>
                </a:solidFill>
                <a:latin typeface="Oswald" pitchFamily="34" charset="0"/>
                <a:ea typeface="Oswald" pitchFamily="34" charset="-122"/>
                <a:cs typeface="Oswald" pitchFamily="34" charset="-120"/>
              </a:rPr>
              <a:t>Continue the conversation</a:t>
            </a:r>
            <a:endParaRPr lang="en-US" sz="3200" dirty="0"/>
          </a:p>
        </p:txBody>
      </p:sp>
      <p:sp>
        <p:nvSpPr>
          <p:cNvPr id="6" name="Shape 4"/>
          <p:cNvSpPr/>
          <p:nvPr/>
        </p:nvSpPr>
        <p:spPr>
          <a:xfrm>
            <a:off x="566928" y="1719072"/>
            <a:ext cx="8046720" cy="749808"/>
          </a:xfrm>
          <a:prstGeom prst="rect">
            <a:avLst/>
          </a:prstGeom>
          <a:noFill/>
          <a:ln w="9525">
            <a:solidFill>
              <a:srgbClr val="0D1B2A"/>
            </a:solidFill>
            <a:prstDash val="solid"/>
          </a:ln>
        </p:spPr>
        <p:txBody>
          <a:bodyPr/>
          <a:lstStyle/>
          <a:p>
            <a:endParaRPr lang="en-US"/>
          </a:p>
        </p:txBody>
      </p:sp>
      <p:sp>
        <p:nvSpPr>
          <p:cNvPr id="7" name="Shape 5"/>
          <p:cNvSpPr/>
          <p:nvPr/>
        </p:nvSpPr>
        <p:spPr>
          <a:xfrm>
            <a:off x="566928" y="1719072"/>
            <a:ext cx="82296" cy="749808"/>
          </a:xfrm>
          <a:prstGeom prst="rect">
            <a:avLst/>
          </a:prstGeom>
          <a:solidFill>
            <a:srgbClr val="1B9AAA"/>
          </a:solidFill>
          <a:ln/>
        </p:spPr>
        <p:txBody>
          <a:bodyPr/>
          <a:lstStyle/>
          <a:p>
            <a:endParaRPr lang="en-US"/>
          </a:p>
        </p:txBody>
      </p:sp>
      <p:sp>
        <p:nvSpPr>
          <p:cNvPr id="8" name="Text 6">
            <a:hlinkClick r:id="rId3"/>
          </p:cNvPr>
          <p:cNvSpPr/>
          <p:nvPr/>
        </p:nvSpPr>
        <p:spPr>
          <a:xfrm>
            <a:off x="896112" y="1828800"/>
            <a:ext cx="3657600" cy="228600"/>
          </a:xfrm>
          <a:prstGeom prst="rect">
            <a:avLst/>
          </a:prstGeom>
          <a:noFill/>
          <a:ln/>
        </p:spPr>
        <p:txBody>
          <a:bodyPr wrap="square" lIns="0" tIns="0" rIns="0" bIns="0" rtlCol="0" anchor="ctr"/>
          <a:lstStyle/>
          <a:p>
            <a:pPr marL="0" indent="0">
              <a:buNone/>
            </a:pPr>
            <a:r>
              <a:rPr lang="en-US" sz="1800" u="sng" dirty="0">
                <a:latin typeface="Oswald" pitchFamily="34" charset="0"/>
                <a:ea typeface="Oswald" pitchFamily="34" charset="-122"/>
                <a:cs typeface="Oswald" pitchFamily="34" charset="-120"/>
                <a:hlinkClick r:id="rId3">
                  <a:extLst>
                    <a:ext uri="{A12FA001-AC4F-418D-AE19-62706E023703}">
                      <ahyp:hlinkClr xmlns:ahyp="http://schemas.microsoft.com/office/drawing/2018/hyperlinkcolor" val="tx"/>
                    </a:ext>
                  </a:extLst>
                </a:hlinkClick>
              </a:rPr>
              <a:t>AI Glossary for LE Teams · Q4 2024</a:t>
            </a:r>
            <a:endParaRPr lang="en-US" sz="1800" dirty="0"/>
          </a:p>
        </p:txBody>
      </p:sp>
      <p:sp>
        <p:nvSpPr>
          <p:cNvPr id="9" name="Text 7"/>
          <p:cNvSpPr/>
          <p:nvPr/>
        </p:nvSpPr>
        <p:spPr>
          <a:xfrm>
            <a:off x="896112" y="2148840"/>
            <a:ext cx="4114800" cy="201168"/>
          </a:xfrm>
          <a:prstGeom prst="rect">
            <a:avLst/>
          </a:prstGeom>
          <a:noFill/>
          <a:ln/>
        </p:spPr>
        <p:txBody>
          <a:bodyPr wrap="square" lIns="0" tIns="0" rIns="0" bIns="0" rtlCol="0" anchor="ctr"/>
          <a:lstStyle/>
          <a:p>
            <a:pPr marL="0" indent="0">
              <a:buNone/>
            </a:pPr>
            <a:r>
              <a:rPr lang="en-US" sz="1150" dirty="0">
                <a:solidFill>
                  <a:srgbClr val="6B7B8C"/>
                </a:solidFill>
                <a:latin typeface="Roboto" pitchFamily="34" charset="0"/>
                <a:ea typeface="Roboto" pitchFamily="34" charset="-122"/>
                <a:cs typeface="Roboto" pitchFamily="34" charset="-120"/>
              </a:rPr>
              <a:t>Legal &amp; Compliance knowledge base · terminology and definitions</a:t>
            </a:r>
          </a:p>
        </p:txBody>
      </p:sp>
      <p:sp>
        <p:nvSpPr>
          <p:cNvPr id="10" name="Text 8">
            <a:hlinkClick r:id="rId3"/>
          </p:cNvPr>
          <p:cNvSpPr/>
          <p:nvPr/>
        </p:nvSpPr>
        <p:spPr>
          <a:xfrm>
            <a:off x="4937760" y="1865376"/>
            <a:ext cx="3291840" cy="384048"/>
          </a:xfrm>
          <a:prstGeom prst="rect">
            <a:avLst/>
          </a:prstGeom>
          <a:noFill/>
          <a:ln/>
        </p:spPr>
        <p:txBody>
          <a:bodyPr wrap="square" lIns="0" tIns="0" rIns="0" bIns="0" rtlCol="0" anchor="ctr">
            <a:normAutofit/>
          </a:bodyPr>
          <a:lstStyle/>
          <a:p>
            <a:r>
              <a:rPr lang="en-US" sz="740" u="sng" dirty="0">
                <a:solidFill>
                  <a:srgbClr val="1B9AAA"/>
                </a:solidFill>
                <a:latin typeface="JetBrains Mono" pitchFamily="34" charset="0"/>
                <a:ea typeface="JetBrains Mono" pitchFamily="34" charset="-122"/>
                <a:hlinkClick r:id="rId3">
                  <a:extLst>
                    <a:ext uri="{A12FA001-AC4F-418D-AE19-62706E023703}">
                      <ahyp:hlinkClr xmlns:ahyp="http://schemas.microsoft.com/office/drawing/2018/hyperlinkcolor" val="tx"/>
                    </a:ext>
                  </a:extLst>
                </a:hlinkClick>
              </a:rPr>
              <a:t>https://evarooms.merckgroup.com/Organization/Legal-Compliance/PublishingImages/le-knowledge-base/le-expert-groups/digital-data-economy/AI%20Glossary%20for%20LE%20Teams%20Q4%2024.pdf</a:t>
            </a:r>
            <a:endParaRPr lang="en-US" sz="740" u="sng" dirty="0">
              <a:solidFill>
                <a:srgbClr val="1B9AAA"/>
              </a:solidFill>
              <a:latin typeface="JetBrains Mono" pitchFamily="34" charset="0"/>
              <a:ea typeface="JetBrains Mono" pitchFamily="34" charset="-122"/>
            </a:endParaRPr>
          </a:p>
        </p:txBody>
      </p:sp>
      <p:sp>
        <p:nvSpPr>
          <p:cNvPr id="11" name="Shape 9"/>
          <p:cNvSpPr/>
          <p:nvPr/>
        </p:nvSpPr>
        <p:spPr>
          <a:xfrm>
            <a:off x="566928" y="2615184"/>
            <a:ext cx="8046720" cy="749808"/>
          </a:xfrm>
          <a:prstGeom prst="rect">
            <a:avLst/>
          </a:prstGeom>
          <a:solidFill>
            <a:srgbClr val="FFFFFF"/>
          </a:solidFill>
          <a:ln w="9525">
            <a:solidFill>
              <a:srgbClr val="DDE5E9"/>
            </a:solidFill>
            <a:prstDash val="solid"/>
          </a:ln>
        </p:spPr>
        <p:txBody>
          <a:bodyPr/>
          <a:lstStyle/>
          <a:p>
            <a:endParaRPr lang="en-US"/>
          </a:p>
        </p:txBody>
      </p:sp>
      <p:sp>
        <p:nvSpPr>
          <p:cNvPr id="12" name="Shape 10"/>
          <p:cNvSpPr/>
          <p:nvPr/>
        </p:nvSpPr>
        <p:spPr>
          <a:xfrm>
            <a:off x="566928" y="2615184"/>
            <a:ext cx="82296" cy="749808"/>
          </a:xfrm>
          <a:prstGeom prst="rect">
            <a:avLst/>
          </a:prstGeom>
          <a:solidFill>
            <a:srgbClr val="1B9AAA"/>
          </a:solidFill>
          <a:ln/>
        </p:spPr>
        <p:txBody>
          <a:bodyPr/>
          <a:lstStyle/>
          <a:p>
            <a:endParaRPr lang="en-US"/>
          </a:p>
        </p:txBody>
      </p:sp>
      <p:sp>
        <p:nvSpPr>
          <p:cNvPr id="13" name="Text 11">
            <a:hlinkClick r:id="rId4"/>
          </p:cNvPr>
          <p:cNvSpPr/>
          <p:nvPr/>
        </p:nvSpPr>
        <p:spPr>
          <a:xfrm>
            <a:off x="896112" y="2724912"/>
            <a:ext cx="3657600" cy="228600"/>
          </a:xfrm>
          <a:prstGeom prst="rect">
            <a:avLst/>
          </a:prstGeom>
          <a:noFill/>
          <a:ln/>
        </p:spPr>
        <p:txBody>
          <a:bodyPr wrap="square" lIns="0" tIns="0" rIns="0" bIns="0" rtlCol="0" anchor="ctr"/>
          <a:lstStyle/>
          <a:p>
            <a:pPr marL="0" indent="0">
              <a:buNone/>
            </a:pPr>
            <a:r>
              <a:rPr lang="en-US" sz="1800" u="sng" dirty="0">
                <a:solidFill>
                  <a:srgbClr val="0D1B2A"/>
                </a:solidFill>
                <a:latin typeface="Oswald" pitchFamily="34" charset="0"/>
                <a:ea typeface="Oswald" pitchFamily="34" charset="-122"/>
                <a:cs typeface="Oswald" pitchFamily="34" charset="-120"/>
                <a:hlinkClick r:id="rId4">
                  <a:extLst>
                    <a:ext uri="{A12FA001-AC4F-418D-AE19-62706E023703}">
                      <ahyp:hlinkClr xmlns:ahyp="http://schemas.microsoft.com/office/drawing/2018/hyperlinkcolor" val="tx"/>
                    </a:ext>
                  </a:extLst>
                </a:hlinkClick>
              </a:rPr>
              <a:t>AI Microlesson Series</a:t>
            </a:r>
            <a:endParaRPr lang="en-US" sz="1800" dirty="0"/>
          </a:p>
        </p:txBody>
      </p:sp>
      <p:sp>
        <p:nvSpPr>
          <p:cNvPr id="14" name="Text 12"/>
          <p:cNvSpPr/>
          <p:nvPr/>
        </p:nvSpPr>
        <p:spPr>
          <a:xfrm>
            <a:off x="896112" y="3044952"/>
            <a:ext cx="4114800" cy="201168"/>
          </a:xfrm>
          <a:prstGeom prst="rect">
            <a:avLst/>
          </a:prstGeom>
          <a:noFill/>
          <a:ln/>
        </p:spPr>
        <p:txBody>
          <a:bodyPr wrap="square" lIns="0" tIns="0" rIns="0" bIns="0" rtlCol="0" anchor="ctr"/>
          <a:lstStyle/>
          <a:p>
            <a:pPr marL="0" indent="0">
              <a:buNone/>
            </a:pPr>
            <a:r>
              <a:rPr lang="en-US" sz="1150" dirty="0">
                <a:solidFill>
                  <a:srgbClr val="6B7B8C"/>
                </a:solidFill>
                <a:latin typeface="Roboto" pitchFamily="34" charset="0"/>
                <a:ea typeface="Roboto" pitchFamily="34" charset="-122"/>
                <a:cs typeface="Roboto" pitchFamily="34" charset="-120"/>
              </a:rPr>
              <a:t>MGF Data · learning and development · practical AI concepts</a:t>
            </a:r>
            <a:endParaRPr lang="en-US" sz="1150" dirty="0"/>
          </a:p>
        </p:txBody>
      </p:sp>
      <p:sp>
        <p:nvSpPr>
          <p:cNvPr id="15" name="Text 13">
            <a:hlinkClick r:id="rId4"/>
          </p:cNvPr>
          <p:cNvSpPr/>
          <p:nvPr/>
        </p:nvSpPr>
        <p:spPr>
          <a:xfrm>
            <a:off x="4937760" y="2761488"/>
            <a:ext cx="3291840" cy="384048"/>
          </a:xfrm>
          <a:prstGeom prst="rect">
            <a:avLst/>
          </a:prstGeom>
          <a:noFill/>
          <a:ln/>
        </p:spPr>
        <p:txBody>
          <a:bodyPr wrap="square" lIns="0" tIns="0" rIns="0" bIns="0" rtlCol="0" anchor="ctr">
            <a:normAutofit/>
          </a:bodyPr>
          <a:lstStyle/>
          <a:p>
            <a:pPr marL="0" indent="0">
              <a:buNone/>
            </a:pPr>
            <a:r>
              <a:rPr lang="en-US" sz="740" u="sng" dirty="0">
                <a:solidFill>
                  <a:srgbClr val="1B9AAA"/>
                </a:solidFill>
                <a:latin typeface="JetBrains Mono" pitchFamily="34" charset="0"/>
                <a:ea typeface="JetBrains Mono" pitchFamily="34" charset="-122"/>
                <a:cs typeface="JetBrains Mono" pitchFamily="34" charset="-120"/>
                <a:hlinkClick r:id="rId4">
                  <a:extLst>
                    <a:ext uri="{A12FA001-AC4F-418D-AE19-62706E023703}">
                      <ahyp:hlinkClr xmlns:ahyp="http://schemas.microsoft.com/office/drawing/2018/hyperlinkcolor" val="tx"/>
                    </a:ext>
                  </a:extLst>
                </a:hlinkClick>
              </a:rPr>
              <a:t>https://evarooms.merckgroup.com/Topic/MGF-Data/learning-development/ai-microlesson-series</a:t>
            </a:r>
            <a:endParaRPr lang="en-US" sz="740" dirty="0"/>
          </a:p>
        </p:txBody>
      </p:sp>
      <p:sp>
        <p:nvSpPr>
          <p:cNvPr id="16" name="Shape 14"/>
          <p:cNvSpPr/>
          <p:nvPr/>
        </p:nvSpPr>
        <p:spPr>
          <a:xfrm>
            <a:off x="566928" y="3511296"/>
            <a:ext cx="8046720" cy="749808"/>
          </a:xfrm>
          <a:prstGeom prst="rect">
            <a:avLst/>
          </a:prstGeom>
          <a:solidFill>
            <a:srgbClr val="FFFFFF"/>
          </a:solidFill>
          <a:ln w="9525">
            <a:solidFill>
              <a:srgbClr val="DDE5E9"/>
            </a:solidFill>
            <a:prstDash val="solid"/>
          </a:ln>
        </p:spPr>
        <p:txBody>
          <a:bodyPr/>
          <a:lstStyle/>
          <a:p>
            <a:endParaRPr lang="en-US"/>
          </a:p>
        </p:txBody>
      </p:sp>
      <p:sp>
        <p:nvSpPr>
          <p:cNvPr id="17" name="Shape 15"/>
          <p:cNvSpPr/>
          <p:nvPr/>
        </p:nvSpPr>
        <p:spPr>
          <a:xfrm>
            <a:off x="566928" y="3511296"/>
            <a:ext cx="82296" cy="749808"/>
          </a:xfrm>
          <a:prstGeom prst="rect">
            <a:avLst/>
          </a:prstGeom>
          <a:solidFill>
            <a:srgbClr val="1B9AAA"/>
          </a:solidFill>
          <a:ln/>
        </p:spPr>
        <p:txBody>
          <a:bodyPr/>
          <a:lstStyle/>
          <a:p>
            <a:endParaRPr lang="en-US"/>
          </a:p>
        </p:txBody>
      </p:sp>
      <p:sp>
        <p:nvSpPr>
          <p:cNvPr id="18" name="Text 16">
            <a:hlinkClick r:id="rId5"/>
          </p:cNvPr>
          <p:cNvSpPr/>
          <p:nvPr/>
        </p:nvSpPr>
        <p:spPr>
          <a:xfrm>
            <a:off x="896112" y="3621024"/>
            <a:ext cx="3657600" cy="228600"/>
          </a:xfrm>
          <a:prstGeom prst="rect">
            <a:avLst/>
          </a:prstGeom>
          <a:noFill/>
          <a:ln/>
        </p:spPr>
        <p:txBody>
          <a:bodyPr wrap="square" lIns="0" tIns="0" rIns="0" bIns="0" rtlCol="0" anchor="ctr"/>
          <a:lstStyle/>
          <a:p>
            <a:pPr marL="0" indent="0">
              <a:buNone/>
            </a:pPr>
            <a:r>
              <a:rPr lang="en-US" sz="1800" u="sng" dirty="0">
                <a:solidFill>
                  <a:srgbClr val="0D1B2A"/>
                </a:solidFill>
                <a:latin typeface="Oswald" pitchFamily="34" charset="0"/>
                <a:ea typeface="Oswald" pitchFamily="34" charset="-122"/>
                <a:cs typeface="Oswald" pitchFamily="34" charset="-120"/>
              </a:rPr>
              <a:t>Merck Data and AI –Learning Hub</a:t>
            </a:r>
            <a:endParaRPr lang="en-US" sz="1800" dirty="0"/>
          </a:p>
        </p:txBody>
      </p:sp>
      <p:sp>
        <p:nvSpPr>
          <p:cNvPr id="19" name="Text 17"/>
          <p:cNvSpPr/>
          <p:nvPr/>
        </p:nvSpPr>
        <p:spPr>
          <a:xfrm>
            <a:off x="896112" y="3941064"/>
            <a:ext cx="4114800" cy="201168"/>
          </a:xfrm>
          <a:prstGeom prst="rect">
            <a:avLst/>
          </a:prstGeom>
          <a:noFill/>
          <a:ln/>
        </p:spPr>
        <p:txBody>
          <a:bodyPr wrap="square" lIns="0" tIns="0" rIns="0" bIns="0" rtlCol="0" anchor="ctr"/>
          <a:lstStyle/>
          <a:p>
            <a:pPr marL="0" indent="0">
              <a:buNone/>
            </a:pPr>
            <a:r>
              <a:rPr lang="en-US" sz="1150" dirty="0">
                <a:solidFill>
                  <a:srgbClr val="6B7B8C"/>
                </a:solidFill>
                <a:latin typeface="Roboto" pitchFamily="34" charset="0"/>
                <a:ea typeface="Roboto" pitchFamily="34" charset="-122"/>
                <a:cs typeface="Roboto" pitchFamily="34" charset="-120"/>
              </a:rPr>
              <a:t>Merck Data · learning resource</a:t>
            </a:r>
            <a:endParaRPr lang="en-US" sz="1150" dirty="0"/>
          </a:p>
        </p:txBody>
      </p:sp>
      <p:sp>
        <p:nvSpPr>
          <p:cNvPr id="20" name="Text 18">
            <a:hlinkClick r:id="rId5"/>
          </p:cNvPr>
          <p:cNvSpPr/>
          <p:nvPr/>
        </p:nvSpPr>
        <p:spPr>
          <a:xfrm>
            <a:off x="4937760" y="3657600"/>
            <a:ext cx="3291840" cy="384048"/>
          </a:xfrm>
          <a:prstGeom prst="rect">
            <a:avLst/>
          </a:prstGeom>
          <a:noFill/>
          <a:ln/>
        </p:spPr>
        <p:txBody>
          <a:bodyPr wrap="square" lIns="0" tIns="0" rIns="0" bIns="0" rtlCol="0" anchor="ctr">
            <a:normAutofit/>
          </a:bodyPr>
          <a:lstStyle/>
          <a:p>
            <a:pPr marL="0" indent="0">
              <a:buNone/>
            </a:pPr>
            <a:r>
              <a:rPr lang="en-US" sz="740" u="sng" dirty="0">
                <a:solidFill>
                  <a:srgbClr val="1B9AAA"/>
                </a:solidFill>
                <a:latin typeface="JetBrains Mono" pitchFamily="34" charset="0"/>
                <a:ea typeface="JetBrains Mono" pitchFamily="34" charset="-122"/>
                <a:cs typeface="JetBrains Mono" pitchFamily="34" charset="-120"/>
                <a:hlinkClick r:id="rId5">
                  <a:extLst>
                    <a:ext uri="{A12FA001-AC4F-418D-AE19-62706E023703}">
                      <ahyp:hlinkClr xmlns:ahyp="http://schemas.microsoft.com/office/drawing/2018/hyperlinkcolor" val="tx"/>
                    </a:ext>
                  </a:extLst>
                </a:hlinkClick>
              </a:rPr>
              <a:t>https://evarooms.merckgroup.com/Topic/MerckData/learn</a:t>
            </a:r>
            <a:endParaRPr lang="en-US" sz="740" dirty="0"/>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4F7F8"/>
        </a:solidFill>
        <a:effectLst/>
      </p:bgPr>
    </p:bg>
    <p:spTree>
      <p:nvGrpSpPr>
        <p:cNvPr id="1" name=""/>
        <p:cNvGrpSpPr/>
        <p:nvPr/>
      </p:nvGrpSpPr>
      <p:grpSpPr/>
      <p:sp>
        <p:nvSpPr>
          <p:cNvPr id="2" name="Rectangle 1"/>
          <p:cNvSpPr/>
          <p:nvPr/>
        </p:nvSpPr>
        <p:spPr>
          <a:xfrm>
            <a:off x="0" y="0"/>
            <a:ext cx="201168" cy="514350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29184"/>
            <a:ext cx="8138160" cy="274320"/>
          </a:xfrm>
          <a:prstGeom prst="rect">
            <a:avLst/>
          </a:prstGeom>
          <a:noFill/>
        </p:spPr>
        <p:txBody>
          <a:bodyPr wrap="square" anchor="t" lIns="0" rIns="0" tIns="0" bIns="0">
            <a:spAutoFit/>
          </a:bodyPr>
          <a:lstStyle/>
          <a:p>
            <a:pPr algn="l"/>
            <a:r>
              <a:rPr sz="1100" b="0" spc="300">
                <a:solidFill>
                  <a:srgbClr val="1B9AAA"/>
                </a:solidFill>
                <a:latin typeface="JetBrains Mono"/>
              </a:rPr>
              <a:t>PART 5 · ANATOMY</a:t>
            </a:r>
          </a:p>
        </p:txBody>
      </p:sp>
      <p:sp>
        <p:nvSpPr>
          <p:cNvPr id="4" name="slide-agent-anatomy"/>
          <p:cNvSpPr txBox="1"/>
          <p:nvPr/>
        </p:nvSpPr>
        <p:spPr>
          <a:xfrm>
            <a:off x="566928" y="603504"/>
            <a:ext cx="8138160" cy="658368"/>
          </a:xfrm>
          <a:prstGeom prst="rect">
            <a:avLst/>
          </a:prstGeom>
          <a:noFill/>
        </p:spPr>
        <p:txBody>
          <a:bodyPr wrap="square" anchor="t" lIns="0" rIns="0" tIns="0" bIns="0">
            <a:spAutoFit/>
          </a:bodyPr>
          <a:lstStyle/>
          <a:p>
            <a:pPr algn="l"/>
            <a:r>
              <a:rPr sz="3200" b="0">
                <a:solidFill>
                  <a:srgbClr val="0D1B2A"/>
                </a:solidFill>
                <a:latin typeface="Oswald"/>
              </a:rPr>
              <a:t>What an agent is made of</a:t>
            </a:r>
          </a:p>
        </p:txBody>
      </p:sp>
      <p:sp>
        <p:nvSpPr>
          <p:cNvPr id="5" name="TextBox 4"/>
          <p:cNvSpPr txBox="1"/>
          <p:nvPr/>
        </p:nvSpPr>
        <p:spPr>
          <a:xfrm>
            <a:off x="566928" y="1298448"/>
            <a:ext cx="8138160" cy="457200"/>
          </a:xfrm>
          <a:prstGeom prst="rect">
            <a:avLst/>
          </a:prstGeom>
          <a:noFill/>
        </p:spPr>
        <p:txBody>
          <a:bodyPr wrap="square" anchor="t" lIns="0" rIns="0" tIns="0" bIns="0">
            <a:spAutoFit/>
          </a:bodyPr>
          <a:lstStyle/>
          <a:p>
            <a:pPr algn="l"/>
            <a:r>
              <a:rPr sz="1150" b="0">
                <a:solidFill>
                  <a:srgbClr val="14293D"/>
                </a:solidFill>
                <a:latin typeface="Roboto"/>
              </a:rPr>
              <a:t>“An AI application consisting of a model equipped with instructions that guide its behavior, access to tools that extend its capabilities, encapsulated in a runtime with a dynamic lifecycle.”   — OpenAI definition</a:t>
            </a:r>
          </a:p>
        </p:txBody>
      </p:sp>
      <p:sp>
        <p:nvSpPr>
          <p:cNvPr id="6" name="Rounded Rectangle 5"/>
          <p:cNvSpPr/>
          <p:nvPr/>
        </p:nvSpPr>
        <p:spPr>
          <a:xfrm>
            <a:off x="566928" y="1783080"/>
            <a:ext cx="914400" cy="384048"/>
          </a:xfrm>
          <a:prstGeom prst="roundRect">
            <a:avLst>
              <a:gd name="adj" fmla="val 18000"/>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a:solidFill>
                  <a:srgbClr val="FFFFFF"/>
                </a:solidFill>
                <a:latin typeface="Oswald"/>
              </a:rPr>
              <a:t>Agent</a:t>
            </a:r>
          </a:p>
        </p:txBody>
      </p:sp>
      <p:sp>
        <p:nvSpPr>
          <p:cNvPr id="7" name="TextBox 6"/>
          <p:cNvSpPr txBox="1"/>
          <p:nvPr/>
        </p:nvSpPr>
        <p:spPr>
          <a:xfrm>
            <a:off x="1536192" y="1828800"/>
            <a:ext cx="274320" cy="274320"/>
          </a:xfrm>
          <a:prstGeom prst="rect">
            <a:avLst/>
          </a:prstGeom>
          <a:noFill/>
        </p:spPr>
        <p:txBody>
          <a:bodyPr wrap="square" anchor="t" lIns="0" rIns="0" tIns="0" bIns="0">
            <a:spAutoFit/>
          </a:bodyPr>
          <a:lstStyle/>
          <a:p>
            <a:pPr algn="ctr"/>
            <a:r>
              <a:rPr sz="1500" b="0">
                <a:solidFill>
                  <a:srgbClr val="6B7B8C"/>
                </a:solidFill>
                <a:latin typeface="Oswald"/>
              </a:rPr>
              <a:t>=</a:t>
            </a:r>
          </a:p>
        </p:txBody>
      </p:sp>
      <p:sp>
        <p:nvSpPr>
          <p:cNvPr id="8" name="Rounded Rectangle 7"/>
          <p:cNvSpPr/>
          <p:nvPr/>
        </p:nvSpPr>
        <p:spPr>
          <a:xfrm>
            <a:off x="1865376" y="1783080"/>
            <a:ext cx="841247" cy="384048"/>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200">
                <a:solidFill>
                  <a:srgbClr val="0D1B2A"/>
                </a:solidFill>
                <a:latin typeface="Oswald"/>
              </a:rPr>
              <a:t>Model</a:t>
            </a:r>
          </a:p>
        </p:txBody>
      </p:sp>
      <p:sp>
        <p:nvSpPr>
          <p:cNvPr id="9" name="TextBox 8"/>
          <p:cNvSpPr txBox="1"/>
          <p:nvPr/>
        </p:nvSpPr>
        <p:spPr>
          <a:xfrm>
            <a:off x="2761488" y="1828800"/>
            <a:ext cx="274320" cy="274320"/>
          </a:xfrm>
          <a:prstGeom prst="rect">
            <a:avLst/>
          </a:prstGeom>
          <a:noFill/>
        </p:spPr>
        <p:txBody>
          <a:bodyPr wrap="square" anchor="t" lIns="0" rIns="0" tIns="0" bIns="0">
            <a:spAutoFit/>
          </a:bodyPr>
          <a:lstStyle/>
          <a:p>
            <a:pPr algn="ctr"/>
            <a:r>
              <a:rPr sz="1500" b="0">
                <a:solidFill>
                  <a:srgbClr val="6B7B8C"/>
                </a:solidFill>
                <a:latin typeface="Oswald"/>
              </a:rPr>
              <a:t>+</a:t>
            </a:r>
          </a:p>
        </p:txBody>
      </p:sp>
      <p:sp>
        <p:nvSpPr>
          <p:cNvPr id="10" name="Rounded Rectangle 9"/>
          <p:cNvSpPr/>
          <p:nvPr/>
        </p:nvSpPr>
        <p:spPr>
          <a:xfrm>
            <a:off x="3090672" y="1783080"/>
            <a:ext cx="1481328" cy="384048"/>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200">
                <a:solidFill>
                  <a:srgbClr val="0D1B2A"/>
                </a:solidFill>
                <a:latin typeface="Oswald"/>
              </a:rPr>
              <a:t>Instructions</a:t>
            </a:r>
          </a:p>
        </p:txBody>
      </p:sp>
      <p:sp>
        <p:nvSpPr>
          <p:cNvPr id="11" name="TextBox 10"/>
          <p:cNvSpPr txBox="1"/>
          <p:nvPr/>
        </p:nvSpPr>
        <p:spPr>
          <a:xfrm>
            <a:off x="4626864" y="1828800"/>
            <a:ext cx="274320" cy="274320"/>
          </a:xfrm>
          <a:prstGeom prst="rect">
            <a:avLst/>
          </a:prstGeom>
          <a:noFill/>
        </p:spPr>
        <p:txBody>
          <a:bodyPr wrap="square" anchor="t" lIns="0" rIns="0" tIns="0" bIns="0">
            <a:spAutoFit/>
          </a:bodyPr>
          <a:lstStyle/>
          <a:p>
            <a:pPr algn="ctr"/>
            <a:r>
              <a:rPr sz="1500" b="0">
                <a:solidFill>
                  <a:srgbClr val="6B7B8C"/>
                </a:solidFill>
                <a:latin typeface="Oswald"/>
              </a:rPr>
              <a:t>+</a:t>
            </a:r>
          </a:p>
        </p:txBody>
      </p:sp>
      <p:sp>
        <p:nvSpPr>
          <p:cNvPr id="12" name="Rounded Rectangle 11"/>
          <p:cNvSpPr/>
          <p:nvPr/>
        </p:nvSpPr>
        <p:spPr>
          <a:xfrm>
            <a:off x="4956048" y="1783080"/>
            <a:ext cx="841247" cy="384048"/>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200">
                <a:solidFill>
                  <a:srgbClr val="0D1B2A"/>
                </a:solidFill>
                <a:latin typeface="Oswald"/>
              </a:rPr>
              <a:t>Tools</a:t>
            </a:r>
          </a:p>
        </p:txBody>
      </p:sp>
      <p:sp>
        <p:nvSpPr>
          <p:cNvPr id="13" name="TextBox 12"/>
          <p:cNvSpPr txBox="1"/>
          <p:nvPr/>
        </p:nvSpPr>
        <p:spPr>
          <a:xfrm>
            <a:off x="5852159" y="1828800"/>
            <a:ext cx="274320" cy="274320"/>
          </a:xfrm>
          <a:prstGeom prst="rect">
            <a:avLst/>
          </a:prstGeom>
          <a:noFill/>
        </p:spPr>
        <p:txBody>
          <a:bodyPr wrap="square" anchor="t" lIns="0" rIns="0" tIns="0" bIns="0">
            <a:spAutoFit/>
          </a:bodyPr>
          <a:lstStyle/>
          <a:p>
            <a:pPr algn="ctr"/>
            <a:r>
              <a:rPr sz="1500" b="0">
                <a:solidFill>
                  <a:srgbClr val="6B7B8C"/>
                </a:solidFill>
                <a:latin typeface="Oswald"/>
              </a:rPr>
              <a:t>+</a:t>
            </a:r>
          </a:p>
        </p:txBody>
      </p:sp>
      <p:sp>
        <p:nvSpPr>
          <p:cNvPr id="14" name="Rounded Rectangle 13"/>
          <p:cNvSpPr/>
          <p:nvPr/>
        </p:nvSpPr>
        <p:spPr>
          <a:xfrm>
            <a:off x="6181344" y="1783080"/>
            <a:ext cx="1024128" cy="384048"/>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200">
                <a:solidFill>
                  <a:srgbClr val="0D1B2A"/>
                </a:solidFill>
                <a:latin typeface="Oswald"/>
              </a:rPr>
              <a:t>Runtime</a:t>
            </a:r>
          </a:p>
        </p:txBody>
      </p:sp>
      <p:sp>
        <p:nvSpPr>
          <p:cNvPr id="15" name="Rectangle 14"/>
          <p:cNvSpPr/>
          <p:nvPr/>
        </p:nvSpPr>
        <p:spPr>
          <a:xfrm>
            <a:off x="566928" y="2432304"/>
            <a:ext cx="4005072" cy="969264"/>
          </a:xfrm>
          <a:prstGeom prst="rect">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928" y="2432304"/>
            <a:ext cx="54864" cy="969264"/>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542032"/>
            <a:ext cx="3593591" cy="274320"/>
          </a:xfrm>
          <a:prstGeom prst="rect">
            <a:avLst/>
          </a:prstGeom>
          <a:noFill/>
        </p:spPr>
        <p:txBody>
          <a:bodyPr wrap="square" anchor="t" lIns="0" rIns="0" tIns="0" bIns="0">
            <a:spAutoFit/>
          </a:bodyPr>
          <a:lstStyle/>
          <a:p>
            <a:pPr algn="l"/>
            <a:r>
              <a:rPr sz="1500" b="0">
                <a:solidFill>
                  <a:srgbClr val="0D1B2A"/>
                </a:solidFill>
                <a:latin typeface="Oswald"/>
              </a:rPr>
              <a:t>Model</a:t>
            </a:r>
          </a:p>
        </p:txBody>
      </p:sp>
      <p:sp>
        <p:nvSpPr>
          <p:cNvPr id="18" name="TextBox 17"/>
          <p:cNvSpPr txBox="1"/>
          <p:nvPr/>
        </p:nvSpPr>
        <p:spPr>
          <a:xfrm>
            <a:off x="777240" y="2834640"/>
            <a:ext cx="3593591" cy="365760"/>
          </a:xfrm>
          <a:prstGeom prst="rect">
            <a:avLst/>
          </a:prstGeom>
          <a:noFill/>
        </p:spPr>
        <p:txBody>
          <a:bodyPr wrap="square" anchor="t" lIns="0" rIns="0" tIns="0" bIns="0">
            <a:spAutoFit/>
          </a:bodyPr>
          <a:lstStyle/>
          <a:p>
            <a:pPr algn="l"/>
            <a:r>
              <a:rPr sz="1000" b="0">
                <a:solidFill>
                  <a:srgbClr val="6B7B8C"/>
                </a:solidFill>
                <a:latin typeface="Roboto"/>
              </a:rPr>
              <a:t>Usually an LLM. Core capabilities: observing, understanding, planning, deciding.</a:t>
            </a:r>
          </a:p>
        </p:txBody>
      </p:sp>
      <p:sp>
        <p:nvSpPr>
          <p:cNvPr id="19" name="Rectangle 18"/>
          <p:cNvSpPr/>
          <p:nvPr/>
        </p:nvSpPr>
        <p:spPr>
          <a:xfrm>
            <a:off x="4736592" y="2432304"/>
            <a:ext cx="4005072" cy="969264"/>
          </a:xfrm>
          <a:prstGeom prst="rect">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736592" y="2432304"/>
            <a:ext cx="54864" cy="969264"/>
          </a:xfrm>
          <a:prstGeom prst="rect">
            <a:avLst/>
          </a:prstGeom>
          <a:solidFill>
            <a:srgbClr val="06D6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946904" y="2542032"/>
            <a:ext cx="3593591" cy="274320"/>
          </a:xfrm>
          <a:prstGeom prst="rect">
            <a:avLst/>
          </a:prstGeom>
          <a:noFill/>
        </p:spPr>
        <p:txBody>
          <a:bodyPr wrap="square" anchor="t" lIns="0" rIns="0" tIns="0" bIns="0">
            <a:spAutoFit/>
          </a:bodyPr>
          <a:lstStyle/>
          <a:p>
            <a:pPr algn="l"/>
            <a:r>
              <a:rPr sz="1500" b="0">
                <a:solidFill>
                  <a:srgbClr val="0D1B2A"/>
                </a:solidFill>
                <a:latin typeface="Oswald"/>
              </a:rPr>
              <a:t>Instructions</a:t>
            </a:r>
          </a:p>
        </p:txBody>
      </p:sp>
      <p:sp>
        <p:nvSpPr>
          <p:cNvPr id="22" name="TextBox 21"/>
          <p:cNvSpPr txBox="1"/>
          <p:nvPr/>
        </p:nvSpPr>
        <p:spPr>
          <a:xfrm>
            <a:off x="4946904" y="2834640"/>
            <a:ext cx="3593591" cy="365760"/>
          </a:xfrm>
          <a:prstGeom prst="rect">
            <a:avLst/>
          </a:prstGeom>
          <a:noFill/>
        </p:spPr>
        <p:txBody>
          <a:bodyPr wrap="square" anchor="t" lIns="0" rIns="0" tIns="0" bIns="0">
            <a:spAutoFit/>
          </a:bodyPr>
          <a:lstStyle/>
          <a:p>
            <a:pPr algn="l"/>
            <a:r>
              <a:rPr sz="1000" b="0">
                <a:solidFill>
                  <a:srgbClr val="6B7B8C"/>
                </a:solidFill>
                <a:latin typeface="Roboto"/>
              </a:rPr>
              <a:t>Define the goals and behaviour that steer actions toward the intended outcome.</a:t>
            </a:r>
          </a:p>
        </p:txBody>
      </p:sp>
      <p:sp>
        <p:nvSpPr>
          <p:cNvPr id="23" name="Rectangle 22"/>
          <p:cNvSpPr/>
          <p:nvPr/>
        </p:nvSpPr>
        <p:spPr>
          <a:xfrm>
            <a:off x="566928" y="3566160"/>
            <a:ext cx="4005072" cy="969264"/>
          </a:xfrm>
          <a:prstGeom prst="rect">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566160"/>
            <a:ext cx="54864" cy="969264"/>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3675888"/>
            <a:ext cx="3593591" cy="274320"/>
          </a:xfrm>
          <a:prstGeom prst="rect">
            <a:avLst/>
          </a:prstGeom>
          <a:noFill/>
        </p:spPr>
        <p:txBody>
          <a:bodyPr wrap="square" anchor="t" lIns="0" rIns="0" tIns="0" bIns="0">
            <a:spAutoFit/>
          </a:bodyPr>
          <a:lstStyle/>
          <a:p>
            <a:pPr algn="l"/>
            <a:r>
              <a:rPr sz="1500" b="0">
                <a:solidFill>
                  <a:srgbClr val="0D1B2A"/>
                </a:solidFill>
                <a:latin typeface="Oswald"/>
              </a:rPr>
              <a:t>Tools</a:t>
            </a:r>
          </a:p>
        </p:txBody>
      </p:sp>
      <p:sp>
        <p:nvSpPr>
          <p:cNvPr id="26" name="TextBox 25"/>
          <p:cNvSpPr txBox="1"/>
          <p:nvPr/>
        </p:nvSpPr>
        <p:spPr>
          <a:xfrm>
            <a:off x="777240" y="3968496"/>
            <a:ext cx="3593591" cy="365760"/>
          </a:xfrm>
          <a:prstGeom prst="rect">
            <a:avLst/>
          </a:prstGeom>
          <a:noFill/>
        </p:spPr>
        <p:txBody>
          <a:bodyPr wrap="square" anchor="t" lIns="0" rIns="0" tIns="0" bIns="0">
            <a:spAutoFit/>
          </a:bodyPr>
          <a:lstStyle/>
          <a:p>
            <a:pPr algn="l"/>
            <a:r>
              <a:rPr sz="1000" b="0">
                <a:solidFill>
                  <a:srgbClr val="6B7B8C"/>
                </a:solidFill>
                <a:latin typeface="Roboto"/>
              </a:rPr>
              <a:t>Extend capability beyond the model: browsing, calling APIs, operating software.</a:t>
            </a:r>
          </a:p>
        </p:txBody>
      </p:sp>
      <p:sp>
        <p:nvSpPr>
          <p:cNvPr id="27" name="Rectangle 26"/>
          <p:cNvSpPr/>
          <p:nvPr/>
        </p:nvSpPr>
        <p:spPr>
          <a:xfrm>
            <a:off x="4736592" y="3566160"/>
            <a:ext cx="4005072" cy="969264"/>
          </a:xfrm>
          <a:prstGeom prst="rect">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736592" y="3566160"/>
            <a:ext cx="54864" cy="969264"/>
          </a:xfrm>
          <a:prstGeom prst="rect">
            <a:avLst/>
          </a:prstGeom>
          <a:solidFill>
            <a:srgbClr val="06D6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46904" y="3675888"/>
            <a:ext cx="3593591" cy="274320"/>
          </a:xfrm>
          <a:prstGeom prst="rect">
            <a:avLst/>
          </a:prstGeom>
          <a:noFill/>
        </p:spPr>
        <p:txBody>
          <a:bodyPr wrap="square" anchor="t" lIns="0" rIns="0" tIns="0" bIns="0">
            <a:spAutoFit/>
          </a:bodyPr>
          <a:lstStyle/>
          <a:p>
            <a:pPr algn="l"/>
            <a:r>
              <a:rPr sz="1500" b="0">
                <a:solidFill>
                  <a:srgbClr val="0D1B2A"/>
                </a:solidFill>
                <a:latin typeface="Oswald"/>
              </a:rPr>
              <a:t>Runtime</a:t>
            </a:r>
          </a:p>
        </p:txBody>
      </p:sp>
      <p:sp>
        <p:nvSpPr>
          <p:cNvPr id="30" name="TextBox 29"/>
          <p:cNvSpPr txBox="1"/>
          <p:nvPr/>
        </p:nvSpPr>
        <p:spPr>
          <a:xfrm>
            <a:off x="4946904" y="3968496"/>
            <a:ext cx="3593591" cy="365760"/>
          </a:xfrm>
          <a:prstGeom prst="rect">
            <a:avLst/>
          </a:prstGeom>
          <a:noFill/>
        </p:spPr>
        <p:txBody>
          <a:bodyPr wrap="square" anchor="t" lIns="0" rIns="0" tIns="0" bIns="0">
            <a:spAutoFit/>
          </a:bodyPr>
          <a:lstStyle/>
          <a:p>
            <a:pPr algn="l"/>
            <a:r>
              <a:rPr sz="1000" b="0">
                <a:solidFill>
                  <a:srgbClr val="6B7B8C"/>
                </a:solidFill>
                <a:latin typeface="Roboto"/>
              </a:rPr>
              <a:t>Manages the execution loop — plan, act, observe, iterate toward the objective.</a:t>
            </a:r>
          </a:p>
        </p:txBody>
      </p:sp>
      <p:sp>
        <p:nvSpPr>
          <p:cNvPr id="31" name="Rectangle 30"/>
          <p:cNvSpPr/>
          <p:nvPr/>
        </p:nvSpPr>
        <p:spPr>
          <a:xfrm>
            <a:off x="566928" y="4681727"/>
            <a:ext cx="45720" cy="21945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13232" y="4663440"/>
            <a:ext cx="7991856" cy="274320"/>
          </a:xfrm>
          <a:prstGeom prst="rect">
            <a:avLst/>
          </a:prstGeom>
          <a:noFill/>
        </p:spPr>
        <p:txBody>
          <a:bodyPr wrap="square" anchor="t" lIns="0" rIns="0" tIns="0" bIns="0">
            <a:spAutoFit/>
          </a:bodyPr>
          <a:lstStyle/>
          <a:p>
            <a:pPr algn="l"/>
            <a:r>
              <a:rPr sz="1200" b="0">
                <a:solidFill>
                  <a:srgbClr val="0D1B2A"/>
                </a:solidFill>
                <a:latin typeface="Roboto"/>
              </a:rPr>
              <a:t>A model alone is not an agent: instructions, tools and a runtime make it one.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3713</Words>
  <Application>Microsoft Macintosh PowerPoint</Application>
  <PresentationFormat>Bildschirmpräsentation (16:9)</PresentationFormat>
  <Paragraphs>753</Paragraphs>
  <Slides>35</Slides>
  <Notes>13</Notes>
  <HiddenSlides>0</HiddenSlides>
  <MMClips>0</MMClips>
  <ScaleCrop>false</ScaleCrop>
  <HeadingPairs>
    <vt:vector size="6" baseType="variant">
      <vt:variant>
        <vt:lpstr>Verwendete Schriftarten</vt:lpstr>
      </vt:variant>
      <vt:variant>
        <vt:i4>5</vt:i4>
      </vt:variant>
      <vt:variant>
        <vt:lpstr>Design</vt:lpstr>
      </vt:variant>
      <vt:variant>
        <vt:i4>1</vt:i4>
      </vt:variant>
      <vt:variant>
        <vt:lpstr>Folientitel</vt:lpstr>
      </vt:variant>
      <vt:variant>
        <vt:i4>35</vt:i4>
      </vt:variant>
    </vt:vector>
  </HeadingPairs>
  <TitlesOfParts>
    <vt:vector size="41" baseType="lpstr">
      <vt:lpstr>Arial</vt:lpstr>
      <vt:lpstr>Courier New</vt:lpstr>
      <vt:lpstr>JetBrains Mono</vt:lpstr>
      <vt:lpstr>Oswald</vt:lpstr>
      <vt:lpstr>Roboto</vt:lpstr>
      <vt:lpstr>Office Theme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Who decides?</dc:title>
  <dc:subject>PptxGenJS Presentation</dc:subject>
  <dc:creator>myGPT Suite</dc:creator>
  <cp:lastModifiedBy>Lukas Rödl</cp:lastModifiedBy>
  <cp:revision>34</cp:revision>
  <dcterms:created xsi:type="dcterms:W3CDTF">2026-09-14T09:26:33Z</dcterms:created>
  <dcterms:modified xsi:type="dcterms:W3CDTF">2026-09-24T06:51:41Z</dcterms:modified>
</cp:coreProperties>
</file>