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72" r:id="rId4"/>
    <p:sldId id="271" r:id="rId5"/>
    <p:sldId id="273" r:id="rId6"/>
    <p:sldId id="270" r:id="rId7"/>
    <p:sldId id="258" r:id="rId8"/>
    <p:sldId id="259" r:id="rId9"/>
    <p:sldId id="260" r:id="rId10"/>
    <p:sldId id="261" r:id="rId11"/>
    <p:sldId id="262" r:id="rId12"/>
    <p:sldId id="263" r:id="rId13"/>
    <p:sldId id="264" r:id="rId14"/>
    <p:sldId id="265" r:id="rId15"/>
    <p:sldId id="266" r:id="rId16"/>
    <p:sldId id="274" r:id="rId17"/>
    <p:sldId id="269" r:id="rId18"/>
    <p:sldId id="275"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1D1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455" autoAdjust="0"/>
    <p:restoredTop sz="94610"/>
  </p:normalViewPr>
  <p:slideViewPr>
    <p:cSldViewPr snapToGrid="0" snapToObjects="1">
      <p:cViewPr varScale="1">
        <p:scale>
          <a:sx n="155" d="100"/>
          <a:sy n="155" d="100"/>
        </p:scale>
        <p:origin x="43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32701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every step in this story moves one decision from the engineer to the model.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Foundations. Note that only the last step is not a pure subset relationship.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Rule-based AI remains useful when policy is explicit and behavior must be predictable. In ML, training produces learned parameters; inference then applies that model to new data. Models do not necessarily continue learning during use. The invoice examples are illustrative and not descriptions of a deployed product. This distinction synthesizes the foundations deck and its microlesson framing.</a:t>
            </a:r>
          </a:p>
        </p:txBody>
      </p:sp>
      <p:sp>
        <p:nvSpPr>
          <p:cNvPr id="4" name="Slide Number Placeholder 3"/>
          <p:cNvSpPr>
            <a:spLocks noGrp="1"/>
          </p:cNvSpPr>
          <p:nvPr>
            <p:ph type="sldNum" sz="quarter" idx="5"/>
          </p:nvPr>
        </p:nvSpPr>
        <p:spPr/>
        <p:txBody>
          <a:bodyPr/>
          <a:lstStyle/>
          <a:p>
            <a:fld id="{268293A4-D7FB-4C4F-9FB1-BAAEFCDE513E}" type="slidenum">
              <a:rPr lang="en-US" smtClean="0"/>
              <a:t>3</a:t>
            </a:fld>
            <a:endParaRPr lang="en-US"/>
          </a:p>
        </p:txBody>
      </p:sp>
    </p:spTree>
    <p:extLst>
      <p:ext uri="{BB962C8B-B14F-4D97-AF65-F5344CB8AC3E}">
        <p14:creationId xmlns:p14="http://schemas.microsoft.com/office/powerpoint/2010/main" val="11297639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diagram illustrates layered representations; it is not a transformer diagram or a literal architecture used for every deep-learning task. Deep networks can learn hierarchical or distributed representations with task-appropriate objectives. Large-scale training has made many capabilities practical, but data quality and architecture matter alongside scale.</a:t>
            </a:r>
          </a:p>
        </p:txBody>
      </p:sp>
      <p:sp>
        <p:nvSpPr>
          <p:cNvPr id="4" name="Slide Number Placeholder 3"/>
          <p:cNvSpPr>
            <a:spLocks noGrp="1"/>
          </p:cNvSpPr>
          <p:nvPr>
            <p:ph type="sldNum" sz="quarter" idx="5"/>
          </p:nvPr>
        </p:nvSpPr>
        <p:spPr/>
        <p:txBody>
          <a:bodyPr/>
          <a:lstStyle/>
          <a:p>
            <a:fld id="{268293A4-D7FB-4C4F-9FB1-BAAEFCDE513E}" type="slidenum">
              <a:rPr lang="en-US" smtClean="0"/>
              <a:t>4</a:t>
            </a:fld>
            <a:endParaRPr lang="en-US"/>
          </a:p>
        </p:txBody>
      </p:sp>
    </p:spTree>
    <p:extLst>
      <p:ext uri="{BB962C8B-B14F-4D97-AF65-F5344CB8AC3E}">
        <p14:creationId xmlns:p14="http://schemas.microsoft.com/office/powerpoint/2010/main" val="13789222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LLM means large language model. A token is a text unit: a word, part of a word, punctuation or another encoded piece. The next-token explanation on the following slide applies to autoregressive language generation. Image and audio generation may use different mechanisms, such as diffusion. A foundation model is broadly pretrained and can be adapted to many tasks; LLMs are an important example, not the entire category.</a:t>
            </a:r>
          </a:p>
        </p:txBody>
      </p:sp>
      <p:sp>
        <p:nvSpPr>
          <p:cNvPr id="4" name="Slide Number Placeholder 3"/>
          <p:cNvSpPr>
            <a:spLocks noGrp="1"/>
          </p:cNvSpPr>
          <p:nvPr>
            <p:ph type="sldNum" sz="quarter" idx="5"/>
          </p:nvPr>
        </p:nvSpPr>
        <p:spPr/>
        <p:txBody>
          <a:bodyPr/>
          <a:lstStyle/>
          <a:p>
            <a:fld id="{268293A4-D7FB-4C4F-9FB1-BAAEFCDE513E}" type="slidenum">
              <a:rPr lang="en-US" smtClean="0"/>
              <a:t>5</a:t>
            </a:fld>
            <a:endParaRPr lang="en-US"/>
          </a:p>
        </p:txBody>
      </p:sp>
    </p:spTree>
    <p:extLst>
      <p:ext uri="{BB962C8B-B14F-4D97-AF65-F5344CB8AC3E}">
        <p14:creationId xmlns:p14="http://schemas.microsoft.com/office/powerpoint/2010/main" val="620919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an invented teaching example, not measured output from a particular model. The first distribution sums to 100% (45+25+20+10); the second also sums to 100% (70+15+10+5). "Other" aggregates all remaining vocabulary items. The model computes a conditional distribution P(next token | current context). Greedy decoding chooses the highest-scoring token; sampling can choose a lower-probability token. Temperature and other decoding settings affect selection. Tokens may be whole words, word fragments or punctuation. Training often uses next-token prediction; instruction tuning and other post-training methods influence subsequent behavior. This is the required classical probability-based generative-AI illustration.</a:t>
            </a:r>
          </a:p>
        </p:txBody>
      </p:sp>
      <p:sp>
        <p:nvSpPr>
          <p:cNvPr id="4" name="Slide Number Placeholder 3"/>
          <p:cNvSpPr>
            <a:spLocks noGrp="1"/>
          </p:cNvSpPr>
          <p:nvPr>
            <p:ph type="sldNum" sz="quarter" idx="5"/>
          </p:nvPr>
        </p:nvSpPr>
        <p:spPr/>
        <p:txBody>
          <a:bodyPr/>
          <a:lstStyle/>
          <a:p>
            <a:fld id="{268293A4-D7FB-4C4F-9FB1-BAAEFCDE513E}" type="slidenum">
              <a:rPr lang="en-US" smtClean="0"/>
              <a:t>6</a:t>
            </a:fld>
            <a:endParaRPr lang="en-US"/>
          </a:p>
        </p:txBody>
      </p:sp>
    </p:spTree>
    <p:extLst>
      <p:ext uri="{BB962C8B-B14F-4D97-AF65-F5344CB8AC3E}">
        <p14:creationId xmlns:p14="http://schemas.microsoft.com/office/powerpoint/2010/main" val="39076343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itself changes character: from a task on given material to a goal.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Tools and the runtime loop are the two parts the rest of this deck unpacks.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Hand over from taxonomy to mechanics.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gaps are what everything that follows is answering.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RAG first, tool use generalised it, MCP standardised the plumbing.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point: in classic RAG the model makes no decision at all.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 use is itself a learned skill: when to call, which tool, how to shape arguments.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Caveat when presenting: the MCP spec moves fast; check current details.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the anchor diagram for the whole talk.</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splits an AI system into three roles. The host owns the user experience and permissions, a client holds one connection per server, and each server exposes a focused capability through tools, resources and prompts.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engineering and governance implication, not the taxonomy.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slide. The deck references the AI Glossary for LE Teams, Q4 2024, the AI Microlesson Series on the MGF Data learning and development site, and the Merck Data learning resource.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778DF0F-DD56-4C3E-2B48-35E3EF2B7E7F}"/>
              </a:ext>
            </a:extLst>
          </p:cNvPr>
          <p:cNvSpPr>
            <a:spLocks noGrp="1"/>
          </p:cNvSpPr>
          <p:nvPr>
            <p:ph type="dt" sz="half" idx="10"/>
          </p:nvPr>
        </p:nvSpPr>
        <p:spPr/>
        <p:txBody>
          <a:bodyPr/>
          <a:lstStyle/>
          <a:p>
            <a:fld id="{990A80E8-06B7-46C8-9730-7088A7D38457}" type="datetimeFigureOut">
              <a:rPr lang="en-US" smtClean="0"/>
              <a:t>9/22/26</a:t>
            </a:fld>
            <a:endParaRPr lang="en-US"/>
          </a:p>
        </p:txBody>
      </p:sp>
      <p:sp>
        <p:nvSpPr>
          <p:cNvPr id="3" name="Footer Placeholder 2">
            <a:extLst>
              <a:ext uri="{FF2B5EF4-FFF2-40B4-BE49-F238E27FC236}">
                <a16:creationId xmlns:a16="http://schemas.microsoft.com/office/drawing/2014/main" id="{589D5061-057E-E425-09A7-7A1D3F9C98E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A851C34-4DBC-B32C-EBC9-8A717994991F}"/>
              </a:ext>
            </a:extLst>
          </p:cNvPr>
          <p:cNvSpPr>
            <a:spLocks noGrp="1"/>
          </p:cNvSpPr>
          <p:nvPr>
            <p:ph type="sldNum" sz="quarter" idx="12"/>
          </p:nvPr>
        </p:nvSpPr>
        <p:spPr/>
        <p:txBody>
          <a:bodyPr/>
          <a:lstStyle/>
          <a:p>
            <a:fld id="{97B361D9-8D1E-49E3-A856-CA9B3D3BB66A}" type="slidenum">
              <a:rPr lang="en-US" smtClean="0"/>
              <a:t>‹Nr.›</a:t>
            </a:fld>
            <a:endParaRPr lang="en-US"/>
          </a:p>
        </p:txBody>
      </p:sp>
    </p:spTree>
    <p:extLst>
      <p:ext uri="{BB962C8B-B14F-4D97-AF65-F5344CB8AC3E}">
        <p14:creationId xmlns:p14="http://schemas.microsoft.com/office/powerpoint/2010/main" val="41271246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MAIN">
    <p:bg>
      <p:bgPr>
        <a:solidFill>
          <a:srgbClr val="F1F5F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052198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hyperlink" Target="https://evarooms.merckgroup.com/Organization/Legal-Compliance/PublishingImages/le-knowledge-base/le-expert-groups/digital-data-economy/AI%20Glossary%20for%20LE%20Teams%20Q4%2024.pdf"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hyperlink" Target="https://evarooms.merckgroup.com/Topic/MerckData/learn" TargetMode="External"/><Relationship Id="rId4" Type="http://schemas.openxmlformats.org/officeDocument/2006/relationships/hyperlink" Target="https://evarooms.merckgroup.com/Topic/MGF-Data/learning-development/ai-microlesson-series"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5852160" y="-1371600"/>
            <a:ext cx="5120640" cy="5120640"/>
          </a:xfrm>
          <a:prstGeom prst="ellipse">
            <a:avLst/>
          </a:prstGeom>
          <a:solidFill>
            <a:srgbClr val="1B9AAA">
              <a:alpha val="18000"/>
            </a:srgbClr>
          </a:solidFill>
          <a:ln w="9525">
            <a:solidFill>
              <a:srgbClr val="1B9AAA"/>
            </a:solidFill>
            <a:prstDash val="solid"/>
          </a:ln>
        </p:spPr>
        <p:txBody>
          <a:bodyPr/>
          <a:lstStyle/>
          <a:p>
            <a:endParaRPr lang="en-US"/>
          </a:p>
        </p:txBody>
      </p:sp>
      <p:sp>
        <p:nvSpPr>
          <p:cNvPr id="3" name="Shape 1"/>
          <p:cNvSpPr/>
          <p:nvPr/>
        </p:nvSpPr>
        <p:spPr>
          <a:xfrm>
            <a:off x="6949440" y="2011680"/>
            <a:ext cx="3108960" cy="3108960"/>
          </a:xfrm>
          <a:prstGeom prst="ellipse">
            <a:avLst/>
          </a:prstGeom>
          <a:solidFill>
            <a:srgbClr val="06D6A0">
              <a:alpha val="12000"/>
            </a:srgbClr>
          </a:solidFill>
          <a:ln w="9525">
            <a:solidFill>
              <a:srgbClr val="06D6A0"/>
            </a:solidFill>
            <a:prstDash val="solid"/>
          </a:ln>
        </p:spPr>
        <p:txBody>
          <a:bodyPr/>
          <a:lstStyle/>
          <a:p>
            <a:endParaRPr lang="en-US"/>
          </a:p>
        </p:txBody>
      </p:sp>
      <p:sp>
        <p:nvSpPr>
          <p:cNvPr id="4" name="Text 2"/>
          <p:cNvSpPr/>
          <p:nvPr/>
        </p:nvSpPr>
        <p:spPr>
          <a:xfrm>
            <a:off x="731520" y="1234440"/>
            <a:ext cx="6400800" cy="274320"/>
          </a:xfrm>
          <a:prstGeom prst="rect">
            <a:avLst/>
          </a:prstGeom>
          <a:noFill/>
          <a:ln/>
        </p:spPr>
        <p:txBody>
          <a:bodyPr wrap="square" lIns="0" tIns="0" rIns="0" bIns="0" rtlCol="0" anchor="ctr"/>
          <a:lstStyle/>
          <a:p>
            <a:pPr marL="0" indent="0">
              <a:buNone/>
            </a:pPr>
            <a:r>
              <a:rPr lang="en-US" sz="1100" kern="0" spc="300" dirty="0">
                <a:solidFill>
                  <a:srgbClr val="06D6A0"/>
                </a:solidFill>
                <a:latin typeface="JetBrains Mono" pitchFamily="34" charset="0"/>
                <a:ea typeface="JetBrains Mono" pitchFamily="34" charset="-122"/>
                <a:cs typeface="JetBrains Mono" pitchFamily="34" charset="-120"/>
              </a:rPr>
              <a:t>A SHORT HISTORY OF AI</a:t>
            </a:r>
            <a:endParaRPr lang="en-US" sz="1100" dirty="0"/>
          </a:p>
        </p:txBody>
      </p:sp>
      <p:sp>
        <p:nvSpPr>
          <p:cNvPr id="5" name="Text 3"/>
          <p:cNvSpPr/>
          <p:nvPr/>
        </p:nvSpPr>
        <p:spPr>
          <a:xfrm>
            <a:off x="731520" y="1600200"/>
            <a:ext cx="6766560" cy="914400"/>
          </a:xfrm>
          <a:prstGeom prst="rect">
            <a:avLst/>
          </a:prstGeom>
          <a:noFill/>
          <a:ln/>
        </p:spPr>
        <p:txBody>
          <a:bodyPr wrap="square" lIns="0" tIns="0" rIns="0" bIns="0" rtlCol="0" anchor="ctr"/>
          <a:lstStyle/>
          <a:p>
            <a:pPr marL="0" indent="0">
              <a:buNone/>
            </a:pPr>
            <a:r>
              <a:rPr lang="en-US" sz="4400" dirty="0">
                <a:solidFill>
                  <a:srgbClr val="FFFFFF"/>
                </a:solidFill>
                <a:latin typeface="Oswald" pitchFamily="34" charset="0"/>
                <a:ea typeface="Oswald" pitchFamily="34" charset="-122"/>
                <a:cs typeface="Oswald" pitchFamily="34" charset="-120"/>
              </a:rPr>
              <a:t>From Generative AI to Agentic AI</a:t>
            </a:r>
            <a:endParaRPr lang="en-US" sz="4400" dirty="0"/>
          </a:p>
        </p:txBody>
      </p:sp>
      <p:sp>
        <p:nvSpPr>
          <p:cNvPr id="6" name="Text 4"/>
          <p:cNvSpPr/>
          <p:nvPr/>
        </p:nvSpPr>
        <p:spPr>
          <a:xfrm>
            <a:off x="749808" y="2606040"/>
            <a:ext cx="6035040" cy="731520"/>
          </a:xfrm>
          <a:prstGeom prst="rect">
            <a:avLst/>
          </a:prstGeom>
          <a:noFill/>
          <a:ln/>
        </p:spPr>
        <p:txBody>
          <a:bodyPr wrap="square" lIns="0" tIns="0" rIns="0" bIns="0" rtlCol="0" anchor="ctr"/>
          <a:lstStyle/>
          <a:p>
            <a:pPr marL="0" indent="0">
              <a:buNone/>
            </a:pPr>
            <a:r>
              <a:rPr lang="en-US" sz="1600" dirty="0">
                <a:solidFill>
                  <a:srgbClr val="AFC2CE"/>
                </a:solidFill>
                <a:latin typeface="Roboto" pitchFamily="34" charset="0"/>
                <a:ea typeface="Roboto" pitchFamily="34" charset="-122"/>
                <a:cs typeface="Roboto" pitchFamily="34" charset="-120"/>
              </a:rPr>
              <a:t>Welcome to terminology hell </a:t>
            </a:r>
            <a:r>
              <a:rPr lang="en-US" sz="1600" dirty="0">
                <a:solidFill>
                  <a:srgbClr val="AFC2CE"/>
                </a:solidFill>
                <a:latin typeface="Roboto" pitchFamily="34" charset="0"/>
                <a:ea typeface="Roboto" pitchFamily="34" charset="-122"/>
                <a:cs typeface="Roboto" pitchFamily="34" charset="-120"/>
                <a:sym typeface="Wingdings" panose="05000000000000000000" pitchFamily="2" charset="2"/>
              </a:rPr>
              <a:t> </a:t>
            </a:r>
            <a:endParaRPr lang="en-US" sz="1600" dirty="0"/>
          </a:p>
        </p:txBody>
      </p:sp>
      <p:sp>
        <p:nvSpPr>
          <p:cNvPr id="7" name="Shape 5"/>
          <p:cNvSpPr/>
          <p:nvPr/>
        </p:nvSpPr>
        <p:spPr>
          <a:xfrm>
            <a:off x="749808" y="3611880"/>
            <a:ext cx="822960" cy="41148"/>
          </a:xfrm>
          <a:prstGeom prst="rect">
            <a:avLst/>
          </a:prstGeom>
          <a:solidFill>
            <a:srgbClr val="06D6A0"/>
          </a:solidFill>
          <a:ln/>
        </p:spPr>
        <p:txBody>
          <a:bodyPr/>
          <a:lstStyle/>
          <a:p>
            <a:endParaRPr lang="en-US"/>
          </a:p>
        </p:txBody>
      </p:sp>
      <p:sp>
        <p:nvSpPr>
          <p:cNvPr id="8" name="Text 6"/>
          <p:cNvSpPr/>
          <p:nvPr/>
        </p:nvSpPr>
        <p:spPr>
          <a:xfrm>
            <a:off x="749808" y="3886200"/>
            <a:ext cx="6400800" cy="274320"/>
          </a:xfrm>
          <a:prstGeom prst="rect">
            <a:avLst/>
          </a:prstGeom>
          <a:noFill/>
          <a:ln/>
        </p:spPr>
        <p:txBody>
          <a:bodyPr wrap="square" lIns="0" tIns="0" rIns="0" bIns="0" rtlCol="0" anchor="ctr"/>
          <a:lstStyle/>
          <a:p>
            <a:pPr marL="0" indent="0">
              <a:buNone/>
            </a:pPr>
            <a:r>
              <a:rPr lang="en-US" sz="1000" dirty="0">
                <a:solidFill>
                  <a:srgbClr val="6B7B8C"/>
                </a:solidFill>
                <a:latin typeface="JetBrains Mono" pitchFamily="34" charset="0"/>
                <a:ea typeface="JetBrains Mono" pitchFamily="34" charset="-122"/>
                <a:cs typeface="JetBrains Mono" pitchFamily="34" charset="-120"/>
              </a:rPr>
              <a:t>Merck KGaA, Darmstadt, Germany  ·  myGPT Suite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FOUNDATIONS · 1955–2024</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Five nested ideas, seventy years</a:t>
            </a:r>
            <a:endParaRPr lang="en-US" sz="3200" dirty="0"/>
          </a:p>
        </p:txBody>
      </p:sp>
      <p:sp>
        <p:nvSpPr>
          <p:cNvPr id="5" name="Shape 3"/>
          <p:cNvSpPr/>
          <p:nvPr/>
        </p:nvSpPr>
        <p:spPr>
          <a:xfrm>
            <a:off x="640080" y="1463040"/>
            <a:ext cx="3703320" cy="3127248"/>
          </a:xfrm>
          <a:prstGeom prst="rect">
            <a:avLst/>
          </a:prstGeom>
          <a:solidFill>
            <a:srgbClr val="1B9AAA">
              <a:alpha val="7000"/>
            </a:srgbClr>
          </a:solidFill>
          <a:ln w="9525">
            <a:solidFill>
              <a:srgbClr val="14293D"/>
            </a:solidFill>
            <a:prstDash val="solid"/>
          </a:ln>
        </p:spPr>
        <p:txBody>
          <a:bodyPr/>
          <a:lstStyle/>
          <a:p>
            <a:endParaRPr lang="en-US"/>
          </a:p>
        </p:txBody>
      </p:sp>
      <p:sp>
        <p:nvSpPr>
          <p:cNvPr id="6" name="Text 4"/>
          <p:cNvSpPr/>
          <p:nvPr/>
        </p:nvSpPr>
        <p:spPr>
          <a:xfrm>
            <a:off x="768096" y="1572768"/>
            <a:ext cx="3447288" cy="237744"/>
          </a:xfrm>
          <a:prstGeom prst="rect">
            <a:avLst/>
          </a:prstGeom>
          <a:noFill/>
          <a:ln/>
        </p:spPr>
        <p:txBody>
          <a:bodyPr wrap="square" lIns="0" tIns="0" rIns="0" bIns="0" rtlCol="0" anchor="ctr"/>
          <a:lstStyle/>
          <a:p>
            <a:pPr marL="0" indent="0">
              <a:buNone/>
            </a:pPr>
            <a:r>
              <a:rPr lang="en-US" sz="1200" dirty="0">
                <a:solidFill>
                  <a:srgbClr val="0D1B2A"/>
                </a:solidFill>
                <a:latin typeface="Oswald" pitchFamily="34" charset="0"/>
                <a:ea typeface="Oswald" pitchFamily="34" charset="-122"/>
                <a:cs typeface="Oswald" pitchFamily="34" charset="-120"/>
              </a:rPr>
              <a:t>Artificial Intelligence</a:t>
            </a:r>
            <a:endParaRPr lang="en-US" sz="1200" dirty="0"/>
          </a:p>
        </p:txBody>
      </p:sp>
      <p:sp>
        <p:nvSpPr>
          <p:cNvPr id="7" name="Shape 5"/>
          <p:cNvSpPr/>
          <p:nvPr/>
        </p:nvSpPr>
        <p:spPr>
          <a:xfrm>
            <a:off x="896112" y="1810512"/>
            <a:ext cx="3200400" cy="2542032"/>
          </a:xfrm>
          <a:prstGeom prst="rect">
            <a:avLst/>
          </a:prstGeom>
          <a:solidFill>
            <a:srgbClr val="1B9AAA">
              <a:alpha val="7000"/>
            </a:srgbClr>
          </a:solidFill>
          <a:ln w="9525">
            <a:solidFill>
              <a:srgbClr val="14293D"/>
            </a:solidFill>
            <a:prstDash val="solid"/>
          </a:ln>
        </p:spPr>
        <p:txBody>
          <a:bodyPr/>
          <a:lstStyle/>
          <a:p>
            <a:endParaRPr lang="en-US"/>
          </a:p>
        </p:txBody>
      </p:sp>
      <p:sp>
        <p:nvSpPr>
          <p:cNvPr id="8" name="Text 6"/>
          <p:cNvSpPr/>
          <p:nvPr/>
        </p:nvSpPr>
        <p:spPr>
          <a:xfrm>
            <a:off x="1024128" y="1920240"/>
            <a:ext cx="2944368" cy="237744"/>
          </a:xfrm>
          <a:prstGeom prst="rect">
            <a:avLst/>
          </a:prstGeom>
          <a:noFill/>
          <a:ln/>
        </p:spPr>
        <p:txBody>
          <a:bodyPr wrap="square" lIns="0" tIns="0" rIns="0" bIns="0" rtlCol="0" anchor="ctr"/>
          <a:lstStyle/>
          <a:p>
            <a:pPr marL="0" indent="0">
              <a:buNone/>
            </a:pPr>
            <a:r>
              <a:rPr lang="en-US" sz="1200" dirty="0">
                <a:solidFill>
                  <a:srgbClr val="0D1B2A"/>
                </a:solidFill>
                <a:latin typeface="Oswald" pitchFamily="34" charset="0"/>
                <a:ea typeface="Oswald" pitchFamily="34" charset="-122"/>
                <a:cs typeface="Oswald" pitchFamily="34" charset="-120"/>
              </a:rPr>
              <a:t>Machine Learning</a:t>
            </a:r>
            <a:endParaRPr lang="en-US" sz="1200" dirty="0"/>
          </a:p>
        </p:txBody>
      </p:sp>
      <p:sp>
        <p:nvSpPr>
          <p:cNvPr id="9" name="Shape 7"/>
          <p:cNvSpPr/>
          <p:nvPr/>
        </p:nvSpPr>
        <p:spPr>
          <a:xfrm>
            <a:off x="1152144" y="2157984"/>
            <a:ext cx="2697480" cy="1975104"/>
          </a:xfrm>
          <a:prstGeom prst="rect">
            <a:avLst/>
          </a:prstGeom>
          <a:solidFill>
            <a:srgbClr val="1B9AAA">
              <a:alpha val="7000"/>
            </a:srgbClr>
          </a:solidFill>
          <a:ln w="9525">
            <a:solidFill>
              <a:srgbClr val="14293D"/>
            </a:solidFill>
            <a:prstDash val="solid"/>
          </a:ln>
        </p:spPr>
        <p:txBody>
          <a:bodyPr/>
          <a:lstStyle/>
          <a:p>
            <a:endParaRPr lang="en-US"/>
          </a:p>
        </p:txBody>
      </p:sp>
      <p:sp>
        <p:nvSpPr>
          <p:cNvPr id="10" name="Text 8"/>
          <p:cNvSpPr/>
          <p:nvPr/>
        </p:nvSpPr>
        <p:spPr>
          <a:xfrm>
            <a:off x="1280160" y="2267712"/>
            <a:ext cx="2441448" cy="237744"/>
          </a:xfrm>
          <a:prstGeom prst="rect">
            <a:avLst/>
          </a:prstGeom>
          <a:noFill/>
          <a:ln/>
        </p:spPr>
        <p:txBody>
          <a:bodyPr wrap="square" lIns="0" tIns="0" rIns="0" bIns="0" rtlCol="0" anchor="ctr"/>
          <a:lstStyle/>
          <a:p>
            <a:pPr marL="0" indent="0">
              <a:buNone/>
            </a:pPr>
            <a:r>
              <a:rPr lang="en-US" sz="1200" dirty="0">
                <a:solidFill>
                  <a:srgbClr val="0D1B2A"/>
                </a:solidFill>
                <a:latin typeface="Oswald" pitchFamily="34" charset="0"/>
                <a:ea typeface="Oswald" pitchFamily="34" charset="-122"/>
                <a:cs typeface="Oswald" pitchFamily="34" charset="-120"/>
              </a:rPr>
              <a:t>Deep Learning</a:t>
            </a:r>
            <a:endParaRPr lang="en-US" sz="1200" dirty="0"/>
          </a:p>
        </p:txBody>
      </p:sp>
      <p:sp>
        <p:nvSpPr>
          <p:cNvPr id="11" name="Shape 9"/>
          <p:cNvSpPr/>
          <p:nvPr/>
        </p:nvSpPr>
        <p:spPr>
          <a:xfrm>
            <a:off x="1408176" y="2780465"/>
            <a:ext cx="1011890" cy="941832"/>
          </a:xfrm>
          <a:prstGeom prst="rect">
            <a:avLst/>
          </a:prstGeom>
          <a:solidFill>
            <a:srgbClr val="1B9AAA">
              <a:alpha val="7000"/>
            </a:srgbClr>
          </a:solidFill>
          <a:ln w="9525">
            <a:solidFill>
              <a:srgbClr val="14293D"/>
            </a:solidFill>
            <a:prstDash val="solid"/>
          </a:ln>
        </p:spPr>
        <p:txBody>
          <a:bodyPr/>
          <a:lstStyle/>
          <a:p>
            <a:endParaRPr lang="en-US"/>
          </a:p>
        </p:txBody>
      </p:sp>
      <p:sp>
        <p:nvSpPr>
          <p:cNvPr id="12" name="Text 10"/>
          <p:cNvSpPr/>
          <p:nvPr/>
        </p:nvSpPr>
        <p:spPr>
          <a:xfrm>
            <a:off x="1527048" y="2881049"/>
            <a:ext cx="1225296" cy="237744"/>
          </a:xfrm>
          <a:prstGeom prst="rect">
            <a:avLst/>
          </a:prstGeom>
          <a:noFill/>
          <a:ln/>
        </p:spPr>
        <p:txBody>
          <a:bodyPr wrap="square" lIns="0" tIns="0" rIns="0" bIns="0" rtlCol="0" anchor="ctr"/>
          <a:lstStyle/>
          <a:p>
            <a:pPr marL="0" indent="0">
              <a:buNone/>
            </a:pPr>
            <a:r>
              <a:rPr lang="en-US" sz="1100" dirty="0">
                <a:solidFill>
                  <a:srgbClr val="0D1B2A"/>
                </a:solidFill>
                <a:latin typeface="Oswald" pitchFamily="34" charset="0"/>
                <a:ea typeface="Oswald" pitchFamily="34" charset="-122"/>
                <a:cs typeface="Oswald" pitchFamily="34" charset="-120"/>
              </a:rPr>
              <a:t>Generative AI</a:t>
            </a:r>
            <a:endParaRPr lang="en-US" sz="1100" dirty="0"/>
          </a:p>
        </p:txBody>
      </p:sp>
      <p:sp>
        <p:nvSpPr>
          <p:cNvPr id="13" name="Shape 11"/>
          <p:cNvSpPr/>
          <p:nvPr/>
        </p:nvSpPr>
        <p:spPr>
          <a:xfrm>
            <a:off x="2548082" y="2789609"/>
            <a:ext cx="1011890" cy="941832"/>
          </a:xfrm>
          <a:prstGeom prst="rect">
            <a:avLst/>
          </a:prstGeom>
          <a:solidFill>
            <a:srgbClr val="06D6A0">
              <a:alpha val="18000"/>
            </a:srgbClr>
          </a:solidFill>
          <a:ln w="12700">
            <a:solidFill>
              <a:srgbClr val="0D1B2A"/>
            </a:solidFill>
            <a:prstDash val="solid"/>
          </a:ln>
        </p:spPr>
        <p:txBody>
          <a:bodyPr/>
          <a:lstStyle/>
          <a:p>
            <a:endParaRPr lang="en-US"/>
          </a:p>
        </p:txBody>
      </p:sp>
      <p:sp>
        <p:nvSpPr>
          <p:cNvPr id="14" name="Text 12"/>
          <p:cNvSpPr/>
          <p:nvPr/>
        </p:nvSpPr>
        <p:spPr>
          <a:xfrm>
            <a:off x="2638044" y="2881049"/>
            <a:ext cx="1280160" cy="237744"/>
          </a:xfrm>
          <a:prstGeom prst="rect">
            <a:avLst/>
          </a:prstGeom>
          <a:noFill/>
          <a:ln/>
        </p:spPr>
        <p:txBody>
          <a:bodyPr wrap="square" lIns="0" tIns="0" rIns="0" bIns="0" rtlCol="0" anchor="ctr"/>
          <a:lstStyle/>
          <a:p>
            <a:pPr marL="0" indent="0">
              <a:buNone/>
            </a:pPr>
            <a:r>
              <a:rPr lang="en-US" sz="1100" dirty="0">
                <a:solidFill>
                  <a:srgbClr val="0D1B2A"/>
                </a:solidFill>
                <a:latin typeface="Oswald" pitchFamily="34" charset="0"/>
                <a:ea typeface="Oswald" pitchFamily="34" charset="-122"/>
                <a:cs typeface="Oswald" pitchFamily="34" charset="-120"/>
              </a:rPr>
              <a:t>Agentic AI</a:t>
            </a:r>
            <a:endParaRPr lang="en-US" sz="1100" dirty="0"/>
          </a:p>
        </p:txBody>
      </p:sp>
      <p:sp>
        <p:nvSpPr>
          <p:cNvPr id="16" name="Shape 14"/>
          <p:cNvSpPr/>
          <p:nvPr/>
        </p:nvSpPr>
        <p:spPr>
          <a:xfrm>
            <a:off x="4617720" y="1463040"/>
            <a:ext cx="566928" cy="237744"/>
          </a:xfrm>
          <a:prstGeom prst="rect">
            <a:avLst/>
          </a:prstGeom>
          <a:solidFill>
            <a:srgbClr val="1B9AAA"/>
          </a:solidFill>
          <a:ln/>
        </p:spPr>
        <p:txBody>
          <a:bodyPr/>
          <a:lstStyle/>
          <a:p>
            <a:endParaRPr lang="en-US"/>
          </a:p>
        </p:txBody>
      </p:sp>
      <p:sp>
        <p:nvSpPr>
          <p:cNvPr id="17" name="Text 15"/>
          <p:cNvSpPr/>
          <p:nvPr/>
        </p:nvSpPr>
        <p:spPr>
          <a:xfrm>
            <a:off x="4617720" y="1495044"/>
            <a:ext cx="566928" cy="182880"/>
          </a:xfrm>
          <a:prstGeom prst="rect">
            <a:avLst/>
          </a:prstGeom>
          <a:noFill/>
          <a:ln/>
        </p:spPr>
        <p:txBody>
          <a:bodyPr wrap="square" lIns="0" tIns="0" rIns="0" bIns="0" rtlCol="0" anchor="ctr"/>
          <a:lstStyle/>
          <a:p>
            <a:pPr marL="0" indent="0" algn="ctr">
              <a:buNone/>
            </a:pPr>
            <a:r>
              <a:rPr lang="en-US" sz="950" dirty="0">
                <a:solidFill>
                  <a:srgbClr val="FFFFFF"/>
                </a:solidFill>
                <a:latin typeface="JetBrains Mono" pitchFamily="34" charset="0"/>
                <a:ea typeface="JetBrains Mono" pitchFamily="34" charset="-122"/>
                <a:cs typeface="JetBrains Mono" pitchFamily="34" charset="-120"/>
              </a:rPr>
              <a:t>1955</a:t>
            </a:r>
            <a:endParaRPr lang="en-US" sz="950" dirty="0"/>
          </a:p>
        </p:txBody>
      </p:sp>
      <p:sp>
        <p:nvSpPr>
          <p:cNvPr id="18" name="Text 16"/>
          <p:cNvSpPr/>
          <p:nvPr/>
        </p:nvSpPr>
        <p:spPr>
          <a:xfrm>
            <a:off x="5303520" y="146761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Artificial Intelligence</a:t>
            </a:r>
            <a:endParaRPr lang="en-US" sz="1400" dirty="0"/>
          </a:p>
        </p:txBody>
      </p:sp>
      <p:sp>
        <p:nvSpPr>
          <p:cNvPr id="19" name="Text 17"/>
          <p:cNvSpPr/>
          <p:nvPr/>
        </p:nvSpPr>
        <p:spPr>
          <a:xfrm>
            <a:off x="5303520" y="172821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The overarching field: machines performing tasks that require human-like intelligence.</a:t>
            </a:r>
            <a:endParaRPr lang="en-US" sz="950" dirty="0"/>
          </a:p>
        </p:txBody>
      </p:sp>
      <p:sp>
        <p:nvSpPr>
          <p:cNvPr id="20" name="Shape 18"/>
          <p:cNvSpPr/>
          <p:nvPr/>
        </p:nvSpPr>
        <p:spPr>
          <a:xfrm>
            <a:off x="4617720" y="2103120"/>
            <a:ext cx="566928" cy="237744"/>
          </a:xfrm>
          <a:prstGeom prst="rect">
            <a:avLst/>
          </a:prstGeom>
          <a:solidFill>
            <a:srgbClr val="1B9AAA"/>
          </a:solidFill>
          <a:ln/>
        </p:spPr>
        <p:txBody>
          <a:bodyPr/>
          <a:lstStyle/>
          <a:p>
            <a:endParaRPr lang="en-US"/>
          </a:p>
        </p:txBody>
      </p:sp>
      <p:sp>
        <p:nvSpPr>
          <p:cNvPr id="21" name="Text 19"/>
          <p:cNvSpPr/>
          <p:nvPr/>
        </p:nvSpPr>
        <p:spPr>
          <a:xfrm>
            <a:off x="4617720" y="2135124"/>
            <a:ext cx="566928" cy="182880"/>
          </a:xfrm>
          <a:prstGeom prst="rect">
            <a:avLst/>
          </a:prstGeom>
          <a:noFill/>
          <a:ln/>
        </p:spPr>
        <p:txBody>
          <a:bodyPr wrap="square" lIns="0" tIns="0" rIns="0" bIns="0" rtlCol="0" anchor="ctr"/>
          <a:lstStyle/>
          <a:p>
            <a:pPr marL="0" indent="0" algn="ctr">
              <a:buNone/>
            </a:pPr>
            <a:r>
              <a:rPr lang="en-US" sz="950" dirty="0">
                <a:solidFill>
                  <a:srgbClr val="FFFFFF"/>
                </a:solidFill>
                <a:latin typeface="JetBrains Mono" pitchFamily="34" charset="0"/>
                <a:ea typeface="JetBrains Mono" pitchFamily="34" charset="-122"/>
                <a:cs typeface="JetBrains Mono" pitchFamily="34" charset="-120"/>
              </a:rPr>
              <a:t>1997</a:t>
            </a:r>
            <a:endParaRPr lang="en-US" sz="950" dirty="0"/>
          </a:p>
        </p:txBody>
      </p:sp>
      <p:sp>
        <p:nvSpPr>
          <p:cNvPr id="22" name="Text 20"/>
          <p:cNvSpPr/>
          <p:nvPr/>
        </p:nvSpPr>
        <p:spPr>
          <a:xfrm>
            <a:off x="5303520" y="210769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Machine Learning</a:t>
            </a:r>
            <a:endParaRPr lang="en-US" sz="1400" dirty="0"/>
          </a:p>
        </p:txBody>
      </p:sp>
      <p:sp>
        <p:nvSpPr>
          <p:cNvPr id="23" name="Text 21"/>
          <p:cNvSpPr/>
          <p:nvPr/>
        </p:nvSpPr>
        <p:spPr>
          <a:xfrm>
            <a:off x="5303520" y="236829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A subset of AI: learning from data instead of explicit programming, to predict, classify or detect patterns.</a:t>
            </a:r>
            <a:endParaRPr lang="en-US" sz="950" dirty="0"/>
          </a:p>
        </p:txBody>
      </p:sp>
      <p:sp>
        <p:nvSpPr>
          <p:cNvPr id="24" name="Shape 22"/>
          <p:cNvSpPr/>
          <p:nvPr/>
        </p:nvSpPr>
        <p:spPr>
          <a:xfrm>
            <a:off x="4617720" y="2743200"/>
            <a:ext cx="566928" cy="237744"/>
          </a:xfrm>
          <a:prstGeom prst="rect">
            <a:avLst/>
          </a:prstGeom>
          <a:solidFill>
            <a:srgbClr val="1B9AAA"/>
          </a:solidFill>
          <a:ln/>
        </p:spPr>
        <p:txBody>
          <a:bodyPr/>
          <a:lstStyle/>
          <a:p>
            <a:endParaRPr lang="en-US"/>
          </a:p>
        </p:txBody>
      </p:sp>
      <p:sp>
        <p:nvSpPr>
          <p:cNvPr id="25" name="Text 23"/>
          <p:cNvSpPr/>
          <p:nvPr/>
        </p:nvSpPr>
        <p:spPr>
          <a:xfrm>
            <a:off x="4617720" y="2775204"/>
            <a:ext cx="566928" cy="182880"/>
          </a:xfrm>
          <a:prstGeom prst="rect">
            <a:avLst/>
          </a:prstGeom>
          <a:noFill/>
          <a:ln/>
        </p:spPr>
        <p:txBody>
          <a:bodyPr wrap="square" lIns="0" tIns="0" rIns="0" bIns="0" rtlCol="0" anchor="ctr"/>
          <a:lstStyle/>
          <a:p>
            <a:pPr marL="0" indent="0" algn="ctr">
              <a:buNone/>
            </a:pPr>
            <a:r>
              <a:rPr lang="en-US" sz="950" dirty="0">
                <a:solidFill>
                  <a:srgbClr val="FFFFFF"/>
                </a:solidFill>
                <a:latin typeface="JetBrains Mono" pitchFamily="34" charset="0"/>
                <a:ea typeface="JetBrains Mono" pitchFamily="34" charset="-122"/>
                <a:cs typeface="JetBrains Mono" pitchFamily="34" charset="-120"/>
              </a:rPr>
              <a:t>2017</a:t>
            </a:r>
            <a:endParaRPr lang="en-US" sz="950" dirty="0"/>
          </a:p>
        </p:txBody>
      </p:sp>
      <p:sp>
        <p:nvSpPr>
          <p:cNvPr id="26" name="Text 24"/>
          <p:cNvSpPr/>
          <p:nvPr/>
        </p:nvSpPr>
        <p:spPr>
          <a:xfrm>
            <a:off x="5303520" y="274777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Deep Learning</a:t>
            </a:r>
            <a:endParaRPr lang="en-US" sz="1400" dirty="0"/>
          </a:p>
        </p:txBody>
      </p:sp>
      <p:sp>
        <p:nvSpPr>
          <p:cNvPr id="27" name="Text 25"/>
          <p:cNvSpPr/>
          <p:nvPr/>
        </p:nvSpPr>
        <p:spPr>
          <a:xfrm>
            <a:off x="5303520" y="300837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A subset of ML using many-layered neural networks to find complex patterns in large, unstructured data — text, images, audio, video.</a:t>
            </a:r>
            <a:endParaRPr lang="en-US" sz="950" dirty="0"/>
          </a:p>
        </p:txBody>
      </p:sp>
      <p:sp>
        <p:nvSpPr>
          <p:cNvPr id="28" name="Shape 26"/>
          <p:cNvSpPr/>
          <p:nvPr/>
        </p:nvSpPr>
        <p:spPr>
          <a:xfrm>
            <a:off x="4617720" y="3383280"/>
            <a:ext cx="566928" cy="237744"/>
          </a:xfrm>
          <a:prstGeom prst="rect">
            <a:avLst/>
          </a:prstGeom>
          <a:solidFill>
            <a:srgbClr val="1B9AAA"/>
          </a:solidFill>
          <a:ln/>
        </p:spPr>
        <p:txBody>
          <a:bodyPr/>
          <a:lstStyle/>
          <a:p>
            <a:endParaRPr lang="en-US"/>
          </a:p>
        </p:txBody>
      </p:sp>
      <p:sp>
        <p:nvSpPr>
          <p:cNvPr id="29" name="Text 27"/>
          <p:cNvSpPr/>
          <p:nvPr/>
        </p:nvSpPr>
        <p:spPr>
          <a:xfrm>
            <a:off x="4617720" y="3415284"/>
            <a:ext cx="566928" cy="182880"/>
          </a:xfrm>
          <a:prstGeom prst="rect">
            <a:avLst/>
          </a:prstGeom>
          <a:noFill/>
          <a:ln/>
        </p:spPr>
        <p:txBody>
          <a:bodyPr wrap="square" lIns="0" tIns="0" rIns="0" bIns="0" rtlCol="0" anchor="ctr"/>
          <a:lstStyle/>
          <a:p>
            <a:pPr marL="0" indent="0" algn="ctr">
              <a:buNone/>
            </a:pPr>
            <a:r>
              <a:rPr lang="en-US" sz="950" dirty="0">
                <a:solidFill>
                  <a:srgbClr val="FFFFFF"/>
                </a:solidFill>
                <a:latin typeface="JetBrains Mono" pitchFamily="34" charset="0"/>
                <a:ea typeface="JetBrains Mono" pitchFamily="34" charset="-122"/>
                <a:cs typeface="JetBrains Mono" pitchFamily="34" charset="-120"/>
              </a:rPr>
              <a:t>2018</a:t>
            </a:r>
            <a:endParaRPr lang="en-US" sz="950" dirty="0"/>
          </a:p>
        </p:txBody>
      </p:sp>
      <p:sp>
        <p:nvSpPr>
          <p:cNvPr id="30" name="Text 28"/>
          <p:cNvSpPr/>
          <p:nvPr/>
        </p:nvSpPr>
        <p:spPr>
          <a:xfrm>
            <a:off x="5303520" y="338785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Generative AI</a:t>
            </a:r>
            <a:endParaRPr lang="en-US" sz="1400" dirty="0"/>
          </a:p>
        </p:txBody>
      </p:sp>
      <p:sp>
        <p:nvSpPr>
          <p:cNvPr id="31" name="Text 29"/>
          <p:cNvSpPr/>
          <p:nvPr/>
        </p:nvSpPr>
        <p:spPr>
          <a:xfrm>
            <a:off x="5303520" y="364845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A branch of AI that creates new content — text, images, video, audio, code — by learning patterns from massive datasets.</a:t>
            </a:r>
            <a:endParaRPr lang="en-US" sz="950" dirty="0"/>
          </a:p>
        </p:txBody>
      </p:sp>
      <p:sp>
        <p:nvSpPr>
          <p:cNvPr id="32" name="Shape 30"/>
          <p:cNvSpPr/>
          <p:nvPr/>
        </p:nvSpPr>
        <p:spPr>
          <a:xfrm>
            <a:off x="4617720" y="4023360"/>
            <a:ext cx="566928" cy="237744"/>
          </a:xfrm>
          <a:prstGeom prst="rect">
            <a:avLst/>
          </a:prstGeom>
          <a:solidFill>
            <a:srgbClr val="06D6A0"/>
          </a:solidFill>
          <a:ln/>
        </p:spPr>
        <p:txBody>
          <a:bodyPr/>
          <a:lstStyle/>
          <a:p>
            <a:endParaRPr lang="en-US"/>
          </a:p>
        </p:txBody>
      </p:sp>
      <p:sp>
        <p:nvSpPr>
          <p:cNvPr id="33" name="Text 31"/>
          <p:cNvSpPr/>
          <p:nvPr/>
        </p:nvSpPr>
        <p:spPr>
          <a:xfrm>
            <a:off x="4617720" y="4055364"/>
            <a:ext cx="566928" cy="182880"/>
          </a:xfrm>
          <a:prstGeom prst="rect">
            <a:avLst/>
          </a:prstGeom>
          <a:noFill/>
          <a:ln/>
        </p:spPr>
        <p:txBody>
          <a:bodyPr wrap="square" lIns="0" tIns="0" rIns="0" bIns="0" rtlCol="0" anchor="ctr"/>
          <a:lstStyle/>
          <a:p>
            <a:pPr marL="0" indent="0" algn="ctr">
              <a:buNone/>
            </a:pPr>
            <a:r>
              <a:rPr lang="en-US" sz="950" dirty="0">
                <a:solidFill>
                  <a:srgbClr val="0D1B2A"/>
                </a:solidFill>
                <a:latin typeface="JetBrains Mono" pitchFamily="34" charset="0"/>
                <a:ea typeface="JetBrains Mono" pitchFamily="34" charset="-122"/>
                <a:cs typeface="JetBrains Mono" pitchFamily="34" charset="-120"/>
              </a:rPr>
              <a:t>2024</a:t>
            </a:r>
            <a:endParaRPr lang="en-US" sz="950" dirty="0"/>
          </a:p>
        </p:txBody>
      </p:sp>
      <p:sp>
        <p:nvSpPr>
          <p:cNvPr id="34" name="Text 32"/>
          <p:cNvSpPr/>
          <p:nvPr/>
        </p:nvSpPr>
        <p:spPr>
          <a:xfrm>
            <a:off x="5303520" y="402793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Agentic AI</a:t>
            </a:r>
            <a:endParaRPr lang="en-US" sz="1400" dirty="0"/>
          </a:p>
        </p:txBody>
      </p:sp>
      <p:sp>
        <p:nvSpPr>
          <p:cNvPr id="35" name="Text 33"/>
          <p:cNvSpPr/>
          <p:nvPr/>
        </p:nvSpPr>
        <p:spPr>
          <a:xfrm>
            <a:off x="5303520" y="428853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Builds on generative models by adding tool/API use, memory and planning in a closed loop, enabling autonomous goal pursuit beyond content creation.</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5-1">
            <a:extLst>
              <a:ext uri="{FF2B5EF4-FFF2-40B4-BE49-F238E27FC236}">
                <a16:creationId xmlns:a16="http://schemas.microsoft.com/office/drawing/2014/main" id="{9C843922-5029-1F26-9CDB-66EDA471E195}"/>
              </a:ext>
            </a:extLst>
          </p:cNvPr>
          <p:cNvSpPr txBox="1"/>
          <p:nvPr/>
        </p:nvSpPr>
        <p:spPr>
          <a:xfrm>
            <a:off x="495300" y="257175"/>
            <a:ext cx="8153400" cy="209550"/>
          </a:xfrm>
          <a:prstGeom prst="rect">
            <a:avLst/>
          </a:prstGeom>
          <a:noFill/>
        </p:spPr>
        <p:txBody>
          <a:bodyPr vert="horz" wrap="square" lIns="0" tIns="0" rIns="0" bIns="0" rtlCol="0">
            <a:noAutofit/>
          </a:bodyPr>
          <a:lstStyle/>
          <a:p>
            <a:endParaRPr lang="en-US" sz="900" dirty="0">
              <a:solidFill>
                <a:srgbClr val="1B9AAA"/>
              </a:solidFill>
              <a:latin typeface="Consolas" panose="020B0609020204030204" pitchFamily="49" charset="0"/>
            </a:endParaRPr>
          </a:p>
        </p:txBody>
      </p:sp>
      <p:sp>
        <p:nvSpPr>
          <p:cNvPr id="3" name="Text 5-2">
            <a:extLst>
              <a:ext uri="{FF2B5EF4-FFF2-40B4-BE49-F238E27FC236}">
                <a16:creationId xmlns:a16="http://schemas.microsoft.com/office/drawing/2014/main" id="{B8D50D8C-F06F-421C-F088-B1E46985D8A7}"/>
              </a:ext>
            </a:extLst>
          </p:cNvPr>
          <p:cNvSpPr txBox="1"/>
          <p:nvPr/>
        </p:nvSpPr>
        <p:spPr>
          <a:xfrm>
            <a:off x="495300" y="561975"/>
            <a:ext cx="8153400" cy="504825"/>
          </a:xfrm>
          <a:prstGeom prst="rect">
            <a:avLst/>
          </a:prstGeom>
          <a:noFill/>
        </p:spPr>
        <p:txBody>
          <a:bodyPr vert="horz" wrap="square" lIns="0" tIns="0" rIns="0" bIns="0" rtlCol="0">
            <a:noAutofit/>
          </a:bodyPr>
          <a:lstStyle/>
          <a:p>
            <a:r>
              <a:rPr lang="en-US" sz="2700">
                <a:solidFill>
                  <a:srgbClr val="0D1B2A"/>
                </a:solidFill>
                <a:latin typeface="Bahnschrift Condensed" panose="020B0502040204020203" pitchFamily="34" charset="0"/>
              </a:rPr>
              <a:t>From hand-written rules to learned patterns</a:t>
            </a:r>
          </a:p>
        </p:txBody>
      </p:sp>
      <p:sp>
        <p:nvSpPr>
          <p:cNvPr id="4" name="Text 5-3">
            <a:extLst>
              <a:ext uri="{FF2B5EF4-FFF2-40B4-BE49-F238E27FC236}">
                <a16:creationId xmlns:a16="http://schemas.microsoft.com/office/drawing/2014/main" id="{4E134939-9238-0E5F-39D9-4EFE159E8E63}"/>
              </a:ext>
            </a:extLst>
          </p:cNvPr>
          <p:cNvSpPr txBox="1"/>
          <p:nvPr/>
        </p:nvSpPr>
        <p:spPr>
          <a:xfrm>
            <a:off x="495300" y="1133475"/>
            <a:ext cx="8153400" cy="361950"/>
          </a:xfrm>
          <a:prstGeom prst="rect">
            <a:avLst/>
          </a:prstGeom>
          <a:noFill/>
        </p:spPr>
        <p:txBody>
          <a:bodyPr vert="horz" wrap="square" lIns="0" tIns="0" rIns="0" bIns="0" rtlCol="0">
            <a:noAutofit/>
          </a:bodyPr>
          <a:lstStyle/>
          <a:p>
            <a:r>
              <a:rPr lang="en-US" sz="1275">
                <a:solidFill>
                  <a:srgbClr val="586E7D"/>
                </a:solidFill>
                <a:latin typeface="Arial" panose="020B0604020202020204" pitchFamily="34" charset="0"/>
              </a:rPr>
              <a:t>AI is the umbrella. Machine learning is one way to build an AI system.</a:t>
            </a:r>
          </a:p>
        </p:txBody>
      </p:sp>
      <p:sp>
        <p:nvSpPr>
          <p:cNvPr id="8" name="Rectangle 7">
            <a:extLst>
              <a:ext uri="{FF2B5EF4-FFF2-40B4-BE49-F238E27FC236}">
                <a16:creationId xmlns:a16="http://schemas.microsoft.com/office/drawing/2014/main" id="{902B6E3C-462F-1BC7-C0F5-F65E5E2EEA6E}"/>
              </a:ext>
            </a:extLst>
          </p:cNvPr>
          <p:cNvSpPr/>
          <p:nvPr/>
        </p:nvSpPr>
        <p:spPr>
          <a:xfrm>
            <a:off x="495300" y="1676400"/>
            <a:ext cx="3962400" cy="2333625"/>
          </a:xfrm>
          <a:prstGeom prst="rect">
            <a:avLst/>
          </a:prstGeom>
          <a:solidFill>
            <a:srgbClr val="FFFFFF"/>
          </a:solidFill>
          <a:ln w="10160">
            <a:solidFill>
              <a:srgbClr val="DDE5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9" name="Rectangle 8">
            <a:extLst>
              <a:ext uri="{FF2B5EF4-FFF2-40B4-BE49-F238E27FC236}">
                <a16:creationId xmlns:a16="http://schemas.microsoft.com/office/drawing/2014/main" id="{EB17488A-417C-4E8E-EE49-3F670EFB872E}"/>
              </a:ext>
            </a:extLst>
          </p:cNvPr>
          <p:cNvSpPr/>
          <p:nvPr/>
        </p:nvSpPr>
        <p:spPr>
          <a:xfrm>
            <a:off x="495300" y="1676400"/>
            <a:ext cx="38100" cy="2333625"/>
          </a:xfrm>
          <a:prstGeom prst="rect">
            <a:avLst/>
          </a:prstGeom>
          <a:solidFill>
            <a:srgbClr val="1B9A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0" name="Text 5-9">
            <a:extLst>
              <a:ext uri="{FF2B5EF4-FFF2-40B4-BE49-F238E27FC236}">
                <a16:creationId xmlns:a16="http://schemas.microsoft.com/office/drawing/2014/main" id="{E446E688-E471-F194-18EC-9E85B2F4F748}"/>
              </a:ext>
            </a:extLst>
          </p:cNvPr>
          <p:cNvSpPr txBox="1"/>
          <p:nvPr/>
        </p:nvSpPr>
        <p:spPr>
          <a:xfrm>
            <a:off x="676275" y="1819275"/>
            <a:ext cx="3600450" cy="342900"/>
          </a:xfrm>
          <a:prstGeom prst="rect">
            <a:avLst/>
          </a:prstGeom>
          <a:noFill/>
        </p:spPr>
        <p:txBody>
          <a:bodyPr vert="horz" wrap="square" lIns="0" tIns="0" rIns="0" bIns="0" rtlCol="0">
            <a:noAutofit/>
          </a:bodyPr>
          <a:lstStyle/>
          <a:p>
            <a:r>
              <a:rPr lang="en-US">
                <a:solidFill>
                  <a:srgbClr val="0D1B2A"/>
                </a:solidFill>
                <a:latin typeface="Bahnschrift Condensed" panose="020B0502040204020203" pitchFamily="34" charset="0"/>
              </a:rPr>
              <a:t>Explicit programming</a:t>
            </a:r>
          </a:p>
        </p:txBody>
      </p:sp>
      <p:sp>
        <p:nvSpPr>
          <p:cNvPr id="11" name="Text 5-10">
            <a:extLst>
              <a:ext uri="{FF2B5EF4-FFF2-40B4-BE49-F238E27FC236}">
                <a16:creationId xmlns:a16="http://schemas.microsoft.com/office/drawing/2014/main" id="{6217CC20-13CA-0317-0F94-CC7D7FB8DBFE}"/>
              </a:ext>
            </a:extLst>
          </p:cNvPr>
          <p:cNvSpPr txBox="1"/>
          <p:nvPr/>
        </p:nvSpPr>
        <p:spPr>
          <a:xfrm>
            <a:off x="676275" y="2266950"/>
            <a:ext cx="3600450" cy="1628775"/>
          </a:xfrm>
          <a:prstGeom prst="rect">
            <a:avLst/>
          </a:prstGeom>
          <a:noFill/>
        </p:spPr>
        <p:txBody>
          <a:bodyPr vert="horz" wrap="square" lIns="0" tIns="0" rIns="0" bIns="0" rtlCol="0">
            <a:noAutofit/>
          </a:bodyPr>
          <a:lstStyle/>
          <a:p>
            <a:r>
              <a:rPr lang="en-US" sz="1275">
                <a:solidFill>
                  <a:srgbClr val="586E7D"/>
                </a:solidFill>
                <a:latin typeface="Arial" panose="020B0604020202020204" pitchFamily="34" charset="0"/>
              </a:rPr>
              <a:t>A person writes the decision logic.
Example: flag an invoice when its amount exceeds a fixed limit.</a:t>
            </a:r>
          </a:p>
        </p:txBody>
      </p:sp>
      <p:sp>
        <p:nvSpPr>
          <p:cNvPr id="12" name="Rectangle 11">
            <a:extLst>
              <a:ext uri="{FF2B5EF4-FFF2-40B4-BE49-F238E27FC236}">
                <a16:creationId xmlns:a16="http://schemas.microsoft.com/office/drawing/2014/main" id="{591C2C9A-4F4E-47D3-ADA1-8548EE1D2C48}"/>
              </a:ext>
            </a:extLst>
          </p:cNvPr>
          <p:cNvSpPr/>
          <p:nvPr/>
        </p:nvSpPr>
        <p:spPr>
          <a:xfrm>
            <a:off x="4686300" y="1676400"/>
            <a:ext cx="3962400" cy="2333625"/>
          </a:xfrm>
          <a:prstGeom prst="rect">
            <a:avLst/>
          </a:prstGeom>
          <a:solidFill>
            <a:srgbClr val="FFFFFF"/>
          </a:solidFill>
          <a:ln w="10160">
            <a:solidFill>
              <a:srgbClr val="DDE5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3" name="Rectangle 12">
            <a:extLst>
              <a:ext uri="{FF2B5EF4-FFF2-40B4-BE49-F238E27FC236}">
                <a16:creationId xmlns:a16="http://schemas.microsoft.com/office/drawing/2014/main" id="{5D38B87B-EED2-5D34-8109-0721E4608AFE}"/>
              </a:ext>
            </a:extLst>
          </p:cNvPr>
          <p:cNvSpPr/>
          <p:nvPr/>
        </p:nvSpPr>
        <p:spPr>
          <a:xfrm>
            <a:off x="4686300" y="1676400"/>
            <a:ext cx="38100" cy="2333625"/>
          </a:xfrm>
          <a:prstGeom prst="rect">
            <a:avLst/>
          </a:prstGeom>
          <a:solidFill>
            <a:srgbClr val="1B9A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4" name="Text 5-13">
            <a:extLst>
              <a:ext uri="{FF2B5EF4-FFF2-40B4-BE49-F238E27FC236}">
                <a16:creationId xmlns:a16="http://schemas.microsoft.com/office/drawing/2014/main" id="{AA365240-7D77-C43A-3A73-0F29BB546941}"/>
              </a:ext>
            </a:extLst>
          </p:cNvPr>
          <p:cNvSpPr txBox="1"/>
          <p:nvPr/>
        </p:nvSpPr>
        <p:spPr>
          <a:xfrm>
            <a:off x="4867275" y="1819275"/>
            <a:ext cx="3600450" cy="342900"/>
          </a:xfrm>
          <a:prstGeom prst="rect">
            <a:avLst/>
          </a:prstGeom>
          <a:noFill/>
        </p:spPr>
        <p:txBody>
          <a:bodyPr vert="horz" wrap="square" lIns="0" tIns="0" rIns="0" bIns="0" rtlCol="0">
            <a:noAutofit/>
          </a:bodyPr>
          <a:lstStyle/>
          <a:p>
            <a:r>
              <a:rPr lang="en-US">
                <a:solidFill>
                  <a:srgbClr val="0D1B2A"/>
                </a:solidFill>
                <a:latin typeface="Bahnschrift Condensed" panose="020B0502040204020203" pitchFamily="34" charset="0"/>
              </a:rPr>
              <a:t>Machine learning</a:t>
            </a:r>
          </a:p>
        </p:txBody>
      </p:sp>
      <p:sp>
        <p:nvSpPr>
          <p:cNvPr id="15" name="Text 5-14">
            <a:extLst>
              <a:ext uri="{FF2B5EF4-FFF2-40B4-BE49-F238E27FC236}">
                <a16:creationId xmlns:a16="http://schemas.microsoft.com/office/drawing/2014/main" id="{72E30422-5AB6-6877-E55D-5465A75D8B42}"/>
              </a:ext>
            </a:extLst>
          </p:cNvPr>
          <p:cNvSpPr txBox="1"/>
          <p:nvPr/>
        </p:nvSpPr>
        <p:spPr>
          <a:xfrm>
            <a:off x="4867275" y="2266950"/>
            <a:ext cx="3600450" cy="1628775"/>
          </a:xfrm>
          <a:prstGeom prst="rect">
            <a:avLst/>
          </a:prstGeom>
          <a:noFill/>
        </p:spPr>
        <p:txBody>
          <a:bodyPr vert="horz" wrap="square" lIns="0" tIns="0" rIns="0" bIns="0" rtlCol="0">
            <a:noAutofit/>
          </a:bodyPr>
          <a:lstStyle/>
          <a:p>
            <a:r>
              <a:rPr lang="en-US" sz="1275">
                <a:solidFill>
                  <a:srgbClr val="586E7D"/>
                </a:solidFill>
                <a:latin typeface="Arial" panose="020B0604020202020204" pitchFamily="34" charset="0"/>
              </a:rPr>
              <a:t>Training adjusts a model using data and an objective.
Example: learn which invoices are likely to be unusual.</a:t>
            </a:r>
          </a:p>
        </p:txBody>
      </p:sp>
      <p:sp>
        <p:nvSpPr>
          <p:cNvPr id="16" name="Text 5-15">
            <a:extLst>
              <a:ext uri="{FF2B5EF4-FFF2-40B4-BE49-F238E27FC236}">
                <a16:creationId xmlns:a16="http://schemas.microsoft.com/office/drawing/2014/main" id="{DA3814EB-D171-44D4-BF23-36F5B16BEAC4}"/>
              </a:ext>
            </a:extLst>
          </p:cNvPr>
          <p:cNvSpPr txBox="1"/>
          <p:nvPr/>
        </p:nvSpPr>
        <p:spPr>
          <a:xfrm>
            <a:off x="695325" y="3552825"/>
            <a:ext cx="3562350" cy="314325"/>
          </a:xfrm>
          <a:prstGeom prst="rect">
            <a:avLst/>
          </a:prstGeom>
          <a:noFill/>
        </p:spPr>
        <p:txBody>
          <a:bodyPr vert="horz" wrap="square" lIns="0" tIns="0" rIns="0" bIns="0" rtlCol="0">
            <a:noAutofit/>
          </a:bodyPr>
          <a:lstStyle/>
          <a:p>
            <a:r>
              <a:rPr lang="en-US" sz="1200">
                <a:solidFill>
                  <a:srgbClr val="1B9AAA"/>
                </a:solidFill>
                <a:latin typeface="Consolas" panose="020B0609020204030204" pitchFamily="49" charset="0"/>
              </a:rPr>
              <a:t>RULES + DATA &gt; OUTPUT</a:t>
            </a:r>
          </a:p>
        </p:txBody>
      </p:sp>
      <p:sp>
        <p:nvSpPr>
          <p:cNvPr id="17" name="Text 5-16">
            <a:extLst>
              <a:ext uri="{FF2B5EF4-FFF2-40B4-BE49-F238E27FC236}">
                <a16:creationId xmlns:a16="http://schemas.microsoft.com/office/drawing/2014/main" id="{B20A9F14-2693-6069-6AEE-B6CAC67A5800}"/>
              </a:ext>
            </a:extLst>
          </p:cNvPr>
          <p:cNvSpPr txBox="1"/>
          <p:nvPr/>
        </p:nvSpPr>
        <p:spPr>
          <a:xfrm>
            <a:off x="4886325" y="3552825"/>
            <a:ext cx="3562350" cy="314325"/>
          </a:xfrm>
          <a:prstGeom prst="rect">
            <a:avLst/>
          </a:prstGeom>
          <a:noFill/>
        </p:spPr>
        <p:txBody>
          <a:bodyPr vert="horz" wrap="square" lIns="0" tIns="0" rIns="0" bIns="0" rtlCol="0">
            <a:noAutofit/>
          </a:bodyPr>
          <a:lstStyle/>
          <a:p>
            <a:r>
              <a:rPr lang="en-US" sz="1200">
                <a:solidFill>
                  <a:srgbClr val="1B9AAA"/>
                </a:solidFill>
                <a:latin typeface="Consolas" panose="020B0609020204030204" pitchFamily="49" charset="0"/>
              </a:rPr>
              <a:t>DATA + OBJECTIVE &gt; MODEL</a:t>
            </a:r>
          </a:p>
        </p:txBody>
      </p:sp>
    </p:spTree>
    <p:extLst>
      <p:ext uri="{BB962C8B-B14F-4D97-AF65-F5344CB8AC3E}">
        <p14:creationId xmlns:p14="http://schemas.microsoft.com/office/powerpoint/2010/main" val="11660361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6-1">
            <a:extLst>
              <a:ext uri="{FF2B5EF4-FFF2-40B4-BE49-F238E27FC236}">
                <a16:creationId xmlns:a16="http://schemas.microsoft.com/office/drawing/2014/main" id="{7854C88F-06C1-1839-6215-17236D40140C}"/>
              </a:ext>
            </a:extLst>
          </p:cNvPr>
          <p:cNvSpPr txBox="1"/>
          <p:nvPr/>
        </p:nvSpPr>
        <p:spPr>
          <a:xfrm>
            <a:off x="495300" y="257175"/>
            <a:ext cx="8153400" cy="209550"/>
          </a:xfrm>
          <a:prstGeom prst="rect">
            <a:avLst/>
          </a:prstGeom>
          <a:noFill/>
        </p:spPr>
        <p:txBody>
          <a:bodyPr vert="horz" wrap="square" lIns="0" tIns="0" rIns="0" bIns="0" rtlCol="0">
            <a:noAutofit/>
          </a:bodyPr>
          <a:lstStyle/>
          <a:p>
            <a:r>
              <a:rPr lang="de-DE" sz="900" kern="0" spc="200" dirty="0">
                <a:solidFill>
                  <a:srgbClr val="1B9AAA"/>
                </a:solidFill>
                <a:latin typeface="JetBrains Mono" pitchFamily="34" charset="0"/>
                <a:ea typeface="JetBrains Mono" pitchFamily="34" charset="-122"/>
              </a:rPr>
              <a:t>N</a:t>
            </a:r>
            <a:r>
              <a:rPr lang="en-US" sz="900" kern="0" spc="200" dirty="0" err="1">
                <a:solidFill>
                  <a:srgbClr val="1B9AAA"/>
                </a:solidFill>
                <a:latin typeface="JetBrains Mono" pitchFamily="34" charset="0"/>
                <a:ea typeface="JetBrains Mono" pitchFamily="34" charset="-122"/>
              </a:rPr>
              <a:t>eural</a:t>
            </a:r>
            <a:r>
              <a:rPr lang="en-US" sz="900" kern="0" spc="200" dirty="0">
                <a:solidFill>
                  <a:srgbClr val="1B9AAA"/>
                </a:solidFill>
                <a:latin typeface="JetBrains Mono" pitchFamily="34" charset="0"/>
                <a:ea typeface="JetBrains Mono" pitchFamily="34" charset="-122"/>
              </a:rPr>
              <a:t> Networks – Deep Learning</a:t>
            </a:r>
            <a:endParaRPr lang="en-US" sz="900" dirty="0"/>
          </a:p>
        </p:txBody>
      </p:sp>
      <p:sp>
        <p:nvSpPr>
          <p:cNvPr id="3" name="Text 6-2">
            <a:extLst>
              <a:ext uri="{FF2B5EF4-FFF2-40B4-BE49-F238E27FC236}">
                <a16:creationId xmlns:a16="http://schemas.microsoft.com/office/drawing/2014/main" id="{9D30C8DB-B70B-D961-0237-EBF4BCFEDC73}"/>
              </a:ext>
            </a:extLst>
          </p:cNvPr>
          <p:cNvSpPr txBox="1"/>
          <p:nvPr/>
        </p:nvSpPr>
        <p:spPr>
          <a:xfrm>
            <a:off x="495300" y="561975"/>
            <a:ext cx="8153400" cy="504825"/>
          </a:xfrm>
          <a:prstGeom prst="rect">
            <a:avLst/>
          </a:prstGeom>
          <a:noFill/>
        </p:spPr>
        <p:txBody>
          <a:bodyPr vert="horz" wrap="square" lIns="0" tIns="0" rIns="0" bIns="0" rtlCol="0">
            <a:noAutofit/>
          </a:bodyPr>
          <a:lstStyle/>
          <a:p>
            <a:r>
              <a:rPr lang="en-US" sz="2700" dirty="0">
                <a:solidFill>
                  <a:srgbClr val="0D1B2A"/>
                </a:solidFill>
                <a:latin typeface="Bahnschrift Condensed" panose="020B0502040204020203" pitchFamily="34" charset="0"/>
              </a:rPr>
              <a:t>Learn representations, not just a decision rule</a:t>
            </a:r>
          </a:p>
        </p:txBody>
      </p:sp>
      <p:sp>
        <p:nvSpPr>
          <p:cNvPr id="4" name="Text 6-3">
            <a:extLst>
              <a:ext uri="{FF2B5EF4-FFF2-40B4-BE49-F238E27FC236}">
                <a16:creationId xmlns:a16="http://schemas.microsoft.com/office/drawing/2014/main" id="{763569D8-095E-EAE5-862E-F7801020AFBF}"/>
              </a:ext>
            </a:extLst>
          </p:cNvPr>
          <p:cNvSpPr txBox="1"/>
          <p:nvPr/>
        </p:nvSpPr>
        <p:spPr>
          <a:xfrm>
            <a:off x="495300" y="1133475"/>
            <a:ext cx="8153400" cy="361950"/>
          </a:xfrm>
          <a:prstGeom prst="rect">
            <a:avLst/>
          </a:prstGeom>
          <a:noFill/>
        </p:spPr>
        <p:txBody>
          <a:bodyPr vert="horz" wrap="square" lIns="0" tIns="0" rIns="0" bIns="0" rtlCol="0">
            <a:noAutofit/>
          </a:bodyPr>
          <a:lstStyle/>
          <a:p>
            <a:r>
              <a:rPr lang="en-US" sz="1275">
                <a:solidFill>
                  <a:srgbClr val="586E7D"/>
                </a:solidFill>
                <a:latin typeface="Arial" panose="020B0604020202020204" pitchFamily="34" charset="0"/>
              </a:rPr>
              <a:t>Deep learning uses neural networks with many layers to learn complex patterns.</a:t>
            </a:r>
          </a:p>
        </p:txBody>
      </p:sp>
      <p:sp>
        <p:nvSpPr>
          <p:cNvPr id="7" name="Text 6-6">
            <a:extLst>
              <a:ext uri="{FF2B5EF4-FFF2-40B4-BE49-F238E27FC236}">
                <a16:creationId xmlns:a16="http://schemas.microsoft.com/office/drawing/2014/main" id="{CBF6B451-E6E9-7F23-F113-F7B0A486AA0E}"/>
              </a:ext>
            </a:extLst>
          </p:cNvPr>
          <p:cNvSpPr txBox="1"/>
          <p:nvPr/>
        </p:nvSpPr>
        <p:spPr>
          <a:xfrm>
            <a:off x="8267700" y="4867275"/>
            <a:ext cx="381000" cy="190500"/>
          </a:xfrm>
          <a:prstGeom prst="rect">
            <a:avLst/>
          </a:prstGeom>
          <a:noFill/>
        </p:spPr>
        <p:txBody>
          <a:bodyPr vert="horz" wrap="square" lIns="0" tIns="0" rIns="0" bIns="0" rtlCol="0">
            <a:noAutofit/>
          </a:bodyPr>
          <a:lstStyle/>
          <a:p>
            <a:pPr algn="r"/>
            <a:r>
              <a:rPr lang="en-US" sz="825">
                <a:solidFill>
                  <a:srgbClr val="586E7D"/>
                </a:solidFill>
                <a:latin typeface="Consolas" panose="020B0609020204030204" pitchFamily="49" charset="0"/>
              </a:rPr>
              <a:t>06</a:t>
            </a:r>
          </a:p>
        </p:txBody>
      </p:sp>
      <p:sp>
        <p:nvSpPr>
          <p:cNvPr id="8" name="Rectangle 7">
            <a:extLst>
              <a:ext uri="{FF2B5EF4-FFF2-40B4-BE49-F238E27FC236}">
                <a16:creationId xmlns:a16="http://schemas.microsoft.com/office/drawing/2014/main" id="{3B7562D8-F909-7EFB-9C2A-1AE0C793F2FA}"/>
              </a:ext>
            </a:extLst>
          </p:cNvPr>
          <p:cNvSpPr/>
          <p:nvPr/>
        </p:nvSpPr>
        <p:spPr>
          <a:xfrm>
            <a:off x="495300" y="1666875"/>
            <a:ext cx="4572000" cy="2533650"/>
          </a:xfrm>
          <a:prstGeom prst="rect">
            <a:avLst/>
          </a:prstGeom>
          <a:solidFill>
            <a:srgbClr val="FFFFFF"/>
          </a:solidFill>
          <a:ln w="10160">
            <a:solidFill>
              <a:srgbClr val="DDE5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9" name="Text 6-8">
            <a:extLst>
              <a:ext uri="{FF2B5EF4-FFF2-40B4-BE49-F238E27FC236}">
                <a16:creationId xmlns:a16="http://schemas.microsoft.com/office/drawing/2014/main" id="{7EBDBD4A-8FF8-9546-C159-84B7C9E8E20D}"/>
              </a:ext>
            </a:extLst>
          </p:cNvPr>
          <p:cNvSpPr txBox="1"/>
          <p:nvPr/>
        </p:nvSpPr>
        <p:spPr>
          <a:xfrm>
            <a:off x="685800" y="1838325"/>
            <a:ext cx="4095750" cy="228600"/>
          </a:xfrm>
          <a:prstGeom prst="rect">
            <a:avLst/>
          </a:prstGeom>
          <a:noFill/>
        </p:spPr>
        <p:txBody>
          <a:bodyPr vert="horz" wrap="square" lIns="0" tIns="0" rIns="0" bIns="0" rtlCol="0">
            <a:noAutofit/>
          </a:bodyPr>
          <a:lstStyle/>
          <a:p>
            <a:r>
              <a:rPr lang="en-US" sz="900">
                <a:solidFill>
                  <a:srgbClr val="1B9AAA"/>
                </a:solidFill>
                <a:latin typeface="Consolas" panose="020B0609020204030204" pitchFamily="49" charset="0"/>
              </a:rPr>
              <a:t>A SIMPLIFIED NEURAL NETWORK</a:t>
            </a:r>
          </a:p>
        </p:txBody>
      </p:sp>
      <p:cxnSp>
        <p:nvCxnSpPr>
          <p:cNvPr id="10" name="Straight Connector 9">
            <a:extLst>
              <a:ext uri="{FF2B5EF4-FFF2-40B4-BE49-F238E27FC236}">
                <a16:creationId xmlns:a16="http://schemas.microsoft.com/office/drawing/2014/main" id="{98D59E1F-3C09-84E2-B071-ED022EEE537E}"/>
              </a:ext>
            </a:extLst>
          </p:cNvPr>
          <p:cNvCxnSpPr/>
          <p:nvPr/>
        </p:nvCxnSpPr>
        <p:spPr>
          <a:xfrm flipV="1">
            <a:off x="1114425" y="2457450"/>
            <a:ext cx="942975" cy="27622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633D40BE-8B31-064D-E3D4-B6963D2CC4D1}"/>
              </a:ext>
            </a:extLst>
          </p:cNvPr>
          <p:cNvCxnSpPr/>
          <p:nvPr/>
        </p:nvCxnSpPr>
        <p:spPr>
          <a:xfrm>
            <a:off x="1114425" y="2733675"/>
            <a:ext cx="942975" cy="29527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C488FFEF-3442-9DF9-76AE-15F9BCCE78C3}"/>
              </a:ext>
            </a:extLst>
          </p:cNvPr>
          <p:cNvCxnSpPr/>
          <p:nvPr/>
        </p:nvCxnSpPr>
        <p:spPr>
          <a:xfrm>
            <a:off x="1114425" y="2733675"/>
            <a:ext cx="942975" cy="86677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E490A961-3F81-1DF2-2797-4747AC62FCAB}"/>
              </a:ext>
            </a:extLst>
          </p:cNvPr>
          <p:cNvCxnSpPr/>
          <p:nvPr/>
        </p:nvCxnSpPr>
        <p:spPr>
          <a:xfrm flipV="1">
            <a:off x="1114425" y="2457450"/>
            <a:ext cx="942975" cy="84772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784E90D8-A3A4-5E4A-4333-54257B8A0F1F}"/>
              </a:ext>
            </a:extLst>
          </p:cNvPr>
          <p:cNvCxnSpPr/>
          <p:nvPr/>
        </p:nvCxnSpPr>
        <p:spPr>
          <a:xfrm flipV="1">
            <a:off x="1114425" y="3028950"/>
            <a:ext cx="942975" cy="27622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CBF69A47-D251-2E74-DD55-642884CC1742}"/>
              </a:ext>
            </a:extLst>
          </p:cNvPr>
          <p:cNvCxnSpPr/>
          <p:nvPr/>
        </p:nvCxnSpPr>
        <p:spPr>
          <a:xfrm>
            <a:off x="1114425" y="3305175"/>
            <a:ext cx="942975" cy="29527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27A55C74-E46D-CCA7-CC92-C8DDE100A0B7}"/>
              </a:ext>
            </a:extLst>
          </p:cNvPr>
          <p:cNvCxnSpPr/>
          <p:nvPr/>
        </p:nvCxnSpPr>
        <p:spPr>
          <a:xfrm>
            <a:off x="2247900" y="2457450"/>
            <a:ext cx="942975" cy="0"/>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C17F7499-075B-8107-4A4A-7D35A066DFFD}"/>
              </a:ext>
            </a:extLst>
          </p:cNvPr>
          <p:cNvCxnSpPr/>
          <p:nvPr/>
        </p:nvCxnSpPr>
        <p:spPr>
          <a:xfrm>
            <a:off x="2247900" y="2457450"/>
            <a:ext cx="942975" cy="571500"/>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96A319F1-C264-6519-F275-277DC41C0A24}"/>
              </a:ext>
            </a:extLst>
          </p:cNvPr>
          <p:cNvCxnSpPr/>
          <p:nvPr/>
        </p:nvCxnSpPr>
        <p:spPr>
          <a:xfrm>
            <a:off x="2247900" y="2457450"/>
            <a:ext cx="942975" cy="1143000"/>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259D1795-F258-62E9-E186-1E347F903C02}"/>
              </a:ext>
            </a:extLst>
          </p:cNvPr>
          <p:cNvCxnSpPr/>
          <p:nvPr/>
        </p:nvCxnSpPr>
        <p:spPr>
          <a:xfrm flipV="1">
            <a:off x="2247900" y="2457450"/>
            <a:ext cx="942975" cy="571500"/>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C59B1EC3-4EAD-AFC1-EB82-C151EBE07343}"/>
              </a:ext>
            </a:extLst>
          </p:cNvPr>
          <p:cNvCxnSpPr/>
          <p:nvPr/>
        </p:nvCxnSpPr>
        <p:spPr>
          <a:xfrm>
            <a:off x="2247900" y="3028950"/>
            <a:ext cx="942975" cy="0"/>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27320FE2-E3FE-86C5-4778-22AF37F7132A}"/>
              </a:ext>
            </a:extLst>
          </p:cNvPr>
          <p:cNvCxnSpPr/>
          <p:nvPr/>
        </p:nvCxnSpPr>
        <p:spPr>
          <a:xfrm>
            <a:off x="2247900" y="3028950"/>
            <a:ext cx="942975" cy="571500"/>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140104CD-A1DE-5A4D-8EF5-CE7C0850E382}"/>
              </a:ext>
            </a:extLst>
          </p:cNvPr>
          <p:cNvCxnSpPr/>
          <p:nvPr/>
        </p:nvCxnSpPr>
        <p:spPr>
          <a:xfrm flipV="1">
            <a:off x="2247900" y="2457450"/>
            <a:ext cx="942975" cy="1143000"/>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DDBE4B73-2C97-E827-6163-03E84359DA7D}"/>
              </a:ext>
            </a:extLst>
          </p:cNvPr>
          <p:cNvCxnSpPr/>
          <p:nvPr/>
        </p:nvCxnSpPr>
        <p:spPr>
          <a:xfrm flipV="1">
            <a:off x="2247900" y="3028950"/>
            <a:ext cx="942975" cy="571500"/>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7C55B9B4-7A59-C473-2FC2-FA04C6709A6D}"/>
              </a:ext>
            </a:extLst>
          </p:cNvPr>
          <p:cNvCxnSpPr/>
          <p:nvPr/>
        </p:nvCxnSpPr>
        <p:spPr>
          <a:xfrm>
            <a:off x="2247900" y="3600450"/>
            <a:ext cx="942975" cy="0"/>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27C5B22A-FB87-3B4A-CE56-99027042A497}"/>
              </a:ext>
            </a:extLst>
          </p:cNvPr>
          <p:cNvCxnSpPr/>
          <p:nvPr/>
        </p:nvCxnSpPr>
        <p:spPr>
          <a:xfrm>
            <a:off x="3381375" y="2457450"/>
            <a:ext cx="942975" cy="27622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5AD8BA3D-B406-4665-7A34-F5DADF2BBFCD}"/>
              </a:ext>
            </a:extLst>
          </p:cNvPr>
          <p:cNvCxnSpPr/>
          <p:nvPr/>
        </p:nvCxnSpPr>
        <p:spPr>
          <a:xfrm>
            <a:off x="3381375" y="2457450"/>
            <a:ext cx="942975" cy="84772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419E1756-CDED-4A31-6299-CBBBAF41CC17}"/>
              </a:ext>
            </a:extLst>
          </p:cNvPr>
          <p:cNvCxnSpPr/>
          <p:nvPr/>
        </p:nvCxnSpPr>
        <p:spPr>
          <a:xfrm flipV="1">
            <a:off x="3381375" y="2733675"/>
            <a:ext cx="942975" cy="29527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575F8721-94B0-ACA2-E6CF-1FCDDC740B28}"/>
              </a:ext>
            </a:extLst>
          </p:cNvPr>
          <p:cNvCxnSpPr/>
          <p:nvPr/>
        </p:nvCxnSpPr>
        <p:spPr>
          <a:xfrm>
            <a:off x="3381375" y="3028950"/>
            <a:ext cx="942975" cy="27622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646822B-5730-D94F-D018-5BB763EDD17A}"/>
              </a:ext>
            </a:extLst>
          </p:cNvPr>
          <p:cNvCxnSpPr/>
          <p:nvPr/>
        </p:nvCxnSpPr>
        <p:spPr>
          <a:xfrm flipV="1">
            <a:off x="3381375" y="2733675"/>
            <a:ext cx="942975" cy="86677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AF20E0EF-52C7-D20D-DCFE-43DA5616CBC9}"/>
              </a:ext>
            </a:extLst>
          </p:cNvPr>
          <p:cNvCxnSpPr/>
          <p:nvPr/>
        </p:nvCxnSpPr>
        <p:spPr>
          <a:xfrm flipV="1">
            <a:off x="3381375" y="3305175"/>
            <a:ext cx="942975" cy="29527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88DED253-1015-87BB-F412-DEAC0FA148A5}"/>
              </a:ext>
            </a:extLst>
          </p:cNvPr>
          <p:cNvSpPr/>
          <p:nvPr/>
        </p:nvSpPr>
        <p:spPr>
          <a:xfrm>
            <a:off x="923925" y="2638425"/>
            <a:ext cx="190500" cy="190500"/>
          </a:xfrm>
          <a:prstGeom prst="ellipse">
            <a:avLst/>
          </a:prstGeom>
          <a:solidFill>
            <a:srgbClr val="0D1B2A"/>
          </a:solidFill>
          <a:ln w="15240">
            <a:solidFill>
              <a:srgbClr val="1B9A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2" name="Oval 31">
            <a:extLst>
              <a:ext uri="{FF2B5EF4-FFF2-40B4-BE49-F238E27FC236}">
                <a16:creationId xmlns:a16="http://schemas.microsoft.com/office/drawing/2014/main" id="{603EF727-B316-1ED4-48EE-4D5F3E7D8ED4}"/>
              </a:ext>
            </a:extLst>
          </p:cNvPr>
          <p:cNvSpPr/>
          <p:nvPr/>
        </p:nvSpPr>
        <p:spPr>
          <a:xfrm>
            <a:off x="923925" y="3209925"/>
            <a:ext cx="190500" cy="190500"/>
          </a:xfrm>
          <a:prstGeom prst="ellipse">
            <a:avLst/>
          </a:prstGeom>
          <a:solidFill>
            <a:srgbClr val="0D1B2A"/>
          </a:solidFill>
          <a:ln w="15240">
            <a:solidFill>
              <a:srgbClr val="1B9A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3" name="Oval 32">
            <a:extLst>
              <a:ext uri="{FF2B5EF4-FFF2-40B4-BE49-F238E27FC236}">
                <a16:creationId xmlns:a16="http://schemas.microsoft.com/office/drawing/2014/main" id="{D0CDF6B5-D117-450E-7A7B-72119AC0263B}"/>
              </a:ext>
            </a:extLst>
          </p:cNvPr>
          <p:cNvSpPr/>
          <p:nvPr/>
        </p:nvSpPr>
        <p:spPr>
          <a:xfrm>
            <a:off x="2057400" y="2362200"/>
            <a:ext cx="190500" cy="190500"/>
          </a:xfrm>
          <a:prstGeom prst="ellipse">
            <a:avLst/>
          </a:prstGeom>
          <a:solidFill>
            <a:srgbClr val="1B9AAA"/>
          </a:solidFill>
          <a:ln w="15240">
            <a:solidFill>
              <a:srgbClr val="1B9A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4" name="Oval 33">
            <a:extLst>
              <a:ext uri="{FF2B5EF4-FFF2-40B4-BE49-F238E27FC236}">
                <a16:creationId xmlns:a16="http://schemas.microsoft.com/office/drawing/2014/main" id="{76818752-633D-2EC3-1E3A-30FF2F12C80F}"/>
              </a:ext>
            </a:extLst>
          </p:cNvPr>
          <p:cNvSpPr/>
          <p:nvPr/>
        </p:nvSpPr>
        <p:spPr>
          <a:xfrm>
            <a:off x="2057400" y="2933700"/>
            <a:ext cx="190500" cy="190500"/>
          </a:xfrm>
          <a:prstGeom prst="ellipse">
            <a:avLst/>
          </a:prstGeom>
          <a:solidFill>
            <a:srgbClr val="1B9AAA"/>
          </a:solidFill>
          <a:ln w="15240">
            <a:solidFill>
              <a:srgbClr val="1B9A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5" name="Oval 34">
            <a:extLst>
              <a:ext uri="{FF2B5EF4-FFF2-40B4-BE49-F238E27FC236}">
                <a16:creationId xmlns:a16="http://schemas.microsoft.com/office/drawing/2014/main" id="{6A5C1CBB-63DA-56BE-8F02-DECAA4D69B1F}"/>
              </a:ext>
            </a:extLst>
          </p:cNvPr>
          <p:cNvSpPr/>
          <p:nvPr/>
        </p:nvSpPr>
        <p:spPr>
          <a:xfrm>
            <a:off x="2057400" y="3505200"/>
            <a:ext cx="190500" cy="190500"/>
          </a:xfrm>
          <a:prstGeom prst="ellipse">
            <a:avLst/>
          </a:prstGeom>
          <a:solidFill>
            <a:srgbClr val="1B9AAA"/>
          </a:solidFill>
          <a:ln w="15240">
            <a:solidFill>
              <a:srgbClr val="1B9A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6" name="Oval 35">
            <a:extLst>
              <a:ext uri="{FF2B5EF4-FFF2-40B4-BE49-F238E27FC236}">
                <a16:creationId xmlns:a16="http://schemas.microsoft.com/office/drawing/2014/main" id="{3A59DEFB-C50C-B7AE-60ED-E689E0281262}"/>
              </a:ext>
            </a:extLst>
          </p:cNvPr>
          <p:cNvSpPr/>
          <p:nvPr/>
        </p:nvSpPr>
        <p:spPr>
          <a:xfrm>
            <a:off x="3190875" y="2362200"/>
            <a:ext cx="190500" cy="190500"/>
          </a:xfrm>
          <a:prstGeom prst="ellipse">
            <a:avLst/>
          </a:prstGeom>
          <a:solidFill>
            <a:srgbClr val="1B9AAA"/>
          </a:solidFill>
          <a:ln w="15240">
            <a:solidFill>
              <a:srgbClr val="1B9A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7" name="Oval 36">
            <a:extLst>
              <a:ext uri="{FF2B5EF4-FFF2-40B4-BE49-F238E27FC236}">
                <a16:creationId xmlns:a16="http://schemas.microsoft.com/office/drawing/2014/main" id="{7E34C042-FB76-B5EC-E041-E2F370B12DBE}"/>
              </a:ext>
            </a:extLst>
          </p:cNvPr>
          <p:cNvSpPr/>
          <p:nvPr/>
        </p:nvSpPr>
        <p:spPr>
          <a:xfrm>
            <a:off x="3190875" y="2933700"/>
            <a:ext cx="190500" cy="190500"/>
          </a:xfrm>
          <a:prstGeom prst="ellipse">
            <a:avLst/>
          </a:prstGeom>
          <a:solidFill>
            <a:srgbClr val="1B9AAA"/>
          </a:solidFill>
          <a:ln w="15240">
            <a:solidFill>
              <a:srgbClr val="1B9A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8" name="Oval 37">
            <a:extLst>
              <a:ext uri="{FF2B5EF4-FFF2-40B4-BE49-F238E27FC236}">
                <a16:creationId xmlns:a16="http://schemas.microsoft.com/office/drawing/2014/main" id="{607047CC-A3EE-AE54-05A9-90F4F02A36CB}"/>
              </a:ext>
            </a:extLst>
          </p:cNvPr>
          <p:cNvSpPr/>
          <p:nvPr/>
        </p:nvSpPr>
        <p:spPr>
          <a:xfrm>
            <a:off x="3190875" y="3505200"/>
            <a:ext cx="190500" cy="190500"/>
          </a:xfrm>
          <a:prstGeom prst="ellipse">
            <a:avLst/>
          </a:prstGeom>
          <a:solidFill>
            <a:srgbClr val="1B9AAA"/>
          </a:solidFill>
          <a:ln w="15240">
            <a:solidFill>
              <a:srgbClr val="1B9A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9" name="Oval 38">
            <a:extLst>
              <a:ext uri="{FF2B5EF4-FFF2-40B4-BE49-F238E27FC236}">
                <a16:creationId xmlns:a16="http://schemas.microsoft.com/office/drawing/2014/main" id="{821688A0-6AF6-8EA8-6EFC-6CCB5C8B42D0}"/>
              </a:ext>
            </a:extLst>
          </p:cNvPr>
          <p:cNvSpPr/>
          <p:nvPr/>
        </p:nvSpPr>
        <p:spPr>
          <a:xfrm>
            <a:off x="4324350" y="2638425"/>
            <a:ext cx="190500" cy="190500"/>
          </a:xfrm>
          <a:prstGeom prst="ellipse">
            <a:avLst/>
          </a:prstGeom>
          <a:solidFill>
            <a:srgbClr val="0D1B2A"/>
          </a:solidFill>
          <a:ln w="15240">
            <a:solidFill>
              <a:srgbClr val="1B9A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0" name="Oval 39">
            <a:extLst>
              <a:ext uri="{FF2B5EF4-FFF2-40B4-BE49-F238E27FC236}">
                <a16:creationId xmlns:a16="http://schemas.microsoft.com/office/drawing/2014/main" id="{EF65CD19-6443-2AAC-3C8E-438B77F5E761}"/>
              </a:ext>
            </a:extLst>
          </p:cNvPr>
          <p:cNvSpPr/>
          <p:nvPr/>
        </p:nvSpPr>
        <p:spPr>
          <a:xfrm>
            <a:off x="4324350" y="3209925"/>
            <a:ext cx="190500" cy="190500"/>
          </a:xfrm>
          <a:prstGeom prst="ellipse">
            <a:avLst/>
          </a:prstGeom>
          <a:solidFill>
            <a:srgbClr val="0D1B2A"/>
          </a:solidFill>
          <a:ln w="15240">
            <a:solidFill>
              <a:srgbClr val="1B9A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1" name="Text 6-40">
            <a:extLst>
              <a:ext uri="{FF2B5EF4-FFF2-40B4-BE49-F238E27FC236}">
                <a16:creationId xmlns:a16="http://schemas.microsoft.com/office/drawing/2014/main" id="{3BF1E6BF-01E2-C716-FD3E-62562698F14C}"/>
              </a:ext>
            </a:extLst>
          </p:cNvPr>
          <p:cNvSpPr txBox="1"/>
          <p:nvPr/>
        </p:nvSpPr>
        <p:spPr>
          <a:xfrm>
            <a:off x="723900" y="3838575"/>
            <a:ext cx="781050" cy="209550"/>
          </a:xfrm>
          <a:prstGeom prst="rect">
            <a:avLst/>
          </a:prstGeom>
          <a:noFill/>
        </p:spPr>
        <p:txBody>
          <a:bodyPr vert="horz" wrap="square" lIns="0" tIns="0" rIns="0" bIns="0" rtlCol="0">
            <a:noAutofit/>
          </a:bodyPr>
          <a:lstStyle/>
          <a:p>
            <a:pPr algn="ctr"/>
            <a:r>
              <a:rPr lang="en-US" sz="825">
                <a:solidFill>
                  <a:srgbClr val="586E7D"/>
                </a:solidFill>
                <a:latin typeface="Consolas" panose="020B0609020204030204" pitchFamily="49" charset="0"/>
              </a:rPr>
              <a:t>INPUT</a:t>
            </a:r>
          </a:p>
        </p:txBody>
      </p:sp>
      <p:sp>
        <p:nvSpPr>
          <p:cNvPr id="42" name="Text 6-41">
            <a:extLst>
              <a:ext uri="{FF2B5EF4-FFF2-40B4-BE49-F238E27FC236}">
                <a16:creationId xmlns:a16="http://schemas.microsoft.com/office/drawing/2014/main" id="{8F139560-F680-F8A1-B5AA-2B754016F673}"/>
              </a:ext>
            </a:extLst>
          </p:cNvPr>
          <p:cNvSpPr txBox="1"/>
          <p:nvPr/>
        </p:nvSpPr>
        <p:spPr>
          <a:xfrm>
            <a:off x="1714500" y="3838575"/>
            <a:ext cx="2133600" cy="209550"/>
          </a:xfrm>
          <a:prstGeom prst="rect">
            <a:avLst/>
          </a:prstGeom>
          <a:noFill/>
        </p:spPr>
        <p:txBody>
          <a:bodyPr vert="horz" wrap="square" lIns="0" tIns="0" rIns="0" bIns="0" rtlCol="0">
            <a:noAutofit/>
          </a:bodyPr>
          <a:lstStyle/>
          <a:p>
            <a:pPr algn="ctr"/>
            <a:r>
              <a:rPr lang="en-US" sz="825">
                <a:solidFill>
                  <a:srgbClr val="586E7D"/>
                </a:solidFill>
                <a:latin typeface="Consolas" panose="020B0609020204030204" pitchFamily="49" charset="0"/>
              </a:rPr>
              <a:t>LEARNED REPRESENTATIONS</a:t>
            </a:r>
          </a:p>
        </p:txBody>
      </p:sp>
      <p:sp>
        <p:nvSpPr>
          <p:cNvPr id="43" name="Text 6-42">
            <a:extLst>
              <a:ext uri="{FF2B5EF4-FFF2-40B4-BE49-F238E27FC236}">
                <a16:creationId xmlns:a16="http://schemas.microsoft.com/office/drawing/2014/main" id="{51CEF711-60F7-B547-8871-5A5F4762DADE}"/>
              </a:ext>
            </a:extLst>
          </p:cNvPr>
          <p:cNvSpPr txBox="1"/>
          <p:nvPr/>
        </p:nvSpPr>
        <p:spPr>
          <a:xfrm>
            <a:off x="4105275" y="3838575"/>
            <a:ext cx="762000" cy="209550"/>
          </a:xfrm>
          <a:prstGeom prst="rect">
            <a:avLst/>
          </a:prstGeom>
          <a:noFill/>
        </p:spPr>
        <p:txBody>
          <a:bodyPr vert="horz" wrap="square" lIns="0" tIns="0" rIns="0" bIns="0" rtlCol="0">
            <a:noAutofit/>
          </a:bodyPr>
          <a:lstStyle/>
          <a:p>
            <a:pPr algn="ctr"/>
            <a:r>
              <a:rPr lang="en-US" sz="825">
                <a:solidFill>
                  <a:srgbClr val="586E7D"/>
                </a:solidFill>
                <a:latin typeface="Consolas" panose="020B0609020204030204" pitchFamily="49" charset="0"/>
              </a:rPr>
              <a:t>OUTPUT</a:t>
            </a:r>
          </a:p>
        </p:txBody>
      </p:sp>
      <p:sp>
        <p:nvSpPr>
          <p:cNvPr id="44" name="Text 6-43">
            <a:extLst>
              <a:ext uri="{FF2B5EF4-FFF2-40B4-BE49-F238E27FC236}">
                <a16:creationId xmlns:a16="http://schemas.microsoft.com/office/drawing/2014/main" id="{039064FB-0B2B-1399-3BB3-D3867627A211}"/>
              </a:ext>
            </a:extLst>
          </p:cNvPr>
          <p:cNvSpPr txBox="1"/>
          <p:nvPr/>
        </p:nvSpPr>
        <p:spPr>
          <a:xfrm>
            <a:off x="5381625" y="1762125"/>
            <a:ext cx="3267075" cy="438150"/>
          </a:xfrm>
          <a:prstGeom prst="rect">
            <a:avLst/>
          </a:prstGeom>
          <a:noFill/>
        </p:spPr>
        <p:txBody>
          <a:bodyPr vert="horz" wrap="square" lIns="0" tIns="0" rIns="0" bIns="0" rtlCol="0">
            <a:noAutofit/>
          </a:bodyPr>
          <a:lstStyle/>
          <a:p>
            <a:r>
              <a:rPr lang="en-US" sz="2025">
                <a:solidFill>
                  <a:srgbClr val="0D1B2A"/>
                </a:solidFill>
                <a:latin typeface="Bahnschrift Condensed" panose="020B0502040204020203" pitchFamily="34" charset="0"/>
              </a:rPr>
              <a:t>Why it mattered</a:t>
            </a:r>
          </a:p>
        </p:txBody>
      </p:sp>
      <p:sp>
        <p:nvSpPr>
          <p:cNvPr id="45" name="Text 6-44">
            <a:extLst>
              <a:ext uri="{FF2B5EF4-FFF2-40B4-BE49-F238E27FC236}">
                <a16:creationId xmlns:a16="http://schemas.microsoft.com/office/drawing/2014/main" id="{562E5728-33DF-CA96-5CC5-0916E419D353}"/>
              </a:ext>
            </a:extLst>
          </p:cNvPr>
          <p:cNvSpPr txBox="1"/>
          <p:nvPr/>
        </p:nvSpPr>
        <p:spPr>
          <a:xfrm>
            <a:off x="5381625" y="2333625"/>
            <a:ext cx="3267075" cy="1495425"/>
          </a:xfrm>
          <a:prstGeom prst="rect">
            <a:avLst/>
          </a:prstGeom>
          <a:noFill/>
        </p:spPr>
        <p:txBody>
          <a:bodyPr vert="horz" wrap="square" lIns="0" tIns="0" rIns="0" bIns="0" rtlCol="0">
            <a:noAutofit/>
          </a:bodyPr>
          <a:lstStyle/>
          <a:p>
            <a:r>
              <a:rPr lang="en-US" sz="1350">
                <a:solidFill>
                  <a:srgbClr val="586E7D"/>
                </a:solidFill>
                <a:latin typeface="Arial" panose="020B0604020202020204" pitchFamily="34" charset="0"/>
              </a:rPr>
              <a:t>Learns useful features from data
Works with text, images and audio
Scales with data, compute and architecture</a:t>
            </a:r>
          </a:p>
        </p:txBody>
      </p:sp>
      <p:sp>
        <p:nvSpPr>
          <p:cNvPr id="46" name="Rectangle 45">
            <a:extLst>
              <a:ext uri="{FF2B5EF4-FFF2-40B4-BE49-F238E27FC236}">
                <a16:creationId xmlns:a16="http://schemas.microsoft.com/office/drawing/2014/main" id="{74A4D5D1-CAB1-16C9-6677-B46D99D5DFF1}"/>
              </a:ext>
            </a:extLst>
          </p:cNvPr>
          <p:cNvSpPr/>
          <p:nvPr/>
        </p:nvSpPr>
        <p:spPr>
          <a:xfrm>
            <a:off x="495300" y="4476750"/>
            <a:ext cx="38100" cy="190500"/>
          </a:xfrm>
          <a:prstGeom prst="rect">
            <a:avLst/>
          </a:prstGeom>
          <a:solidFill>
            <a:srgbClr val="1B9A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7" name="Text 6-46">
            <a:extLst>
              <a:ext uri="{FF2B5EF4-FFF2-40B4-BE49-F238E27FC236}">
                <a16:creationId xmlns:a16="http://schemas.microsoft.com/office/drawing/2014/main" id="{330AB941-C331-8350-D211-231C6305EB86}"/>
              </a:ext>
            </a:extLst>
          </p:cNvPr>
          <p:cNvSpPr txBox="1"/>
          <p:nvPr/>
        </p:nvSpPr>
        <p:spPr>
          <a:xfrm>
            <a:off x="619125" y="4476750"/>
            <a:ext cx="8029575" cy="238125"/>
          </a:xfrm>
          <a:prstGeom prst="rect">
            <a:avLst/>
          </a:prstGeom>
          <a:noFill/>
        </p:spPr>
        <p:txBody>
          <a:bodyPr vert="horz" wrap="square" lIns="0" tIns="0" rIns="0" bIns="0" rtlCol="0">
            <a:noAutofit/>
          </a:bodyPr>
          <a:lstStyle/>
          <a:p>
            <a:r>
              <a:rPr lang="en-US" sz="1200">
                <a:solidFill>
                  <a:srgbClr val="0D1B2A"/>
                </a:solidFill>
                <a:latin typeface="Arial" panose="020B0604020202020204" pitchFamily="34" charset="0"/>
              </a:rPr>
              <a:t>Deep learning is a method within ML, not a synonym for all AI.</a:t>
            </a:r>
          </a:p>
        </p:txBody>
      </p:sp>
    </p:spTree>
    <p:extLst>
      <p:ext uri="{BB962C8B-B14F-4D97-AF65-F5344CB8AC3E}">
        <p14:creationId xmlns:p14="http://schemas.microsoft.com/office/powerpoint/2010/main" val="8851627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7-2">
            <a:extLst>
              <a:ext uri="{FF2B5EF4-FFF2-40B4-BE49-F238E27FC236}">
                <a16:creationId xmlns:a16="http://schemas.microsoft.com/office/drawing/2014/main" id="{D0C8C191-B4B3-2FE6-F85A-EB1004156EB8}"/>
              </a:ext>
            </a:extLst>
          </p:cNvPr>
          <p:cNvSpPr txBox="1"/>
          <p:nvPr/>
        </p:nvSpPr>
        <p:spPr>
          <a:xfrm>
            <a:off x="495300" y="561975"/>
            <a:ext cx="8153400" cy="504825"/>
          </a:xfrm>
          <a:prstGeom prst="rect">
            <a:avLst/>
          </a:prstGeom>
          <a:noFill/>
        </p:spPr>
        <p:txBody>
          <a:bodyPr vert="horz" wrap="square" lIns="0" tIns="0" rIns="0" bIns="0" rtlCol="0">
            <a:noAutofit/>
          </a:bodyPr>
          <a:lstStyle/>
          <a:p>
            <a:r>
              <a:rPr lang="en-US" sz="2700">
                <a:solidFill>
                  <a:srgbClr val="0D1B2A"/>
                </a:solidFill>
                <a:latin typeface="Bahnschrift Condensed" panose="020B0502040204020203" pitchFamily="34" charset="0"/>
              </a:rPr>
              <a:t>From recognizing content to creating it</a:t>
            </a:r>
          </a:p>
        </p:txBody>
      </p:sp>
      <p:sp>
        <p:nvSpPr>
          <p:cNvPr id="4" name="Text 7-3">
            <a:extLst>
              <a:ext uri="{FF2B5EF4-FFF2-40B4-BE49-F238E27FC236}">
                <a16:creationId xmlns:a16="http://schemas.microsoft.com/office/drawing/2014/main" id="{0907B1E6-69A4-2CDF-6EAB-D7A70392D983}"/>
              </a:ext>
            </a:extLst>
          </p:cNvPr>
          <p:cNvSpPr txBox="1"/>
          <p:nvPr/>
        </p:nvSpPr>
        <p:spPr>
          <a:xfrm>
            <a:off x="495300" y="1133475"/>
            <a:ext cx="8153400" cy="361950"/>
          </a:xfrm>
          <a:prstGeom prst="rect">
            <a:avLst/>
          </a:prstGeom>
          <a:noFill/>
        </p:spPr>
        <p:txBody>
          <a:bodyPr vert="horz" wrap="square" lIns="0" tIns="0" rIns="0" bIns="0" rtlCol="0">
            <a:noAutofit/>
          </a:bodyPr>
          <a:lstStyle/>
          <a:p>
            <a:r>
              <a:rPr lang="en-US" sz="1275">
                <a:solidFill>
                  <a:srgbClr val="586E7D"/>
                </a:solidFill>
                <a:latin typeface="Arial" panose="020B0604020202020204" pitchFamily="34" charset="0"/>
              </a:rPr>
              <a:t>Generative AI produces new outputs from learned patterns and the current input.</a:t>
            </a:r>
          </a:p>
        </p:txBody>
      </p:sp>
      <p:sp>
        <p:nvSpPr>
          <p:cNvPr id="8" name="Rectangle 7">
            <a:extLst>
              <a:ext uri="{FF2B5EF4-FFF2-40B4-BE49-F238E27FC236}">
                <a16:creationId xmlns:a16="http://schemas.microsoft.com/office/drawing/2014/main" id="{71BAEECB-0291-4200-BBCC-8AB7F39B7C47}"/>
              </a:ext>
            </a:extLst>
          </p:cNvPr>
          <p:cNvSpPr/>
          <p:nvPr/>
        </p:nvSpPr>
        <p:spPr>
          <a:xfrm>
            <a:off x="495300" y="1695450"/>
            <a:ext cx="2476500" cy="2343150"/>
          </a:xfrm>
          <a:prstGeom prst="rect">
            <a:avLst/>
          </a:prstGeom>
          <a:solidFill>
            <a:srgbClr val="FFFFFF"/>
          </a:solidFill>
          <a:ln w="10160">
            <a:solidFill>
              <a:srgbClr val="DDE5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9" name="Rectangle 8">
            <a:extLst>
              <a:ext uri="{FF2B5EF4-FFF2-40B4-BE49-F238E27FC236}">
                <a16:creationId xmlns:a16="http://schemas.microsoft.com/office/drawing/2014/main" id="{45168BE7-4D21-D559-A9F8-BDB0A6A9E606}"/>
              </a:ext>
            </a:extLst>
          </p:cNvPr>
          <p:cNvSpPr/>
          <p:nvPr/>
        </p:nvSpPr>
        <p:spPr>
          <a:xfrm>
            <a:off x="495300" y="1695450"/>
            <a:ext cx="38100" cy="2343150"/>
          </a:xfrm>
          <a:prstGeom prst="rect">
            <a:avLst/>
          </a:prstGeom>
          <a:solidFill>
            <a:srgbClr val="1B9A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0" name="Text 7-9">
            <a:extLst>
              <a:ext uri="{FF2B5EF4-FFF2-40B4-BE49-F238E27FC236}">
                <a16:creationId xmlns:a16="http://schemas.microsoft.com/office/drawing/2014/main" id="{E819CEA6-6D89-DA5E-3268-6EAC11B608B8}"/>
              </a:ext>
            </a:extLst>
          </p:cNvPr>
          <p:cNvSpPr txBox="1"/>
          <p:nvPr/>
        </p:nvSpPr>
        <p:spPr>
          <a:xfrm>
            <a:off x="676275" y="1838325"/>
            <a:ext cx="2114550" cy="342900"/>
          </a:xfrm>
          <a:prstGeom prst="rect">
            <a:avLst/>
          </a:prstGeom>
          <a:noFill/>
        </p:spPr>
        <p:txBody>
          <a:bodyPr vert="horz" wrap="square" lIns="0" tIns="0" rIns="0" bIns="0" rtlCol="0">
            <a:noAutofit/>
          </a:bodyPr>
          <a:lstStyle/>
          <a:p>
            <a:r>
              <a:rPr lang="en-US">
                <a:solidFill>
                  <a:srgbClr val="0D1B2A"/>
                </a:solidFill>
                <a:latin typeface="Bahnschrift Condensed" panose="020B0502040204020203" pitchFamily="34" charset="0"/>
              </a:rPr>
              <a:t>Predict or classify</a:t>
            </a:r>
          </a:p>
        </p:txBody>
      </p:sp>
      <p:sp>
        <p:nvSpPr>
          <p:cNvPr id="11" name="Text 7-10">
            <a:extLst>
              <a:ext uri="{FF2B5EF4-FFF2-40B4-BE49-F238E27FC236}">
                <a16:creationId xmlns:a16="http://schemas.microsoft.com/office/drawing/2014/main" id="{FBA87F2B-1D1E-5C1D-E002-6469CBB4D21C}"/>
              </a:ext>
            </a:extLst>
          </p:cNvPr>
          <p:cNvSpPr txBox="1"/>
          <p:nvPr/>
        </p:nvSpPr>
        <p:spPr>
          <a:xfrm>
            <a:off x="676275" y="2286000"/>
            <a:ext cx="2114550" cy="1638300"/>
          </a:xfrm>
          <a:prstGeom prst="rect">
            <a:avLst/>
          </a:prstGeom>
          <a:noFill/>
        </p:spPr>
        <p:txBody>
          <a:bodyPr vert="horz" wrap="square" lIns="0" tIns="0" rIns="0" bIns="0" rtlCol="0">
            <a:noAutofit/>
          </a:bodyPr>
          <a:lstStyle/>
          <a:p>
            <a:r>
              <a:rPr lang="en-US" sz="1275">
                <a:solidFill>
                  <a:srgbClr val="586E7D"/>
                </a:solidFill>
                <a:latin typeface="Arial" panose="020B0604020202020204" pitchFamily="34" charset="0"/>
              </a:rPr>
              <a:t>Input: an image
Output: a label
What is in this image?</a:t>
            </a:r>
          </a:p>
        </p:txBody>
      </p:sp>
      <p:sp>
        <p:nvSpPr>
          <p:cNvPr id="12" name="Rectangle 11">
            <a:extLst>
              <a:ext uri="{FF2B5EF4-FFF2-40B4-BE49-F238E27FC236}">
                <a16:creationId xmlns:a16="http://schemas.microsoft.com/office/drawing/2014/main" id="{0A6C50FB-57B6-81BA-58CE-D15ED7E77AD6}"/>
              </a:ext>
            </a:extLst>
          </p:cNvPr>
          <p:cNvSpPr/>
          <p:nvPr/>
        </p:nvSpPr>
        <p:spPr>
          <a:xfrm>
            <a:off x="3162300" y="1695450"/>
            <a:ext cx="2476500" cy="2343150"/>
          </a:xfrm>
          <a:prstGeom prst="rect">
            <a:avLst/>
          </a:prstGeom>
          <a:solidFill>
            <a:srgbClr val="FFFFFF"/>
          </a:solidFill>
          <a:ln w="10160">
            <a:solidFill>
              <a:srgbClr val="DDE5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3" name="Rectangle 12">
            <a:extLst>
              <a:ext uri="{FF2B5EF4-FFF2-40B4-BE49-F238E27FC236}">
                <a16:creationId xmlns:a16="http://schemas.microsoft.com/office/drawing/2014/main" id="{7EC944E0-2D69-EC71-F869-7763F5321FB5}"/>
              </a:ext>
            </a:extLst>
          </p:cNvPr>
          <p:cNvSpPr/>
          <p:nvPr/>
        </p:nvSpPr>
        <p:spPr>
          <a:xfrm>
            <a:off x="3162300" y="1695450"/>
            <a:ext cx="38100" cy="2343150"/>
          </a:xfrm>
          <a:prstGeom prst="rect">
            <a:avLst/>
          </a:prstGeom>
          <a:solidFill>
            <a:srgbClr val="1B9A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4" name="Text 7-13">
            <a:extLst>
              <a:ext uri="{FF2B5EF4-FFF2-40B4-BE49-F238E27FC236}">
                <a16:creationId xmlns:a16="http://schemas.microsoft.com/office/drawing/2014/main" id="{787130B5-1C92-01AD-9BE7-C9D097F18305}"/>
              </a:ext>
            </a:extLst>
          </p:cNvPr>
          <p:cNvSpPr txBox="1"/>
          <p:nvPr/>
        </p:nvSpPr>
        <p:spPr>
          <a:xfrm>
            <a:off x="3343275" y="1838325"/>
            <a:ext cx="2114550" cy="342900"/>
          </a:xfrm>
          <a:prstGeom prst="rect">
            <a:avLst/>
          </a:prstGeom>
          <a:noFill/>
        </p:spPr>
        <p:txBody>
          <a:bodyPr vert="horz" wrap="square" lIns="0" tIns="0" rIns="0" bIns="0" rtlCol="0">
            <a:noAutofit/>
          </a:bodyPr>
          <a:lstStyle/>
          <a:p>
            <a:r>
              <a:rPr lang="en-US">
                <a:solidFill>
                  <a:srgbClr val="0D1B2A"/>
                </a:solidFill>
                <a:latin typeface="Bahnschrift Condensed" panose="020B0502040204020203" pitchFamily="34" charset="0"/>
              </a:rPr>
              <a:t>Generate</a:t>
            </a:r>
          </a:p>
        </p:txBody>
      </p:sp>
      <p:sp>
        <p:nvSpPr>
          <p:cNvPr id="15" name="Text 7-14">
            <a:extLst>
              <a:ext uri="{FF2B5EF4-FFF2-40B4-BE49-F238E27FC236}">
                <a16:creationId xmlns:a16="http://schemas.microsoft.com/office/drawing/2014/main" id="{8DDEB310-B811-7BBB-B331-543EE995E28F}"/>
              </a:ext>
            </a:extLst>
          </p:cNvPr>
          <p:cNvSpPr txBox="1"/>
          <p:nvPr/>
        </p:nvSpPr>
        <p:spPr>
          <a:xfrm>
            <a:off x="3343275" y="2286000"/>
            <a:ext cx="2114550" cy="1638300"/>
          </a:xfrm>
          <a:prstGeom prst="rect">
            <a:avLst/>
          </a:prstGeom>
          <a:noFill/>
        </p:spPr>
        <p:txBody>
          <a:bodyPr vert="horz" wrap="square" lIns="0" tIns="0" rIns="0" bIns="0" rtlCol="0">
            <a:noAutofit/>
          </a:bodyPr>
          <a:lstStyle/>
          <a:p>
            <a:r>
              <a:rPr lang="en-US" sz="1275">
                <a:solidFill>
                  <a:srgbClr val="586E7D"/>
                </a:solidFill>
                <a:latin typeface="Arial" panose="020B0604020202020204" pitchFamily="34" charset="0"/>
              </a:rPr>
              <a:t>Input: an instruction
Output: new content
Draft, draw, compose or code.</a:t>
            </a:r>
          </a:p>
        </p:txBody>
      </p:sp>
      <p:sp>
        <p:nvSpPr>
          <p:cNvPr id="16" name="Rectangle 15">
            <a:extLst>
              <a:ext uri="{FF2B5EF4-FFF2-40B4-BE49-F238E27FC236}">
                <a16:creationId xmlns:a16="http://schemas.microsoft.com/office/drawing/2014/main" id="{53A4A91C-22CB-6402-3ACB-4BFDBC63F48C}"/>
              </a:ext>
            </a:extLst>
          </p:cNvPr>
          <p:cNvSpPr/>
          <p:nvPr/>
        </p:nvSpPr>
        <p:spPr>
          <a:xfrm>
            <a:off x="5829300" y="1695450"/>
            <a:ext cx="2819400" cy="2343150"/>
          </a:xfrm>
          <a:prstGeom prst="rect">
            <a:avLst/>
          </a:prstGeom>
          <a:solidFill>
            <a:srgbClr val="FFFFFF"/>
          </a:solidFill>
          <a:ln w="10160">
            <a:solidFill>
              <a:srgbClr val="DDE5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7" name="Rectangle 16">
            <a:extLst>
              <a:ext uri="{FF2B5EF4-FFF2-40B4-BE49-F238E27FC236}">
                <a16:creationId xmlns:a16="http://schemas.microsoft.com/office/drawing/2014/main" id="{B8586B16-8567-08BE-9F0E-62AD55E3F598}"/>
              </a:ext>
            </a:extLst>
          </p:cNvPr>
          <p:cNvSpPr/>
          <p:nvPr/>
        </p:nvSpPr>
        <p:spPr>
          <a:xfrm>
            <a:off x="5829300" y="1695450"/>
            <a:ext cx="38100" cy="2343150"/>
          </a:xfrm>
          <a:prstGeom prst="rect">
            <a:avLst/>
          </a:prstGeom>
          <a:solidFill>
            <a:srgbClr val="1B9A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8" name="Text 7-17">
            <a:extLst>
              <a:ext uri="{FF2B5EF4-FFF2-40B4-BE49-F238E27FC236}">
                <a16:creationId xmlns:a16="http://schemas.microsoft.com/office/drawing/2014/main" id="{89126A2F-A770-13EA-2D5C-6598EB01E59E}"/>
              </a:ext>
            </a:extLst>
          </p:cNvPr>
          <p:cNvSpPr txBox="1"/>
          <p:nvPr/>
        </p:nvSpPr>
        <p:spPr>
          <a:xfrm>
            <a:off x="6010275" y="1838325"/>
            <a:ext cx="2457450" cy="342900"/>
          </a:xfrm>
          <a:prstGeom prst="rect">
            <a:avLst/>
          </a:prstGeom>
          <a:noFill/>
        </p:spPr>
        <p:txBody>
          <a:bodyPr vert="horz" wrap="square" lIns="0" tIns="0" rIns="0" bIns="0" rtlCol="0">
            <a:noAutofit/>
          </a:bodyPr>
          <a:lstStyle/>
          <a:p>
            <a:r>
              <a:rPr lang="en-US">
                <a:solidFill>
                  <a:srgbClr val="0D1B2A"/>
                </a:solidFill>
                <a:latin typeface="Bahnschrift Condensed" panose="020B0502040204020203" pitchFamily="34" charset="0"/>
              </a:rPr>
              <a:t>Language models</a:t>
            </a:r>
          </a:p>
        </p:txBody>
      </p:sp>
      <p:sp>
        <p:nvSpPr>
          <p:cNvPr id="19" name="Text 7-18">
            <a:extLst>
              <a:ext uri="{FF2B5EF4-FFF2-40B4-BE49-F238E27FC236}">
                <a16:creationId xmlns:a16="http://schemas.microsoft.com/office/drawing/2014/main" id="{887700F0-4F2D-F4F7-5F05-EE99E277B9DF}"/>
              </a:ext>
            </a:extLst>
          </p:cNvPr>
          <p:cNvSpPr txBox="1"/>
          <p:nvPr/>
        </p:nvSpPr>
        <p:spPr>
          <a:xfrm>
            <a:off x="6010275" y="2286000"/>
            <a:ext cx="2457450" cy="1638300"/>
          </a:xfrm>
          <a:prstGeom prst="rect">
            <a:avLst/>
          </a:prstGeom>
          <a:noFill/>
        </p:spPr>
        <p:txBody>
          <a:bodyPr vert="horz" wrap="square" lIns="0" tIns="0" rIns="0" bIns="0" rtlCol="0">
            <a:noAutofit/>
          </a:bodyPr>
          <a:lstStyle/>
          <a:p>
            <a:r>
              <a:rPr lang="en-US" sz="1275">
                <a:solidFill>
                  <a:srgbClr val="586E7D"/>
                </a:solidFill>
                <a:latin typeface="Arial" panose="020B0604020202020204" pitchFamily="34" charset="0"/>
              </a:rPr>
              <a:t>An LLM models language.
Most current text generators predict successive tokens from context.</a:t>
            </a:r>
          </a:p>
        </p:txBody>
      </p:sp>
      <p:sp>
        <p:nvSpPr>
          <p:cNvPr id="20" name="Rectangle 19">
            <a:extLst>
              <a:ext uri="{FF2B5EF4-FFF2-40B4-BE49-F238E27FC236}">
                <a16:creationId xmlns:a16="http://schemas.microsoft.com/office/drawing/2014/main" id="{803CB128-ED23-3B32-70CF-3FD08BBBB1CF}"/>
              </a:ext>
            </a:extLst>
          </p:cNvPr>
          <p:cNvSpPr/>
          <p:nvPr/>
        </p:nvSpPr>
        <p:spPr>
          <a:xfrm>
            <a:off x="495300" y="4476750"/>
            <a:ext cx="38100" cy="190500"/>
          </a:xfrm>
          <a:prstGeom prst="rect">
            <a:avLst/>
          </a:prstGeom>
          <a:solidFill>
            <a:srgbClr val="1B9A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1" name="Text 7-20">
            <a:extLst>
              <a:ext uri="{FF2B5EF4-FFF2-40B4-BE49-F238E27FC236}">
                <a16:creationId xmlns:a16="http://schemas.microsoft.com/office/drawing/2014/main" id="{7ACA34FE-0D2F-5D30-F2D7-987E5D1798FC}"/>
              </a:ext>
            </a:extLst>
          </p:cNvPr>
          <p:cNvSpPr txBox="1"/>
          <p:nvPr/>
        </p:nvSpPr>
        <p:spPr>
          <a:xfrm>
            <a:off x="619125" y="4476750"/>
            <a:ext cx="8029575" cy="238125"/>
          </a:xfrm>
          <a:prstGeom prst="rect">
            <a:avLst/>
          </a:prstGeom>
          <a:noFill/>
        </p:spPr>
        <p:txBody>
          <a:bodyPr vert="horz" wrap="square" lIns="0" tIns="0" rIns="0" bIns="0" rtlCol="0">
            <a:noAutofit/>
          </a:bodyPr>
          <a:lstStyle/>
          <a:p>
            <a:r>
              <a:rPr lang="en-US" sz="1200" dirty="0">
                <a:solidFill>
                  <a:srgbClr val="0D1B2A"/>
                </a:solidFill>
                <a:latin typeface="Arial" panose="020B0604020202020204" pitchFamily="34" charset="0"/>
              </a:rPr>
              <a:t>An </a:t>
            </a:r>
            <a:r>
              <a:rPr lang="en-US" sz="1200" dirty="0">
                <a:solidFill>
                  <a:srgbClr val="01D1CC"/>
                </a:solidFill>
                <a:latin typeface="Arial" panose="020B0604020202020204" pitchFamily="34" charset="0"/>
              </a:rPr>
              <a:t>LLM</a:t>
            </a:r>
            <a:r>
              <a:rPr lang="en-US" sz="1200" dirty="0">
                <a:solidFill>
                  <a:srgbClr val="0D1B2A"/>
                </a:solidFill>
                <a:latin typeface="Arial" panose="020B0604020202020204" pitchFamily="34" charset="0"/>
              </a:rPr>
              <a:t> is one kind of generative model. GenAI also includes images, audio and video.</a:t>
            </a:r>
          </a:p>
        </p:txBody>
      </p:sp>
      <p:sp>
        <p:nvSpPr>
          <p:cNvPr id="25" name="Text 6-1">
            <a:extLst>
              <a:ext uri="{FF2B5EF4-FFF2-40B4-BE49-F238E27FC236}">
                <a16:creationId xmlns:a16="http://schemas.microsoft.com/office/drawing/2014/main" id="{27E008B4-A7C2-97A6-FD83-869F07FE9A6B}"/>
              </a:ext>
            </a:extLst>
          </p:cNvPr>
          <p:cNvSpPr txBox="1"/>
          <p:nvPr/>
        </p:nvSpPr>
        <p:spPr>
          <a:xfrm>
            <a:off x="495300" y="257175"/>
            <a:ext cx="8153400" cy="209550"/>
          </a:xfrm>
          <a:prstGeom prst="rect">
            <a:avLst/>
          </a:prstGeom>
          <a:noFill/>
        </p:spPr>
        <p:txBody>
          <a:bodyPr vert="horz" wrap="square" lIns="0" tIns="0" rIns="0" bIns="0" rtlCol="0">
            <a:noAutofit/>
          </a:bodyPr>
          <a:lstStyle/>
          <a:p>
            <a:r>
              <a:rPr lang="de-DE" sz="900" kern="0" spc="200" dirty="0">
                <a:solidFill>
                  <a:srgbClr val="1B9AAA"/>
                </a:solidFill>
                <a:latin typeface="JetBrains Mono" pitchFamily="34" charset="0"/>
                <a:ea typeface="JetBrains Mono" pitchFamily="34" charset="-122"/>
              </a:rPr>
              <a:t>Generative AI</a:t>
            </a:r>
            <a:endParaRPr lang="en-US" sz="900" dirty="0"/>
          </a:p>
        </p:txBody>
      </p:sp>
    </p:spTree>
    <p:extLst>
      <p:ext uri="{BB962C8B-B14F-4D97-AF65-F5344CB8AC3E}">
        <p14:creationId xmlns:p14="http://schemas.microsoft.com/office/powerpoint/2010/main" val="36375464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8-1">
            <a:extLst>
              <a:ext uri="{FF2B5EF4-FFF2-40B4-BE49-F238E27FC236}">
                <a16:creationId xmlns:a16="http://schemas.microsoft.com/office/drawing/2014/main" id="{619E808D-2DBF-CAB2-E251-6F211A8D5F14}"/>
              </a:ext>
            </a:extLst>
          </p:cNvPr>
          <p:cNvSpPr txBox="1"/>
          <p:nvPr/>
        </p:nvSpPr>
        <p:spPr>
          <a:xfrm>
            <a:off x="495300" y="257175"/>
            <a:ext cx="8153400" cy="209550"/>
          </a:xfrm>
          <a:prstGeom prst="rect">
            <a:avLst/>
          </a:prstGeom>
          <a:noFill/>
        </p:spPr>
        <p:txBody>
          <a:bodyPr vert="horz" wrap="square" lIns="0" tIns="0" rIns="0" bIns="0" rtlCol="0">
            <a:noAutofit/>
          </a:bodyPr>
          <a:lstStyle/>
          <a:p>
            <a:endParaRPr lang="en-US" sz="900" dirty="0">
              <a:solidFill>
                <a:srgbClr val="1B9AAA"/>
              </a:solidFill>
              <a:latin typeface="Consolas" panose="020B0609020204030204" pitchFamily="49" charset="0"/>
            </a:endParaRPr>
          </a:p>
        </p:txBody>
      </p:sp>
      <p:sp>
        <p:nvSpPr>
          <p:cNvPr id="3" name="Text 8-2">
            <a:extLst>
              <a:ext uri="{FF2B5EF4-FFF2-40B4-BE49-F238E27FC236}">
                <a16:creationId xmlns:a16="http://schemas.microsoft.com/office/drawing/2014/main" id="{0663FF39-8191-336D-3FD0-E846C9BA0680}"/>
              </a:ext>
            </a:extLst>
          </p:cNvPr>
          <p:cNvSpPr txBox="1"/>
          <p:nvPr/>
        </p:nvSpPr>
        <p:spPr>
          <a:xfrm>
            <a:off x="495300" y="561975"/>
            <a:ext cx="8153400" cy="504825"/>
          </a:xfrm>
          <a:prstGeom prst="rect">
            <a:avLst/>
          </a:prstGeom>
          <a:noFill/>
        </p:spPr>
        <p:txBody>
          <a:bodyPr vert="horz" wrap="square" lIns="0" tIns="0" rIns="0" bIns="0" rtlCol="0">
            <a:noAutofit/>
          </a:bodyPr>
          <a:lstStyle/>
          <a:p>
            <a:r>
              <a:rPr lang="en-US" sz="2700" dirty="0">
                <a:solidFill>
                  <a:srgbClr val="0D1B2A"/>
                </a:solidFill>
                <a:latin typeface="Bahnschrift Condensed" panose="020B0502040204020203" pitchFamily="34" charset="0"/>
              </a:rPr>
              <a:t>Next-word prediction: probabilities become text</a:t>
            </a:r>
          </a:p>
        </p:txBody>
      </p:sp>
      <p:sp>
        <p:nvSpPr>
          <p:cNvPr id="4" name="Text 8-3">
            <a:extLst>
              <a:ext uri="{FF2B5EF4-FFF2-40B4-BE49-F238E27FC236}">
                <a16:creationId xmlns:a16="http://schemas.microsoft.com/office/drawing/2014/main" id="{E63343AD-6424-9DAC-D41A-7C5AE5F28A56}"/>
              </a:ext>
            </a:extLst>
          </p:cNvPr>
          <p:cNvSpPr txBox="1"/>
          <p:nvPr/>
        </p:nvSpPr>
        <p:spPr>
          <a:xfrm>
            <a:off x="495300" y="1133475"/>
            <a:ext cx="8153400" cy="361950"/>
          </a:xfrm>
          <a:prstGeom prst="rect">
            <a:avLst/>
          </a:prstGeom>
          <a:noFill/>
        </p:spPr>
        <p:txBody>
          <a:bodyPr vert="horz" wrap="square" lIns="0" tIns="0" rIns="0" bIns="0" rtlCol="0">
            <a:noAutofit/>
          </a:bodyPr>
          <a:lstStyle/>
          <a:p>
            <a:r>
              <a:rPr lang="en-US" sz="1275">
                <a:solidFill>
                  <a:srgbClr val="586E7D"/>
                </a:solidFill>
                <a:latin typeface="Arial" panose="020B0604020202020204" pitchFamily="34" charset="0"/>
              </a:rPr>
              <a:t>A toy example of an autoregressive language model. All probabilities are illustrative.</a:t>
            </a:r>
          </a:p>
        </p:txBody>
      </p:sp>
      <p:sp>
        <p:nvSpPr>
          <p:cNvPr id="8" name="Rectangle 7">
            <a:extLst>
              <a:ext uri="{FF2B5EF4-FFF2-40B4-BE49-F238E27FC236}">
                <a16:creationId xmlns:a16="http://schemas.microsoft.com/office/drawing/2014/main" id="{8E2EED29-6145-7EDF-3BB3-A176264AEA8B}"/>
              </a:ext>
            </a:extLst>
          </p:cNvPr>
          <p:cNvSpPr/>
          <p:nvPr/>
        </p:nvSpPr>
        <p:spPr>
          <a:xfrm>
            <a:off x="495300" y="1638300"/>
            <a:ext cx="3943350" cy="2600325"/>
          </a:xfrm>
          <a:prstGeom prst="rect">
            <a:avLst/>
          </a:prstGeom>
          <a:solidFill>
            <a:srgbClr val="FFFFFF"/>
          </a:solidFill>
          <a:ln w="10160">
            <a:solidFill>
              <a:srgbClr val="DDE5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9" name="Text 8-8">
            <a:extLst>
              <a:ext uri="{FF2B5EF4-FFF2-40B4-BE49-F238E27FC236}">
                <a16:creationId xmlns:a16="http://schemas.microsoft.com/office/drawing/2014/main" id="{9147D9F7-612F-DC46-0646-7A924820E5E5}"/>
              </a:ext>
            </a:extLst>
          </p:cNvPr>
          <p:cNvSpPr txBox="1"/>
          <p:nvPr/>
        </p:nvSpPr>
        <p:spPr>
          <a:xfrm>
            <a:off x="676275" y="1771650"/>
            <a:ext cx="3590925" cy="209550"/>
          </a:xfrm>
          <a:prstGeom prst="rect">
            <a:avLst/>
          </a:prstGeom>
          <a:noFill/>
        </p:spPr>
        <p:txBody>
          <a:bodyPr vert="horz" wrap="square" lIns="0" tIns="0" rIns="0" bIns="0" rtlCol="0">
            <a:noAutofit/>
          </a:bodyPr>
          <a:lstStyle/>
          <a:p>
            <a:r>
              <a:rPr lang="en-US" sz="900">
                <a:solidFill>
                  <a:srgbClr val="1B9AAA"/>
                </a:solidFill>
                <a:latin typeface="Consolas" panose="020B0609020204030204" pitchFamily="49" charset="0"/>
              </a:rPr>
              <a:t>1 / SCORE POSSIBLE NEXT TOKENS</a:t>
            </a:r>
          </a:p>
        </p:txBody>
      </p:sp>
      <p:sp>
        <p:nvSpPr>
          <p:cNvPr id="10" name="Text 8-9">
            <a:extLst>
              <a:ext uri="{FF2B5EF4-FFF2-40B4-BE49-F238E27FC236}">
                <a16:creationId xmlns:a16="http://schemas.microsoft.com/office/drawing/2014/main" id="{45B1801E-B882-0E3F-2594-B0003C55A6DB}"/>
              </a:ext>
            </a:extLst>
          </p:cNvPr>
          <p:cNvSpPr txBox="1"/>
          <p:nvPr/>
        </p:nvSpPr>
        <p:spPr>
          <a:xfrm>
            <a:off x="676275" y="2105025"/>
            <a:ext cx="3590925" cy="381000"/>
          </a:xfrm>
          <a:prstGeom prst="rect">
            <a:avLst/>
          </a:prstGeom>
          <a:noFill/>
        </p:spPr>
        <p:txBody>
          <a:bodyPr vert="horz" wrap="square" lIns="0" tIns="0" rIns="0" bIns="0" rtlCol="0">
            <a:noAutofit/>
          </a:bodyPr>
          <a:lstStyle/>
          <a:p>
            <a:r>
              <a:rPr lang="en-US" sz="1875">
                <a:solidFill>
                  <a:srgbClr val="0D1B2A"/>
                </a:solidFill>
                <a:latin typeface="Bahnschrift Condensed" panose="020B0502040204020203" pitchFamily="34" charset="0"/>
              </a:rPr>
              <a:t>The cat sat on the ...</a:t>
            </a:r>
          </a:p>
        </p:txBody>
      </p:sp>
      <p:sp>
        <p:nvSpPr>
          <p:cNvPr id="11" name="Text 8-10">
            <a:extLst>
              <a:ext uri="{FF2B5EF4-FFF2-40B4-BE49-F238E27FC236}">
                <a16:creationId xmlns:a16="http://schemas.microsoft.com/office/drawing/2014/main" id="{743F3939-FAD4-FCD8-A48E-7F494AC504EB}"/>
              </a:ext>
            </a:extLst>
          </p:cNvPr>
          <p:cNvSpPr txBox="1"/>
          <p:nvPr/>
        </p:nvSpPr>
        <p:spPr>
          <a:xfrm>
            <a:off x="685800" y="2676525"/>
            <a:ext cx="666750" cy="238125"/>
          </a:xfrm>
          <a:prstGeom prst="rect">
            <a:avLst/>
          </a:prstGeom>
          <a:noFill/>
        </p:spPr>
        <p:txBody>
          <a:bodyPr vert="horz" wrap="square" lIns="0" tIns="0" rIns="0" bIns="0" rtlCol="0">
            <a:noAutofit/>
          </a:bodyPr>
          <a:lstStyle/>
          <a:p>
            <a:r>
              <a:rPr lang="en-US" sz="1200">
                <a:solidFill>
                  <a:srgbClr val="0D1B2A"/>
                </a:solidFill>
                <a:latin typeface="Consolas" panose="020B0609020204030204" pitchFamily="49" charset="0"/>
              </a:rPr>
              <a:t>mat</a:t>
            </a:r>
          </a:p>
        </p:txBody>
      </p:sp>
      <p:sp>
        <p:nvSpPr>
          <p:cNvPr id="12" name="Rectangle 11">
            <a:extLst>
              <a:ext uri="{FF2B5EF4-FFF2-40B4-BE49-F238E27FC236}">
                <a16:creationId xmlns:a16="http://schemas.microsoft.com/office/drawing/2014/main" id="{0AA3C3AB-EDD5-D8B3-95E1-9D257791FDB8}"/>
              </a:ext>
            </a:extLst>
          </p:cNvPr>
          <p:cNvSpPr/>
          <p:nvPr/>
        </p:nvSpPr>
        <p:spPr>
          <a:xfrm>
            <a:off x="1438275" y="2705100"/>
            <a:ext cx="2181225" cy="152400"/>
          </a:xfrm>
          <a:prstGeom prst="rect">
            <a:avLst/>
          </a:prstGeom>
          <a:solidFill>
            <a:srgbClr val="F4F7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3" name="Rectangle 12">
            <a:extLst>
              <a:ext uri="{FF2B5EF4-FFF2-40B4-BE49-F238E27FC236}">
                <a16:creationId xmlns:a16="http://schemas.microsoft.com/office/drawing/2014/main" id="{F6F9B5ED-D7AC-2484-0E0D-14F9E92FB864}"/>
              </a:ext>
            </a:extLst>
          </p:cNvPr>
          <p:cNvSpPr/>
          <p:nvPr/>
        </p:nvSpPr>
        <p:spPr>
          <a:xfrm>
            <a:off x="1438275" y="2705100"/>
            <a:ext cx="1963103" cy="152400"/>
          </a:xfrm>
          <a:prstGeom prst="rect">
            <a:avLst/>
          </a:prstGeom>
          <a:solidFill>
            <a:srgbClr val="1B9A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4" name="Text 8-13">
            <a:extLst>
              <a:ext uri="{FF2B5EF4-FFF2-40B4-BE49-F238E27FC236}">
                <a16:creationId xmlns:a16="http://schemas.microsoft.com/office/drawing/2014/main" id="{EDB33ACA-A41A-FE2A-24B0-E1534F7D5525}"/>
              </a:ext>
            </a:extLst>
          </p:cNvPr>
          <p:cNvSpPr txBox="1"/>
          <p:nvPr/>
        </p:nvSpPr>
        <p:spPr>
          <a:xfrm>
            <a:off x="3724275" y="2676525"/>
            <a:ext cx="523875" cy="238125"/>
          </a:xfrm>
          <a:prstGeom prst="rect">
            <a:avLst/>
          </a:prstGeom>
          <a:noFill/>
        </p:spPr>
        <p:txBody>
          <a:bodyPr vert="horz" wrap="square" lIns="0" tIns="0" rIns="0" bIns="0" rtlCol="0">
            <a:noAutofit/>
          </a:bodyPr>
          <a:lstStyle/>
          <a:p>
            <a:pPr algn="r"/>
            <a:r>
              <a:rPr lang="en-US" sz="1200">
                <a:solidFill>
                  <a:srgbClr val="0D1B2A"/>
                </a:solidFill>
                <a:latin typeface="Consolas" panose="020B0609020204030204" pitchFamily="49" charset="0"/>
              </a:rPr>
              <a:t>45%</a:t>
            </a:r>
          </a:p>
        </p:txBody>
      </p:sp>
      <p:sp>
        <p:nvSpPr>
          <p:cNvPr id="15" name="Text 8-14">
            <a:extLst>
              <a:ext uri="{FF2B5EF4-FFF2-40B4-BE49-F238E27FC236}">
                <a16:creationId xmlns:a16="http://schemas.microsoft.com/office/drawing/2014/main" id="{79892091-D3D1-FB5F-37B9-814022E86532}"/>
              </a:ext>
            </a:extLst>
          </p:cNvPr>
          <p:cNvSpPr txBox="1"/>
          <p:nvPr/>
        </p:nvSpPr>
        <p:spPr>
          <a:xfrm>
            <a:off x="685800" y="3019425"/>
            <a:ext cx="666750" cy="238125"/>
          </a:xfrm>
          <a:prstGeom prst="rect">
            <a:avLst/>
          </a:prstGeom>
          <a:noFill/>
        </p:spPr>
        <p:txBody>
          <a:bodyPr vert="horz" wrap="square" lIns="0" tIns="0" rIns="0" bIns="0" rtlCol="0">
            <a:noAutofit/>
          </a:bodyPr>
          <a:lstStyle/>
          <a:p>
            <a:r>
              <a:rPr lang="en-US" sz="1200">
                <a:solidFill>
                  <a:srgbClr val="0D1B2A"/>
                </a:solidFill>
                <a:latin typeface="Consolas" panose="020B0609020204030204" pitchFamily="49" charset="0"/>
              </a:rPr>
              <a:t>chair</a:t>
            </a:r>
          </a:p>
        </p:txBody>
      </p:sp>
      <p:sp>
        <p:nvSpPr>
          <p:cNvPr id="16" name="Rectangle 15">
            <a:extLst>
              <a:ext uri="{FF2B5EF4-FFF2-40B4-BE49-F238E27FC236}">
                <a16:creationId xmlns:a16="http://schemas.microsoft.com/office/drawing/2014/main" id="{1FCA4327-E5B4-B2DC-00C9-E8DFC14EBF85}"/>
              </a:ext>
            </a:extLst>
          </p:cNvPr>
          <p:cNvSpPr/>
          <p:nvPr/>
        </p:nvSpPr>
        <p:spPr>
          <a:xfrm>
            <a:off x="1438275" y="3048000"/>
            <a:ext cx="2181225" cy="152400"/>
          </a:xfrm>
          <a:prstGeom prst="rect">
            <a:avLst/>
          </a:prstGeom>
          <a:solidFill>
            <a:srgbClr val="F4F7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7" name="Rectangle 16">
            <a:extLst>
              <a:ext uri="{FF2B5EF4-FFF2-40B4-BE49-F238E27FC236}">
                <a16:creationId xmlns:a16="http://schemas.microsoft.com/office/drawing/2014/main" id="{D1B0EC95-2BE9-E090-C4C0-5EE68D578702}"/>
              </a:ext>
            </a:extLst>
          </p:cNvPr>
          <p:cNvSpPr/>
          <p:nvPr/>
        </p:nvSpPr>
        <p:spPr>
          <a:xfrm>
            <a:off x="1438275" y="3048000"/>
            <a:ext cx="1090613" cy="152400"/>
          </a:xfrm>
          <a:prstGeom prst="rect">
            <a:avLst/>
          </a:prstGeom>
          <a:solidFill>
            <a:srgbClr val="AFC2C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8" name="Text 8-17">
            <a:extLst>
              <a:ext uri="{FF2B5EF4-FFF2-40B4-BE49-F238E27FC236}">
                <a16:creationId xmlns:a16="http://schemas.microsoft.com/office/drawing/2014/main" id="{48EB68D9-D838-F4C6-5833-EC14CE7D0346}"/>
              </a:ext>
            </a:extLst>
          </p:cNvPr>
          <p:cNvSpPr txBox="1"/>
          <p:nvPr/>
        </p:nvSpPr>
        <p:spPr>
          <a:xfrm>
            <a:off x="3724275" y="3019425"/>
            <a:ext cx="523875" cy="238125"/>
          </a:xfrm>
          <a:prstGeom prst="rect">
            <a:avLst/>
          </a:prstGeom>
          <a:noFill/>
        </p:spPr>
        <p:txBody>
          <a:bodyPr vert="horz" wrap="square" lIns="0" tIns="0" rIns="0" bIns="0" rtlCol="0">
            <a:noAutofit/>
          </a:bodyPr>
          <a:lstStyle/>
          <a:p>
            <a:pPr algn="r"/>
            <a:r>
              <a:rPr lang="en-US" sz="1200">
                <a:solidFill>
                  <a:srgbClr val="0D1B2A"/>
                </a:solidFill>
                <a:latin typeface="Consolas" panose="020B0609020204030204" pitchFamily="49" charset="0"/>
              </a:rPr>
              <a:t>25%</a:t>
            </a:r>
          </a:p>
        </p:txBody>
      </p:sp>
      <p:sp>
        <p:nvSpPr>
          <p:cNvPr id="19" name="Text 8-18">
            <a:extLst>
              <a:ext uri="{FF2B5EF4-FFF2-40B4-BE49-F238E27FC236}">
                <a16:creationId xmlns:a16="http://schemas.microsoft.com/office/drawing/2014/main" id="{0C295301-D114-062B-1B4D-C12BA3AB9706}"/>
              </a:ext>
            </a:extLst>
          </p:cNvPr>
          <p:cNvSpPr txBox="1"/>
          <p:nvPr/>
        </p:nvSpPr>
        <p:spPr>
          <a:xfrm>
            <a:off x="685800" y="3362325"/>
            <a:ext cx="666750" cy="238125"/>
          </a:xfrm>
          <a:prstGeom prst="rect">
            <a:avLst/>
          </a:prstGeom>
          <a:noFill/>
        </p:spPr>
        <p:txBody>
          <a:bodyPr vert="horz" wrap="square" lIns="0" tIns="0" rIns="0" bIns="0" rtlCol="0">
            <a:noAutofit/>
          </a:bodyPr>
          <a:lstStyle/>
          <a:p>
            <a:r>
              <a:rPr lang="en-US" sz="1200">
                <a:solidFill>
                  <a:srgbClr val="0D1B2A"/>
                </a:solidFill>
                <a:latin typeface="Consolas" panose="020B0609020204030204" pitchFamily="49" charset="0"/>
              </a:rPr>
              <a:t>floor</a:t>
            </a:r>
          </a:p>
        </p:txBody>
      </p:sp>
      <p:sp>
        <p:nvSpPr>
          <p:cNvPr id="20" name="Rectangle 19">
            <a:extLst>
              <a:ext uri="{FF2B5EF4-FFF2-40B4-BE49-F238E27FC236}">
                <a16:creationId xmlns:a16="http://schemas.microsoft.com/office/drawing/2014/main" id="{890E7B40-ED39-375B-EC7D-4EE9420D7264}"/>
              </a:ext>
            </a:extLst>
          </p:cNvPr>
          <p:cNvSpPr/>
          <p:nvPr/>
        </p:nvSpPr>
        <p:spPr>
          <a:xfrm>
            <a:off x="1438275" y="3390900"/>
            <a:ext cx="2181225" cy="152400"/>
          </a:xfrm>
          <a:prstGeom prst="rect">
            <a:avLst/>
          </a:prstGeom>
          <a:solidFill>
            <a:srgbClr val="F4F7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1" name="Rectangle 20">
            <a:extLst>
              <a:ext uri="{FF2B5EF4-FFF2-40B4-BE49-F238E27FC236}">
                <a16:creationId xmlns:a16="http://schemas.microsoft.com/office/drawing/2014/main" id="{3780734A-E035-4A0C-5940-0084AF190D74}"/>
              </a:ext>
            </a:extLst>
          </p:cNvPr>
          <p:cNvSpPr/>
          <p:nvPr/>
        </p:nvSpPr>
        <p:spPr>
          <a:xfrm>
            <a:off x="1438275" y="3390900"/>
            <a:ext cx="872490" cy="152400"/>
          </a:xfrm>
          <a:prstGeom prst="rect">
            <a:avLst/>
          </a:prstGeom>
          <a:solidFill>
            <a:srgbClr val="AFC2C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2" name="Text 8-21">
            <a:extLst>
              <a:ext uri="{FF2B5EF4-FFF2-40B4-BE49-F238E27FC236}">
                <a16:creationId xmlns:a16="http://schemas.microsoft.com/office/drawing/2014/main" id="{ED5FDC14-8153-52DC-3C68-564C05CD1307}"/>
              </a:ext>
            </a:extLst>
          </p:cNvPr>
          <p:cNvSpPr txBox="1"/>
          <p:nvPr/>
        </p:nvSpPr>
        <p:spPr>
          <a:xfrm>
            <a:off x="3724275" y="3362325"/>
            <a:ext cx="523875" cy="238125"/>
          </a:xfrm>
          <a:prstGeom prst="rect">
            <a:avLst/>
          </a:prstGeom>
          <a:noFill/>
        </p:spPr>
        <p:txBody>
          <a:bodyPr vert="horz" wrap="square" lIns="0" tIns="0" rIns="0" bIns="0" rtlCol="0">
            <a:noAutofit/>
          </a:bodyPr>
          <a:lstStyle/>
          <a:p>
            <a:pPr algn="r"/>
            <a:r>
              <a:rPr lang="en-US" sz="1200">
                <a:solidFill>
                  <a:srgbClr val="0D1B2A"/>
                </a:solidFill>
                <a:latin typeface="Consolas" panose="020B0609020204030204" pitchFamily="49" charset="0"/>
              </a:rPr>
              <a:t>20%</a:t>
            </a:r>
          </a:p>
        </p:txBody>
      </p:sp>
      <p:sp>
        <p:nvSpPr>
          <p:cNvPr id="23" name="Text 8-22">
            <a:extLst>
              <a:ext uri="{FF2B5EF4-FFF2-40B4-BE49-F238E27FC236}">
                <a16:creationId xmlns:a16="http://schemas.microsoft.com/office/drawing/2014/main" id="{32793718-F820-23C2-D3DE-0295E15D5C11}"/>
              </a:ext>
            </a:extLst>
          </p:cNvPr>
          <p:cNvSpPr txBox="1"/>
          <p:nvPr/>
        </p:nvSpPr>
        <p:spPr>
          <a:xfrm>
            <a:off x="685800" y="3705225"/>
            <a:ext cx="666750" cy="238125"/>
          </a:xfrm>
          <a:prstGeom prst="rect">
            <a:avLst/>
          </a:prstGeom>
          <a:noFill/>
        </p:spPr>
        <p:txBody>
          <a:bodyPr vert="horz" wrap="square" lIns="0" tIns="0" rIns="0" bIns="0" rtlCol="0">
            <a:noAutofit/>
          </a:bodyPr>
          <a:lstStyle/>
          <a:p>
            <a:r>
              <a:rPr lang="en-US" sz="1200">
                <a:solidFill>
                  <a:srgbClr val="0D1B2A"/>
                </a:solidFill>
                <a:latin typeface="Consolas" panose="020B0609020204030204" pitchFamily="49" charset="0"/>
              </a:rPr>
              <a:t>other</a:t>
            </a:r>
          </a:p>
        </p:txBody>
      </p:sp>
      <p:sp>
        <p:nvSpPr>
          <p:cNvPr id="24" name="Rectangle 23">
            <a:extLst>
              <a:ext uri="{FF2B5EF4-FFF2-40B4-BE49-F238E27FC236}">
                <a16:creationId xmlns:a16="http://schemas.microsoft.com/office/drawing/2014/main" id="{EEC4B919-408C-82B3-43E0-5C9C4D8A6982}"/>
              </a:ext>
            </a:extLst>
          </p:cNvPr>
          <p:cNvSpPr/>
          <p:nvPr/>
        </p:nvSpPr>
        <p:spPr>
          <a:xfrm>
            <a:off x="1438275" y="3733800"/>
            <a:ext cx="2181225" cy="152400"/>
          </a:xfrm>
          <a:prstGeom prst="rect">
            <a:avLst/>
          </a:prstGeom>
          <a:solidFill>
            <a:srgbClr val="F4F7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5" name="Rectangle 24">
            <a:extLst>
              <a:ext uri="{FF2B5EF4-FFF2-40B4-BE49-F238E27FC236}">
                <a16:creationId xmlns:a16="http://schemas.microsoft.com/office/drawing/2014/main" id="{7CE6DC1D-B7D3-C84E-81A5-5E41E5970B0D}"/>
              </a:ext>
            </a:extLst>
          </p:cNvPr>
          <p:cNvSpPr/>
          <p:nvPr/>
        </p:nvSpPr>
        <p:spPr>
          <a:xfrm>
            <a:off x="1438275" y="3733800"/>
            <a:ext cx="436245" cy="152400"/>
          </a:xfrm>
          <a:prstGeom prst="rect">
            <a:avLst/>
          </a:prstGeom>
          <a:solidFill>
            <a:srgbClr val="AFC2C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6" name="Text 8-25">
            <a:extLst>
              <a:ext uri="{FF2B5EF4-FFF2-40B4-BE49-F238E27FC236}">
                <a16:creationId xmlns:a16="http://schemas.microsoft.com/office/drawing/2014/main" id="{FD990E2D-32C9-B2DB-972F-EE63584212E2}"/>
              </a:ext>
            </a:extLst>
          </p:cNvPr>
          <p:cNvSpPr txBox="1"/>
          <p:nvPr/>
        </p:nvSpPr>
        <p:spPr>
          <a:xfrm>
            <a:off x="3724275" y="3705225"/>
            <a:ext cx="523875" cy="238125"/>
          </a:xfrm>
          <a:prstGeom prst="rect">
            <a:avLst/>
          </a:prstGeom>
          <a:noFill/>
        </p:spPr>
        <p:txBody>
          <a:bodyPr vert="horz" wrap="square" lIns="0" tIns="0" rIns="0" bIns="0" rtlCol="0">
            <a:noAutofit/>
          </a:bodyPr>
          <a:lstStyle/>
          <a:p>
            <a:pPr algn="r"/>
            <a:r>
              <a:rPr lang="en-US" sz="1200">
                <a:solidFill>
                  <a:srgbClr val="0D1B2A"/>
                </a:solidFill>
                <a:latin typeface="Consolas" panose="020B0609020204030204" pitchFamily="49" charset="0"/>
              </a:rPr>
              <a:t>10%</a:t>
            </a:r>
          </a:p>
        </p:txBody>
      </p:sp>
      <p:sp>
        <p:nvSpPr>
          <p:cNvPr id="27" name="Rectangle 26">
            <a:extLst>
              <a:ext uri="{FF2B5EF4-FFF2-40B4-BE49-F238E27FC236}">
                <a16:creationId xmlns:a16="http://schemas.microsoft.com/office/drawing/2014/main" id="{EA48BC8E-2015-47FB-A488-F38E7A6D31E0}"/>
              </a:ext>
            </a:extLst>
          </p:cNvPr>
          <p:cNvSpPr/>
          <p:nvPr/>
        </p:nvSpPr>
        <p:spPr>
          <a:xfrm>
            <a:off x="4676775" y="1638300"/>
            <a:ext cx="3971925" cy="2600325"/>
          </a:xfrm>
          <a:prstGeom prst="rect">
            <a:avLst/>
          </a:prstGeom>
          <a:solidFill>
            <a:srgbClr val="0D1B2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8" name="Text 8-27">
            <a:extLst>
              <a:ext uri="{FF2B5EF4-FFF2-40B4-BE49-F238E27FC236}">
                <a16:creationId xmlns:a16="http://schemas.microsoft.com/office/drawing/2014/main" id="{599BB9DB-9C2D-3CDB-8ECC-4909C3174249}"/>
              </a:ext>
            </a:extLst>
          </p:cNvPr>
          <p:cNvSpPr txBox="1"/>
          <p:nvPr/>
        </p:nvSpPr>
        <p:spPr>
          <a:xfrm>
            <a:off x="4857750" y="1771650"/>
            <a:ext cx="3600450" cy="219075"/>
          </a:xfrm>
          <a:prstGeom prst="rect">
            <a:avLst/>
          </a:prstGeom>
          <a:noFill/>
        </p:spPr>
        <p:txBody>
          <a:bodyPr vert="horz" wrap="square" lIns="0" tIns="0" rIns="0" bIns="0" rtlCol="0">
            <a:noAutofit/>
          </a:bodyPr>
          <a:lstStyle/>
          <a:p>
            <a:r>
              <a:rPr lang="en-US" sz="900">
                <a:solidFill>
                  <a:srgbClr val="06D6A0"/>
                </a:solidFill>
                <a:latin typeface="Consolas" panose="020B0609020204030204" pitchFamily="49" charset="0"/>
              </a:rPr>
              <a:t>2 / SELECT, APPEND, REPEAT</a:t>
            </a:r>
          </a:p>
        </p:txBody>
      </p:sp>
      <p:sp>
        <p:nvSpPr>
          <p:cNvPr id="29" name="Text 8-28">
            <a:extLst>
              <a:ext uri="{FF2B5EF4-FFF2-40B4-BE49-F238E27FC236}">
                <a16:creationId xmlns:a16="http://schemas.microsoft.com/office/drawing/2014/main" id="{81EE1D93-656D-E239-62EF-868513B0BF09}"/>
              </a:ext>
            </a:extLst>
          </p:cNvPr>
          <p:cNvSpPr txBox="1"/>
          <p:nvPr/>
        </p:nvSpPr>
        <p:spPr>
          <a:xfrm>
            <a:off x="4857750" y="2181225"/>
            <a:ext cx="3600450" cy="361950"/>
          </a:xfrm>
          <a:prstGeom prst="rect">
            <a:avLst/>
          </a:prstGeom>
          <a:noFill/>
        </p:spPr>
        <p:txBody>
          <a:bodyPr vert="horz" wrap="square" lIns="0" tIns="0" rIns="0" bIns="0" rtlCol="0">
            <a:noAutofit/>
          </a:bodyPr>
          <a:lstStyle/>
          <a:p>
            <a:r>
              <a:rPr lang="en-US" sz="1875">
                <a:solidFill>
                  <a:srgbClr val="FFFFFF"/>
                </a:solidFill>
                <a:latin typeface="Bahnschrift Condensed" panose="020B0502040204020203" pitchFamily="34" charset="0"/>
              </a:rPr>
              <a:t>The cat sat on the mat</a:t>
            </a:r>
          </a:p>
        </p:txBody>
      </p:sp>
      <p:sp>
        <p:nvSpPr>
          <p:cNvPr id="30" name="Text 8-29">
            <a:extLst>
              <a:ext uri="{FF2B5EF4-FFF2-40B4-BE49-F238E27FC236}">
                <a16:creationId xmlns:a16="http://schemas.microsoft.com/office/drawing/2014/main" id="{E81FB875-B636-E3C3-1084-8AF8147AD0EE}"/>
              </a:ext>
            </a:extLst>
          </p:cNvPr>
          <p:cNvSpPr txBox="1"/>
          <p:nvPr/>
        </p:nvSpPr>
        <p:spPr>
          <a:xfrm>
            <a:off x="4857750" y="2771775"/>
            <a:ext cx="3600450" cy="762000"/>
          </a:xfrm>
          <a:prstGeom prst="rect">
            <a:avLst/>
          </a:prstGeom>
          <a:noFill/>
        </p:spPr>
        <p:txBody>
          <a:bodyPr vert="horz" wrap="square" lIns="0" tIns="0" rIns="0" bIns="0" rtlCol="0">
            <a:noAutofit/>
          </a:bodyPr>
          <a:lstStyle/>
          <a:p>
            <a:r>
              <a:rPr lang="en-US" sz="1200">
                <a:solidFill>
                  <a:srgbClr val="AFC2CE"/>
                </a:solidFill>
                <a:latin typeface="Consolas" panose="020B0609020204030204" pitchFamily="49" charset="0"/>
              </a:rPr>
              <a:t>Now score the next token again:
'.' 70%  |  'today' 15%
'quietly' 10%  |  other 5%</a:t>
            </a:r>
          </a:p>
        </p:txBody>
      </p:sp>
      <p:sp>
        <p:nvSpPr>
          <p:cNvPr id="31" name="Text 8-30">
            <a:extLst>
              <a:ext uri="{FF2B5EF4-FFF2-40B4-BE49-F238E27FC236}">
                <a16:creationId xmlns:a16="http://schemas.microsoft.com/office/drawing/2014/main" id="{660D6001-32FE-42E1-427B-0FABDA8C768E}"/>
              </a:ext>
            </a:extLst>
          </p:cNvPr>
          <p:cNvSpPr txBox="1"/>
          <p:nvPr/>
        </p:nvSpPr>
        <p:spPr>
          <a:xfrm>
            <a:off x="4857750" y="3714750"/>
            <a:ext cx="3600450" cy="381000"/>
          </a:xfrm>
          <a:prstGeom prst="rect">
            <a:avLst/>
          </a:prstGeom>
          <a:noFill/>
        </p:spPr>
        <p:txBody>
          <a:bodyPr vert="horz" wrap="square" lIns="0" tIns="0" rIns="0" bIns="0" rtlCol="0">
            <a:noAutofit/>
          </a:bodyPr>
          <a:lstStyle/>
          <a:p>
            <a:r>
              <a:rPr lang="en-US" sz="1200">
                <a:solidFill>
                  <a:srgbClr val="FFFFFF"/>
                </a:solidFill>
                <a:latin typeface="Arial" panose="020B0604020202020204" pitchFamily="34" charset="0"/>
              </a:rPr>
              <a:t>A decoding rule selects or samples a token; the context then grows.</a:t>
            </a:r>
          </a:p>
        </p:txBody>
      </p:sp>
      <p:sp>
        <p:nvSpPr>
          <p:cNvPr id="32" name="Rectangle 31">
            <a:extLst>
              <a:ext uri="{FF2B5EF4-FFF2-40B4-BE49-F238E27FC236}">
                <a16:creationId xmlns:a16="http://schemas.microsoft.com/office/drawing/2014/main" id="{2DBE26CB-F529-D724-431D-65DABF889DD3}"/>
              </a:ext>
            </a:extLst>
          </p:cNvPr>
          <p:cNvSpPr/>
          <p:nvPr/>
        </p:nvSpPr>
        <p:spPr>
          <a:xfrm>
            <a:off x="495300" y="4476750"/>
            <a:ext cx="38100" cy="190500"/>
          </a:xfrm>
          <a:prstGeom prst="rect">
            <a:avLst/>
          </a:prstGeom>
          <a:solidFill>
            <a:srgbClr val="1B9A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3" name="Text 8-32">
            <a:extLst>
              <a:ext uri="{FF2B5EF4-FFF2-40B4-BE49-F238E27FC236}">
                <a16:creationId xmlns:a16="http://schemas.microsoft.com/office/drawing/2014/main" id="{14D04DB5-E754-0277-78C2-BAA4C2570E09}"/>
              </a:ext>
            </a:extLst>
          </p:cNvPr>
          <p:cNvSpPr txBox="1"/>
          <p:nvPr/>
        </p:nvSpPr>
        <p:spPr>
          <a:xfrm>
            <a:off x="619125" y="4476750"/>
            <a:ext cx="8029575" cy="238125"/>
          </a:xfrm>
          <a:prstGeom prst="rect">
            <a:avLst/>
          </a:prstGeom>
          <a:noFill/>
        </p:spPr>
        <p:txBody>
          <a:bodyPr vert="horz" wrap="square" lIns="0" tIns="0" rIns="0" bIns="0" rtlCol="0">
            <a:noAutofit/>
          </a:bodyPr>
          <a:lstStyle/>
          <a:p>
            <a:r>
              <a:rPr lang="en-US" sz="1200" dirty="0">
                <a:solidFill>
                  <a:srgbClr val="0D1B2A"/>
                </a:solidFill>
                <a:latin typeface="Arial" panose="020B0604020202020204" pitchFamily="34" charset="0"/>
              </a:rPr>
              <a:t>Likely continuation does not mean verified fact. Real models predict tokens, not always words.</a:t>
            </a:r>
          </a:p>
        </p:txBody>
      </p:sp>
      <p:sp>
        <p:nvSpPr>
          <p:cNvPr id="37" name="Text 6-1">
            <a:extLst>
              <a:ext uri="{FF2B5EF4-FFF2-40B4-BE49-F238E27FC236}">
                <a16:creationId xmlns:a16="http://schemas.microsoft.com/office/drawing/2014/main" id="{C17694F8-48D0-4182-A1CA-A292BB7B3256}"/>
              </a:ext>
            </a:extLst>
          </p:cNvPr>
          <p:cNvSpPr txBox="1"/>
          <p:nvPr/>
        </p:nvSpPr>
        <p:spPr>
          <a:xfrm>
            <a:off x="495300" y="361950"/>
            <a:ext cx="8153400" cy="209550"/>
          </a:xfrm>
          <a:prstGeom prst="rect">
            <a:avLst/>
          </a:prstGeom>
          <a:noFill/>
        </p:spPr>
        <p:txBody>
          <a:bodyPr vert="horz" wrap="square" lIns="0" tIns="0" rIns="0" bIns="0" rtlCol="0">
            <a:noAutofit/>
          </a:bodyPr>
          <a:lstStyle/>
          <a:p>
            <a:r>
              <a:rPr lang="de-DE" sz="900" kern="0" spc="200" dirty="0">
                <a:solidFill>
                  <a:srgbClr val="1B9AAA"/>
                </a:solidFill>
                <a:latin typeface="JetBrains Mono" pitchFamily="34" charset="0"/>
                <a:ea typeface="JetBrains Mono" pitchFamily="34" charset="-122"/>
              </a:rPr>
              <a:t>Generative AI</a:t>
            </a:r>
            <a:endParaRPr lang="en-US" sz="900" dirty="0"/>
          </a:p>
        </p:txBody>
      </p:sp>
    </p:spTree>
    <p:extLst>
      <p:ext uri="{BB962C8B-B14F-4D97-AF65-F5344CB8AC3E}">
        <p14:creationId xmlns:p14="http://schemas.microsoft.com/office/powerpoint/2010/main" val="41134739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THE SHIFT</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Passive response, active problem-solving</a:t>
            </a:r>
            <a:endParaRPr lang="en-US" sz="3200" dirty="0"/>
          </a:p>
        </p:txBody>
      </p:sp>
      <p:sp>
        <p:nvSpPr>
          <p:cNvPr id="5" name="Text 3"/>
          <p:cNvSpPr/>
          <p:nvPr/>
        </p:nvSpPr>
        <p:spPr>
          <a:xfrm>
            <a:off x="566928" y="1371600"/>
            <a:ext cx="8138160" cy="292608"/>
          </a:xfrm>
          <a:prstGeom prst="rect">
            <a:avLst/>
          </a:prstGeom>
          <a:noFill/>
          <a:ln/>
        </p:spPr>
        <p:txBody>
          <a:bodyPr wrap="square" lIns="0" tIns="0" rIns="0" bIns="0" rtlCol="0" anchor="ctr"/>
          <a:lstStyle/>
          <a:p>
            <a:pPr marL="0" indent="0">
              <a:buNone/>
            </a:pPr>
            <a:r>
              <a:rPr lang="en-US" sz="1400" dirty="0">
                <a:solidFill>
                  <a:srgbClr val="14293D"/>
                </a:solidFill>
                <a:latin typeface="Roboto" pitchFamily="34" charset="0"/>
                <a:ea typeface="Roboto" pitchFamily="34" charset="-122"/>
                <a:cs typeface="Roboto" pitchFamily="34" charset="-120"/>
              </a:rPr>
              <a:t>LLMs generate text and answer queries. Agents add autonomy and goal-oriented action.</a:t>
            </a:r>
            <a:endParaRPr lang="en-US" sz="1400" dirty="0"/>
          </a:p>
        </p:txBody>
      </p:sp>
      <p:sp>
        <p:nvSpPr>
          <p:cNvPr id="6" name="Shape 4"/>
          <p:cNvSpPr/>
          <p:nvPr/>
        </p:nvSpPr>
        <p:spPr>
          <a:xfrm>
            <a:off x="566928" y="1828800"/>
            <a:ext cx="3931920" cy="420624"/>
          </a:xfrm>
          <a:prstGeom prst="rect">
            <a:avLst/>
          </a:prstGeom>
          <a:solidFill>
            <a:srgbClr val="14293D"/>
          </a:solidFill>
          <a:ln/>
        </p:spPr>
        <p:txBody>
          <a:bodyPr/>
          <a:lstStyle/>
          <a:p>
            <a:endParaRPr lang="en-US"/>
          </a:p>
        </p:txBody>
      </p:sp>
      <p:sp>
        <p:nvSpPr>
          <p:cNvPr id="7" name="Text 5"/>
          <p:cNvSpPr/>
          <p:nvPr/>
        </p:nvSpPr>
        <p:spPr>
          <a:xfrm>
            <a:off x="786384" y="1901952"/>
            <a:ext cx="3566160" cy="274320"/>
          </a:xfrm>
          <a:prstGeom prst="rect">
            <a:avLst/>
          </a:prstGeom>
          <a:noFill/>
          <a:ln/>
        </p:spPr>
        <p:txBody>
          <a:bodyPr wrap="square" lIns="0" tIns="0" rIns="0" bIns="0" rtlCol="0" anchor="ctr"/>
          <a:lstStyle/>
          <a:p>
            <a:pPr marL="0" indent="0">
              <a:buNone/>
            </a:pPr>
            <a:r>
              <a:rPr lang="en-US" sz="1500" dirty="0">
                <a:solidFill>
                  <a:srgbClr val="FFFFFF"/>
                </a:solidFill>
                <a:latin typeface="Oswald" pitchFamily="34" charset="0"/>
                <a:ea typeface="Oswald" pitchFamily="34" charset="-122"/>
                <a:cs typeface="Oswald" pitchFamily="34" charset="-120"/>
              </a:rPr>
              <a:t>Generative AI chatbot</a:t>
            </a:r>
            <a:endParaRPr lang="en-US" sz="1500" dirty="0"/>
          </a:p>
        </p:txBody>
      </p:sp>
      <p:sp>
        <p:nvSpPr>
          <p:cNvPr id="8" name="Text 6"/>
          <p:cNvSpPr/>
          <p:nvPr/>
        </p:nvSpPr>
        <p:spPr>
          <a:xfrm>
            <a:off x="868680" y="2377440"/>
            <a:ext cx="338328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Prompt  →</a:t>
            </a:r>
            <a:endParaRPr lang="en-US" sz="1100" dirty="0"/>
          </a:p>
        </p:txBody>
      </p:sp>
      <p:sp>
        <p:nvSpPr>
          <p:cNvPr id="9" name="Text 7"/>
          <p:cNvSpPr/>
          <p:nvPr/>
        </p:nvSpPr>
        <p:spPr>
          <a:xfrm>
            <a:off x="868680" y="2761488"/>
            <a:ext cx="3383280" cy="274320"/>
          </a:xfrm>
          <a:prstGeom prst="rect">
            <a:avLst/>
          </a:prstGeom>
          <a:noFill/>
          <a:ln/>
        </p:spPr>
        <p:txBody>
          <a:bodyPr wrap="square" lIns="0" tIns="0" rIns="0" bIns="0" rtlCol="0" anchor="ctr"/>
          <a:lstStyle/>
          <a:p>
            <a:pPr marL="0" indent="0">
              <a:buNone/>
            </a:pPr>
            <a:r>
              <a:rPr lang="en-US" sz="1100" dirty="0">
                <a:solidFill>
                  <a:srgbClr val="6B7B8C"/>
                </a:solidFill>
                <a:latin typeface="JetBrains Mono" pitchFamily="34" charset="0"/>
                <a:ea typeface="JetBrains Mono" pitchFamily="34" charset="-122"/>
                <a:cs typeface="JetBrains Mono" pitchFamily="34" charset="-120"/>
              </a:rPr>
              <a:t>Answer  ←</a:t>
            </a:r>
            <a:endParaRPr lang="en-US" sz="1100" dirty="0"/>
          </a:p>
        </p:txBody>
      </p:sp>
      <p:sp>
        <p:nvSpPr>
          <p:cNvPr id="10" name="Text 8"/>
          <p:cNvSpPr/>
          <p:nvPr/>
        </p:nvSpPr>
        <p:spPr>
          <a:xfrm>
            <a:off x="868680" y="3145536"/>
            <a:ext cx="338328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Prompt  →</a:t>
            </a:r>
            <a:endParaRPr lang="en-US" sz="1100" dirty="0"/>
          </a:p>
        </p:txBody>
      </p:sp>
      <p:sp>
        <p:nvSpPr>
          <p:cNvPr id="11" name="Text 9"/>
          <p:cNvSpPr/>
          <p:nvPr/>
        </p:nvSpPr>
        <p:spPr>
          <a:xfrm>
            <a:off x="868680" y="3529584"/>
            <a:ext cx="3383280" cy="274320"/>
          </a:xfrm>
          <a:prstGeom prst="rect">
            <a:avLst/>
          </a:prstGeom>
          <a:noFill/>
          <a:ln/>
        </p:spPr>
        <p:txBody>
          <a:bodyPr wrap="square" lIns="0" tIns="0" rIns="0" bIns="0" rtlCol="0" anchor="ctr"/>
          <a:lstStyle/>
          <a:p>
            <a:pPr marL="0" indent="0">
              <a:buNone/>
            </a:pPr>
            <a:r>
              <a:rPr lang="en-US" sz="1100" dirty="0">
                <a:solidFill>
                  <a:srgbClr val="6B7B8C"/>
                </a:solidFill>
                <a:latin typeface="JetBrains Mono" pitchFamily="34" charset="0"/>
                <a:ea typeface="JetBrains Mono" pitchFamily="34" charset="-122"/>
                <a:cs typeface="JetBrains Mono" pitchFamily="34" charset="-120"/>
              </a:rPr>
              <a:t>Answer  ←</a:t>
            </a:r>
            <a:endParaRPr lang="en-US" sz="1100" dirty="0"/>
          </a:p>
        </p:txBody>
      </p:sp>
      <p:sp>
        <p:nvSpPr>
          <p:cNvPr id="12" name="Shape 10"/>
          <p:cNvSpPr/>
          <p:nvPr/>
        </p:nvSpPr>
        <p:spPr>
          <a:xfrm>
            <a:off x="566928" y="4023360"/>
            <a:ext cx="3931920" cy="777240"/>
          </a:xfrm>
          <a:prstGeom prst="rect">
            <a:avLst/>
          </a:prstGeom>
          <a:solidFill>
            <a:srgbClr val="FFFFFF"/>
          </a:solidFill>
          <a:ln w="9525">
            <a:solidFill>
              <a:srgbClr val="DDE5E9"/>
            </a:solidFill>
            <a:prstDash val="solid"/>
          </a:ln>
        </p:spPr>
        <p:txBody>
          <a:bodyPr/>
          <a:lstStyle/>
          <a:p>
            <a:endParaRPr lang="en-US"/>
          </a:p>
        </p:txBody>
      </p:sp>
      <p:sp>
        <p:nvSpPr>
          <p:cNvPr id="13" name="Text 11"/>
          <p:cNvSpPr/>
          <p:nvPr/>
        </p:nvSpPr>
        <p:spPr>
          <a:xfrm>
            <a:off x="786384" y="4133088"/>
            <a:ext cx="3520440" cy="384048"/>
          </a:xfrm>
          <a:prstGeom prst="rect">
            <a:avLst/>
          </a:prstGeom>
          <a:noFill/>
          <a:ln/>
        </p:spPr>
        <p:txBody>
          <a:bodyPr wrap="square" lIns="0" tIns="0" rIns="0" bIns="0" rtlCol="0" anchor="ctr"/>
          <a:lstStyle/>
          <a:p>
            <a:pPr marL="0" indent="0">
              <a:buNone/>
            </a:pPr>
            <a:r>
              <a:rPr lang="en-US" sz="1100" dirty="0">
                <a:solidFill>
                  <a:srgbClr val="14293D"/>
                </a:solidFill>
                <a:latin typeface="Roboto" pitchFamily="34" charset="0"/>
                <a:ea typeface="Roboto" pitchFamily="34" charset="-122"/>
                <a:cs typeface="Roboto" pitchFamily="34" charset="-120"/>
              </a:rPr>
              <a:t>A structured exchange that needs a human for every decision and every action.</a:t>
            </a:r>
            <a:endParaRPr lang="en-US" sz="1100" dirty="0"/>
          </a:p>
        </p:txBody>
      </p:sp>
      <p:sp>
        <p:nvSpPr>
          <p:cNvPr id="14" name="Text 12"/>
          <p:cNvSpPr/>
          <p:nvPr/>
        </p:nvSpPr>
        <p:spPr>
          <a:xfrm>
            <a:off x="786384" y="4517136"/>
            <a:ext cx="3520440" cy="237744"/>
          </a:xfrm>
          <a:prstGeom prst="rect">
            <a:avLst/>
          </a:prstGeom>
          <a:noFill/>
          <a:ln/>
        </p:spPr>
        <p:txBody>
          <a:bodyPr wrap="square" lIns="0" tIns="0" rIns="0" bIns="0" rtlCol="0" anchor="ctr"/>
          <a:lstStyle/>
          <a:p>
            <a:pPr marL="0" indent="0">
              <a:buNone/>
            </a:pPr>
            <a:r>
              <a:rPr lang="en-US" sz="950" dirty="0">
                <a:solidFill>
                  <a:srgbClr val="1B9AAA"/>
                </a:solidFill>
                <a:latin typeface="JetBrains Mono" pitchFamily="34" charset="0"/>
                <a:ea typeface="JetBrains Mono" pitchFamily="34" charset="-122"/>
                <a:cs typeface="JetBrains Mono" pitchFamily="34" charset="-120"/>
              </a:rPr>
              <a:t>“Summarize these meeting notes.”</a:t>
            </a:r>
            <a:endParaRPr lang="en-US" sz="950" dirty="0"/>
          </a:p>
        </p:txBody>
      </p:sp>
      <p:sp>
        <p:nvSpPr>
          <p:cNvPr id="15" name="Shape 13"/>
          <p:cNvSpPr/>
          <p:nvPr/>
        </p:nvSpPr>
        <p:spPr>
          <a:xfrm>
            <a:off x="4754880" y="1828800"/>
            <a:ext cx="3931920" cy="420624"/>
          </a:xfrm>
          <a:prstGeom prst="rect">
            <a:avLst/>
          </a:prstGeom>
          <a:solidFill>
            <a:srgbClr val="0D1B2A"/>
          </a:solidFill>
          <a:ln/>
        </p:spPr>
        <p:txBody>
          <a:bodyPr/>
          <a:lstStyle/>
          <a:p>
            <a:endParaRPr lang="en-US"/>
          </a:p>
        </p:txBody>
      </p:sp>
      <p:sp>
        <p:nvSpPr>
          <p:cNvPr id="16" name="Text 14"/>
          <p:cNvSpPr/>
          <p:nvPr/>
        </p:nvSpPr>
        <p:spPr>
          <a:xfrm>
            <a:off x="4974336" y="1901952"/>
            <a:ext cx="3566160" cy="274320"/>
          </a:xfrm>
          <a:prstGeom prst="rect">
            <a:avLst/>
          </a:prstGeom>
          <a:noFill/>
          <a:ln/>
        </p:spPr>
        <p:txBody>
          <a:bodyPr wrap="square" lIns="0" tIns="0" rIns="0" bIns="0" rtlCol="0" anchor="ctr"/>
          <a:lstStyle/>
          <a:p>
            <a:pPr marL="0" indent="0">
              <a:buNone/>
            </a:pPr>
            <a:r>
              <a:rPr lang="en-US" sz="1500" dirty="0">
                <a:solidFill>
                  <a:srgbClr val="06D6A0"/>
                </a:solidFill>
                <a:latin typeface="Oswald" pitchFamily="34" charset="0"/>
                <a:ea typeface="Oswald" pitchFamily="34" charset="-122"/>
                <a:cs typeface="Oswald" pitchFamily="34" charset="-120"/>
              </a:rPr>
              <a:t>Agentic AI</a:t>
            </a:r>
            <a:endParaRPr lang="en-US" sz="1500" dirty="0"/>
          </a:p>
        </p:txBody>
      </p:sp>
      <p:sp>
        <p:nvSpPr>
          <p:cNvPr id="17" name="Text 15"/>
          <p:cNvSpPr/>
          <p:nvPr/>
        </p:nvSpPr>
        <p:spPr>
          <a:xfrm>
            <a:off x="5056632" y="2377440"/>
            <a:ext cx="347472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Prompt  →</a:t>
            </a:r>
            <a:endParaRPr lang="en-US" sz="1100" dirty="0"/>
          </a:p>
        </p:txBody>
      </p:sp>
      <p:sp>
        <p:nvSpPr>
          <p:cNvPr id="18" name="Text 16"/>
          <p:cNvSpPr/>
          <p:nvPr/>
        </p:nvSpPr>
        <p:spPr>
          <a:xfrm>
            <a:off x="5056632" y="2761488"/>
            <a:ext cx="3474720" cy="274320"/>
          </a:xfrm>
          <a:prstGeom prst="rect">
            <a:avLst/>
          </a:prstGeom>
          <a:noFill/>
          <a:ln/>
        </p:spPr>
        <p:txBody>
          <a:bodyPr wrap="square" lIns="0" tIns="0" rIns="0" bIns="0" rtlCol="0" anchor="ctr"/>
          <a:lstStyle/>
          <a:p>
            <a:pPr marL="0" indent="0">
              <a:buNone/>
            </a:pPr>
            <a:r>
              <a:rPr lang="en-US" sz="1100" dirty="0">
                <a:solidFill>
                  <a:srgbClr val="1B9AAA"/>
                </a:solidFill>
                <a:latin typeface="JetBrains Mono" pitchFamily="34" charset="0"/>
                <a:ea typeface="JetBrains Mono" pitchFamily="34" charset="-122"/>
                <a:cs typeface="JetBrains Mono" pitchFamily="34" charset="-120"/>
              </a:rPr>
              <a:t>Uses  ·  planning, memory, tools</a:t>
            </a:r>
            <a:endParaRPr lang="en-US" sz="1100" dirty="0"/>
          </a:p>
        </p:txBody>
      </p:sp>
      <p:sp>
        <p:nvSpPr>
          <p:cNvPr id="19" name="Text 17"/>
          <p:cNvSpPr/>
          <p:nvPr/>
        </p:nvSpPr>
        <p:spPr>
          <a:xfrm>
            <a:off x="5056632" y="3145536"/>
            <a:ext cx="3474720" cy="274320"/>
          </a:xfrm>
          <a:prstGeom prst="rect">
            <a:avLst/>
          </a:prstGeom>
          <a:noFill/>
          <a:ln/>
        </p:spPr>
        <p:txBody>
          <a:bodyPr wrap="square" lIns="0" tIns="0" rIns="0" bIns="0" rtlCol="0" anchor="ctr"/>
          <a:lstStyle/>
          <a:p>
            <a:pPr marL="0" indent="0">
              <a:buNone/>
            </a:pPr>
            <a:r>
              <a:rPr lang="en-US" sz="1100" dirty="0">
                <a:solidFill>
                  <a:srgbClr val="1B9AAA"/>
                </a:solidFill>
                <a:latin typeface="JetBrains Mono" pitchFamily="34" charset="0"/>
                <a:ea typeface="JetBrains Mono" pitchFamily="34" charset="-122"/>
                <a:cs typeface="JetBrains Mono" pitchFamily="34" charset="-120"/>
              </a:rPr>
              <a:t>Decides  ↻  observes, revises</a:t>
            </a:r>
            <a:endParaRPr lang="en-US" sz="1100" dirty="0"/>
          </a:p>
        </p:txBody>
      </p:sp>
      <p:sp>
        <p:nvSpPr>
          <p:cNvPr id="20" name="Text 18"/>
          <p:cNvSpPr/>
          <p:nvPr/>
        </p:nvSpPr>
        <p:spPr>
          <a:xfrm>
            <a:off x="5056632" y="3529584"/>
            <a:ext cx="347472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Answer  ←</a:t>
            </a:r>
            <a:endParaRPr lang="en-US" sz="1100" dirty="0"/>
          </a:p>
        </p:txBody>
      </p:sp>
      <p:sp>
        <p:nvSpPr>
          <p:cNvPr id="21" name="Shape 19"/>
          <p:cNvSpPr/>
          <p:nvPr/>
        </p:nvSpPr>
        <p:spPr>
          <a:xfrm>
            <a:off x="4754880" y="4023360"/>
            <a:ext cx="3931920" cy="777240"/>
          </a:xfrm>
          <a:prstGeom prst="rect">
            <a:avLst/>
          </a:prstGeom>
          <a:solidFill>
            <a:srgbClr val="0D1B2A"/>
          </a:solidFill>
          <a:ln/>
        </p:spPr>
        <p:txBody>
          <a:bodyPr/>
          <a:lstStyle/>
          <a:p>
            <a:endParaRPr lang="en-US"/>
          </a:p>
        </p:txBody>
      </p:sp>
      <p:sp>
        <p:nvSpPr>
          <p:cNvPr id="22" name="Text 20"/>
          <p:cNvSpPr/>
          <p:nvPr/>
        </p:nvSpPr>
        <p:spPr>
          <a:xfrm>
            <a:off x="4974336" y="4133088"/>
            <a:ext cx="3520440" cy="384048"/>
          </a:xfrm>
          <a:prstGeom prst="rect">
            <a:avLst/>
          </a:prstGeom>
          <a:noFill/>
          <a:ln/>
        </p:spPr>
        <p:txBody>
          <a:bodyPr wrap="square" lIns="0" tIns="0" rIns="0" bIns="0" rtlCol="0" anchor="ctr"/>
          <a:lstStyle/>
          <a:p>
            <a:pPr marL="0" indent="0">
              <a:buNone/>
            </a:pPr>
            <a:r>
              <a:rPr lang="en-US" sz="1100" dirty="0">
                <a:solidFill>
                  <a:srgbClr val="C9D9E1"/>
                </a:solidFill>
                <a:latin typeface="Roboto" pitchFamily="34" charset="0"/>
                <a:ea typeface="Roboto" pitchFamily="34" charset="-122"/>
                <a:cs typeface="Roboto" pitchFamily="34" charset="-120"/>
              </a:rPr>
              <a:t>An autonomous system making self-directed decisions and pursuing a goal iteratively.</a:t>
            </a:r>
            <a:endParaRPr lang="en-US" sz="1100" dirty="0"/>
          </a:p>
        </p:txBody>
      </p:sp>
      <p:sp>
        <p:nvSpPr>
          <p:cNvPr id="23" name="Text 21"/>
          <p:cNvSpPr/>
          <p:nvPr/>
        </p:nvSpPr>
        <p:spPr>
          <a:xfrm>
            <a:off x="4974336" y="4517136"/>
            <a:ext cx="3520440" cy="237744"/>
          </a:xfrm>
          <a:prstGeom prst="rect">
            <a:avLst/>
          </a:prstGeom>
          <a:noFill/>
          <a:ln/>
        </p:spPr>
        <p:txBody>
          <a:bodyPr wrap="square" lIns="0" tIns="0" rIns="0" bIns="0" rtlCol="0" anchor="ctr"/>
          <a:lstStyle/>
          <a:p>
            <a:pPr marL="0" indent="0">
              <a:buNone/>
            </a:pPr>
            <a:r>
              <a:rPr lang="en-US" sz="950" dirty="0">
                <a:solidFill>
                  <a:srgbClr val="06D6A0"/>
                </a:solidFill>
                <a:latin typeface="JetBrains Mono" pitchFamily="34" charset="0"/>
                <a:ea typeface="JetBrains Mono" pitchFamily="34" charset="-122"/>
                <a:cs typeface="JetBrains Mono" pitchFamily="34" charset="-120"/>
              </a:rPr>
              <a:t>“Create a new website landing page.”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ANATOMY</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What an agent is made of</a:t>
            </a:r>
            <a:endParaRPr lang="en-US" sz="3200" dirty="0"/>
          </a:p>
        </p:txBody>
      </p:sp>
      <p:sp>
        <p:nvSpPr>
          <p:cNvPr id="5" name="Text 3"/>
          <p:cNvSpPr/>
          <p:nvPr/>
        </p:nvSpPr>
        <p:spPr>
          <a:xfrm>
            <a:off x="566928" y="1417320"/>
            <a:ext cx="3246120" cy="457200"/>
          </a:xfrm>
          <a:prstGeom prst="rect">
            <a:avLst/>
          </a:prstGeom>
          <a:noFill/>
          <a:ln/>
        </p:spPr>
        <p:txBody>
          <a:bodyPr wrap="square" lIns="0" tIns="0" rIns="0" bIns="0" rtlCol="0" anchor="ctr"/>
          <a:lstStyle/>
          <a:p>
            <a:pPr marL="0" indent="0">
              <a:buNone/>
            </a:pPr>
            <a:r>
              <a:rPr lang="en-US" sz="3000" dirty="0">
                <a:solidFill>
                  <a:srgbClr val="0D1B2A"/>
                </a:solidFill>
                <a:latin typeface="Oswald" pitchFamily="34" charset="0"/>
                <a:ea typeface="Oswald" pitchFamily="34" charset="-122"/>
                <a:cs typeface="Oswald" pitchFamily="34" charset="-120"/>
              </a:rPr>
              <a:t>Agent  =</a:t>
            </a:r>
            <a:endParaRPr lang="en-US" sz="3000" dirty="0"/>
          </a:p>
        </p:txBody>
      </p:sp>
      <p:sp>
        <p:nvSpPr>
          <p:cNvPr id="6" name="Shape 4"/>
          <p:cNvSpPr/>
          <p:nvPr/>
        </p:nvSpPr>
        <p:spPr>
          <a:xfrm>
            <a:off x="566928" y="2011680"/>
            <a:ext cx="3246120" cy="2286000"/>
          </a:xfrm>
          <a:prstGeom prst="rect">
            <a:avLst/>
          </a:prstGeom>
          <a:solidFill>
            <a:srgbClr val="0D1B2A"/>
          </a:solidFill>
          <a:ln/>
        </p:spPr>
        <p:txBody>
          <a:bodyPr/>
          <a:lstStyle/>
          <a:p>
            <a:endParaRPr lang="en-US"/>
          </a:p>
        </p:txBody>
      </p:sp>
      <p:sp>
        <p:nvSpPr>
          <p:cNvPr id="7" name="Text 5"/>
          <p:cNvSpPr/>
          <p:nvPr/>
        </p:nvSpPr>
        <p:spPr>
          <a:xfrm>
            <a:off x="804672" y="2240280"/>
            <a:ext cx="2788920" cy="1828800"/>
          </a:xfrm>
          <a:prstGeom prst="rect">
            <a:avLst/>
          </a:prstGeom>
          <a:noFill/>
          <a:ln/>
        </p:spPr>
        <p:txBody>
          <a:bodyPr wrap="square" lIns="0" tIns="0" rIns="0" bIns="0" rtlCol="0" anchor="ctr"/>
          <a:lstStyle/>
          <a:p>
            <a:pPr marL="0" indent="0">
              <a:buNone/>
            </a:pPr>
            <a:r>
              <a:rPr lang="en-US" sz="1250" dirty="0">
                <a:solidFill>
                  <a:srgbClr val="D7E3E9"/>
                </a:solidFill>
                <a:latin typeface="Roboto" pitchFamily="34" charset="0"/>
                <a:ea typeface="Roboto" pitchFamily="34" charset="-122"/>
                <a:cs typeface="Roboto" pitchFamily="34" charset="-120"/>
              </a:rPr>
              <a:t>“An AI application consisting of a model equipped with instructions that guide its behavior, access to tools that extend its capabilities, encapsulated in a runtime with a dynamic lifecycle.”</a:t>
            </a:r>
            <a:endParaRPr lang="en-US" sz="1250" dirty="0"/>
          </a:p>
        </p:txBody>
      </p:sp>
      <p:sp>
        <p:nvSpPr>
          <p:cNvPr id="8" name="Text 6"/>
          <p:cNvSpPr/>
          <p:nvPr/>
        </p:nvSpPr>
        <p:spPr>
          <a:xfrm>
            <a:off x="566928" y="4434840"/>
            <a:ext cx="3246120" cy="274320"/>
          </a:xfrm>
          <a:prstGeom prst="rect">
            <a:avLst/>
          </a:prstGeom>
          <a:noFill/>
          <a:ln/>
        </p:spPr>
        <p:txBody>
          <a:bodyPr wrap="square" lIns="0" tIns="0" rIns="0" bIns="0" rtlCol="0" anchor="ctr"/>
          <a:lstStyle/>
          <a:p>
            <a:pPr marL="0" indent="0">
              <a:buNone/>
            </a:pPr>
            <a:r>
              <a:rPr lang="en-US" sz="900" dirty="0">
                <a:solidFill>
                  <a:srgbClr val="6B7B8C"/>
                </a:solidFill>
                <a:latin typeface="JetBrains Mono" pitchFamily="34" charset="0"/>
                <a:ea typeface="JetBrains Mono" pitchFamily="34" charset="-122"/>
                <a:cs typeface="JetBrains Mono" pitchFamily="34" charset="-120"/>
              </a:rPr>
              <a:t>Source: OpenAI definition</a:t>
            </a:r>
            <a:endParaRPr lang="en-US" sz="900" dirty="0"/>
          </a:p>
        </p:txBody>
      </p:sp>
      <p:sp>
        <p:nvSpPr>
          <p:cNvPr id="9" name="Shape 7"/>
          <p:cNvSpPr/>
          <p:nvPr/>
        </p:nvSpPr>
        <p:spPr>
          <a:xfrm>
            <a:off x="4114800" y="1463040"/>
            <a:ext cx="4572000" cy="731520"/>
          </a:xfrm>
          <a:prstGeom prst="rect">
            <a:avLst/>
          </a:prstGeom>
          <a:solidFill>
            <a:srgbClr val="FFFFFF"/>
          </a:solidFill>
          <a:ln w="9525">
            <a:solidFill>
              <a:srgbClr val="DDE5E9"/>
            </a:solidFill>
            <a:prstDash val="solid"/>
          </a:ln>
        </p:spPr>
        <p:txBody>
          <a:bodyPr/>
          <a:lstStyle/>
          <a:p>
            <a:endParaRPr lang="en-US"/>
          </a:p>
        </p:txBody>
      </p:sp>
      <p:sp>
        <p:nvSpPr>
          <p:cNvPr id="10" name="Shape 8"/>
          <p:cNvSpPr/>
          <p:nvPr/>
        </p:nvSpPr>
        <p:spPr>
          <a:xfrm>
            <a:off x="4114800" y="1463040"/>
            <a:ext cx="64008" cy="731520"/>
          </a:xfrm>
          <a:prstGeom prst="rect">
            <a:avLst/>
          </a:prstGeom>
          <a:solidFill>
            <a:srgbClr val="1B9AAA"/>
          </a:solidFill>
          <a:ln/>
        </p:spPr>
        <p:txBody>
          <a:bodyPr/>
          <a:lstStyle/>
          <a:p>
            <a:endParaRPr lang="en-US"/>
          </a:p>
        </p:txBody>
      </p:sp>
      <p:sp>
        <p:nvSpPr>
          <p:cNvPr id="11" name="Text 9"/>
          <p:cNvSpPr/>
          <p:nvPr/>
        </p:nvSpPr>
        <p:spPr>
          <a:xfrm>
            <a:off x="4279392" y="1591056"/>
            <a:ext cx="274320" cy="310896"/>
          </a:xfrm>
          <a:prstGeom prst="rect">
            <a:avLst/>
          </a:prstGeom>
          <a:noFill/>
          <a:ln/>
        </p:spPr>
        <p:txBody>
          <a:bodyPr wrap="square" lIns="0" tIns="0" rIns="0" bIns="0" rtlCol="0" anchor="ctr"/>
          <a:lstStyle/>
          <a:p>
            <a:pPr marL="0" indent="0">
              <a:buNone/>
            </a:pPr>
            <a:r>
              <a:rPr lang="en-US" sz="2000" dirty="0">
                <a:solidFill>
                  <a:srgbClr val="1B9AAA"/>
                </a:solidFill>
                <a:latin typeface="Oswald" pitchFamily="34" charset="0"/>
                <a:ea typeface="Oswald" pitchFamily="34" charset="-122"/>
                <a:cs typeface="Oswald" pitchFamily="34" charset="-120"/>
              </a:rPr>
              <a:t>+</a:t>
            </a:r>
            <a:endParaRPr lang="en-US" sz="2000" dirty="0"/>
          </a:p>
        </p:txBody>
      </p:sp>
      <p:sp>
        <p:nvSpPr>
          <p:cNvPr id="12" name="Text 10"/>
          <p:cNvSpPr/>
          <p:nvPr/>
        </p:nvSpPr>
        <p:spPr>
          <a:xfrm>
            <a:off x="4572000" y="1581912"/>
            <a:ext cx="1463040" cy="292608"/>
          </a:xfrm>
          <a:prstGeom prst="rect">
            <a:avLst/>
          </a:prstGeom>
          <a:noFill/>
          <a:ln/>
        </p:spPr>
        <p:txBody>
          <a:bodyPr wrap="square" lIns="0" tIns="0" rIns="0" bIns="0" rtlCol="0" anchor="ctr"/>
          <a:lstStyle/>
          <a:p>
            <a:pPr marL="0" indent="0">
              <a:buNone/>
            </a:pPr>
            <a:r>
              <a:rPr lang="en-US" sz="1700" dirty="0">
                <a:solidFill>
                  <a:srgbClr val="0D1B2A"/>
                </a:solidFill>
                <a:latin typeface="Oswald" pitchFamily="34" charset="0"/>
                <a:ea typeface="Oswald" pitchFamily="34" charset="-122"/>
                <a:cs typeface="Oswald" pitchFamily="34" charset="-120"/>
              </a:rPr>
              <a:t>Model</a:t>
            </a:r>
            <a:endParaRPr lang="en-US" sz="1700" dirty="0"/>
          </a:p>
        </p:txBody>
      </p:sp>
      <p:sp>
        <p:nvSpPr>
          <p:cNvPr id="13" name="Text 11"/>
          <p:cNvSpPr/>
          <p:nvPr/>
        </p:nvSpPr>
        <p:spPr>
          <a:xfrm>
            <a:off x="6035040" y="1572768"/>
            <a:ext cx="2514600" cy="54864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Core capabilities: observing, understanding, planning, deciding.</a:t>
            </a:r>
            <a:endParaRPr lang="en-US" sz="950" dirty="0"/>
          </a:p>
        </p:txBody>
      </p:sp>
      <p:sp>
        <p:nvSpPr>
          <p:cNvPr id="14" name="Shape 12"/>
          <p:cNvSpPr/>
          <p:nvPr/>
        </p:nvSpPr>
        <p:spPr>
          <a:xfrm>
            <a:off x="4114800" y="2304288"/>
            <a:ext cx="4572000" cy="731520"/>
          </a:xfrm>
          <a:prstGeom prst="rect">
            <a:avLst/>
          </a:prstGeom>
          <a:solidFill>
            <a:srgbClr val="FFFFFF"/>
          </a:solidFill>
          <a:ln w="9525">
            <a:solidFill>
              <a:srgbClr val="DDE5E9"/>
            </a:solidFill>
            <a:prstDash val="solid"/>
          </a:ln>
        </p:spPr>
        <p:txBody>
          <a:bodyPr/>
          <a:lstStyle/>
          <a:p>
            <a:endParaRPr lang="en-US"/>
          </a:p>
        </p:txBody>
      </p:sp>
      <p:sp>
        <p:nvSpPr>
          <p:cNvPr id="15" name="Shape 13"/>
          <p:cNvSpPr/>
          <p:nvPr/>
        </p:nvSpPr>
        <p:spPr>
          <a:xfrm>
            <a:off x="4114800" y="2304288"/>
            <a:ext cx="64008" cy="731520"/>
          </a:xfrm>
          <a:prstGeom prst="rect">
            <a:avLst/>
          </a:prstGeom>
          <a:solidFill>
            <a:srgbClr val="1B9AAA"/>
          </a:solidFill>
          <a:ln/>
        </p:spPr>
        <p:txBody>
          <a:bodyPr/>
          <a:lstStyle/>
          <a:p>
            <a:endParaRPr lang="en-US"/>
          </a:p>
        </p:txBody>
      </p:sp>
      <p:sp>
        <p:nvSpPr>
          <p:cNvPr id="16" name="Text 14"/>
          <p:cNvSpPr/>
          <p:nvPr/>
        </p:nvSpPr>
        <p:spPr>
          <a:xfrm>
            <a:off x="4279392" y="2432304"/>
            <a:ext cx="274320" cy="310896"/>
          </a:xfrm>
          <a:prstGeom prst="rect">
            <a:avLst/>
          </a:prstGeom>
          <a:noFill/>
          <a:ln/>
        </p:spPr>
        <p:txBody>
          <a:bodyPr wrap="square" lIns="0" tIns="0" rIns="0" bIns="0" rtlCol="0" anchor="ctr"/>
          <a:lstStyle/>
          <a:p>
            <a:pPr marL="0" indent="0">
              <a:buNone/>
            </a:pPr>
            <a:r>
              <a:rPr lang="en-US" sz="2000" dirty="0">
                <a:solidFill>
                  <a:srgbClr val="1B9AAA"/>
                </a:solidFill>
                <a:latin typeface="Oswald" pitchFamily="34" charset="0"/>
                <a:ea typeface="Oswald" pitchFamily="34" charset="-122"/>
                <a:cs typeface="Oswald" pitchFamily="34" charset="-120"/>
              </a:rPr>
              <a:t>+</a:t>
            </a:r>
            <a:endParaRPr lang="en-US" sz="2000" dirty="0"/>
          </a:p>
        </p:txBody>
      </p:sp>
      <p:sp>
        <p:nvSpPr>
          <p:cNvPr id="17" name="Text 15"/>
          <p:cNvSpPr/>
          <p:nvPr/>
        </p:nvSpPr>
        <p:spPr>
          <a:xfrm>
            <a:off x="4572000" y="2423160"/>
            <a:ext cx="1463040" cy="292608"/>
          </a:xfrm>
          <a:prstGeom prst="rect">
            <a:avLst/>
          </a:prstGeom>
          <a:noFill/>
          <a:ln/>
        </p:spPr>
        <p:txBody>
          <a:bodyPr wrap="square" lIns="0" tIns="0" rIns="0" bIns="0" rtlCol="0" anchor="ctr"/>
          <a:lstStyle/>
          <a:p>
            <a:pPr marL="0" indent="0">
              <a:buNone/>
            </a:pPr>
            <a:r>
              <a:rPr lang="en-US" sz="1700" dirty="0">
                <a:solidFill>
                  <a:srgbClr val="0D1B2A"/>
                </a:solidFill>
                <a:latin typeface="Oswald" pitchFamily="34" charset="0"/>
                <a:ea typeface="Oswald" pitchFamily="34" charset="-122"/>
                <a:cs typeface="Oswald" pitchFamily="34" charset="-120"/>
              </a:rPr>
              <a:t>Instructions</a:t>
            </a:r>
            <a:endParaRPr lang="en-US" sz="1700" dirty="0"/>
          </a:p>
        </p:txBody>
      </p:sp>
      <p:sp>
        <p:nvSpPr>
          <p:cNvPr id="18" name="Text 16"/>
          <p:cNvSpPr/>
          <p:nvPr/>
        </p:nvSpPr>
        <p:spPr>
          <a:xfrm>
            <a:off x="6035040" y="2414016"/>
            <a:ext cx="2514600" cy="54864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Define the goals and behavior that steer actions toward the intended outcome.</a:t>
            </a:r>
            <a:endParaRPr lang="en-US" sz="950" dirty="0"/>
          </a:p>
        </p:txBody>
      </p:sp>
      <p:sp>
        <p:nvSpPr>
          <p:cNvPr id="19" name="Shape 17"/>
          <p:cNvSpPr/>
          <p:nvPr/>
        </p:nvSpPr>
        <p:spPr>
          <a:xfrm>
            <a:off x="4114800" y="3145536"/>
            <a:ext cx="4572000" cy="731520"/>
          </a:xfrm>
          <a:prstGeom prst="rect">
            <a:avLst/>
          </a:prstGeom>
          <a:solidFill>
            <a:srgbClr val="FFFFFF"/>
          </a:solidFill>
          <a:ln w="9525">
            <a:solidFill>
              <a:srgbClr val="DDE5E9"/>
            </a:solidFill>
            <a:prstDash val="solid"/>
          </a:ln>
        </p:spPr>
        <p:txBody>
          <a:bodyPr/>
          <a:lstStyle/>
          <a:p>
            <a:endParaRPr lang="en-US"/>
          </a:p>
        </p:txBody>
      </p:sp>
      <p:sp>
        <p:nvSpPr>
          <p:cNvPr id="20" name="Shape 18"/>
          <p:cNvSpPr/>
          <p:nvPr/>
        </p:nvSpPr>
        <p:spPr>
          <a:xfrm>
            <a:off x="4114800" y="3145536"/>
            <a:ext cx="64008" cy="731520"/>
          </a:xfrm>
          <a:prstGeom prst="rect">
            <a:avLst/>
          </a:prstGeom>
          <a:solidFill>
            <a:srgbClr val="1B9AAA"/>
          </a:solidFill>
          <a:ln/>
        </p:spPr>
        <p:txBody>
          <a:bodyPr/>
          <a:lstStyle/>
          <a:p>
            <a:endParaRPr lang="en-US"/>
          </a:p>
        </p:txBody>
      </p:sp>
      <p:sp>
        <p:nvSpPr>
          <p:cNvPr id="21" name="Text 19"/>
          <p:cNvSpPr/>
          <p:nvPr/>
        </p:nvSpPr>
        <p:spPr>
          <a:xfrm>
            <a:off x="4279392" y="3273552"/>
            <a:ext cx="274320" cy="310896"/>
          </a:xfrm>
          <a:prstGeom prst="rect">
            <a:avLst/>
          </a:prstGeom>
          <a:noFill/>
          <a:ln/>
        </p:spPr>
        <p:txBody>
          <a:bodyPr wrap="square" lIns="0" tIns="0" rIns="0" bIns="0" rtlCol="0" anchor="ctr"/>
          <a:lstStyle/>
          <a:p>
            <a:pPr marL="0" indent="0">
              <a:buNone/>
            </a:pPr>
            <a:r>
              <a:rPr lang="en-US" sz="2000" dirty="0">
                <a:solidFill>
                  <a:srgbClr val="1B9AAA"/>
                </a:solidFill>
                <a:latin typeface="Oswald" pitchFamily="34" charset="0"/>
                <a:ea typeface="Oswald" pitchFamily="34" charset="-122"/>
                <a:cs typeface="Oswald" pitchFamily="34" charset="-120"/>
              </a:rPr>
              <a:t>+</a:t>
            </a:r>
            <a:endParaRPr lang="en-US" sz="2000" dirty="0"/>
          </a:p>
        </p:txBody>
      </p:sp>
      <p:sp>
        <p:nvSpPr>
          <p:cNvPr id="22" name="Text 20"/>
          <p:cNvSpPr/>
          <p:nvPr/>
        </p:nvSpPr>
        <p:spPr>
          <a:xfrm>
            <a:off x="4572000" y="3264408"/>
            <a:ext cx="1463040" cy="292608"/>
          </a:xfrm>
          <a:prstGeom prst="rect">
            <a:avLst/>
          </a:prstGeom>
          <a:noFill/>
          <a:ln/>
        </p:spPr>
        <p:txBody>
          <a:bodyPr wrap="square" lIns="0" tIns="0" rIns="0" bIns="0" rtlCol="0" anchor="ctr"/>
          <a:lstStyle/>
          <a:p>
            <a:pPr marL="0" indent="0">
              <a:buNone/>
            </a:pPr>
            <a:r>
              <a:rPr lang="en-US" sz="1700" dirty="0">
                <a:solidFill>
                  <a:srgbClr val="0D1B2A"/>
                </a:solidFill>
                <a:latin typeface="Oswald" pitchFamily="34" charset="0"/>
                <a:ea typeface="Oswald" pitchFamily="34" charset="-122"/>
                <a:cs typeface="Oswald" pitchFamily="34" charset="-120"/>
              </a:rPr>
              <a:t>Tools</a:t>
            </a:r>
            <a:endParaRPr lang="en-US" sz="1700" dirty="0"/>
          </a:p>
        </p:txBody>
      </p:sp>
      <p:sp>
        <p:nvSpPr>
          <p:cNvPr id="23" name="Text 21"/>
          <p:cNvSpPr/>
          <p:nvPr/>
        </p:nvSpPr>
        <p:spPr>
          <a:xfrm>
            <a:off x="6035040" y="3255264"/>
            <a:ext cx="2514600" cy="54864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Extend capability beyond the model: browsing, calling APIs, operating software.</a:t>
            </a:r>
            <a:endParaRPr lang="en-US" sz="950" dirty="0"/>
          </a:p>
        </p:txBody>
      </p:sp>
      <p:sp>
        <p:nvSpPr>
          <p:cNvPr id="24" name="Shape 22"/>
          <p:cNvSpPr/>
          <p:nvPr/>
        </p:nvSpPr>
        <p:spPr>
          <a:xfrm>
            <a:off x="4114800" y="3986784"/>
            <a:ext cx="4572000" cy="731520"/>
          </a:xfrm>
          <a:prstGeom prst="rect">
            <a:avLst/>
          </a:prstGeom>
          <a:solidFill>
            <a:srgbClr val="FFFFFF"/>
          </a:solidFill>
          <a:ln w="9525">
            <a:solidFill>
              <a:srgbClr val="DDE5E9"/>
            </a:solidFill>
            <a:prstDash val="solid"/>
          </a:ln>
        </p:spPr>
        <p:txBody>
          <a:bodyPr/>
          <a:lstStyle/>
          <a:p>
            <a:endParaRPr lang="en-US"/>
          </a:p>
        </p:txBody>
      </p:sp>
      <p:sp>
        <p:nvSpPr>
          <p:cNvPr id="25" name="Shape 23"/>
          <p:cNvSpPr/>
          <p:nvPr/>
        </p:nvSpPr>
        <p:spPr>
          <a:xfrm>
            <a:off x="4114800" y="3986784"/>
            <a:ext cx="64008" cy="731520"/>
          </a:xfrm>
          <a:prstGeom prst="rect">
            <a:avLst/>
          </a:prstGeom>
          <a:solidFill>
            <a:srgbClr val="06D6A0"/>
          </a:solidFill>
          <a:ln/>
        </p:spPr>
        <p:txBody>
          <a:bodyPr/>
          <a:lstStyle/>
          <a:p>
            <a:endParaRPr lang="en-US"/>
          </a:p>
        </p:txBody>
      </p:sp>
      <p:sp>
        <p:nvSpPr>
          <p:cNvPr id="26" name="Text 24"/>
          <p:cNvSpPr/>
          <p:nvPr/>
        </p:nvSpPr>
        <p:spPr>
          <a:xfrm>
            <a:off x="4279392" y="4114800"/>
            <a:ext cx="274320" cy="310896"/>
          </a:xfrm>
          <a:prstGeom prst="rect">
            <a:avLst/>
          </a:prstGeom>
          <a:noFill/>
          <a:ln/>
        </p:spPr>
        <p:txBody>
          <a:bodyPr wrap="square" lIns="0" tIns="0" rIns="0" bIns="0" rtlCol="0" anchor="ctr"/>
          <a:lstStyle/>
          <a:p>
            <a:pPr marL="0" indent="0">
              <a:buNone/>
            </a:pPr>
            <a:r>
              <a:rPr lang="en-US" sz="2000" dirty="0">
                <a:solidFill>
                  <a:srgbClr val="1B9AAA"/>
                </a:solidFill>
                <a:latin typeface="Oswald" pitchFamily="34" charset="0"/>
                <a:ea typeface="Oswald" pitchFamily="34" charset="-122"/>
                <a:cs typeface="Oswald" pitchFamily="34" charset="-120"/>
              </a:rPr>
              <a:t>+</a:t>
            </a:r>
            <a:endParaRPr lang="en-US" sz="2000" dirty="0"/>
          </a:p>
        </p:txBody>
      </p:sp>
      <p:sp>
        <p:nvSpPr>
          <p:cNvPr id="27" name="Text 25"/>
          <p:cNvSpPr/>
          <p:nvPr/>
        </p:nvSpPr>
        <p:spPr>
          <a:xfrm>
            <a:off x="4572000" y="4105656"/>
            <a:ext cx="1463040" cy="292608"/>
          </a:xfrm>
          <a:prstGeom prst="rect">
            <a:avLst/>
          </a:prstGeom>
          <a:noFill/>
          <a:ln/>
        </p:spPr>
        <p:txBody>
          <a:bodyPr wrap="square" lIns="0" tIns="0" rIns="0" bIns="0" rtlCol="0" anchor="ctr"/>
          <a:lstStyle/>
          <a:p>
            <a:pPr marL="0" indent="0">
              <a:buNone/>
            </a:pPr>
            <a:r>
              <a:rPr lang="en-US" sz="1700" dirty="0">
                <a:solidFill>
                  <a:srgbClr val="0D1B2A"/>
                </a:solidFill>
                <a:latin typeface="Oswald" pitchFamily="34" charset="0"/>
                <a:ea typeface="Oswald" pitchFamily="34" charset="-122"/>
                <a:cs typeface="Oswald" pitchFamily="34" charset="-120"/>
              </a:rPr>
              <a:t>Runtime</a:t>
            </a:r>
            <a:endParaRPr lang="en-US" sz="1700" dirty="0"/>
          </a:p>
        </p:txBody>
      </p:sp>
      <p:sp>
        <p:nvSpPr>
          <p:cNvPr id="28" name="Text 26"/>
          <p:cNvSpPr/>
          <p:nvPr/>
        </p:nvSpPr>
        <p:spPr>
          <a:xfrm>
            <a:off x="6035040" y="4096512"/>
            <a:ext cx="2514600" cy="54864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Manages the execution loop — plan, act, observe, iterate toward the objective.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14293D"/>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6D6A0"/>
          </a:solidFill>
          <a:ln/>
        </p:spPr>
        <p:txBody>
          <a:bodyPr/>
          <a:lstStyle/>
          <a:p>
            <a:endParaRPr lang="en-US"/>
          </a:p>
        </p:txBody>
      </p:sp>
      <p:sp>
        <p:nvSpPr>
          <p:cNvPr id="3" name="Text 1"/>
          <p:cNvSpPr/>
          <p:nvPr/>
        </p:nvSpPr>
        <p:spPr>
          <a:xfrm>
            <a:off x="822960" y="1234440"/>
            <a:ext cx="7315200" cy="274320"/>
          </a:xfrm>
          <a:prstGeom prst="rect">
            <a:avLst/>
          </a:prstGeom>
          <a:noFill/>
          <a:ln/>
        </p:spPr>
        <p:txBody>
          <a:bodyPr wrap="square" lIns="0" tIns="0" rIns="0" bIns="0" rtlCol="0" anchor="ctr"/>
          <a:lstStyle/>
          <a:p>
            <a:pPr marL="0" indent="0">
              <a:buNone/>
            </a:pPr>
            <a:r>
              <a:rPr lang="en-US" sz="1100" kern="0" spc="250" dirty="0">
                <a:solidFill>
                  <a:srgbClr val="06D6A0"/>
                </a:solidFill>
                <a:latin typeface="JetBrains Mono" pitchFamily="34" charset="0"/>
                <a:ea typeface="JetBrains Mono" pitchFamily="34" charset="-122"/>
                <a:cs typeface="JetBrains Mono" pitchFamily="34" charset="-120"/>
              </a:rPr>
              <a:t>FROM FOUNDATIONS TO MECHANICS</a:t>
            </a:r>
            <a:endParaRPr lang="en-US" sz="1100" dirty="0"/>
          </a:p>
        </p:txBody>
      </p:sp>
      <p:sp>
        <p:nvSpPr>
          <p:cNvPr id="4" name="Text 2"/>
          <p:cNvSpPr/>
          <p:nvPr/>
        </p:nvSpPr>
        <p:spPr>
          <a:xfrm>
            <a:off x="822960" y="1627632"/>
            <a:ext cx="7498080" cy="1188720"/>
          </a:xfrm>
          <a:prstGeom prst="rect">
            <a:avLst/>
          </a:prstGeom>
          <a:noFill/>
          <a:ln/>
        </p:spPr>
        <p:txBody>
          <a:bodyPr wrap="square" lIns="0" tIns="0" rIns="0" bIns="0" rtlCol="0" anchor="ctr"/>
          <a:lstStyle/>
          <a:p>
            <a:pPr marL="0" indent="0">
              <a:buNone/>
            </a:pPr>
            <a:r>
              <a:rPr lang="en-US" sz="3800" dirty="0">
                <a:solidFill>
                  <a:srgbClr val="FFFFFF"/>
                </a:solidFill>
                <a:latin typeface="Oswald" pitchFamily="34" charset="0"/>
                <a:ea typeface="Oswald" pitchFamily="34" charset="-122"/>
                <a:cs typeface="Oswald" pitchFamily="34" charset="-120"/>
              </a:rPr>
              <a:t>So how does a model</a:t>
            </a:r>
            <a:endParaRPr lang="en-US" sz="3800" dirty="0"/>
          </a:p>
          <a:p>
            <a:pPr marL="0" indent="0">
              <a:buNone/>
            </a:pPr>
            <a:r>
              <a:rPr lang="en-US" sz="3800" dirty="0">
                <a:solidFill>
                  <a:srgbClr val="FFFFFF"/>
                </a:solidFill>
                <a:latin typeface="Oswald" pitchFamily="34" charset="0"/>
                <a:ea typeface="Oswald" pitchFamily="34" charset="-122"/>
                <a:cs typeface="Oswald" pitchFamily="34" charset="-120"/>
              </a:rPr>
              <a:t>get hands and eyes?</a:t>
            </a:r>
            <a:endParaRPr lang="en-US" sz="3800" dirty="0"/>
          </a:p>
        </p:txBody>
      </p:sp>
      <p:sp>
        <p:nvSpPr>
          <p:cNvPr id="5" name="Text 3"/>
          <p:cNvSpPr/>
          <p:nvPr/>
        </p:nvSpPr>
        <p:spPr>
          <a:xfrm>
            <a:off x="841248" y="3017520"/>
            <a:ext cx="6766560" cy="822960"/>
          </a:xfrm>
          <a:prstGeom prst="rect">
            <a:avLst/>
          </a:prstGeom>
          <a:noFill/>
          <a:ln/>
        </p:spPr>
        <p:txBody>
          <a:bodyPr wrap="square" lIns="0" tIns="0" rIns="0" bIns="0" rtlCol="0" anchor="ctr"/>
          <a:lstStyle/>
          <a:p>
            <a:pPr marL="0" indent="0">
              <a:buNone/>
            </a:pPr>
            <a:r>
              <a:rPr lang="en-US" sz="1500" dirty="0">
                <a:solidFill>
                  <a:srgbClr val="AFC2CE"/>
                </a:solidFill>
                <a:latin typeface="Roboto" pitchFamily="34" charset="0"/>
                <a:ea typeface="Roboto" pitchFamily="34" charset="-122"/>
                <a:cs typeface="Roboto" pitchFamily="34" charset="-120"/>
              </a:rPr>
              <a:t>The definitions place agentic AI at the end of a seventy-year lineage. The rest of this deck is about the machinery that got it there — retrieval, tools, standards, and the loop that ties them together.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THE STARTING POINT</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A model alone can only talk</a:t>
            </a:r>
            <a:endParaRPr lang="en-US" sz="3200" dirty="0"/>
          </a:p>
        </p:txBody>
      </p:sp>
      <p:sp>
        <p:nvSpPr>
          <p:cNvPr id="5" name="Shape 3"/>
          <p:cNvSpPr/>
          <p:nvPr/>
        </p:nvSpPr>
        <p:spPr>
          <a:xfrm>
            <a:off x="566928" y="1481328"/>
            <a:ext cx="3840480" cy="1371600"/>
          </a:xfrm>
          <a:prstGeom prst="rect">
            <a:avLst/>
          </a:prstGeom>
          <a:solidFill>
            <a:srgbClr val="FFFFFF"/>
          </a:solidFill>
          <a:ln w="9525">
            <a:solidFill>
              <a:srgbClr val="DDE5E9"/>
            </a:solidFill>
            <a:prstDash val="solid"/>
          </a:ln>
        </p:spPr>
        <p:txBody>
          <a:bodyPr/>
          <a:lstStyle/>
          <a:p>
            <a:endParaRPr lang="en-US"/>
          </a:p>
        </p:txBody>
      </p:sp>
      <p:sp>
        <p:nvSpPr>
          <p:cNvPr id="6" name="Shape 4"/>
          <p:cNvSpPr/>
          <p:nvPr/>
        </p:nvSpPr>
        <p:spPr>
          <a:xfrm>
            <a:off x="566928" y="1481328"/>
            <a:ext cx="54864" cy="1371600"/>
          </a:xfrm>
          <a:prstGeom prst="rect">
            <a:avLst/>
          </a:prstGeom>
          <a:solidFill>
            <a:srgbClr val="1B9AAA"/>
          </a:solidFill>
          <a:ln/>
        </p:spPr>
        <p:txBody>
          <a:bodyPr/>
          <a:lstStyle/>
          <a:p>
            <a:endParaRPr lang="en-US"/>
          </a:p>
        </p:txBody>
      </p:sp>
      <p:sp>
        <p:nvSpPr>
          <p:cNvPr id="7" name="Text 5"/>
          <p:cNvSpPr/>
          <p:nvPr/>
        </p:nvSpPr>
        <p:spPr>
          <a:xfrm>
            <a:off x="822960" y="1645920"/>
            <a:ext cx="3429000" cy="310896"/>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Weights are lossy</a:t>
            </a:r>
            <a:endParaRPr lang="en-US" sz="1600" dirty="0"/>
          </a:p>
        </p:txBody>
      </p:sp>
      <p:sp>
        <p:nvSpPr>
          <p:cNvPr id="8" name="Text 6"/>
          <p:cNvSpPr/>
          <p:nvPr/>
        </p:nvSpPr>
        <p:spPr>
          <a:xfrm>
            <a:off x="822960" y="2011680"/>
            <a:ext cx="3429000" cy="73152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Facts stored parametrically are approximate and unattributable.</a:t>
            </a:r>
            <a:endParaRPr lang="en-US" sz="1250" dirty="0"/>
          </a:p>
        </p:txBody>
      </p:sp>
      <p:sp>
        <p:nvSpPr>
          <p:cNvPr id="9" name="Shape 7"/>
          <p:cNvSpPr/>
          <p:nvPr/>
        </p:nvSpPr>
        <p:spPr>
          <a:xfrm>
            <a:off x="4681728" y="1481328"/>
            <a:ext cx="3840480" cy="1371600"/>
          </a:xfrm>
          <a:prstGeom prst="rect">
            <a:avLst/>
          </a:prstGeom>
          <a:solidFill>
            <a:srgbClr val="FFFFFF"/>
          </a:solidFill>
          <a:ln w="9525">
            <a:solidFill>
              <a:srgbClr val="DDE5E9"/>
            </a:solidFill>
            <a:prstDash val="solid"/>
          </a:ln>
        </p:spPr>
        <p:txBody>
          <a:bodyPr/>
          <a:lstStyle/>
          <a:p>
            <a:endParaRPr lang="en-US"/>
          </a:p>
        </p:txBody>
      </p:sp>
      <p:sp>
        <p:nvSpPr>
          <p:cNvPr id="10" name="Shape 8"/>
          <p:cNvSpPr/>
          <p:nvPr/>
        </p:nvSpPr>
        <p:spPr>
          <a:xfrm>
            <a:off x="4681728" y="1481328"/>
            <a:ext cx="54864" cy="1371600"/>
          </a:xfrm>
          <a:prstGeom prst="rect">
            <a:avLst/>
          </a:prstGeom>
          <a:solidFill>
            <a:srgbClr val="1B9AAA"/>
          </a:solidFill>
          <a:ln/>
        </p:spPr>
        <p:txBody>
          <a:bodyPr/>
          <a:lstStyle/>
          <a:p>
            <a:endParaRPr lang="en-US"/>
          </a:p>
        </p:txBody>
      </p:sp>
      <p:sp>
        <p:nvSpPr>
          <p:cNvPr id="11" name="Text 9"/>
          <p:cNvSpPr/>
          <p:nvPr/>
        </p:nvSpPr>
        <p:spPr>
          <a:xfrm>
            <a:off x="4937760" y="1645920"/>
            <a:ext cx="3429000" cy="310896"/>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Weights go stale</a:t>
            </a:r>
            <a:endParaRPr lang="en-US" sz="1600" dirty="0"/>
          </a:p>
        </p:txBody>
      </p:sp>
      <p:sp>
        <p:nvSpPr>
          <p:cNvPr id="12" name="Text 10"/>
          <p:cNvSpPr/>
          <p:nvPr/>
        </p:nvSpPr>
        <p:spPr>
          <a:xfrm>
            <a:off x="4937760" y="2011680"/>
            <a:ext cx="3429000" cy="73152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Anything real-time or high-churn would need retraining.</a:t>
            </a:r>
            <a:endParaRPr lang="en-US" sz="1250" dirty="0"/>
          </a:p>
        </p:txBody>
      </p:sp>
      <p:sp>
        <p:nvSpPr>
          <p:cNvPr id="13" name="Shape 11"/>
          <p:cNvSpPr/>
          <p:nvPr/>
        </p:nvSpPr>
        <p:spPr>
          <a:xfrm>
            <a:off x="566928" y="3054096"/>
            <a:ext cx="3840480" cy="1371600"/>
          </a:xfrm>
          <a:prstGeom prst="rect">
            <a:avLst/>
          </a:prstGeom>
          <a:solidFill>
            <a:srgbClr val="FFFFFF"/>
          </a:solidFill>
          <a:ln w="9525">
            <a:solidFill>
              <a:srgbClr val="DDE5E9"/>
            </a:solidFill>
            <a:prstDash val="solid"/>
          </a:ln>
        </p:spPr>
        <p:txBody>
          <a:bodyPr/>
          <a:lstStyle/>
          <a:p>
            <a:endParaRPr lang="en-US"/>
          </a:p>
        </p:txBody>
      </p:sp>
      <p:sp>
        <p:nvSpPr>
          <p:cNvPr id="14" name="Shape 12"/>
          <p:cNvSpPr/>
          <p:nvPr/>
        </p:nvSpPr>
        <p:spPr>
          <a:xfrm>
            <a:off x="566928" y="3054096"/>
            <a:ext cx="54864" cy="1371600"/>
          </a:xfrm>
          <a:prstGeom prst="rect">
            <a:avLst/>
          </a:prstGeom>
          <a:solidFill>
            <a:srgbClr val="1B9AAA"/>
          </a:solidFill>
          <a:ln/>
        </p:spPr>
        <p:txBody>
          <a:bodyPr/>
          <a:lstStyle/>
          <a:p>
            <a:endParaRPr lang="en-US"/>
          </a:p>
        </p:txBody>
      </p:sp>
      <p:sp>
        <p:nvSpPr>
          <p:cNvPr id="15" name="Text 13"/>
          <p:cNvSpPr/>
          <p:nvPr/>
        </p:nvSpPr>
        <p:spPr>
          <a:xfrm>
            <a:off x="822960" y="3218688"/>
            <a:ext cx="3429000" cy="310896"/>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Weights are public</a:t>
            </a:r>
            <a:endParaRPr lang="en-US" sz="1600" dirty="0"/>
          </a:p>
        </p:txBody>
      </p:sp>
      <p:sp>
        <p:nvSpPr>
          <p:cNvPr id="16" name="Text 14"/>
          <p:cNvSpPr/>
          <p:nvPr/>
        </p:nvSpPr>
        <p:spPr>
          <a:xfrm>
            <a:off x="822960" y="3584448"/>
            <a:ext cx="3429000" cy="73152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Internal documents and systems of record were never in training data.</a:t>
            </a:r>
            <a:endParaRPr lang="en-US" sz="1250" dirty="0"/>
          </a:p>
        </p:txBody>
      </p:sp>
      <p:sp>
        <p:nvSpPr>
          <p:cNvPr id="17" name="Shape 15"/>
          <p:cNvSpPr/>
          <p:nvPr/>
        </p:nvSpPr>
        <p:spPr>
          <a:xfrm>
            <a:off x="4681728" y="3054096"/>
            <a:ext cx="3840480" cy="1371600"/>
          </a:xfrm>
          <a:prstGeom prst="rect">
            <a:avLst/>
          </a:prstGeom>
          <a:solidFill>
            <a:srgbClr val="FFFFFF"/>
          </a:solidFill>
          <a:ln w="9525">
            <a:solidFill>
              <a:srgbClr val="DDE5E9"/>
            </a:solidFill>
            <a:prstDash val="solid"/>
          </a:ln>
        </p:spPr>
        <p:txBody>
          <a:bodyPr/>
          <a:lstStyle/>
          <a:p>
            <a:endParaRPr lang="en-US"/>
          </a:p>
        </p:txBody>
      </p:sp>
      <p:sp>
        <p:nvSpPr>
          <p:cNvPr id="18" name="Shape 16"/>
          <p:cNvSpPr/>
          <p:nvPr/>
        </p:nvSpPr>
        <p:spPr>
          <a:xfrm>
            <a:off x="4681728" y="3054096"/>
            <a:ext cx="54864" cy="1371600"/>
          </a:xfrm>
          <a:prstGeom prst="rect">
            <a:avLst/>
          </a:prstGeom>
          <a:solidFill>
            <a:srgbClr val="1B9AAA"/>
          </a:solidFill>
          <a:ln/>
        </p:spPr>
        <p:txBody>
          <a:bodyPr/>
          <a:lstStyle/>
          <a:p>
            <a:endParaRPr lang="en-US"/>
          </a:p>
        </p:txBody>
      </p:sp>
      <p:sp>
        <p:nvSpPr>
          <p:cNvPr id="19" name="Text 17"/>
          <p:cNvSpPr/>
          <p:nvPr/>
        </p:nvSpPr>
        <p:spPr>
          <a:xfrm>
            <a:off x="4937760" y="3218688"/>
            <a:ext cx="3429000" cy="310896"/>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Weights cannot act</a:t>
            </a:r>
            <a:endParaRPr lang="en-US" sz="1600" dirty="0"/>
          </a:p>
        </p:txBody>
      </p:sp>
      <p:sp>
        <p:nvSpPr>
          <p:cNvPr id="20" name="Text 18"/>
          <p:cNvSpPr/>
          <p:nvPr/>
        </p:nvSpPr>
        <p:spPr>
          <a:xfrm>
            <a:off x="4937760" y="3584448"/>
            <a:ext cx="3429000" cy="73152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No amount of generation sends an email or writes to a database.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CHRONOLOGY</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Evolution of Agentic</a:t>
            </a:r>
            <a:endParaRPr lang="en-US" sz="3200" dirty="0"/>
          </a:p>
        </p:txBody>
      </p:sp>
      <p:sp>
        <p:nvSpPr>
          <p:cNvPr id="5" name="Shape 3"/>
          <p:cNvSpPr/>
          <p:nvPr/>
        </p:nvSpPr>
        <p:spPr>
          <a:xfrm>
            <a:off x="822960" y="2606040"/>
            <a:ext cx="7589520" cy="32004"/>
          </a:xfrm>
          <a:prstGeom prst="rect">
            <a:avLst/>
          </a:prstGeom>
          <a:solidFill>
            <a:srgbClr val="C9D6DC"/>
          </a:solidFill>
          <a:ln/>
        </p:spPr>
        <p:txBody>
          <a:bodyPr/>
          <a:lstStyle/>
          <a:p>
            <a:endParaRPr lang="en-US"/>
          </a:p>
        </p:txBody>
      </p:sp>
      <p:sp>
        <p:nvSpPr>
          <p:cNvPr id="6" name="Shape 4"/>
          <p:cNvSpPr/>
          <p:nvPr/>
        </p:nvSpPr>
        <p:spPr>
          <a:xfrm>
            <a:off x="1024128" y="2487168"/>
            <a:ext cx="237744" cy="237744"/>
          </a:xfrm>
          <a:prstGeom prst="ellipse">
            <a:avLst/>
          </a:prstGeom>
          <a:solidFill>
            <a:srgbClr val="1B9AAA"/>
          </a:solidFill>
          <a:ln/>
        </p:spPr>
        <p:txBody>
          <a:bodyPr/>
          <a:lstStyle/>
          <a:p>
            <a:endParaRPr lang="en-US"/>
          </a:p>
        </p:txBody>
      </p:sp>
      <p:sp>
        <p:nvSpPr>
          <p:cNvPr id="7" name="Text 5"/>
          <p:cNvSpPr/>
          <p:nvPr/>
        </p:nvSpPr>
        <p:spPr>
          <a:xfrm>
            <a:off x="457200" y="2057400"/>
            <a:ext cx="1371600" cy="274320"/>
          </a:xfrm>
          <a:prstGeom prst="rect">
            <a:avLst/>
          </a:prstGeom>
          <a:noFill/>
          <a:ln/>
        </p:spPr>
        <p:txBody>
          <a:bodyPr wrap="square" lIns="0" tIns="0" rIns="0" bIns="0" rtlCol="0" anchor="ctr"/>
          <a:lstStyle/>
          <a:p>
            <a:pPr marL="0" indent="0" algn="ctr">
              <a:buNone/>
            </a:pPr>
            <a:r>
              <a:rPr lang="en-US" sz="1100" dirty="0">
                <a:solidFill>
                  <a:srgbClr val="6B7B8C"/>
                </a:solidFill>
                <a:latin typeface="JetBrains Mono" pitchFamily="34" charset="0"/>
                <a:ea typeface="JetBrains Mono" pitchFamily="34" charset="-122"/>
                <a:cs typeface="JetBrains Mono" pitchFamily="34" charset="-120"/>
              </a:rPr>
              <a:t>2020</a:t>
            </a:r>
            <a:endParaRPr lang="en-US" sz="1100" dirty="0"/>
          </a:p>
        </p:txBody>
      </p:sp>
      <p:sp>
        <p:nvSpPr>
          <p:cNvPr id="8" name="Text 6"/>
          <p:cNvSpPr/>
          <p:nvPr/>
        </p:nvSpPr>
        <p:spPr>
          <a:xfrm>
            <a:off x="320040" y="2880360"/>
            <a:ext cx="2011680" cy="329184"/>
          </a:xfrm>
          <a:prstGeom prst="rect">
            <a:avLst/>
          </a:prstGeom>
          <a:noFill/>
          <a:ln/>
        </p:spPr>
        <p:txBody>
          <a:bodyPr wrap="square" lIns="0" tIns="0" rIns="0" bIns="0" rtlCol="0" anchor="ctr"/>
          <a:lstStyle/>
          <a:p>
            <a:pPr marL="0" indent="0" algn="ctr">
              <a:buNone/>
            </a:pPr>
            <a:r>
              <a:rPr lang="en-US" sz="2000" dirty="0">
                <a:solidFill>
                  <a:srgbClr val="0D1B2A"/>
                </a:solidFill>
                <a:latin typeface="Oswald" pitchFamily="34" charset="0"/>
                <a:ea typeface="Oswald" pitchFamily="34" charset="-122"/>
                <a:cs typeface="Oswald" pitchFamily="34" charset="-120"/>
              </a:rPr>
              <a:t>RAG</a:t>
            </a:r>
            <a:endParaRPr lang="en-US" sz="2000" dirty="0"/>
          </a:p>
        </p:txBody>
      </p:sp>
      <p:sp>
        <p:nvSpPr>
          <p:cNvPr id="9" name="Text 7"/>
          <p:cNvSpPr/>
          <p:nvPr/>
        </p:nvSpPr>
        <p:spPr>
          <a:xfrm>
            <a:off x="274320" y="3273552"/>
            <a:ext cx="2103120" cy="822960"/>
          </a:xfrm>
          <a:prstGeom prst="rect">
            <a:avLst/>
          </a:prstGeom>
          <a:noFill/>
          <a:ln/>
        </p:spPr>
        <p:txBody>
          <a:bodyPr wrap="square" lIns="0" tIns="0" rIns="0" bIns="0" rtlCol="0" anchor="ctr"/>
          <a:lstStyle/>
          <a:p>
            <a:pPr marL="0" indent="0" algn="ctr">
              <a:buNone/>
            </a:pPr>
            <a:r>
              <a:rPr lang="en-US" sz="1150" dirty="0">
                <a:solidFill>
                  <a:srgbClr val="6B7B8C"/>
                </a:solidFill>
                <a:latin typeface="Roboto" pitchFamily="34" charset="0"/>
                <a:ea typeface="Roboto" pitchFamily="34" charset="-122"/>
                <a:cs typeface="Roboto" pitchFamily="34" charset="-120"/>
              </a:rPr>
              <a:t>REALM, Lewis et al.</a:t>
            </a:r>
            <a:endParaRPr lang="en-US" sz="1150" dirty="0"/>
          </a:p>
          <a:p>
            <a:pPr marL="0" indent="0" algn="ctr">
              <a:buNone/>
            </a:pPr>
            <a:r>
              <a:rPr lang="en-US" sz="1150" dirty="0">
                <a:solidFill>
                  <a:srgbClr val="6B7B8C"/>
                </a:solidFill>
                <a:latin typeface="Roboto" pitchFamily="34" charset="0"/>
                <a:ea typeface="Roboto" pitchFamily="34" charset="-122"/>
                <a:cs typeface="Roboto" pitchFamily="34" charset="-120"/>
              </a:rPr>
              <a:t>Retrieval as a fixed step</a:t>
            </a:r>
            <a:endParaRPr lang="en-US" sz="1150" dirty="0"/>
          </a:p>
        </p:txBody>
      </p:sp>
      <p:sp>
        <p:nvSpPr>
          <p:cNvPr id="10" name="Shape 8"/>
          <p:cNvSpPr/>
          <p:nvPr/>
        </p:nvSpPr>
        <p:spPr>
          <a:xfrm>
            <a:off x="3264408" y="2487168"/>
            <a:ext cx="237744" cy="237744"/>
          </a:xfrm>
          <a:prstGeom prst="ellipse">
            <a:avLst/>
          </a:prstGeom>
          <a:solidFill>
            <a:srgbClr val="1B9AAA"/>
          </a:solidFill>
          <a:ln/>
        </p:spPr>
        <p:txBody>
          <a:bodyPr/>
          <a:lstStyle/>
          <a:p>
            <a:endParaRPr lang="en-US"/>
          </a:p>
        </p:txBody>
      </p:sp>
      <p:sp>
        <p:nvSpPr>
          <p:cNvPr id="11" name="Text 9"/>
          <p:cNvSpPr/>
          <p:nvPr/>
        </p:nvSpPr>
        <p:spPr>
          <a:xfrm>
            <a:off x="2697480" y="2057400"/>
            <a:ext cx="1371600" cy="274320"/>
          </a:xfrm>
          <a:prstGeom prst="rect">
            <a:avLst/>
          </a:prstGeom>
          <a:noFill/>
          <a:ln/>
        </p:spPr>
        <p:txBody>
          <a:bodyPr wrap="square" lIns="0" tIns="0" rIns="0" bIns="0" rtlCol="0" anchor="ctr"/>
          <a:lstStyle/>
          <a:p>
            <a:pPr marL="0" indent="0" algn="ctr">
              <a:buNone/>
            </a:pPr>
            <a:r>
              <a:rPr lang="en-US" sz="1100" dirty="0">
                <a:solidFill>
                  <a:srgbClr val="6B7B8C"/>
                </a:solidFill>
                <a:latin typeface="JetBrains Mono" pitchFamily="34" charset="0"/>
                <a:ea typeface="JetBrains Mono" pitchFamily="34" charset="-122"/>
                <a:cs typeface="JetBrains Mono" pitchFamily="34" charset="-120"/>
              </a:rPr>
              <a:t>2021–23</a:t>
            </a:r>
            <a:endParaRPr lang="en-US" sz="1100" dirty="0"/>
          </a:p>
        </p:txBody>
      </p:sp>
      <p:sp>
        <p:nvSpPr>
          <p:cNvPr id="12" name="Text 10"/>
          <p:cNvSpPr/>
          <p:nvPr/>
        </p:nvSpPr>
        <p:spPr>
          <a:xfrm>
            <a:off x="2560320" y="2880360"/>
            <a:ext cx="2011680" cy="329184"/>
          </a:xfrm>
          <a:prstGeom prst="rect">
            <a:avLst/>
          </a:prstGeom>
          <a:noFill/>
          <a:ln/>
        </p:spPr>
        <p:txBody>
          <a:bodyPr wrap="square" lIns="0" tIns="0" rIns="0" bIns="0" rtlCol="0" anchor="ctr"/>
          <a:lstStyle/>
          <a:p>
            <a:pPr marL="0" indent="0" algn="ctr">
              <a:buNone/>
            </a:pPr>
            <a:r>
              <a:rPr lang="en-US" sz="2000" dirty="0">
                <a:solidFill>
                  <a:srgbClr val="0D1B2A"/>
                </a:solidFill>
                <a:latin typeface="Oswald" pitchFamily="34" charset="0"/>
                <a:ea typeface="Oswald" pitchFamily="34" charset="-122"/>
                <a:cs typeface="Oswald" pitchFamily="34" charset="-120"/>
              </a:rPr>
              <a:t>Tool use</a:t>
            </a:r>
            <a:endParaRPr lang="en-US" sz="2000" dirty="0"/>
          </a:p>
        </p:txBody>
      </p:sp>
      <p:sp>
        <p:nvSpPr>
          <p:cNvPr id="13" name="Text 11"/>
          <p:cNvSpPr/>
          <p:nvPr/>
        </p:nvSpPr>
        <p:spPr>
          <a:xfrm>
            <a:off x="2514600" y="3273552"/>
            <a:ext cx="2103120" cy="822960"/>
          </a:xfrm>
          <a:prstGeom prst="rect">
            <a:avLst/>
          </a:prstGeom>
          <a:noFill/>
          <a:ln/>
        </p:spPr>
        <p:txBody>
          <a:bodyPr wrap="square" lIns="0" tIns="0" rIns="0" bIns="0" rtlCol="0" anchor="ctr"/>
          <a:lstStyle/>
          <a:p>
            <a:pPr marL="0" indent="0" algn="ctr">
              <a:buNone/>
            </a:pPr>
            <a:r>
              <a:rPr lang="en-US" sz="1150" dirty="0">
                <a:solidFill>
                  <a:srgbClr val="6B7B8C"/>
                </a:solidFill>
                <a:latin typeface="Roboto" pitchFamily="34" charset="0"/>
                <a:ea typeface="Roboto" pitchFamily="34" charset="-122"/>
                <a:cs typeface="Roboto" pitchFamily="34" charset="-120"/>
              </a:rPr>
              <a:t>WebGPT, MRKL, ReAct,</a:t>
            </a:r>
            <a:endParaRPr lang="en-US" sz="1150" dirty="0"/>
          </a:p>
          <a:p>
            <a:pPr marL="0" indent="0" algn="ctr">
              <a:buNone/>
            </a:pPr>
            <a:r>
              <a:rPr lang="en-US" sz="1150" dirty="0">
                <a:solidFill>
                  <a:srgbClr val="6B7B8C"/>
                </a:solidFill>
                <a:latin typeface="Roboto" pitchFamily="34" charset="0"/>
                <a:ea typeface="Roboto" pitchFamily="34" charset="-122"/>
                <a:cs typeface="Roboto" pitchFamily="34" charset="-120"/>
              </a:rPr>
              <a:t>Toolformer, function calling</a:t>
            </a:r>
            <a:endParaRPr lang="en-US" sz="1150" dirty="0"/>
          </a:p>
        </p:txBody>
      </p:sp>
      <p:sp>
        <p:nvSpPr>
          <p:cNvPr id="14" name="Shape 12"/>
          <p:cNvSpPr/>
          <p:nvPr/>
        </p:nvSpPr>
        <p:spPr>
          <a:xfrm>
            <a:off x="5504688" y="2487168"/>
            <a:ext cx="237744" cy="237744"/>
          </a:xfrm>
          <a:prstGeom prst="ellipse">
            <a:avLst/>
          </a:prstGeom>
          <a:solidFill>
            <a:srgbClr val="1B9AAA"/>
          </a:solidFill>
          <a:ln/>
        </p:spPr>
        <p:txBody>
          <a:bodyPr/>
          <a:lstStyle/>
          <a:p>
            <a:endParaRPr lang="en-US"/>
          </a:p>
        </p:txBody>
      </p:sp>
      <p:sp>
        <p:nvSpPr>
          <p:cNvPr id="15" name="Text 13"/>
          <p:cNvSpPr/>
          <p:nvPr/>
        </p:nvSpPr>
        <p:spPr>
          <a:xfrm>
            <a:off x="4937760" y="2057400"/>
            <a:ext cx="1371600" cy="274320"/>
          </a:xfrm>
          <a:prstGeom prst="rect">
            <a:avLst/>
          </a:prstGeom>
          <a:noFill/>
          <a:ln/>
        </p:spPr>
        <p:txBody>
          <a:bodyPr wrap="square" lIns="0" tIns="0" rIns="0" bIns="0" rtlCol="0" anchor="ctr"/>
          <a:lstStyle/>
          <a:p>
            <a:pPr marL="0" indent="0" algn="ctr">
              <a:buNone/>
            </a:pPr>
            <a:r>
              <a:rPr lang="en-US" sz="1100" dirty="0">
                <a:solidFill>
                  <a:srgbClr val="6B7B8C"/>
                </a:solidFill>
                <a:latin typeface="JetBrains Mono" pitchFamily="34" charset="0"/>
                <a:ea typeface="JetBrains Mono" pitchFamily="34" charset="-122"/>
                <a:cs typeface="JetBrains Mono" pitchFamily="34" charset="-120"/>
              </a:rPr>
              <a:t>2023+</a:t>
            </a:r>
            <a:endParaRPr lang="en-US" sz="1100" dirty="0"/>
          </a:p>
        </p:txBody>
      </p:sp>
      <p:sp>
        <p:nvSpPr>
          <p:cNvPr id="16" name="Text 14"/>
          <p:cNvSpPr/>
          <p:nvPr/>
        </p:nvSpPr>
        <p:spPr>
          <a:xfrm>
            <a:off x="4800600" y="2880360"/>
            <a:ext cx="2011680" cy="329184"/>
          </a:xfrm>
          <a:prstGeom prst="rect">
            <a:avLst/>
          </a:prstGeom>
          <a:noFill/>
          <a:ln/>
        </p:spPr>
        <p:txBody>
          <a:bodyPr wrap="square" lIns="0" tIns="0" rIns="0" bIns="0" rtlCol="0" anchor="ctr"/>
          <a:lstStyle/>
          <a:p>
            <a:pPr marL="0" indent="0" algn="ctr">
              <a:buNone/>
            </a:pPr>
            <a:r>
              <a:rPr lang="en-US" sz="2000" dirty="0">
                <a:solidFill>
                  <a:srgbClr val="0D1B2A"/>
                </a:solidFill>
                <a:latin typeface="Oswald" pitchFamily="34" charset="0"/>
                <a:ea typeface="Oswald" pitchFamily="34" charset="-122"/>
                <a:cs typeface="Oswald" pitchFamily="34" charset="-120"/>
              </a:rPr>
              <a:t>Agents</a:t>
            </a:r>
            <a:endParaRPr lang="en-US" sz="2000" dirty="0"/>
          </a:p>
        </p:txBody>
      </p:sp>
      <p:sp>
        <p:nvSpPr>
          <p:cNvPr id="17" name="Text 15"/>
          <p:cNvSpPr/>
          <p:nvPr/>
        </p:nvSpPr>
        <p:spPr>
          <a:xfrm>
            <a:off x="4754880" y="3273552"/>
            <a:ext cx="2103120" cy="822960"/>
          </a:xfrm>
          <a:prstGeom prst="rect">
            <a:avLst/>
          </a:prstGeom>
          <a:noFill/>
          <a:ln/>
        </p:spPr>
        <p:txBody>
          <a:bodyPr wrap="square" lIns="0" tIns="0" rIns="0" bIns="0" rtlCol="0" anchor="ctr"/>
          <a:lstStyle/>
          <a:p>
            <a:pPr marL="0" indent="0" algn="ctr">
              <a:buNone/>
            </a:pPr>
            <a:r>
              <a:rPr lang="en-US" sz="1150" dirty="0">
                <a:solidFill>
                  <a:srgbClr val="6B7B8C"/>
                </a:solidFill>
                <a:latin typeface="Roboto" pitchFamily="34" charset="0"/>
                <a:ea typeface="Roboto" pitchFamily="34" charset="-122"/>
                <a:cs typeface="Roboto" pitchFamily="34" charset="-120"/>
              </a:rPr>
              <a:t>Planning, loops,</a:t>
            </a:r>
            <a:endParaRPr lang="en-US" sz="1150" dirty="0"/>
          </a:p>
          <a:p>
            <a:pPr marL="0" indent="0" algn="ctr">
              <a:buNone/>
            </a:pPr>
            <a:r>
              <a:rPr lang="en-US" sz="1150" dirty="0">
                <a:solidFill>
                  <a:srgbClr val="6B7B8C"/>
                </a:solidFill>
                <a:latin typeface="Roboto" pitchFamily="34" charset="0"/>
                <a:ea typeface="Roboto" pitchFamily="34" charset="-122"/>
                <a:cs typeface="Roboto" pitchFamily="34" charset="-120"/>
              </a:rPr>
              <a:t>memory, autonomy</a:t>
            </a:r>
            <a:endParaRPr lang="en-US" sz="1150" dirty="0"/>
          </a:p>
        </p:txBody>
      </p:sp>
      <p:sp>
        <p:nvSpPr>
          <p:cNvPr id="18" name="Shape 16"/>
          <p:cNvSpPr/>
          <p:nvPr/>
        </p:nvSpPr>
        <p:spPr>
          <a:xfrm>
            <a:off x="7744968" y="2487168"/>
            <a:ext cx="237744" cy="237744"/>
          </a:xfrm>
          <a:prstGeom prst="ellipse">
            <a:avLst/>
          </a:prstGeom>
          <a:solidFill>
            <a:srgbClr val="06D6A0"/>
          </a:solidFill>
          <a:ln/>
        </p:spPr>
        <p:txBody>
          <a:bodyPr/>
          <a:lstStyle/>
          <a:p>
            <a:endParaRPr lang="en-US"/>
          </a:p>
        </p:txBody>
      </p:sp>
      <p:sp>
        <p:nvSpPr>
          <p:cNvPr id="19" name="Text 17"/>
          <p:cNvSpPr/>
          <p:nvPr/>
        </p:nvSpPr>
        <p:spPr>
          <a:xfrm>
            <a:off x="7178040" y="2057400"/>
            <a:ext cx="1371600" cy="274320"/>
          </a:xfrm>
          <a:prstGeom prst="rect">
            <a:avLst/>
          </a:prstGeom>
          <a:noFill/>
          <a:ln/>
        </p:spPr>
        <p:txBody>
          <a:bodyPr wrap="square" lIns="0" tIns="0" rIns="0" bIns="0" rtlCol="0" anchor="ctr"/>
          <a:lstStyle/>
          <a:p>
            <a:pPr marL="0" indent="0" algn="ctr">
              <a:buNone/>
            </a:pPr>
            <a:r>
              <a:rPr lang="en-US" sz="1100" dirty="0">
                <a:solidFill>
                  <a:srgbClr val="6B7B8C"/>
                </a:solidFill>
                <a:latin typeface="JetBrains Mono" pitchFamily="34" charset="0"/>
                <a:ea typeface="JetBrains Mono" pitchFamily="34" charset="-122"/>
                <a:cs typeface="JetBrains Mono" pitchFamily="34" charset="-120"/>
              </a:rPr>
              <a:t>2024</a:t>
            </a:r>
            <a:endParaRPr lang="en-US" sz="1100" dirty="0"/>
          </a:p>
        </p:txBody>
      </p:sp>
      <p:sp>
        <p:nvSpPr>
          <p:cNvPr id="20" name="Text 18"/>
          <p:cNvSpPr/>
          <p:nvPr/>
        </p:nvSpPr>
        <p:spPr>
          <a:xfrm>
            <a:off x="7040880" y="2880360"/>
            <a:ext cx="2011680" cy="329184"/>
          </a:xfrm>
          <a:prstGeom prst="rect">
            <a:avLst/>
          </a:prstGeom>
          <a:noFill/>
          <a:ln/>
        </p:spPr>
        <p:txBody>
          <a:bodyPr wrap="square" lIns="0" tIns="0" rIns="0" bIns="0" rtlCol="0" anchor="ctr"/>
          <a:lstStyle/>
          <a:p>
            <a:pPr marL="0" indent="0" algn="ctr">
              <a:buNone/>
            </a:pPr>
            <a:r>
              <a:rPr lang="en-US" sz="2000" dirty="0">
                <a:solidFill>
                  <a:srgbClr val="0D1B2A"/>
                </a:solidFill>
                <a:latin typeface="Oswald" pitchFamily="34" charset="0"/>
                <a:ea typeface="Oswald" pitchFamily="34" charset="-122"/>
                <a:cs typeface="Oswald" pitchFamily="34" charset="-120"/>
              </a:rPr>
              <a:t>MCP</a:t>
            </a:r>
            <a:endParaRPr lang="en-US" sz="2000" dirty="0"/>
          </a:p>
        </p:txBody>
      </p:sp>
      <p:sp>
        <p:nvSpPr>
          <p:cNvPr id="21" name="Text 19"/>
          <p:cNvSpPr/>
          <p:nvPr/>
        </p:nvSpPr>
        <p:spPr>
          <a:xfrm>
            <a:off x="6995160" y="3273552"/>
            <a:ext cx="2103120" cy="822960"/>
          </a:xfrm>
          <a:prstGeom prst="rect">
            <a:avLst/>
          </a:prstGeom>
          <a:noFill/>
          <a:ln/>
        </p:spPr>
        <p:txBody>
          <a:bodyPr wrap="square" lIns="0" tIns="0" rIns="0" bIns="0" rtlCol="0" anchor="ctr"/>
          <a:lstStyle/>
          <a:p>
            <a:pPr marL="0" indent="0" algn="ctr">
              <a:buNone/>
            </a:pPr>
            <a:r>
              <a:rPr lang="en-US" sz="1150" dirty="0">
                <a:solidFill>
                  <a:srgbClr val="6B7B8C"/>
                </a:solidFill>
                <a:latin typeface="Roboto" pitchFamily="34" charset="0"/>
                <a:ea typeface="Roboto" pitchFamily="34" charset="-122"/>
                <a:cs typeface="Roboto" pitchFamily="34" charset="-120"/>
              </a:rPr>
              <a:t>One standard interface</a:t>
            </a:r>
            <a:endParaRPr lang="en-US" sz="1150" dirty="0"/>
          </a:p>
          <a:p>
            <a:pPr marL="0" indent="0" algn="ctr">
              <a:buNone/>
            </a:pPr>
            <a:r>
              <a:rPr lang="en-US" sz="1150" dirty="0">
                <a:solidFill>
                  <a:srgbClr val="6B7B8C"/>
                </a:solidFill>
                <a:latin typeface="Roboto" pitchFamily="34" charset="0"/>
                <a:ea typeface="Roboto" pitchFamily="34" charset="-122"/>
                <a:cs typeface="Roboto" pitchFamily="34" charset="-120"/>
              </a:rPr>
              <a:t>for tools and context</a:t>
            </a:r>
            <a:endParaRPr lang="en-US" sz="1150" dirty="0"/>
          </a:p>
        </p:txBody>
      </p:sp>
      <p:sp>
        <p:nvSpPr>
          <p:cNvPr id="22" name="Text 20"/>
          <p:cNvSpPr/>
          <p:nvPr/>
        </p:nvSpPr>
        <p:spPr>
          <a:xfrm>
            <a:off x="566928" y="1417320"/>
            <a:ext cx="8138160" cy="365760"/>
          </a:xfrm>
          <a:prstGeom prst="rect">
            <a:avLst/>
          </a:prstGeom>
          <a:noFill/>
          <a:ln/>
        </p:spPr>
        <p:txBody>
          <a:bodyPr wrap="square" lIns="0" tIns="0" rIns="0" bIns="0" rtlCol="0" anchor="ctr"/>
          <a:lstStyle/>
          <a:p>
            <a:pPr marL="0" indent="0">
              <a:buNone/>
            </a:pPr>
            <a:r>
              <a:rPr lang="en-US" sz="1400" i="1" dirty="0">
                <a:solidFill>
                  <a:srgbClr val="14293D"/>
                </a:solidFill>
                <a:latin typeface="Roboto" pitchFamily="34" charset="0"/>
                <a:ea typeface="Roboto" pitchFamily="34" charset="-122"/>
                <a:cs typeface="Roboto" pitchFamily="34" charset="-120"/>
              </a:rPr>
              <a:t>RAG was already established when tool use became a topic. It was the proof of concept for the whole idea.</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2020 · RAG</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The first admission</a:t>
            </a:r>
            <a:endParaRPr lang="en-US" sz="3200" dirty="0"/>
          </a:p>
        </p:txBody>
      </p:sp>
      <p:sp>
        <p:nvSpPr>
          <p:cNvPr id="5" name="Shape 3"/>
          <p:cNvSpPr/>
          <p:nvPr/>
        </p:nvSpPr>
        <p:spPr>
          <a:xfrm>
            <a:off x="566928" y="1463040"/>
            <a:ext cx="3931920" cy="3108960"/>
          </a:xfrm>
          <a:prstGeom prst="rect">
            <a:avLst/>
          </a:prstGeom>
          <a:solidFill>
            <a:srgbClr val="FFFFFF"/>
          </a:solidFill>
          <a:ln w="9525">
            <a:solidFill>
              <a:srgbClr val="DDE5E9"/>
            </a:solidFill>
            <a:prstDash val="solid"/>
          </a:ln>
        </p:spPr>
        <p:txBody>
          <a:bodyPr/>
          <a:lstStyle/>
          <a:p>
            <a:endParaRPr lang="en-US"/>
          </a:p>
        </p:txBody>
      </p:sp>
      <p:sp>
        <p:nvSpPr>
          <p:cNvPr id="6" name="Text 4"/>
          <p:cNvSpPr/>
          <p:nvPr/>
        </p:nvSpPr>
        <p:spPr>
          <a:xfrm>
            <a:off x="822960" y="1691640"/>
            <a:ext cx="3474720" cy="292608"/>
          </a:xfrm>
          <a:prstGeom prst="rect">
            <a:avLst/>
          </a:prstGeom>
          <a:noFill/>
          <a:ln/>
        </p:spPr>
        <p:txBody>
          <a:bodyPr wrap="square" lIns="0" tIns="0" rIns="0" bIns="0" rtlCol="0" anchor="ctr"/>
          <a:lstStyle/>
          <a:p>
            <a:pPr marL="0" indent="0">
              <a:buNone/>
            </a:pPr>
            <a:r>
              <a:rPr lang="en-US" sz="1700" dirty="0">
                <a:solidFill>
                  <a:srgbClr val="0D1B2A"/>
                </a:solidFill>
                <a:latin typeface="Oswald" pitchFamily="34" charset="0"/>
                <a:ea typeface="Oswald" pitchFamily="34" charset="-122"/>
                <a:cs typeface="Oswald" pitchFamily="34" charset="-120"/>
              </a:rPr>
              <a:t>The problem it answered</a:t>
            </a:r>
            <a:endParaRPr lang="en-US" sz="1700" dirty="0"/>
          </a:p>
        </p:txBody>
      </p:sp>
      <p:sp>
        <p:nvSpPr>
          <p:cNvPr id="7" name="Text 5"/>
          <p:cNvSpPr/>
          <p:nvPr/>
        </p:nvSpPr>
        <p:spPr>
          <a:xfrm>
            <a:off x="822960" y="2103120"/>
            <a:ext cx="3474720" cy="2194560"/>
          </a:xfrm>
          <a:prstGeom prst="rect">
            <a:avLst/>
          </a:prstGeom>
          <a:noFill/>
          <a:ln/>
        </p:spPr>
        <p:txBody>
          <a:bodyPr wrap="square" rtlCol="0" anchor="ctr"/>
          <a:lstStyle/>
          <a:p>
            <a:pPr marL="342900" indent="-342900">
              <a:spcAft>
                <a:spcPts val="800"/>
              </a:spcAft>
              <a:buSzPct val="100000"/>
              <a:buChar char="•"/>
            </a:pPr>
            <a:r>
              <a:rPr lang="en-US" sz="1300" dirty="0">
                <a:solidFill>
                  <a:srgbClr val="14293D"/>
                </a:solidFill>
                <a:latin typeface="Roboto" pitchFamily="34" charset="0"/>
                <a:ea typeface="Roboto" pitchFamily="34" charset="-122"/>
                <a:cs typeface="Roboto" pitchFamily="34" charset="-120"/>
              </a:rPr>
              <a:t>Knowledge, not action</a:t>
            </a:r>
            <a:endParaRPr lang="en-US" sz="1300" dirty="0"/>
          </a:p>
          <a:p>
            <a:pPr marL="342900" indent="-342900">
              <a:spcAft>
                <a:spcPts val="800"/>
              </a:spcAft>
              <a:buSzPct val="100000"/>
              <a:buChar char="•"/>
            </a:pPr>
            <a:r>
              <a:rPr lang="en-US" sz="1300" dirty="0">
                <a:solidFill>
                  <a:srgbClr val="14293D"/>
                </a:solidFill>
                <a:latin typeface="Roboto" pitchFamily="34" charset="0"/>
                <a:ea typeface="Roboto" pitchFamily="34" charset="-122"/>
                <a:cs typeface="Roboto" pitchFamily="34" charset="-120"/>
              </a:rPr>
              <a:t>Parametric memory is lossy and hard to update</a:t>
            </a:r>
            <a:endParaRPr lang="en-US" sz="1300" dirty="0"/>
          </a:p>
          <a:p>
            <a:pPr marL="342900" indent="-342900">
              <a:spcAft>
                <a:spcPts val="800"/>
              </a:spcAft>
              <a:buSzPct val="100000"/>
              <a:buChar char="•"/>
            </a:pPr>
            <a:r>
              <a:rPr lang="en-US" sz="1300" dirty="0">
                <a:solidFill>
                  <a:srgbClr val="14293D"/>
                </a:solidFill>
                <a:latin typeface="Roboto" pitchFamily="34" charset="0"/>
                <a:ea typeface="Roboto" pitchFamily="34" charset="-122"/>
                <a:cs typeface="Roboto" pitchFamily="34" charset="-120"/>
              </a:rPr>
              <a:t>Add non-parametric memory: a retrievable index</a:t>
            </a:r>
            <a:endParaRPr lang="en-US" sz="1300" dirty="0"/>
          </a:p>
          <a:p>
            <a:pPr marL="342900" indent="-342900">
              <a:spcAft>
                <a:spcPts val="800"/>
              </a:spcAft>
              <a:buSzPct val="100000"/>
              <a:buChar char="•"/>
            </a:pPr>
            <a:r>
              <a:rPr lang="en-US" sz="1300" dirty="0">
                <a:solidFill>
                  <a:srgbClr val="14293D"/>
                </a:solidFill>
                <a:latin typeface="Roboto" pitchFamily="34" charset="0"/>
                <a:ea typeface="Roboto" pitchFamily="34" charset="-122"/>
                <a:cs typeface="Roboto" pitchFamily="34" charset="-120"/>
              </a:rPr>
              <a:t>Answers become attributable</a:t>
            </a:r>
            <a:endParaRPr lang="en-US" sz="1300" dirty="0"/>
          </a:p>
        </p:txBody>
      </p:sp>
      <p:sp>
        <p:nvSpPr>
          <p:cNvPr id="8" name="Shape 6"/>
          <p:cNvSpPr/>
          <p:nvPr/>
        </p:nvSpPr>
        <p:spPr>
          <a:xfrm>
            <a:off x="4754880" y="1463040"/>
            <a:ext cx="3840480" cy="3108960"/>
          </a:xfrm>
          <a:prstGeom prst="rect">
            <a:avLst/>
          </a:prstGeom>
          <a:solidFill>
            <a:srgbClr val="0D1B2A"/>
          </a:solidFill>
          <a:ln/>
        </p:spPr>
        <p:txBody>
          <a:bodyPr/>
          <a:lstStyle/>
          <a:p>
            <a:endParaRPr lang="en-US"/>
          </a:p>
        </p:txBody>
      </p:sp>
      <p:sp>
        <p:nvSpPr>
          <p:cNvPr id="9" name="Text 7"/>
          <p:cNvSpPr/>
          <p:nvPr/>
        </p:nvSpPr>
        <p:spPr>
          <a:xfrm>
            <a:off x="5029200" y="1691640"/>
            <a:ext cx="3291840" cy="292608"/>
          </a:xfrm>
          <a:prstGeom prst="rect">
            <a:avLst/>
          </a:prstGeom>
          <a:noFill/>
          <a:ln/>
        </p:spPr>
        <p:txBody>
          <a:bodyPr wrap="square" lIns="0" tIns="0" rIns="0" bIns="0" rtlCol="0" anchor="ctr"/>
          <a:lstStyle/>
          <a:p>
            <a:pPr marL="0" indent="0">
              <a:buNone/>
            </a:pPr>
            <a:r>
              <a:rPr lang="en-US" sz="1700" dirty="0">
                <a:solidFill>
                  <a:srgbClr val="06D6A0"/>
                </a:solidFill>
                <a:latin typeface="Oswald" pitchFamily="34" charset="0"/>
                <a:ea typeface="Oswald" pitchFamily="34" charset="-122"/>
                <a:cs typeface="Oswald" pitchFamily="34" charset="-120"/>
              </a:rPr>
              <a:t>Classic pipeline</a:t>
            </a:r>
            <a:endParaRPr lang="en-US" sz="1700" dirty="0"/>
          </a:p>
        </p:txBody>
      </p:sp>
      <p:sp>
        <p:nvSpPr>
          <p:cNvPr id="10" name="Shape 8"/>
          <p:cNvSpPr/>
          <p:nvPr/>
        </p:nvSpPr>
        <p:spPr>
          <a:xfrm>
            <a:off x="5029200" y="2148840"/>
            <a:ext cx="3291840" cy="402336"/>
          </a:xfrm>
          <a:prstGeom prst="rect">
            <a:avLst/>
          </a:prstGeom>
          <a:solidFill>
            <a:srgbClr val="14293D"/>
          </a:solidFill>
          <a:ln/>
        </p:spPr>
        <p:txBody>
          <a:bodyPr/>
          <a:lstStyle/>
          <a:p>
            <a:endParaRPr lang="en-US"/>
          </a:p>
        </p:txBody>
      </p:sp>
      <p:sp>
        <p:nvSpPr>
          <p:cNvPr id="11" name="Text 9"/>
          <p:cNvSpPr/>
          <p:nvPr/>
        </p:nvSpPr>
        <p:spPr>
          <a:xfrm>
            <a:off x="5212080" y="2212848"/>
            <a:ext cx="2926080" cy="274320"/>
          </a:xfrm>
          <a:prstGeom prst="rect">
            <a:avLst/>
          </a:prstGeom>
          <a:noFill/>
          <a:ln/>
        </p:spPr>
        <p:txBody>
          <a:bodyPr wrap="square" lIns="0" tIns="0" rIns="0" bIns="0" rtlCol="0" anchor="ctr"/>
          <a:lstStyle/>
          <a:p>
            <a:pPr marL="0" indent="0">
              <a:buNone/>
            </a:pPr>
            <a:r>
              <a:rPr lang="en-US" sz="1200" dirty="0">
                <a:solidFill>
                  <a:srgbClr val="D7E3E9"/>
                </a:solidFill>
                <a:latin typeface="JetBrains Mono" pitchFamily="34" charset="0"/>
                <a:ea typeface="JetBrains Mono" pitchFamily="34" charset="-122"/>
                <a:cs typeface="JetBrains Mono" pitchFamily="34" charset="-120"/>
              </a:rPr>
              <a:t>query</a:t>
            </a:r>
            <a:endParaRPr lang="en-US" sz="1200" dirty="0"/>
          </a:p>
        </p:txBody>
      </p:sp>
      <p:sp>
        <p:nvSpPr>
          <p:cNvPr id="12" name="Shape 10"/>
          <p:cNvSpPr/>
          <p:nvPr/>
        </p:nvSpPr>
        <p:spPr>
          <a:xfrm>
            <a:off x="5029200" y="2651760"/>
            <a:ext cx="3291840" cy="402336"/>
          </a:xfrm>
          <a:prstGeom prst="rect">
            <a:avLst/>
          </a:prstGeom>
          <a:solidFill>
            <a:srgbClr val="14293D"/>
          </a:solidFill>
          <a:ln/>
        </p:spPr>
        <p:txBody>
          <a:bodyPr/>
          <a:lstStyle/>
          <a:p>
            <a:endParaRPr lang="en-US"/>
          </a:p>
        </p:txBody>
      </p:sp>
      <p:sp>
        <p:nvSpPr>
          <p:cNvPr id="13" name="Text 11"/>
          <p:cNvSpPr/>
          <p:nvPr/>
        </p:nvSpPr>
        <p:spPr>
          <a:xfrm>
            <a:off x="5212080" y="2715768"/>
            <a:ext cx="2926080" cy="274320"/>
          </a:xfrm>
          <a:prstGeom prst="rect">
            <a:avLst/>
          </a:prstGeom>
          <a:noFill/>
          <a:ln/>
        </p:spPr>
        <p:txBody>
          <a:bodyPr wrap="square" lIns="0" tIns="0" rIns="0" bIns="0" rtlCol="0" anchor="ctr"/>
          <a:lstStyle/>
          <a:p>
            <a:pPr marL="0" indent="0">
              <a:buNone/>
            </a:pPr>
            <a:r>
              <a:rPr lang="en-US" sz="1200" dirty="0">
                <a:solidFill>
                  <a:srgbClr val="D7E3E9"/>
                </a:solidFill>
                <a:latin typeface="JetBrains Mono" pitchFamily="34" charset="0"/>
                <a:ea typeface="JetBrains Mono" pitchFamily="34" charset="-122"/>
                <a:cs typeface="JetBrains Mono" pitchFamily="34" charset="-120"/>
              </a:rPr>
              <a:t>embed</a:t>
            </a:r>
            <a:endParaRPr lang="en-US" sz="1200" dirty="0"/>
          </a:p>
        </p:txBody>
      </p:sp>
      <p:sp>
        <p:nvSpPr>
          <p:cNvPr id="14" name="Shape 12"/>
          <p:cNvSpPr/>
          <p:nvPr/>
        </p:nvSpPr>
        <p:spPr>
          <a:xfrm>
            <a:off x="5029200" y="3154680"/>
            <a:ext cx="3291840" cy="402336"/>
          </a:xfrm>
          <a:prstGeom prst="rect">
            <a:avLst/>
          </a:prstGeom>
          <a:solidFill>
            <a:srgbClr val="14293D"/>
          </a:solidFill>
          <a:ln/>
        </p:spPr>
        <p:txBody>
          <a:bodyPr/>
          <a:lstStyle/>
          <a:p>
            <a:endParaRPr lang="en-US"/>
          </a:p>
        </p:txBody>
      </p:sp>
      <p:sp>
        <p:nvSpPr>
          <p:cNvPr id="15" name="Text 13"/>
          <p:cNvSpPr/>
          <p:nvPr/>
        </p:nvSpPr>
        <p:spPr>
          <a:xfrm>
            <a:off x="5212080" y="3218688"/>
            <a:ext cx="2926080" cy="274320"/>
          </a:xfrm>
          <a:prstGeom prst="rect">
            <a:avLst/>
          </a:prstGeom>
          <a:noFill/>
          <a:ln/>
        </p:spPr>
        <p:txBody>
          <a:bodyPr wrap="square" lIns="0" tIns="0" rIns="0" bIns="0" rtlCol="0" anchor="ctr"/>
          <a:lstStyle/>
          <a:p>
            <a:pPr marL="0" indent="0">
              <a:buNone/>
            </a:pPr>
            <a:r>
              <a:rPr lang="en-US" sz="1200" dirty="0">
                <a:solidFill>
                  <a:srgbClr val="D7E3E9"/>
                </a:solidFill>
                <a:latin typeface="JetBrains Mono" pitchFamily="34" charset="0"/>
                <a:ea typeface="JetBrains Mono" pitchFamily="34" charset="-122"/>
                <a:cs typeface="JetBrains Mono" pitchFamily="34" charset="-120"/>
              </a:rPr>
              <a:t>top-k fetch</a:t>
            </a:r>
            <a:endParaRPr lang="en-US" sz="1200" dirty="0"/>
          </a:p>
        </p:txBody>
      </p:sp>
      <p:sp>
        <p:nvSpPr>
          <p:cNvPr id="16" name="Shape 14"/>
          <p:cNvSpPr/>
          <p:nvPr/>
        </p:nvSpPr>
        <p:spPr>
          <a:xfrm>
            <a:off x="5029200" y="3657600"/>
            <a:ext cx="3291840" cy="402336"/>
          </a:xfrm>
          <a:prstGeom prst="rect">
            <a:avLst/>
          </a:prstGeom>
          <a:solidFill>
            <a:srgbClr val="14293D"/>
          </a:solidFill>
          <a:ln/>
        </p:spPr>
        <p:txBody>
          <a:bodyPr/>
          <a:lstStyle/>
          <a:p>
            <a:endParaRPr lang="en-US"/>
          </a:p>
        </p:txBody>
      </p:sp>
      <p:sp>
        <p:nvSpPr>
          <p:cNvPr id="17" name="Text 15"/>
          <p:cNvSpPr/>
          <p:nvPr/>
        </p:nvSpPr>
        <p:spPr>
          <a:xfrm>
            <a:off x="5212080" y="3721608"/>
            <a:ext cx="2926080" cy="274320"/>
          </a:xfrm>
          <a:prstGeom prst="rect">
            <a:avLst/>
          </a:prstGeom>
          <a:noFill/>
          <a:ln/>
        </p:spPr>
        <p:txBody>
          <a:bodyPr wrap="square" lIns="0" tIns="0" rIns="0" bIns="0" rtlCol="0" anchor="ctr"/>
          <a:lstStyle/>
          <a:p>
            <a:pPr marL="0" indent="0">
              <a:buNone/>
            </a:pPr>
            <a:r>
              <a:rPr lang="en-US" sz="1200" dirty="0">
                <a:solidFill>
                  <a:srgbClr val="D7E3E9"/>
                </a:solidFill>
                <a:latin typeface="JetBrains Mono" pitchFamily="34" charset="0"/>
                <a:ea typeface="JetBrains Mono" pitchFamily="34" charset="-122"/>
                <a:cs typeface="JetBrains Mono" pitchFamily="34" charset="-120"/>
              </a:rPr>
              <a:t>generate</a:t>
            </a:r>
            <a:endParaRPr lang="en-US" sz="1200" dirty="0"/>
          </a:p>
        </p:txBody>
      </p:sp>
      <p:sp>
        <p:nvSpPr>
          <p:cNvPr id="18" name="Text 16"/>
          <p:cNvSpPr/>
          <p:nvPr/>
        </p:nvSpPr>
        <p:spPr>
          <a:xfrm>
            <a:off x="5029200" y="4160520"/>
            <a:ext cx="3291840" cy="384048"/>
          </a:xfrm>
          <a:prstGeom prst="rect">
            <a:avLst/>
          </a:prstGeom>
          <a:noFill/>
          <a:ln/>
        </p:spPr>
        <p:txBody>
          <a:bodyPr wrap="square" lIns="0" tIns="0" rIns="0" bIns="0" rtlCol="0" anchor="ctr"/>
          <a:lstStyle/>
          <a:p>
            <a:pPr marL="0" indent="0">
              <a:buNone/>
            </a:pPr>
            <a:r>
              <a:rPr lang="en-US" sz="1050" i="1" dirty="0">
                <a:solidFill>
                  <a:srgbClr val="1B9AAA"/>
                </a:solidFill>
                <a:latin typeface="Roboto" pitchFamily="34" charset="0"/>
                <a:ea typeface="Roboto" pitchFamily="34" charset="-122"/>
                <a:cs typeface="Roboto" pitchFamily="34" charset="-120"/>
              </a:rPr>
              <a:t>Unconditional. The engineer decides when to retrieve.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2021–2023 · TOOL USE</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From knowledge to capability</a:t>
            </a:r>
            <a:endParaRPr lang="en-US" sz="3200" dirty="0"/>
          </a:p>
        </p:txBody>
      </p:sp>
      <p:sp>
        <p:nvSpPr>
          <p:cNvPr id="5" name="Text 3"/>
          <p:cNvSpPr/>
          <p:nvPr/>
        </p:nvSpPr>
        <p:spPr>
          <a:xfrm>
            <a:off x="566928" y="1389888"/>
            <a:ext cx="8138160" cy="457200"/>
          </a:xfrm>
          <a:prstGeom prst="rect">
            <a:avLst/>
          </a:prstGeom>
          <a:noFill/>
          <a:ln/>
        </p:spPr>
        <p:txBody>
          <a:bodyPr wrap="square" lIns="0" tIns="0" rIns="0" bIns="0" rtlCol="0" anchor="ctr"/>
          <a:lstStyle/>
          <a:p>
            <a:pPr marL="0" indent="0">
              <a:buNone/>
            </a:pPr>
            <a:r>
              <a:rPr lang="en-US" sz="1400" dirty="0">
                <a:solidFill>
                  <a:srgbClr val="14293D"/>
                </a:solidFill>
                <a:latin typeface="Roboto" pitchFamily="34" charset="0"/>
                <a:ea typeface="Roboto" pitchFamily="34" charset="-122"/>
                <a:cs typeface="Roboto" pitchFamily="34" charset="-120"/>
              </a:rPr>
              <a:t>A control-flow answer to an action problem: let the model decide when to reach outside itself — and let it reach for anything, not just documents.</a:t>
            </a:r>
            <a:endParaRPr lang="en-US" sz="1400" dirty="0"/>
          </a:p>
        </p:txBody>
      </p:sp>
      <p:sp>
        <p:nvSpPr>
          <p:cNvPr id="6" name="Shape 4"/>
          <p:cNvSpPr/>
          <p:nvPr/>
        </p:nvSpPr>
        <p:spPr>
          <a:xfrm>
            <a:off x="566928" y="2011680"/>
            <a:ext cx="3931920" cy="2514600"/>
          </a:xfrm>
          <a:prstGeom prst="rect">
            <a:avLst/>
          </a:prstGeom>
          <a:solidFill>
            <a:srgbClr val="FFFFFF"/>
          </a:solidFill>
          <a:ln w="9525">
            <a:solidFill>
              <a:srgbClr val="DDE5E9"/>
            </a:solidFill>
            <a:prstDash val="solid"/>
          </a:ln>
        </p:spPr>
        <p:txBody>
          <a:bodyPr/>
          <a:lstStyle/>
          <a:p>
            <a:endParaRPr lang="en-US"/>
          </a:p>
        </p:txBody>
      </p:sp>
      <p:sp>
        <p:nvSpPr>
          <p:cNvPr id="7" name="Text 5"/>
          <p:cNvSpPr/>
          <p:nvPr/>
        </p:nvSpPr>
        <p:spPr>
          <a:xfrm>
            <a:off x="822960" y="2212848"/>
            <a:ext cx="3474720" cy="274320"/>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What it unlocks</a:t>
            </a:r>
            <a:endParaRPr lang="en-US" sz="1600" dirty="0"/>
          </a:p>
        </p:txBody>
      </p:sp>
      <p:sp>
        <p:nvSpPr>
          <p:cNvPr id="8" name="Text 6"/>
          <p:cNvSpPr/>
          <p:nvPr/>
        </p:nvSpPr>
        <p:spPr>
          <a:xfrm>
            <a:off x="822960" y="2578608"/>
            <a:ext cx="3474720" cy="1783080"/>
          </a:xfrm>
          <a:prstGeom prst="rect">
            <a:avLst/>
          </a:prstGeom>
          <a:noFill/>
          <a:ln/>
        </p:spPr>
        <p:txBody>
          <a:bodyPr wrap="square" rtlCol="0" anchor="ctr"/>
          <a:lstStyle/>
          <a:p>
            <a:pPr marL="342900" indent="-342900">
              <a:spcAft>
                <a:spcPts val="700"/>
              </a:spcAft>
              <a:buSzPct val="100000"/>
              <a:buChar char="•"/>
            </a:pPr>
            <a:r>
              <a:rPr lang="en-US" sz="1250" dirty="0">
                <a:solidFill>
                  <a:srgbClr val="14293D"/>
                </a:solidFill>
                <a:latin typeface="Roboto" pitchFamily="34" charset="0"/>
                <a:ea typeface="Roboto" pitchFamily="34" charset="-122"/>
                <a:cs typeface="Roboto" pitchFamily="34" charset="-120"/>
              </a:rPr>
              <a:t>Deterministic computation, done deterministically</a:t>
            </a:r>
            <a:endParaRPr lang="en-US" sz="1250" dirty="0"/>
          </a:p>
          <a:p>
            <a:pPr marL="342900" indent="-342900">
              <a:spcAft>
                <a:spcPts val="700"/>
              </a:spcAft>
              <a:buSzPct val="100000"/>
              <a:buChar char="•"/>
            </a:pPr>
            <a:r>
              <a:rPr lang="en-US" sz="1250" dirty="0">
                <a:solidFill>
                  <a:srgbClr val="14293D"/>
                </a:solidFill>
                <a:latin typeface="Roboto" pitchFamily="34" charset="0"/>
                <a:ea typeface="Roboto" pitchFamily="34" charset="-122"/>
                <a:cs typeface="Roboto" pitchFamily="34" charset="-120"/>
              </a:rPr>
              <a:t>Reads from systems of record</a:t>
            </a:r>
            <a:endParaRPr lang="en-US" sz="1250" dirty="0"/>
          </a:p>
          <a:p>
            <a:pPr marL="342900" indent="-342900">
              <a:spcAft>
                <a:spcPts val="700"/>
              </a:spcAft>
              <a:buSzPct val="100000"/>
              <a:buChar char="•"/>
            </a:pPr>
            <a:r>
              <a:rPr lang="en-US" sz="1250" dirty="0">
                <a:solidFill>
                  <a:srgbClr val="14293D"/>
                </a:solidFill>
                <a:latin typeface="Roboto" pitchFamily="34" charset="0"/>
                <a:ea typeface="Roboto" pitchFamily="34" charset="-122"/>
                <a:cs typeface="Roboto" pitchFamily="34" charset="-120"/>
              </a:rPr>
              <a:t>Side effects — writes, sends, bookings</a:t>
            </a:r>
            <a:endParaRPr lang="en-US" sz="1250" dirty="0"/>
          </a:p>
          <a:p>
            <a:pPr marL="342900" indent="-342900">
              <a:spcAft>
                <a:spcPts val="700"/>
              </a:spcAft>
              <a:buSzPct val="100000"/>
              <a:buChar char="•"/>
            </a:pPr>
            <a:r>
              <a:rPr lang="en-US" sz="1250" dirty="0">
                <a:solidFill>
                  <a:srgbClr val="14293D"/>
                </a:solidFill>
                <a:latin typeface="Roboto" pitchFamily="34" charset="0"/>
                <a:ea typeface="Roboto" pitchFamily="34" charset="-122"/>
                <a:cs typeface="Roboto" pitchFamily="34" charset="-120"/>
              </a:rPr>
              <a:t>Loggable, permissioned, auditable actions</a:t>
            </a:r>
            <a:endParaRPr lang="en-US" sz="1250" dirty="0"/>
          </a:p>
        </p:txBody>
      </p:sp>
      <p:sp>
        <p:nvSpPr>
          <p:cNvPr id="9" name="Shape 7"/>
          <p:cNvSpPr/>
          <p:nvPr/>
        </p:nvSpPr>
        <p:spPr>
          <a:xfrm>
            <a:off x="4754880" y="2011680"/>
            <a:ext cx="3840480" cy="2514600"/>
          </a:xfrm>
          <a:prstGeom prst="rect">
            <a:avLst/>
          </a:prstGeom>
          <a:solidFill>
            <a:srgbClr val="FFFFFF"/>
          </a:solidFill>
          <a:ln w="9525">
            <a:solidFill>
              <a:srgbClr val="DDE5E9"/>
            </a:solidFill>
            <a:prstDash val="solid"/>
          </a:ln>
        </p:spPr>
        <p:txBody>
          <a:bodyPr/>
          <a:lstStyle/>
          <a:p>
            <a:endParaRPr lang="en-US"/>
          </a:p>
        </p:txBody>
      </p:sp>
      <p:sp>
        <p:nvSpPr>
          <p:cNvPr id="10" name="Text 8"/>
          <p:cNvSpPr/>
          <p:nvPr/>
        </p:nvSpPr>
        <p:spPr>
          <a:xfrm>
            <a:off x="5010912" y="2212848"/>
            <a:ext cx="3383280" cy="274320"/>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Naming it</a:t>
            </a:r>
            <a:endParaRPr lang="en-US" sz="1600" dirty="0"/>
          </a:p>
        </p:txBody>
      </p:sp>
      <p:sp>
        <p:nvSpPr>
          <p:cNvPr id="11" name="Text 9"/>
          <p:cNvSpPr/>
          <p:nvPr/>
        </p:nvSpPr>
        <p:spPr>
          <a:xfrm>
            <a:off x="5010912" y="2606040"/>
            <a:ext cx="1874520" cy="274320"/>
          </a:xfrm>
          <a:prstGeom prst="rect">
            <a:avLst/>
          </a:prstGeom>
          <a:noFill/>
          <a:ln/>
        </p:spPr>
        <p:txBody>
          <a:bodyPr wrap="square" lIns="0" tIns="0" rIns="0" bIns="0" rtlCol="0" anchor="ctr"/>
          <a:lstStyle/>
          <a:p>
            <a:pPr marL="0" indent="0">
              <a:buNone/>
            </a:pPr>
            <a:r>
              <a:rPr lang="en-US" sz="1100" dirty="0">
                <a:solidFill>
                  <a:srgbClr val="1B9AAA"/>
                </a:solidFill>
                <a:latin typeface="JetBrains Mono" pitchFamily="34" charset="0"/>
                <a:ea typeface="JetBrains Mono" pitchFamily="34" charset="-122"/>
                <a:cs typeface="JetBrains Mono" pitchFamily="34" charset="-120"/>
              </a:rPr>
              <a:t>tool use / tool calling</a:t>
            </a:r>
            <a:endParaRPr lang="en-US" sz="1100" dirty="0"/>
          </a:p>
        </p:txBody>
      </p:sp>
      <p:sp>
        <p:nvSpPr>
          <p:cNvPr id="12" name="Text 10"/>
          <p:cNvSpPr/>
          <p:nvPr/>
        </p:nvSpPr>
        <p:spPr>
          <a:xfrm>
            <a:off x="6903720" y="2606040"/>
            <a:ext cx="1600200" cy="384048"/>
          </a:xfrm>
          <a:prstGeom prst="rect">
            <a:avLst/>
          </a:prstGeom>
          <a:noFill/>
          <a:ln/>
        </p:spPr>
        <p:txBody>
          <a:bodyPr wrap="square" lIns="0" tIns="0" rIns="0" bIns="0" rtlCol="0" anchor="ctr"/>
          <a:lstStyle/>
          <a:p>
            <a:pPr marL="0" indent="0">
              <a:buNone/>
            </a:pPr>
            <a:r>
              <a:rPr lang="en-US" sz="1050" dirty="0">
                <a:solidFill>
                  <a:srgbClr val="6B7B8C"/>
                </a:solidFill>
                <a:latin typeface="Roboto" pitchFamily="34" charset="0"/>
                <a:ea typeface="Roboto" pitchFamily="34" charset="-122"/>
                <a:cs typeface="Roboto" pitchFamily="34" charset="-120"/>
              </a:rPr>
              <a:t>the category term — use this</a:t>
            </a:r>
            <a:endParaRPr lang="en-US" sz="1050" dirty="0"/>
          </a:p>
        </p:txBody>
      </p:sp>
      <p:sp>
        <p:nvSpPr>
          <p:cNvPr id="13" name="Text 11"/>
          <p:cNvSpPr/>
          <p:nvPr/>
        </p:nvSpPr>
        <p:spPr>
          <a:xfrm>
            <a:off x="5010912" y="3063240"/>
            <a:ext cx="187452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function calling</a:t>
            </a:r>
            <a:endParaRPr lang="en-US" sz="1100" dirty="0"/>
          </a:p>
        </p:txBody>
      </p:sp>
      <p:sp>
        <p:nvSpPr>
          <p:cNvPr id="14" name="Text 12"/>
          <p:cNvSpPr/>
          <p:nvPr/>
        </p:nvSpPr>
        <p:spPr>
          <a:xfrm>
            <a:off x="6903720" y="3063240"/>
            <a:ext cx="1600200" cy="384048"/>
          </a:xfrm>
          <a:prstGeom prst="rect">
            <a:avLst/>
          </a:prstGeom>
          <a:noFill/>
          <a:ln/>
        </p:spPr>
        <p:txBody>
          <a:bodyPr wrap="square" lIns="0" tIns="0" rIns="0" bIns="0" rtlCol="0" anchor="ctr"/>
          <a:lstStyle/>
          <a:p>
            <a:pPr marL="0" indent="0">
              <a:buNone/>
            </a:pPr>
            <a:r>
              <a:rPr lang="en-US" sz="1050" dirty="0">
                <a:solidFill>
                  <a:srgbClr val="6B7B8C"/>
                </a:solidFill>
                <a:latin typeface="Roboto" pitchFamily="34" charset="0"/>
                <a:ea typeface="Roboto" pitchFamily="34" charset="-122"/>
                <a:cs typeface="Roboto" pitchFamily="34" charset="-120"/>
              </a:rPr>
              <a:t>the concrete API mechanism</a:t>
            </a:r>
            <a:endParaRPr lang="en-US" sz="1050" dirty="0"/>
          </a:p>
        </p:txBody>
      </p:sp>
      <p:sp>
        <p:nvSpPr>
          <p:cNvPr id="15" name="Text 13"/>
          <p:cNvSpPr/>
          <p:nvPr/>
        </p:nvSpPr>
        <p:spPr>
          <a:xfrm>
            <a:off x="5010912" y="3520440"/>
            <a:ext cx="187452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tool-augmented LLMs</a:t>
            </a:r>
            <a:endParaRPr lang="en-US" sz="1100" dirty="0"/>
          </a:p>
        </p:txBody>
      </p:sp>
      <p:sp>
        <p:nvSpPr>
          <p:cNvPr id="16" name="Text 14"/>
          <p:cNvSpPr/>
          <p:nvPr/>
        </p:nvSpPr>
        <p:spPr>
          <a:xfrm>
            <a:off x="6903720" y="3520440"/>
            <a:ext cx="1600200" cy="384048"/>
          </a:xfrm>
          <a:prstGeom prst="rect">
            <a:avLst/>
          </a:prstGeom>
          <a:noFill/>
          <a:ln/>
        </p:spPr>
        <p:txBody>
          <a:bodyPr wrap="square" lIns="0" tIns="0" rIns="0" bIns="0" rtlCol="0" anchor="ctr"/>
          <a:lstStyle/>
          <a:p>
            <a:pPr marL="0" indent="0">
              <a:buNone/>
            </a:pPr>
            <a:r>
              <a:rPr lang="en-US" sz="1050" dirty="0">
                <a:solidFill>
                  <a:srgbClr val="6B7B8C"/>
                </a:solidFill>
                <a:latin typeface="Roboto" pitchFamily="34" charset="0"/>
                <a:ea typeface="Roboto" pitchFamily="34" charset="-122"/>
                <a:cs typeface="Roboto" pitchFamily="34" charset="-120"/>
              </a:rPr>
              <a:t>the academic register</a:t>
            </a:r>
            <a:endParaRPr lang="en-US" sz="1050" dirty="0"/>
          </a:p>
        </p:txBody>
      </p:sp>
      <p:sp>
        <p:nvSpPr>
          <p:cNvPr id="17" name="Text 15"/>
          <p:cNvSpPr/>
          <p:nvPr/>
        </p:nvSpPr>
        <p:spPr>
          <a:xfrm>
            <a:off x="5010912" y="3977640"/>
            <a:ext cx="187452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grounding</a:t>
            </a:r>
            <a:endParaRPr lang="en-US" sz="1100" dirty="0"/>
          </a:p>
        </p:txBody>
      </p:sp>
      <p:sp>
        <p:nvSpPr>
          <p:cNvPr id="18" name="Text 16"/>
          <p:cNvSpPr/>
          <p:nvPr/>
        </p:nvSpPr>
        <p:spPr>
          <a:xfrm>
            <a:off x="6903720" y="3977640"/>
            <a:ext cx="1600200" cy="384048"/>
          </a:xfrm>
          <a:prstGeom prst="rect">
            <a:avLst/>
          </a:prstGeom>
          <a:noFill/>
          <a:ln/>
        </p:spPr>
        <p:txBody>
          <a:bodyPr wrap="square" lIns="0" tIns="0" rIns="0" bIns="0" rtlCol="0" anchor="ctr"/>
          <a:lstStyle/>
          <a:p>
            <a:pPr marL="0" indent="0">
              <a:buNone/>
            </a:pPr>
            <a:r>
              <a:rPr lang="en-US" sz="1050" dirty="0">
                <a:solidFill>
                  <a:srgbClr val="6B7B8C"/>
                </a:solidFill>
                <a:latin typeface="Roboto" pitchFamily="34" charset="0"/>
                <a:ea typeface="Roboto" pitchFamily="34" charset="-122"/>
                <a:cs typeface="Roboto" pitchFamily="34" charset="-120"/>
              </a:rPr>
              <a:t>tying output to external state</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2024 · MCP</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An integration problem, not a model one</a:t>
            </a:r>
            <a:endParaRPr lang="en-US" sz="3200" dirty="0"/>
          </a:p>
        </p:txBody>
      </p:sp>
      <p:sp>
        <p:nvSpPr>
          <p:cNvPr id="5" name="Shape 3"/>
          <p:cNvSpPr/>
          <p:nvPr/>
        </p:nvSpPr>
        <p:spPr>
          <a:xfrm>
            <a:off x="566928" y="1463040"/>
            <a:ext cx="8046720" cy="960120"/>
          </a:xfrm>
          <a:prstGeom prst="rect">
            <a:avLst/>
          </a:prstGeom>
          <a:solidFill>
            <a:srgbClr val="0D1B2A"/>
          </a:solidFill>
          <a:ln/>
        </p:spPr>
        <p:txBody>
          <a:bodyPr/>
          <a:lstStyle/>
          <a:p>
            <a:endParaRPr lang="en-US"/>
          </a:p>
        </p:txBody>
      </p:sp>
      <p:sp>
        <p:nvSpPr>
          <p:cNvPr id="6" name="Text 4"/>
          <p:cNvSpPr/>
          <p:nvPr/>
        </p:nvSpPr>
        <p:spPr>
          <a:xfrm>
            <a:off x="868680" y="1691640"/>
            <a:ext cx="7498080" cy="457200"/>
          </a:xfrm>
          <a:prstGeom prst="rect">
            <a:avLst/>
          </a:prstGeom>
          <a:noFill/>
          <a:ln/>
        </p:spPr>
        <p:txBody>
          <a:bodyPr wrap="square" lIns="0" tIns="0" rIns="0" bIns="0" rtlCol="0" anchor="ctr"/>
          <a:lstStyle/>
          <a:p>
            <a:pPr marL="0" indent="0">
              <a:buNone/>
            </a:pPr>
            <a:r>
              <a:rPr lang="en-US" sz="2400" dirty="0">
                <a:solidFill>
                  <a:srgbClr val="FFFFFF"/>
                </a:solidFill>
                <a:latin typeface="Oswald" pitchFamily="34" charset="0"/>
                <a:ea typeface="Oswald" pitchFamily="34" charset="-122"/>
                <a:cs typeface="Oswald" pitchFamily="34" charset="-120"/>
              </a:rPr>
              <a:t>M models × N systems = M×N bespoke connectors</a:t>
            </a:r>
            <a:endParaRPr lang="en-US" sz="2400" dirty="0"/>
          </a:p>
        </p:txBody>
      </p:sp>
      <p:sp>
        <p:nvSpPr>
          <p:cNvPr id="7" name="Text 5"/>
          <p:cNvSpPr/>
          <p:nvPr/>
        </p:nvSpPr>
        <p:spPr>
          <a:xfrm>
            <a:off x="566928" y="2651760"/>
            <a:ext cx="4846320" cy="1280160"/>
          </a:xfrm>
          <a:prstGeom prst="rect">
            <a:avLst/>
          </a:prstGeom>
          <a:noFill/>
          <a:ln/>
        </p:spPr>
        <p:txBody>
          <a:bodyPr wrap="square" lIns="0" tIns="0" rIns="0" bIns="0" rtlCol="0" anchor="ctr"/>
          <a:lstStyle/>
          <a:p>
            <a:pPr marL="0" indent="0">
              <a:buNone/>
            </a:pPr>
            <a:r>
              <a:rPr lang="en-US" sz="1400" dirty="0">
                <a:solidFill>
                  <a:srgbClr val="14293D"/>
                </a:solidFill>
                <a:latin typeface="Roboto" pitchFamily="34" charset="0"/>
                <a:ea typeface="Roboto" pitchFamily="34" charset="-122"/>
                <a:cs typeface="Roboto" pitchFamily="34" charset="-120"/>
              </a:rPr>
              <a:t>Every vendor had its own incompatible tool format. MCP is a standard description and transport layer — build a tool once, use it with any compliant client. Closer in spirit to LSP for code editors than to anything about model architecture.</a:t>
            </a:r>
            <a:endParaRPr lang="en-US" sz="1400" dirty="0"/>
          </a:p>
        </p:txBody>
      </p:sp>
      <p:sp>
        <p:nvSpPr>
          <p:cNvPr id="8" name="Shape 6"/>
          <p:cNvSpPr/>
          <p:nvPr/>
        </p:nvSpPr>
        <p:spPr>
          <a:xfrm>
            <a:off x="5715000" y="2606040"/>
            <a:ext cx="2898648" cy="1600200"/>
          </a:xfrm>
          <a:prstGeom prst="rect">
            <a:avLst/>
          </a:prstGeom>
          <a:solidFill>
            <a:srgbClr val="FFFFFF"/>
          </a:solidFill>
          <a:ln w="15875">
            <a:solidFill>
              <a:srgbClr val="06D6A0"/>
            </a:solidFill>
            <a:prstDash val="solid"/>
          </a:ln>
        </p:spPr>
        <p:txBody>
          <a:bodyPr/>
          <a:lstStyle/>
          <a:p>
            <a:endParaRPr lang="en-US"/>
          </a:p>
        </p:txBody>
      </p:sp>
      <p:sp>
        <p:nvSpPr>
          <p:cNvPr id="9" name="Text 7"/>
          <p:cNvSpPr/>
          <p:nvPr/>
        </p:nvSpPr>
        <p:spPr>
          <a:xfrm>
            <a:off x="5943600" y="2834640"/>
            <a:ext cx="2468880" cy="548640"/>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No model semantics of its own</a:t>
            </a:r>
            <a:endParaRPr lang="en-US" sz="1600" dirty="0"/>
          </a:p>
        </p:txBody>
      </p:sp>
      <p:sp>
        <p:nvSpPr>
          <p:cNvPr id="10" name="Text 8"/>
          <p:cNvSpPr/>
          <p:nvPr/>
        </p:nvSpPr>
        <p:spPr>
          <a:xfrm>
            <a:off x="5943600" y="3401568"/>
            <a:ext cx="2468880" cy="640080"/>
          </a:xfrm>
          <a:prstGeom prst="rect">
            <a:avLst/>
          </a:prstGeom>
          <a:noFill/>
          <a:ln/>
        </p:spPr>
        <p:txBody>
          <a:bodyPr wrap="square" lIns="0" tIns="0" rIns="0" bIns="0" rtlCol="0" anchor="ctr"/>
          <a:lstStyle/>
          <a:p>
            <a:pPr marL="0" indent="0">
              <a:buNone/>
            </a:pPr>
            <a:r>
              <a:rPr lang="en-US" sz="1150" dirty="0">
                <a:solidFill>
                  <a:srgbClr val="6B7B8C"/>
                </a:solidFill>
                <a:latin typeface="Roboto" pitchFamily="34" charset="0"/>
                <a:ea typeface="Roboto" pitchFamily="34" charset="-122"/>
                <a:cs typeface="Roboto" pitchFamily="34" charset="-120"/>
              </a:rPr>
              <a:t>It standardises how a capability is described — not whether or when to use it.</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THE STACK</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Four layers, one direction of travel</a:t>
            </a:r>
            <a:endParaRPr lang="en-US" sz="3200" dirty="0"/>
          </a:p>
        </p:txBody>
      </p:sp>
      <p:sp>
        <p:nvSpPr>
          <p:cNvPr id="5" name="Shape 3"/>
          <p:cNvSpPr/>
          <p:nvPr/>
        </p:nvSpPr>
        <p:spPr>
          <a:xfrm>
            <a:off x="566928" y="1463040"/>
            <a:ext cx="8046720" cy="658368"/>
          </a:xfrm>
          <a:prstGeom prst="rect">
            <a:avLst/>
          </a:prstGeom>
          <a:solidFill>
            <a:srgbClr val="0D1B2A"/>
          </a:solidFill>
          <a:ln w="9525">
            <a:solidFill>
              <a:srgbClr val="0D1B2A"/>
            </a:solidFill>
            <a:prstDash val="solid"/>
          </a:ln>
        </p:spPr>
        <p:txBody>
          <a:bodyPr/>
          <a:lstStyle/>
          <a:p>
            <a:endParaRPr lang="en-US"/>
          </a:p>
        </p:txBody>
      </p:sp>
      <p:sp>
        <p:nvSpPr>
          <p:cNvPr id="6" name="Shape 4"/>
          <p:cNvSpPr/>
          <p:nvPr/>
        </p:nvSpPr>
        <p:spPr>
          <a:xfrm>
            <a:off x="566928" y="1463040"/>
            <a:ext cx="82296" cy="658368"/>
          </a:xfrm>
          <a:prstGeom prst="rect">
            <a:avLst/>
          </a:prstGeom>
          <a:solidFill>
            <a:srgbClr val="06D6A0"/>
          </a:solidFill>
          <a:ln/>
        </p:spPr>
        <p:txBody>
          <a:bodyPr/>
          <a:lstStyle/>
          <a:p>
            <a:endParaRPr lang="en-US"/>
          </a:p>
        </p:txBody>
      </p:sp>
      <p:sp>
        <p:nvSpPr>
          <p:cNvPr id="7" name="Text 5"/>
          <p:cNvSpPr/>
          <p:nvPr/>
        </p:nvSpPr>
        <p:spPr>
          <a:xfrm>
            <a:off x="868680" y="1545336"/>
            <a:ext cx="2651760" cy="274320"/>
          </a:xfrm>
          <a:prstGeom prst="rect">
            <a:avLst/>
          </a:prstGeom>
          <a:noFill/>
          <a:ln/>
        </p:spPr>
        <p:txBody>
          <a:bodyPr wrap="square" lIns="0" tIns="0" rIns="0" bIns="0" rtlCol="0" anchor="ctr"/>
          <a:lstStyle/>
          <a:p>
            <a:pPr marL="0" indent="0">
              <a:buNone/>
            </a:pPr>
            <a:r>
              <a:rPr lang="en-US" sz="1800" dirty="0">
                <a:solidFill>
                  <a:srgbClr val="FFFFFF"/>
                </a:solidFill>
                <a:latin typeface="Oswald" pitchFamily="34" charset="0"/>
                <a:ea typeface="Oswald" pitchFamily="34" charset="-122"/>
                <a:cs typeface="Oswald" pitchFamily="34" charset="-120"/>
              </a:rPr>
              <a:t>Agentic system</a:t>
            </a:r>
            <a:endParaRPr lang="en-US" sz="1800" dirty="0"/>
          </a:p>
        </p:txBody>
      </p:sp>
      <p:sp>
        <p:nvSpPr>
          <p:cNvPr id="8" name="Text 6"/>
          <p:cNvSpPr/>
          <p:nvPr/>
        </p:nvSpPr>
        <p:spPr>
          <a:xfrm>
            <a:off x="3566160" y="1600200"/>
            <a:ext cx="3566160" cy="365760"/>
          </a:xfrm>
          <a:prstGeom prst="rect">
            <a:avLst/>
          </a:prstGeom>
          <a:noFill/>
          <a:ln/>
        </p:spPr>
        <p:txBody>
          <a:bodyPr wrap="square" lIns="0" tIns="0" rIns="0" bIns="0" rtlCol="0" anchor="ctr"/>
          <a:lstStyle/>
          <a:p>
            <a:pPr marL="0" indent="0">
              <a:buNone/>
            </a:pPr>
            <a:r>
              <a:rPr lang="en-US" sz="1250" dirty="0">
                <a:solidFill>
                  <a:srgbClr val="AFC2CE"/>
                </a:solidFill>
                <a:latin typeface="Roboto" pitchFamily="34" charset="0"/>
                <a:ea typeface="Roboto" pitchFamily="34" charset="-122"/>
                <a:cs typeface="Roboto" pitchFamily="34" charset="-120"/>
              </a:rPr>
              <a:t>planning · loop · memory · autonomy</a:t>
            </a:r>
            <a:endParaRPr lang="en-US" sz="1250" dirty="0"/>
          </a:p>
        </p:txBody>
      </p:sp>
      <p:sp>
        <p:nvSpPr>
          <p:cNvPr id="9" name="Text 7"/>
          <p:cNvSpPr/>
          <p:nvPr/>
        </p:nvSpPr>
        <p:spPr>
          <a:xfrm>
            <a:off x="7223760" y="1627632"/>
            <a:ext cx="1234440" cy="274320"/>
          </a:xfrm>
          <a:prstGeom prst="rect">
            <a:avLst/>
          </a:prstGeom>
          <a:noFill/>
          <a:ln/>
        </p:spPr>
        <p:txBody>
          <a:bodyPr wrap="square" lIns="0" tIns="0" rIns="0" bIns="0" rtlCol="0" anchor="ctr"/>
          <a:lstStyle/>
          <a:p>
            <a:pPr marL="0" indent="0" algn="r">
              <a:buNone/>
            </a:pPr>
            <a:r>
              <a:rPr lang="en-US" sz="1000" kern="0" spc="150" dirty="0">
                <a:solidFill>
                  <a:srgbClr val="06D6A0"/>
                </a:solidFill>
                <a:latin typeface="JetBrains Mono" pitchFamily="34" charset="0"/>
                <a:ea typeface="JetBrains Mono" pitchFamily="34" charset="-122"/>
                <a:cs typeface="JetBrains Mono" pitchFamily="34" charset="-120"/>
              </a:rPr>
              <a:t>CONTROL</a:t>
            </a:r>
            <a:endParaRPr lang="en-US" sz="1000" dirty="0"/>
          </a:p>
        </p:txBody>
      </p:sp>
      <p:sp>
        <p:nvSpPr>
          <p:cNvPr id="10" name="Shape 8"/>
          <p:cNvSpPr/>
          <p:nvPr/>
        </p:nvSpPr>
        <p:spPr>
          <a:xfrm>
            <a:off x="566928" y="2240280"/>
            <a:ext cx="8046720" cy="658368"/>
          </a:xfrm>
          <a:prstGeom prst="rect">
            <a:avLst/>
          </a:prstGeom>
          <a:solidFill>
            <a:srgbClr val="FFFFFF"/>
          </a:solidFill>
          <a:ln w="9525">
            <a:solidFill>
              <a:srgbClr val="DDE5E9"/>
            </a:solidFill>
            <a:prstDash val="solid"/>
          </a:ln>
        </p:spPr>
        <p:txBody>
          <a:bodyPr/>
          <a:lstStyle/>
          <a:p>
            <a:endParaRPr lang="en-US"/>
          </a:p>
        </p:txBody>
      </p:sp>
      <p:sp>
        <p:nvSpPr>
          <p:cNvPr id="11" name="Shape 9"/>
          <p:cNvSpPr/>
          <p:nvPr/>
        </p:nvSpPr>
        <p:spPr>
          <a:xfrm>
            <a:off x="566928" y="2240280"/>
            <a:ext cx="82296" cy="658368"/>
          </a:xfrm>
          <a:prstGeom prst="rect">
            <a:avLst/>
          </a:prstGeom>
          <a:solidFill>
            <a:srgbClr val="1B9AAA"/>
          </a:solidFill>
          <a:ln/>
        </p:spPr>
        <p:txBody>
          <a:bodyPr/>
          <a:lstStyle/>
          <a:p>
            <a:endParaRPr lang="en-US"/>
          </a:p>
        </p:txBody>
      </p:sp>
      <p:sp>
        <p:nvSpPr>
          <p:cNvPr id="12" name="Text 10"/>
          <p:cNvSpPr/>
          <p:nvPr/>
        </p:nvSpPr>
        <p:spPr>
          <a:xfrm>
            <a:off x="868680" y="2322576"/>
            <a:ext cx="2651760" cy="274320"/>
          </a:xfrm>
          <a:prstGeom prst="rect">
            <a:avLst/>
          </a:prstGeom>
          <a:noFill/>
          <a:ln/>
        </p:spPr>
        <p:txBody>
          <a:bodyPr wrap="square" lIns="0" tIns="0" rIns="0" bIns="0" rtlCol="0" anchor="ctr"/>
          <a:lstStyle/>
          <a:p>
            <a:pPr marL="0" indent="0">
              <a:buNone/>
            </a:pPr>
            <a:r>
              <a:rPr lang="en-US" sz="1800" dirty="0">
                <a:solidFill>
                  <a:srgbClr val="0D1B2A"/>
                </a:solidFill>
                <a:latin typeface="Oswald" pitchFamily="34" charset="0"/>
                <a:ea typeface="Oswald" pitchFamily="34" charset="-122"/>
                <a:cs typeface="Oswald" pitchFamily="34" charset="-120"/>
              </a:rPr>
              <a:t>Tool use / RAG</a:t>
            </a:r>
            <a:endParaRPr lang="en-US" sz="1800" dirty="0"/>
          </a:p>
        </p:txBody>
      </p:sp>
      <p:sp>
        <p:nvSpPr>
          <p:cNvPr id="13" name="Text 11"/>
          <p:cNvSpPr/>
          <p:nvPr/>
        </p:nvSpPr>
        <p:spPr>
          <a:xfrm>
            <a:off x="3566160" y="2377440"/>
            <a:ext cx="3566160" cy="36576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perception and actuation</a:t>
            </a:r>
            <a:endParaRPr lang="en-US" sz="1250" dirty="0"/>
          </a:p>
        </p:txBody>
      </p:sp>
      <p:sp>
        <p:nvSpPr>
          <p:cNvPr id="14" name="Text 12"/>
          <p:cNvSpPr/>
          <p:nvPr/>
        </p:nvSpPr>
        <p:spPr>
          <a:xfrm>
            <a:off x="7223760" y="2404872"/>
            <a:ext cx="1234440" cy="274320"/>
          </a:xfrm>
          <a:prstGeom prst="rect">
            <a:avLst/>
          </a:prstGeom>
          <a:noFill/>
          <a:ln/>
        </p:spPr>
        <p:txBody>
          <a:bodyPr wrap="square" lIns="0" tIns="0" rIns="0" bIns="0" rtlCol="0" anchor="ctr"/>
          <a:lstStyle/>
          <a:p>
            <a:pPr marL="0" indent="0" algn="r">
              <a:buNone/>
            </a:pPr>
            <a:r>
              <a:rPr lang="en-US" sz="1000" kern="0" spc="150" dirty="0">
                <a:solidFill>
                  <a:srgbClr val="1B9AAA"/>
                </a:solidFill>
                <a:latin typeface="JetBrains Mono" pitchFamily="34" charset="0"/>
                <a:ea typeface="JetBrains Mono" pitchFamily="34" charset="-122"/>
                <a:cs typeface="JetBrains Mono" pitchFamily="34" charset="-120"/>
              </a:rPr>
              <a:t>CAPABILITY</a:t>
            </a:r>
            <a:endParaRPr lang="en-US" sz="1000" dirty="0"/>
          </a:p>
        </p:txBody>
      </p:sp>
      <p:sp>
        <p:nvSpPr>
          <p:cNvPr id="15" name="Shape 13"/>
          <p:cNvSpPr/>
          <p:nvPr/>
        </p:nvSpPr>
        <p:spPr>
          <a:xfrm>
            <a:off x="566928" y="3017520"/>
            <a:ext cx="8046720" cy="658368"/>
          </a:xfrm>
          <a:prstGeom prst="rect">
            <a:avLst/>
          </a:prstGeom>
          <a:solidFill>
            <a:srgbClr val="FFFFFF"/>
          </a:solidFill>
          <a:ln w="9525">
            <a:solidFill>
              <a:srgbClr val="DDE5E9"/>
            </a:solidFill>
            <a:prstDash val="solid"/>
          </a:ln>
        </p:spPr>
        <p:txBody>
          <a:bodyPr/>
          <a:lstStyle/>
          <a:p>
            <a:endParaRPr lang="en-US"/>
          </a:p>
        </p:txBody>
      </p:sp>
      <p:sp>
        <p:nvSpPr>
          <p:cNvPr id="16" name="Shape 14"/>
          <p:cNvSpPr/>
          <p:nvPr/>
        </p:nvSpPr>
        <p:spPr>
          <a:xfrm>
            <a:off x="566928" y="3017520"/>
            <a:ext cx="82296" cy="658368"/>
          </a:xfrm>
          <a:prstGeom prst="rect">
            <a:avLst/>
          </a:prstGeom>
          <a:solidFill>
            <a:srgbClr val="4E7C8C"/>
          </a:solidFill>
          <a:ln/>
        </p:spPr>
        <p:txBody>
          <a:bodyPr/>
          <a:lstStyle/>
          <a:p>
            <a:endParaRPr lang="en-US"/>
          </a:p>
        </p:txBody>
      </p:sp>
      <p:sp>
        <p:nvSpPr>
          <p:cNvPr id="17" name="Text 15"/>
          <p:cNvSpPr/>
          <p:nvPr/>
        </p:nvSpPr>
        <p:spPr>
          <a:xfrm>
            <a:off x="868680" y="3099816"/>
            <a:ext cx="2651760" cy="274320"/>
          </a:xfrm>
          <a:prstGeom prst="rect">
            <a:avLst/>
          </a:prstGeom>
          <a:noFill/>
          <a:ln/>
        </p:spPr>
        <p:txBody>
          <a:bodyPr wrap="square" lIns="0" tIns="0" rIns="0" bIns="0" rtlCol="0" anchor="ctr"/>
          <a:lstStyle/>
          <a:p>
            <a:pPr marL="0" indent="0">
              <a:buNone/>
            </a:pPr>
            <a:r>
              <a:rPr lang="en-US" sz="1800" dirty="0">
                <a:solidFill>
                  <a:srgbClr val="0D1B2A"/>
                </a:solidFill>
                <a:latin typeface="Oswald" pitchFamily="34" charset="0"/>
                <a:ea typeface="Oswald" pitchFamily="34" charset="-122"/>
                <a:cs typeface="Oswald" pitchFamily="34" charset="-120"/>
              </a:rPr>
              <a:t>MCP</a:t>
            </a:r>
            <a:endParaRPr lang="en-US" sz="1800" dirty="0"/>
          </a:p>
        </p:txBody>
      </p:sp>
      <p:sp>
        <p:nvSpPr>
          <p:cNvPr id="18" name="Text 16"/>
          <p:cNvSpPr/>
          <p:nvPr/>
        </p:nvSpPr>
        <p:spPr>
          <a:xfrm>
            <a:off x="3566160" y="3154680"/>
            <a:ext cx="3566160" cy="36576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standardised interface to tools</a:t>
            </a:r>
            <a:endParaRPr lang="en-US" sz="1250" dirty="0"/>
          </a:p>
        </p:txBody>
      </p:sp>
      <p:sp>
        <p:nvSpPr>
          <p:cNvPr id="19" name="Text 17"/>
          <p:cNvSpPr/>
          <p:nvPr/>
        </p:nvSpPr>
        <p:spPr>
          <a:xfrm>
            <a:off x="7223760" y="3182112"/>
            <a:ext cx="1234440" cy="274320"/>
          </a:xfrm>
          <a:prstGeom prst="rect">
            <a:avLst/>
          </a:prstGeom>
          <a:noFill/>
          <a:ln/>
        </p:spPr>
        <p:txBody>
          <a:bodyPr wrap="square" lIns="0" tIns="0" rIns="0" bIns="0" rtlCol="0" anchor="ctr"/>
          <a:lstStyle/>
          <a:p>
            <a:pPr marL="0" indent="0" algn="r">
              <a:buNone/>
            </a:pPr>
            <a:r>
              <a:rPr lang="en-US" sz="1000" kern="0" spc="150" dirty="0">
                <a:solidFill>
                  <a:srgbClr val="4E7C8C"/>
                </a:solidFill>
                <a:latin typeface="JetBrains Mono" pitchFamily="34" charset="0"/>
                <a:ea typeface="JetBrains Mono" pitchFamily="34" charset="-122"/>
                <a:cs typeface="JetBrains Mono" pitchFamily="34" charset="-120"/>
              </a:rPr>
              <a:t>PLUMBING</a:t>
            </a:r>
            <a:endParaRPr lang="en-US" sz="1000" dirty="0"/>
          </a:p>
        </p:txBody>
      </p:sp>
      <p:sp>
        <p:nvSpPr>
          <p:cNvPr id="20" name="Shape 18"/>
          <p:cNvSpPr/>
          <p:nvPr/>
        </p:nvSpPr>
        <p:spPr>
          <a:xfrm>
            <a:off x="566928" y="3794760"/>
            <a:ext cx="8046720" cy="658368"/>
          </a:xfrm>
          <a:prstGeom prst="rect">
            <a:avLst/>
          </a:prstGeom>
          <a:solidFill>
            <a:srgbClr val="FFFFFF"/>
          </a:solidFill>
          <a:ln w="9525">
            <a:solidFill>
              <a:srgbClr val="DDE5E9"/>
            </a:solidFill>
            <a:prstDash val="solid"/>
          </a:ln>
        </p:spPr>
        <p:txBody>
          <a:bodyPr/>
          <a:lstStyle/>
          <a:p>
            <a:endParaRPr lang="en-US"/>
          </a:p>
        </p:txBody>
      </p:sp>
      <p:sp>
        <p:nvSpPr>
          <p:cNvPr id="21" name="Shape 19"/>
          <p:cNvSpPr/>
          <p:nvPr/>
        </p:nvSpPr>
        <p:spPr>
          <a:xfrm>
            <a:off x="566928" y="3794760"/>
            <a:ext cx="82296" cy="658368"/>
          </a:xfrm>
          <a:prstGeom prst="rect">
            <a:avLst/>
          </a:prstGeom>
          <a:solidFill>
            <a:srgbClr val="8FA6B2"/>
          </a:solidFill>
          <a:ln/>
        </p:spPr>
        <p:txBody>
          <a:bodyPr/>
          <a:lstStyle/>
          <a:p>
            <a:endParaRPr lang="en-US"/>
          </a:p>
        </p:txBody>
      </p:sp>
      <p:sp>
        <p:nvSpPr>
          <p:cNvPr id="22" name="Text 20"/>
          <p:cNvSpPr/>
          <p:nvPr/>
        </p:nvSpPr>
        <p:spPr>
          <a:xfrm>
            <a:off x="868680" y="3877056"/>
            <a:ext cx="2651760" cy="274320"/>
          </a:xfrm>
          <a:prstGeom prst="rect">
            <a:avLst/>
          </a:prstGeom>
          <a:noFill/>
          <a:ln/>
        </p:spPr>
        <p:txBody>
          <a:bodyPr wrap="square" lIns="0" tIns="0" rIns="0" bIns="0" rtlCol="0" anchor="ctr"/>
          <a:lstStyle/>
          <a:p>
            <a:pPr marL="0" indent="0">
              <a:buNone/>
            </a:pPr>
            <a:r>
              <a:rPr lang="en-US" sz="1800" dirty="0">
                <a:solidFill>
                  <a:srgbClr val="0D1B2A"/>
                </a:solidFill>
                <a:latin typeface="Oswald" pitchFamily="34" charset="0"/>
                <a:ea typeface="Oswald" pitchFamily="34" charset="-122"/>
                <a:cs typeface="Oswald" pitchFamily="34" charset="-120"/>
              </a:rPr>
              <a:t>Foundation model</a:t>
            </a:r>
            <a:endParaRPr lang="en-US" sz="1800" dirty="0"/>
          </a:p>
        </p:txBody>
      </p:sp>
      <p:sp>
        <p:nvSpPr>
          <p:cNvPr id="23" name="Text 21"/>
          <p:cNvSpPr/>
          <p:nvPr/>
        </p:nvSpPr>
        <p:spPr>
          <a:xfrm>
            <a:off x="3566160" y="3931920"/>
            <a:ext cx="3566160" cy="36576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language, reasoning, orchestration</a:t>
            </a:r>
            <a:endParaRPr lang="en-US" sz="1250" dirty="0"/>
          </a:p>
        </p:txBody>
      </p:sp>
      <p:sp>
        <p:nvSpPr>
          <p:cNvPr id="24" name="Text 22"/>
          <p:cNvSpPr/>
          <p:nvPr/>
        </p:nvSpPr>
        <p:spPr>
          <a:xfrm>
            <a:off x="7223760" y="3959352"/>
            <a:ext cx="1234440" cy="274320"/>
          </a:xfrm>
          <a:prstGeom prst="rect">
            <a:avLst/>
          </a:prstGeom>
          <a:noFill/>
          <a:ln/>
        </p:spPr>
        <p:txBody>
          <a:bodyPr wrap="square" lIns="0" tIns="0" rIns="0" bIns="0" rtlCol="0" anchor="ctr"/>
          <a:lstStyle/>
          <a:p>
            <a:pPr marL="0" indent="0" algn="r">
              <a:buNone/>
            </a:pPr>
            <a:r>
              <a:rPr lang="en-US" sz="1000" kern="0" spc="150" dirty="0">
                <a:solidFill>
                  <a:srgbClr val="8FA6B2"/>
                </a:solidFill>
                <a:latin typeface="JetBrains Mono" pitchFamily="34" charset="0"/>
                <a:ea typeface="JetBrains Mono" pitchFamily="34" charset="-122"/>
                <a:cs typeface="JetBrains Mono" pitchFamily="34" charset="-120"/>
              </a:rPr>
              <a:t>SUBSTRATE</a:t>
            </a:r>
            <a:endParaRPr lang="en-US" sz="1000" dirty="0"/>
          </a:p>
        </p:txBody>
      </p:sp>
      <p:sp>
        <p:nvSpPr>
          <p:cNvPr id="25" name="Text 23"/>
          <p:cNvSpPr/>
          <p:nvPr/>
        </p:nvSpPr>
        <p:spPr>
          <a:xfrm>
            <a:off x="566928" y="4617720"/>
            <a:ext cx="8046720" cy="274320"/>
          </a:xfrm>
          <a:prstGeom prst="rect">
            <a:avLst/>
          </a:prstGeom>
          <a:noFill/>
          <a:ln/>
        </p:spPr>
        <p:txBody>
          <a:bodyPr wrap="square" lIns="0" tIns="0" rIns="0" bIns="0" rtlCol="0" anchor="ctr"/>
          <a:lstStyle/>
          <a:p>
            <a:pPr marL="0" indent="0">
              <a:buNone/>
            </a:pPr>
            <a:r>
              <a:rPr lang="en-US" sz="1250" i="1" dirty="0">
                <a:solidFill>
                  <a:srgbClr val="14293D"/>
                </a:solidFill>
                <a:latin typeface="Roboto" pitchFamily="34" charset="0"/>
                <a:ea typeface="Roboto" pitchFamily="34" charset="-122"/>
                <a:cs typeface="Roboto" pitchFamily="34" charset="-120"/>
              </a:rPr>
              <a:t>Hands and eyes are the capability layer. Agency lives one level up.</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92024" cy="5143500"/>
          </a:xfrm>
          <a:prstGeom prst="rect">
            <a:avLst/>
          </a:prstGeom>
          <a:solidFill>
            <a:srgbClr val="0D1B2A"/>
          </a:solidFill>
          <a:ln w="12700">
            <a:solidFill>
              <a:srgbClr val="0D1B2A"/>
            </a:solidFill>
            <a:prstDash val="solid"/>
          </a:ln>
        </p:spPr>
        <p:txBody>
          <a:bodyPr/>
          <a:lstStyle/>
          <a:p>
            <a:endParaRPr lang="en-US" sz="1350"/>
          </a:p>
        </p:txBody>
      </p:sp>
      <p:sp>
        <p:nvSpPr>
          <p:cNvPr id="3" name="Text 1"/>
          <p:cNvSpPr txBox="1"/>
          <p:nvPr/>
        </p:nvSpPr>
        <p:spPr>
          <a:xfrm>
            <a:off x="562356" y="288036"/>
            <a:ext cx="4114800" cy="205740"/>
          </a:xfrm>
          <a:prstGeom prst="rect">
            <a:avLst/>
          </a:prstGeom>
          <a:noFill/>
          <a:ln/>
        </p:spPr>
        <p:txBody>
          <a:bodyPr wrap="square" lIns="0" tIns="0" rIns="0" bIns="0" rtlCol="0" anchor="ctr"/>
          <a:lstStyle/>
          <a:p>
            <a:r>
              <a:rPr lang="en-US" sz="900" b="1" kern="0" spc="225" dirty="0">
                <a:solidFill>
                  <a:srgbClr val="0E9B86"/>
                </a:solidFill>
                <a:latin typeface="Courier New" pitchFamily="34" charset="0"/>
                <a:ea typeface="Courier New" pitchFamily="34" charset="-122"/>
                <a:cs typeface="Courier New" pitchFamily="34" charset="-120"/>
              </a:rPr>
              <a:t>MCP · ARCHITECTURE</a:t>
            </a:r>
            <a:endParaRPr lang="en-US" sz="900" dirty="0"/>
          </a:p>
        </p:txBody>
      </p:sp>
      <p:sp>
        <p:nvSpPr>
          <p:cNvPr id="4" name="Text 2"/>
          <p:cNvSpPr txBox="1"/>
          <p:nvPr/>
        </p:nvSpPr>
        <p:spPr>
          <a:xfrm>
            <a:off x="562356" y="521208"/>
            <a:ext cx="8078724" cy="514350"/>
          </a:xfrm>
          <a:prstGeom prst="rect">
            <a:avLst/>
          </a:prstGeom>
          <a:noFill/>
          <a:ln/>
        </p:spPr>
        <p:txBody>
          <a:bodyPr wrap="square" lIns="0" tIns="0" rIns="0" bIns="0" rtlCol="0" anchor="ctr"/>
          <a:lstStyle/>
          <a:p>
            <a:r>
              <a:rPr lang="en-US" sz="3000" b="1" dirty="0">
                <a:solidFill>
                  <a:srgbClr val="0D1B2A"/>
                </a:solidFill>
                <a:latin typeface="Arial" pitchFamily="34" charset="0"/>
                <a:ea typeface="Arial" pitchFamily="34" charset="-122"/>
                <a:cs typeface="Arial" pitchFamily="34" charset="-120"/>
              </a:rPr>
              <a:t>One host, many capabilities</a:t>
            </a:r>
            <a:endParaRPr lang="en-US" sz="3000" dirty="0"/>
          </a:p>
        </p:txBody>
      </p:sp>
      <p:sp>
        <p:nvSpPr>
          <p:cNvPr id="5" name="Text 3"/>
          <p:cNvSpPr txBox="1"/>
          <p:nvPr/>
        </p:nvSpPr>
        <p:spPr>
          <a:xfrm>
            <a:off x="562356" y="1110996"/>
            <a:ext cx="8078724" cy="246888"/>
          </a:xfrm>
          <a:prstGeom prst="rect">
            <a:avLst/>
          </a:prstGeom>
          <a:noFill/>
          <a:ln/>
        </p:spPr>
        <p:txBody>
          <a:bodyPr wrap="square" lIns="0" tIns="0" rIns="0" bIns="0" rtlCol="0" anchor="ctr"/>
          <a:lstStyle/>
          <a:p>
            <a:r>
              <a:rPr lang="en-US" sz="1088" dirty="0">
                <a:solidFill>
                  <a:srgbClr val="3C4A52"/>
                </a:solidFill>
                <a:latin typeface="Arial" pitchFamily="34" charset="0"/>
                <a:ea typeface="Arial" pitchFamily="34" charset="-122"/>
                <a:cs typeface="Arial" pitchFamily="34" charset="-120"/>
              </a:rPr>
              <a:t>MCP separates the application that hosts the model from the servers that expose context and actions.</a:t>
            </a:r>
            <a:endParaRPr lang="en-US" sz="1088" dirty="0"/>
          </a:p>
        </p:txBody>
      </p:sp>
      <p:sp>
        <p:nvSpPr>
          <p:cNvPr id="6" name="Shape 4"/>
          <p:cNvSpPr/>
          <p:nvPr/>
        </p:nvSpPr>
        <p:spPr>
          <a:xfrm>
            <a:off x="562356" y="1543050"/>
            <a:ext cx="2350008" cy="1748790"/>
          </a:xfrm>
          <a:prstGeom prst="rect">
            <a:avLst/>
          </a:prstGeom>
          <a:solidFill>
            <a:srgbClr val="0D1B2A"/>
          </a:solidFill>
          <a:ln w="15875">
            <a:solidFill>
              <a:srgbClr val="0D1B2A"/>
            </a:solidFill>
            <a:prstDash val="solid"/>
          </a:ln>
        </p:spPr>
        <p:txBody>
          <a:bodyPr/>
          <a:lstStyle/>
          <a:p>
            <a:endParaRPr lang="en-US" sz="1350"/>
          </a:p>
        </p:txBody>
      </p:sp>
      <p:sp>
        <p:nvSpPr>
          <p:cNvPr id="7" name="Text 5"/>
          <p:cNvSpPr txBox="1"/>
          <p:nvPr/>
        </p:nvSpPr>
        <p:spPr>
          <a:xfrm>
            <a:off x="768096" y="1721358"/>
            <a:ext cx="1938528" cy="178308"/>
          </a:xfrm>
          <a:prstGeom prst="rect">
            <a:avLst/>
          </a:prstGeom>
          <a:noFill/>
          <a:ln/>
        </p:spPr>
        <p:txBody>
          <a:bodyPr wrap="square" lIns="0" tIns="0" rIns="0" bIns="0" rtlCol="0" anchor="ctr"/>
          <a:lstStyle/>
          <a:p>
            <a:r>
              <a:rPr lang="en-US" sz="863" b="1" kern="0" spc="225" dirty="0">
                <a:solidFill>
                  <a:srgbClr val="12E29B"/>
                </a:solidFill>
                <a:latin typeface="Courier New" pitchFamily="34" charset="0"/>
                <a:ea typeface="Courier New" pitchFamily="34" charset="-122"/>
                <a:cs typeface="Courier New" pitchFamily="34" charset="-120"/>
              </a:rPr>
              <a:t>HOST</a:t>
            </a:r>
            <a:endParaRPr lang="en-US" sz="863" dirty="0"/>
          </a:p>
        </p:txBody>
      </p:sp>
      <p:sp>
        <p:nvSpPr>
          <p:cNvPr id="8" name="Text 6"/>
          <p:cNvSpPr txBox="1"/>
          <p:nvPr/>
        </p:nvSpPr>
        <p:spPr>
          <a:xfrm>
            <a:off x="768096" y="1954530"/>
            <a:ext cx="1938528" cy="534924"/>
          </a:xfrm>
          <a:prstGeom prst="rect">
            <a:avLst/>
          </a:prstGeom>
          <a:noFill/>
          <a:ln/>
        </p:spPr>
        <p:txBody>
          <a:bodyPr wrap="square" lIns="0" tIns="0" rIns="0" bIns="0" rtlCol="0" anchor="t"/>
          <a:lstStyle/>
          <a:p>
            <a:r>
              <a:rPr lang="en-US" sz="1575" b="1" dirty="0">
                <a:solidFill>
                  <a:srgbClr val="FFFFFF"/>
                </a:solidFill>
                <a:latin typeface="Arial" pitchFamily="34" charset="0"/>
                <a:ea typeface="Arial" pitchFamily="34" charset="-122"/>
                <a:cs typeface="Arial" pitchFamily="34" charset="-120"/>
              </a:rPr>
              <a:t>The AI application</a:t>
            </a:r>
            <a:endParaRPr lang="en-US" sz="1575" dirty="0"/>
          </a:p>
        </p:txBody>
      </p:sp>
      <p:sp>
        <p:nvSpPr>
          <p:cNvPr id="9" name="Text 7"/>
          <p:cNvSpPr txBox="1"/>
          <p:nvPr/>
        </p:nvSpPr>
        <p:spPr>
          <a:xfrm>
            <a:off x="768096" y="2537460"/>
            <a:ext cx="1938528" cy="651510"/>
          </a:xfrm>
          <a:prstGeom prst="rect">
            <a:avLst/>
          </a:prstGeom>
          <a:noFill/>
          <a:ln/>
        </p:spPr>
        <p:txBody>
          <a:bodyPr wrap="square" lIns="0" tIns="0" rIns="0" bIns="0" rtlCol="0" anchor="t"/>
          <a:lstStyle/>
          <a:p>
            <a:pPr>
              <a:lnSpc>
                <a:spcPct val="118000"/>
              </a:lnSpc>
            </a:pPr>
            <a:r>
              <a:rPr lang="en-US" sz="938" dirty="0">
                <a:solidFill>
                  <a:srgbClr val="D6DFE4"/>
                </a:solidFill>
                <a:latin typeface="Arial" pitchFamily="34" charset="0"/>
                <a:ea typeface="Arial" pitchFamily="34" charset="-122"/>
                <a:cs typeface="Arial" pitchFamily="34" charset="-120"/>
              </a:rPr>
              <a:t>Owns the user experience, model, permissions and orchestration. It can manage multiple MCP clients.</a:t>
            </a:r>
            <a:endParaRPr lang="en-US" sz="938" dirty="0"/>
          </a:p>
        </p:txBody>
      </p:sp>
      <p:sp>
        <p:nvSpPr>
          <p:cNvPr id="10" name="Shape 8"/>
          <p:cNvSpPr/>
          <p:nvPr/>
        </p:nvSpPr>
        <p:spPr>
          <a:xfrm>
            <a:off x="3426714" y="1543050"/>
            <a:ext cx="2350008" cy="1748790"/>
          </a:xfrm>
          <a:prstGeom prst="rect">
            <a:avLst/>
          </a:prstGeom>
          <a:solidFill>
            <a:srgbClr val="FFFFFF"/>
          </a:solidFill>
          <a:ln w="15875">
            <a:solidFill>
              <a:srgbClr val="12E29B"/>
            </a:solidFill>
            <a:prstDash val="solid"/>
          </a:ln>
        </p:spPr>
        <p:txBody>
          <a:bodyPr/>
          <a:lstStyle/>
          <a:p>
            <a:endParaRPr lang="en-US" sz="1350"/>
          </a:p>
        </p:txBody>
      </p:sp>
      <p:sp>
        <p:nvSpPr>
          <p:cNvPr id="11" name="Text 9"/>
          <p:cNvSpPr txBox="1"/>
          <p:nvPr/>
        </p:nvSpPr>
        <p:spPr>
          <a:xfrm>
            <a:off x="3632454" y="1721358"/>
            <a:ext cx="1938528" cy="178308"/>
          </a:xfrm>
          <a:prstGeom prst="rect">
            <a:avLst/>
          </a:prstGeom>
          <a:noFill/>
          <a:ln/>
        </p:spPr>
        <p:txBody>
          <a:bodyPr wrap="square" lIns="0" tIns="0" rIns="0" bIns="0" rtlCol="0" anchor="ctr"/>
          <a:lstStyle/>
          <a:p>
            <a:r>
              <a:rPr lang="en-US" sz="863" b="1" kern="0" spc="225" dirty="0">
                <a:solidFill>
                  <a:srgbClr val="0E9B86"/>
                </a:solidFill>
                <a:latin typeface="Courier New" pitchFamily="34" charset="0"/>
                <a:ea typeface="Courier New" pitchFamily="34" charset="-122"/>
                <a:cs typeface="Courier New" pitchFamily="34" charset="-120"/>
              </a:rPr>
              <a:t>CLIENT</a:t>
            </a:r>
            <a:endParaRPr lang="en-US" sz="863" dirty="0"/>
          </a:p>
        </p:txBody>
      </p:sp>
      <p:sp>
        <p:nvSpPr>
          <p:cNvPr id="12" name="Text 10"/>
          <p:cNvSpPr txBox="1"/>
          <p:nvPr/>
        </p:nvSpPr>
        <p:spPr>
          <a:xfrm>
            <a:off x="3632454" y="1954530"/>
            <a:ext cx="1938528" cy="534924"/>
          </a:xfrm>
          <a:prstGeom prst="rect">
            <a:avLst/>
          </a:prstGeom>
          <a:noFill/>
          <a:ln/>
        </p:spPr>
        <p:txBody>
          <a:bodyPr wrap="square" lIns="0" tIns="0" rIns="0" bIns="0" rtlCol="0" anchor="t"/>
          <a:lstStyle/>
          <a:p>
            <a:r>
              <a:rPr lang="en-US" sz="1575" b="1" dirty="0">
                <a:solidFill>
                  <a:srgbClr val="0D1B2A"/>
                </a:solidFill>
                <a:latin typeface="Arial" pitchFamily="34" charset="0"/>
                <a:ea typeface="Arial" pitchFamily="34" charset="-122"/>
                <a:cs typeface="Arial" pitchFamily="34" charset="-120"/>
              </a:rPr>
              <a:t>One connection per server</a:t>
            </a:r>
            <a:endParaRPr lang="en-US" sz="1575" dirty="0"/>
          </a:p>
        </p:txBody>
      </p:sp>
      <p:sp>
        <p:nvSpPr>
          <p:cNvPr id="13" name="Text 11"/>
          <p:cNvSpPr txBox="1"/>
          <p:nvPr/>
        </p:nvSpPr>
        <p:spPr>
          <a:xfrm>
            <a:off x="3632454" y="2537460"/>
            <a:ext cx="1938528" cy="651510"/>
          </a:xfrm>
          <a:prstGeom prst="rect">
            <a:avLst/>
          </a:prstGeom>
          <a:noFill/>
          <a:ln/>
        </p:spPr>
        <p:txBody>
          <a:bodyPr wrap="square" lIns="0" tIns="0" rIns="0" bIns="0" rtlCol="0" anchor="t"/>
          <a:lstStyle/>
          <a:p>
            <a:pPr>
              <a:lnSpc>
                <a:spcPct val="118000"/>
              </a:lnSpc>
            </a:pPr>
            <a:r>
              <a:rPr lang="en-US" sz="938" dirty="0">
                <a:solidFill>
                  <a:srgbClr val="3C4A52"/>
                </a:solidFill>
                <a:latin typeface="Arial" pitchFamily="34" charset="0"/>
                <a:ea typeface="Arial" pitchFamily="34" charset="-122"/>
                <a:cs typeface="Arial" pitchFamily="34" charset="-120"/>
              </a:rPr>
              <a:t>Maintains the MCP session and translates between host requests and the server protocol.</a:t>
            </a:r>
            <a:endParaRPr lang="en-US" sz="938" dirty="0"/>
          </a:p>
        </p:txBody>
      </p:sp>
      <p:sp>
        <p:nvSpPr>
          <p:cNvPr id="14" name="Shape 12"/>
          <p:cNvSpPr/>
          <p:nvPr/>
        </p:nvSpPr>
        <p:spPr>
          <a:xfrm>
            <a:off x="6291072" y="1543050"/>
            <a:ext cx="2350008" cy="1748790"/>
          </a:xfrm>
          <a:prstGeom prst="rect">
            <a:avLst/>
          </a:prstGeom>
          <a:solidFill>
            <a:srgbClr val="0D1B2A"/>
          </a:solidFill>
          <a:ln w="15875">
            <a:solidFill>
              <a:srgbClr val="0D1B2A"/>
            </a:solidFill>
            <a:prstDash val="solid"/>
          </a:ln>
        </p:spPr>
        <p:txBody>
          <a:bodyPr/>
          <a:lstStyle/>
          <a:p>
            <a:endParaRPr lang="en-US" sz="1350"/>
          </a:p>
        </p:txBody>
      </p:sp>
      <p:sp>
        <p:nvSpPr>
          <p:cNvPr id="15" name="Text 13"/>
          <p:cNvSpPr txBox="1"/>
          <p:nvPr/>
        </p:nvSpPr>
        <p:spPr>
          <a:xfrm>
            <a:off x="6496812" y="1721358"/>
            <a:ext cx="1938528" cy="178308"/>
          </a:xfrm>
          <a:prstGeom prst="rect">
            <a:avLst/>
          </a:prstGeom>
          <a:noFill/>
          <a:ln/>
        </p:spPr>
        <p:txBody>
          <a:bodyPr wrap="square" lIns="0" tIns="0" rIns="0" bIns="0" rtlCol="0" anchor="ctr"/>
          <a:lstStyle/>
          <a:p>
            <a:r>
              <a:rPr lang="en-US" sz="863" b="1" kern="0" spc="225" dirty="0">
                <a:solidFill>
                  <a:srgbClr val="12E29B"/>
                </a:solidFill>
                <a:latin typeface="Courier New" pitchFamily="34" charset="0"/>
                <a:ea typeface="Courier New" pitchFamily="34" charset="-122"/>
                <a:cs typeface="Courier New" pitchFamily="34" charset="-120"/>
              </a:rPr>
              <a:t>SERVER</a:t>
            </a:r>
            <a:endParaRPr lang="en-US" sz="863" dirty="0"/>
          </a:p>
        </p:txBody>
      </p:sp>
      <p:sp>
        <p:nvSpPr>
          <p:cNvPr id="16" name="Text 14"/>
          <p:cNvSpPr txBox="1"/>
          <p:nvPr/>
        </p:nvSpPr>
        <p:spPr>
          <a:xfrm>
            <a:off x="6496812" y="1954530"/>
            <a:ext cx="1938528" cy="534924"/>
          </a:xfrm>
          <a:prstGeom prst="rect">
            <a:avLst/>
          </a:prstGeom>
          <a:noFill/>
          <a:ln/>
        </p:spPr>
        <p:txBody>
          <a:bodyPr wrap="square" lIns="0" tIns="0" rIns="0" bIns="0" rtlCol="0" anchor="t"/>
          <a:lstStyle/>
          <a:p>
            <a:r>
              <a:rPr lang="en-US" sz="1575" b="1" dirty="0">
                <a:solidFill>
                  <a:srgbClr val="FFFFFF"/>
                </a:solidFill>
                <a:latin typeface="Arial" pitchFamily="34" charset="0"/>
                <a:ea typeface="Arial" pitchFamily="34" charset="-122"/>
                <a:cs typeface="Arial" pitchFamily="34" charset="-120"/>
              </a:rPr>
              <a:t>A focused capability</a:t>
            </a:r>
            <a:endParaRPr lang="en-US" sz="1575" dirty="0"/>
          </a:p>
        </p:txBody>
      </p:sp>
      <p:sp>
        <p:nvSpPr>
          <p:cNvPr id="17" name="Text 15"/>
          <p:cNvSpPr txBox="1"/>
          <p:nvPr/>
        </p:nvSpPr>
        <p:spPr>
          <a:xfrm>
            <a:off x="6496812" y="2537460"/>
            <a:ext cx="1938528" cy="651510"/>
          </a:xfrm>
          <a:prstGeom prst="rect">
            <a:avLst/>
          </a:prstGeom>
          <a:noFill/>
          <a:ln/>
        </p:spPr>
        <p:txBody>
          <a:bodyPr wrap="square" lIns="0" tIns="0" rIns="0" bIns="0" rtlCol="0" anchor="t"/>
          <a:lstStyle/>
          <a:p>
            <a:pPr>
              <a:lnSpc>
                <a:spcPct val="118000"/>
              </a:lnSpc>
            </a:pPr>
            <a:r>
              <a:rPr lang="en-US" sz="938" dirty="0">
                <a:solidFill>
                  <a:srgbClr val="D6DFE4"/>
                </a:solidFill>
                <a:latin typeface="Arial" pitchFamily="34" charset="0"/>
                <a:ea typeface="Arial" pitchFamily="34" charset="-122"/>
                <a:cs typeface="Arial" pitchFamily="34" charset="-120"/>
              </a:rPr>
              <a:t>Exposes tools, resources and prompts through a standard interface — close to the data or system it represents.</a:t>
            </a:r>
            <a:endParaRPr lang="en-US" sz="938" dirty="0"/>
          </a:p>
        </p:txBody>
      </p:sp>
      <p:sp>
        <p:nvSpPr>
          <p:cNvPr id="18" name="Shape 16"/>
          <p:cNvSpPr/>
          <p:nvPr/>
        </p:nvSpPr>
        <p:spPr>
          <a:xfrm>
            <a:off x="3052953" y="2125980"/>
            <a:ext cx="233172" cy="0"/>
          </a:xfrm>
          <a:prstGeom prst="line">
            <a:avLst/>
          </a:prstGeom>
          <a:noFill/>
          <a:ln w="25400">
            <a:solidFill>
              <a:srgbClr val="12E29B"/>
            </a:solidFill>
            <a:prstDash val="solid"/>
            <a:tailEnd type="triangle"/>
          </a:ln>
        </p:spPr>
        <p:txBody>
          <a:bodyPr/>
          <a:lstStyle/>
          <a:p>
            <a:endParaRPr lang="en-US" sz="1350"/>
          </a:p>
        </p:txBody>
      </p:sp>
      <p:sp>
        <p:nvSpPr>
          <p:cNvPr id="19" name="Text 17"/>
          <p:cNvSpPr txBox="1"/>
          <p:nvPr/>
        </p:nvSpPr>
        <p:spPr>
          <a:xfrm rot="16200000">
            <a:off x="2758059" y="2606040"/>
            <a:ext cx="822960" cy="178308"/>
          </a:xfrm>
          <a:prstGeom prst="rect">
            <a:avLst/>
          </a:prstGeom>
          <a:noFill/>
          <a:ln/>
        </p:spPr>
        <p:txBody>
          <a:bodyPr wrap="square" lIns="0" tIns="0" rIns="0" bIns="0" rtlCol="0" anchor="ctr"/>
          <a:lstStyle/>
          <a:p>
            <a:pPr algn="ctr"/>
            <a:r>
              <a:rPr lang="en-US" sz="713" dirty="0">
                <a:solidFill>
                  <a:srgbClr val="0E9B86"/>
                </a:solidFill>
                <a:latin typeface="Courier New" pitchFamily="34" charset="0"/>
                <a:ea typeface="Courier New" pitchFamily="34" charset="-122"/>
                <a:cs typeface="Courier New" pitchFamily="34" charset="-120"/>
              </a:rPr>
              <a:t>MCP protocol</a:t>
            </a:r>
            <a:endParaRPr lang="en-US" sz="713" dirty="0"/>
          </a:p>
        </p:txBody>
      </p:sp>
      <p:sp>
        <p:nvSpPr>
          <p:cNvPr id="20" name="Shape 18"/>
          <p:cNvSpPr/>
          <p:nvPr/>
        </p:nvSpPr>
        <p:spPr>
          <a:xfrm>
            <a:off x="5917311" y="2125980"/>
            <a:ext cx="233172" cy="0"/>
          </a:xfrm>
          <a:prstGeom prst="line">
            <a:avLst/>
          </a:prstGeom>
          <a:noFill/>
          <a:ln w="25400">
            <a:solidFill>
              <a:srgbClr val="12E29B"/>
            </a:solidFill>
            <a:prstDash val="solid"/>
            <a:tailEnd type="triangle"/>
          </a:ln>
        </p:spPr>
        <p:txBody>
          <a:bodyPr/>
          <a:lstStyle/>
          <a:p>
            <a:endParaRPr lang="en-US" sz="1350"/>
          </a:p>
        </p:txBody>
      </p:sp>
      <p:sp>
        <p:nvSpPr>
          <p:cNvPr id="21" name="Text 19"/>
          <p:cNvSpPr txBox="1"/>
          <p:nvPr/>
        </p:nvSpPr>
        <p:spPr>
          <a:xfrm rot="16200000">
            <a:off x="5622417" y="2606040"/>
            <a:ext cx="822960" cy="178308"/>
          </a:xfrm>
          <a:prstGeom prst="rect">
            <a:avLst/>
          </a:prstGeom>
          <a:noFill/>
          <a:ln/>
        </p:spPr>
        <p:txBody>
          <a:bodyPr wrap="square" lIns="0" tIns="0" rIns="0" bIns="0" rtlCol="0" anchor="ctr"/>
          <a:lstStyle/>
          <a:p>
            <a:pPr algn="ctr"/>
            <a:r>
              <a:rPr lang="en-US" sz="713" dirty="0">
                <a:solidFill>
                  <a:srgbClr val="0E9B86"/>
                </a:solidFill>
                <a:latin typeface="Courier New" pitchFamily="34" charset="0"/>
                <a:ea typeface="Courier New" pitchFamily="34" charset="-122"/>
                <a:cs typeface="Courier New" pitchFamily="34" charset="-120"/>
              </a:rPr>
              <a:t>MCP protocol</a:t>
            </a:r>
            <a:endParaRPr lang="en-US" sz="713" dirty="0"/>
          </a:p>
        </p:txBody>
      </p:sp>
      <p:sp>
        <p:nvSpPr>
          <p:cNvPr id="22" name="Text 20"/>
          <p:cNvSpPr txBox="1"/>
          <p:nvPr/>
        </p:nvSpPr>
        <p:spPr>
          <a:xfrm>
            <a:off x="562356" y="3511296"/>
            <a:ext cx="4114800" cy="192024"/>
          </a:xfrm>
          <a:prstGeom prst="rect">
            <a:avLst/>
          </a:prstGeom>
          <a:noFill/>
          <a:ln/>
        </p:spPr>
        <p:txBody>
          <a:bodyPr wrap="square" lIns="0" tIns="0" rIns="0" bIns="0" rtlCol="0" anchor="ctr"/>
          <a:lstStyle/>
          <a:p>
            <a:r>
              <a:rPr lang="en-US" sz="863" b="1" kern="0" spc="225" dirty="0">
                <a:solidFill>
                  <a:srgbClr val="0E9B86"/>
                </a:solidFill>
                <a:latin typeface="Courier New" pitchFamily="34" charset="0"/>
                <a:ea typeface="Courier New" pitchFamily="34" charset="-122"/>
                <a:cs typeface="Courier New" pitchFamily="34" charset="-120"/>
              </a:rPr>
              <a:t>SERVER PRIMITIVES</a:t>
            </a:r>
            <a:endParaRPr lang="en-US" sz="863" dirty="0"/>
          </a:p>
        </p:txBody>
      </p:sp>
      <p:sp>
        <p:nvSpPr>
          <p:cNvPr id="23" name="Shape 21"/>
          <p:cNvSpPr/>
          <p:nvPr/>
        </p:nvSpPr>
        <p:spPr>
          <a:xfrm>
            <a:off x="562356" y="3806190"/>
            <a:ext cx="2350008" cy="905256"/>
          </a:xfrm>
          <a:prstGeom prst="rect">
            <a:avLst/>
          </a:prstGeom>
          <a:solidFill>
            <a:srgbClr val="12E29B"/>
          </a:solidFill>
          <a:ln w="12700">
            <a:solidFill>
              <a:srgbClr val="12E29B"/>
            </a:solidFill>
            <a:prstDash val="solid"/>
          </a:ln>
        </p:spPr>
        <p:txBody>
          <a:bodyPr/>
          <a:lstStyle/>
          <a:p>
            <a:endParaRPr lang="en-US" sz="1350"/>
          </a:p>
        </p:txBody>
      </p:sp>
      <p:sp>
        <p:nvSpPr>
          <p:cNvPr id="24" name="Text 22"/>
          <p:cNvSpPr txBox="1"/>
          <p:nvPr/>
        </p:nvSpPr>
        <p:spPr>
          <a:xfrm>
            <a:off x="768096" y="3984498"/>
            <a:ext cx="1938528" cy="233172"/>
          </a:xfrm>
          <a:prstGeom prst="rect">
            <a:avLst/>
          </a:prstGeom>
          <a:noFill/>
          <a:ln/>
        </p:spPr>
        <p:txBody>
          <a:bodyPr wrap="square" lIns="0" tIns="0" rIns="0" bIns="0" rtlCol="0" anchor="ctr"/>
          <a:lstStyle/>
          <a:p>
            <a:r>
              <a:rPr lang="en-US" sz="1200" b="1" dirty="0">
                <a:solidFill>
                  <a:srgbClr val="0D1B2A"/>
                </a:solidFill>
                <a:latin typeface="Arial" pitchFamily="34" charset="0"/>
                <a:ea typeface="Arial" pitchFamily="34" charset="-122"/>
                <a:cs typeface="Arial" pitchFamily="34" charset="-120"/>
              </a:rPr>
              <a:t>TOOLS</a:t>
            </a:r>
            <a:endParaRPr lang="en-US" sz="1200" dirty="0"/>
          </a:p>
        </p:txBody>
      </p:sp>
      <p:sp>
        <p:nvSpPr>
          <p:cNvPr id="25" name="Text 23"/>
          <p:cNvSpPr txBox="1"/>
          <p:nvPr/>
        </p:nvSpPr>
        <p:spPr>
          <a:xfrm>
            <a:off x="768096" y="4299966"/>
            <a:ext cx="1938528" cy="205740"/>
          </a:xfrm>
          <a:prstGeom prst="rect">
            <a:avLst/>
          </a:prstGeom>
          <a:noFill/>
          <a:ln/>
        </p:spPr>
        <p:txBody>
          <a:bodyPr wrap="square" lIns="0" tIns="0" rIns="0" bIns="0" rtlCol="0" anchor="ctr"/>
          <a:lstStyle/>
          <a:p>
            <a:r>
              <a:rPr lang="en-US" sz="788" dirty="0">
                <a:solidFill>
                  <a:srgbClr val="0D1B2A"/>
                </a:solidFill>
                <a:latin typeface="Courier New" pitchFamily="34" charset="0"/>
                <a:ea typeface="Courier New" pitchFamily="34" charset="-122"/>
                <a:cs typeface="Courier New" pitchFamily="34" charset="-120"/>
              </a:rPr>
              <a:t>list_tools  ·  call_tool</a:t>
            </a:r>
            <a:endParaRPr lang="en-US" sz="788" dirty="0"/>
          </a:p>
        </p:txBody>
      </p:sp>
      <p:sp>
        <p:nvSpPr>
          <p:cNvPr id="26" name="Shape 24"/>
          <p:cNvSpPr/>
          <p:nvPr/>
        </p:nvSpPr>
        <p:spPr>
          <a:xfrm>
            <a:off x="3426714" y="3806190"/>
            <a:ext cx="2350008" cy="905256"/>
          </a:xfrm>
          <a:prstGeom prst="rect">
            <a:avLst/>
          </a:prstGeom>
          <a:solidFill>
            <a:srgbClr val="FFFFFF"/>
          </a:solidFill>
          <a:ln w="12700">
            <a:solidFill>
              <a:srgbClr val="D5DEE0"/>
            </a:solidFill>
            <a:prstDash val="solid"/>
          </a:ln>
        </p:spPr>
        <p:txBody>
          <a:bodyPr/>
          <a:lstStyle/>
          <a:p>
            <a:endParaRPr lang="en-US" sz="1350"/>
          </a:p>
        </p:txBody>
      </p:sp>
      <p:sp>
        <p:nvSpPr>
          <p:cNvPr id="27" name="Text 25"/>
          <p:cNvSpPr txBox="1"/>
          <p:nvPr/>
        </p:nvSpPr>
        <p:spPr>
          <a:xfrm>
            <a:off x="3632454" y="3984498"/>
            <a:ext cx="1938528" cy="233172"/>
          </a:xfrm>
          <a:prstGeom prst="rect">
            <a:avLst/>
          </a:prstGeom>
          <a:noFill/>
          <a:ln/>
        </p:spPr>
        <p:txBody>
          <a:bodyPr wrap="square" lIns="0" tIns="0" rIns="0" bIns="0" rtlCol="0" anchor="ctr"/>
          <a:lstStyle/>
          <a:p>
            <a:r>
              <a:rPr lang="en-US" sz="1200" b="1" dirty="0">
                <a:solidFill>
                  <a:srgbClr val="0D1B2A"/>
                </a:solidFill>
                <a:latin typeface="Arial" pitchFamily="34" charset="0"/>
                <a:ea typeface="Arial" pitchFamily="34" charset="-122"/>
                <a:cs typeface="Arial" pitchFamily="34" charset="-120"/>
              </a:rPr>
              <a:t>RESOURCES</a:t>
            </a:r>
            <a:endParaRPr lang="en-US" sz="1200" dirty="0"/>
          </a:p>
        </p:txBody>
      </p:sp>
      <p:sp>
        <p:nvSpPr>
          <p:cNvPr id="28" name="Text 26"/>
          <p:cNvSpPr txBox="1"/>
          <p:nvPr/>
        </p:nvSpPr>
        <p:spPr>
          <a:xfrm>
            <a:off x="3632454" y="4299966"/>
            <a:ext cx="1938528" cy="205740"/>
          </a:xfrm>
          <a:prstGeom prst="rect">
            <a:avLst/>
          </a:prstGeom>
          <a:noFill/>
          <a:ln/>
        </p:spPr>
        <p:txBody>
          <a:bodyPr wrap="square" lIns="0" tIns="0" rIns="0" bIns="0" rtlCol="0" anchor="ctr"/>
          <a:lstStyle/>
          <a:p>
            <a:r>
              <a:rPr lang="en-US" sz="788" dirty="0">
                <a:solidFill>
                  <a:srgbClr val="0E9B86"/>
                </a:solidFill>
                <a:latin typeface="Courier New" pitchFamily="34" charset="0"/>
                <a:ea typeface="Courier New" pitchFamily="34" charset="-122"/>
                <a:cs typeface="Courier New" pitchFamily="34" charset="-120"/>
              </a:rPr>
              <a:t>list_resources  ·  read_resource</a:t>
            </a:r>
            <a:endParaRPr lang="en-US" sz="788" dirty="0"/>
          </a:p>
        </p:txBody>
      </p:sp>
      <p:sp>
        <p:nvSpPr>
          <p:cNvPr id="29" name="Shape 27"/>
          <p:cNvSpPr/>
          <p:nvPr/>
        </p:nvSpPr>
        <p:spPr>
          <a:xfrm>
            <a:off x="6291072" y="3806190"/>
            <a:ext cx="2350008" cy="905256"/>
          </a:xfrm>
          <a:prstGeom prst="rect">
            <a:avLst/>
          </a:prstGeom>
          <a:solidFill>
            <a:srgbClr val="FFFFFF"/>
          </a:solidFill>
          <a:ln w="12700">
            <a:solidFill>
              <a:srgbClr val="D5DEE0"/>
            </a:solidFill>
            <a:prstDash val="solid"/>
          </a:ln>
        </p:spPr>
        <p:txBody>
          <a:bodyPr/>
          <a:lstStyle/>
          <a:p>
            <a:endParaRPr lang="en-US" sz="1350"/>
          </a:p>
        </p:txBody>
      </p:sp>
      <p:sp>
        <p:nvSpPr>
          <p:cNvPr id="30" name="Text 28"/>
          <p:cNvSpPr txBox="1"/>
          <p:nvPr/>
        </p:nvSpPr>
        <p:spPr>
          <a:xfrm>
            <a:off x="6496812" y="3984498"/>
            <a:ext cx="1938528" cy="233172"/>
          </a:xfrm>
          <a:prstGeom prst="rect">
            <a:avLst/>
          </a:prstGeom>
          <a:noFill/>
          <a:ln/>
        </p:spPr>
        <p:txBody>
          <a:bodyPr wrap="square" lIns="0" tIns="0" rIns="0" bIns="0" rtlCol="0" anchor="ctr"/>
          <a:lstStyle/>
          <a:p>
            <a:r>
              <a:rPr lang="en-US" sz="1200" b="1" dirty="0">
                <a:solidFill>
                  <a:srgbClr val="0D1B2A"/>
                </a:solidFill>
                <a:latin typeface="Arial" pitchFamily="34" charset="0"/>
                <a:ea typeface="Arial" pitchFamily="34" charset="-122"/>
                <a:cs typeface="Arial" pitchFamily="34" charset="-120"/>
              </a:rPr>
              <a:t>PROMPTS</a:t>
            </a:r>
            <a:endParaRPr lang="en-US" sz="1200" dirty="0"/>
          </a:p>
        </p:txBody>
      </p:sp>
      <p:sp>
        <p:nvSpPr>
          <p:cNvPr id="31" name="Text 29"/>
          <p:cNvSpPr txBox="1"/>
          <p:nvPr/>
        </p:nvSpPr>
        <p:spPr>
          <a:xfrm>
            <a:off x="6496812" y="4299966"/>
            <a:ext cx="1938528" cy="205740"/>
          </a:xfrm>
          <a:prstGeom prst="rect">
            <a:avLst/>
          </a:prstGeom>
          <a:noFill/>
          <a:ln/>
        </p:spPr>
        <p:txBody>
          <a:bodyPr wrap="square" lIns="0" tIns="0" rIns="0" bIns="0" rtlCol="0" anchor="ctr"/>
          <a:lstStyle/>
          <a:p>
            <a:r>
              <a:rPr lang="en-US" sz="788" dirty="0">
                <a:solidFill>
                  <a:srgbClr val="0E9B86"/>
                </a:solidFill>
                <a:latin typeface="Courier New" pitchFamily="34" charset="0"/>
                <a:ea typeface="Courier New" pitchFamily="34" charset="-122"/>
                <a:cs typeface="Courier New" pitchFamily="34" charset="-120"/>
              </a:rPr>
              <a:t>list_prompts  ·  get_prompt</a:t>
            </a:r>
            <a:endParaRPr lang="en-US" sz="788"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1828800" y="2377440"/>
            <a:ext cx="4754880" cy="4754880"/>
          </a:xfrm>
          <a:prstGeom prst="ellipse">
            <a:avLst/>
          </a:prstGeom>
          <a:solidFill>
            <a:srgbClr val="1B9AAA">
              <a:alpha val="15000"/>
            </a:srgbClr>
          </a:solidFill>
          <a:ln w="9525">
            <a:solidFill>
              <a:srgbClr val="1B9AAA"/>
            </a:solidFill>
            <a:prstDash val="solid"/>
          </a:ln>
        </p:spPr>
        <p:txBody>
          <a:bodyPr/>
          <a:lstStyle/>
          <a:p>
            <a:endParaRPr lang="en-US"/>
          </a:p>
        </p:txBody>
      </p:sp>
      <p:sp>
        <p:nvSpPr>
          <p:cNvPr id="3" name="Text 1"/>
          <p:cNvSpPr/>
          <p:nvPr/>
        </p:nvSpPr>
        <p:spPr>
          <a:xfrm>
            <a:off x="822960" y="960120"/>
            <a:ext cx="7315200" cy="274320"/>
          </a:xfrm>
          <a:prstGeom prst="rect">
            <a:avLst/>
          </a:prstGeom>
          <a:noFill/>
          <a:ln/>
        </p:spPr>
        <p:txBody>
          <a:bodyPr wrap="square" lIns="0" tIns="0" rIns="0" bIns="0" rtlCol="0" anchor="ctr"/>
          <a:lstStyle/>
          <a:p>
            <a:pPr marL="0" indent="0">
              <a:buNone/>
            </a:pPr>
            <a:r>
              <a:rPr lang="en-US" sz="1100" kern="0" spc="250" dirty="0">
                <a:solidFill>
                  <a:srgbClr val="06D6A0"/>
                </a:solidFill>
                <a:latin typeface="JetBrains Mono" pitchFamily="34" charset="0"/>
                <a:ea typeface="JetBrains Mono" pitchFamily="34" charset="-122"/>
                <a:cs typeface="JetBrains Mono" pitchFamily="34" charset="-120"/>
              </a:rPr>
              <a:t>THE PART THAT IS ACTUALLY HARD</a:t>
            </a:r>
            <a:endParaRPr lang="en-US" sz="1100" dirty="0"/>
          </a:p>
        </p:txBody>
      </p:sp>
      <p:sp>
        <p:nvSpPr>
          <p:cNvPr id="4" name="Text 2"/>
          <p:cNvSpPr/>
          <p:nvPr/>
        </p:nvSpPr>
        <p:spPr>
          <a:xfrm>
            <a:off x="822960" y="1371600"/>
            <a:ext cx="7498080" cy="1234440"/>
          </a:xfrm>
          <a:prstGeom prst="rect">
            <a:avLst/>
          </a:prstGeom>
          <a:noFill/>
          <a:ln/>
        </p:spPr>
        <p:txBody>
          <a:bodyPr wrap="square" lIns="0" tIns="0" rIns="0" bIns="0" rtlCol="0" anchor="ctr"/>
          <a:lstStyle/>
          <a:p>
            <a:pPr marL="0" indent="0">
              <a:buNone/>
            </a:pPr>
            <a:r>
              <a:rPr lang="en-US" sz="3800" dirty="0">
                <a:solidFill>
                  <a:srgbClr val="FFFFFF"/>
                </a:solidFill>
                <a:latin typeface="Oswald" pitchFamily="34" charset="0"/>
                <a:ea typeface="Oswald" pitchFamily="34" charset="-122"/>
                <a:cs typeface="Oswald" pitchFamily="34" charset="-120"/>
              </a:rPr>
              <a:t>Wiring a tool is easy.</a:t>
            </a:r>
            <a:endParaRPr lang="en-US" sz="3800" dirty="0"/>
          </a:p>
          <a:p>
            <a:pPr marL="0" indent="0">
              <a:buNone/>
            </a:pPr>
            <a:r>
              <a:rPr lang="en-US" sz="3800" dirty="0">
                <a:solidFill>
                  <a:srgbClr val="FFFFFF"/>
                </a:solidFill>
                <a:latin typeface="Oswald" pitchFamily="34" charset="0"/>
                <a:ea typeface="Oswald" pitchFamily="34" charset="-122"/>
                <a:cs typeface="Oswald" pitchFamily="34" charset="-120"/>
              </a:rPr>
              <a:t>Constraining a loop is not.</a:t>
            </a:r>
            <a:endParaRPr lang="en-US" sz="3800" dirty="0"/>
          </a:p>
        </p:txBody>
      </p:sp>
      <p:sp>
        <p:nvSpPr>
          <p:cNvPr id="5" name="Text 3"/>
          <p:cNvSpPr/>
          <p:nvPr/>
        </p:nvSpPr>
        <p:spPr>
          <a:xfrm>
            <a:off x="841248" y="2788920"/>
            <a:ext cx="6949440" cy="1005840"/>
          </a:xfrm>
          <a:prstGeom prst="rect">
            <a:avLst/>
          </a:prstGeom>
          <a:noFill/>
          <a:ln/>
        </p:spPr>
        <p:txBody>
          <a:bodyPr wrap="square" lIns="0" tIns="0" rIns="0" bIns="0" rtlCol="0" anchor="ctr"/>
          <a:lstStyle/>
          <a:p>
            <a:pPr marL="0" indent="0">
              <a:buNone/>
            </a:pPr>
            <a:r>
              <a:rPr lang="en-US" sz="1500" dirty="0">
                <a:solidFill>
                  <a:srgbClr val="AFC2CE"/>
                </a:solidFill>
                <a:latin typeface="Roboto" pitchFamily="34" charset="0"/>
                <a:ea typeface="Roboto" pitchFamily="34" charset="-122"/>
                <a:cs typeface="Roboto" pitchFamily="34" charset="-120"/>
              </a:rPr>
              <a:t>Reliable termination · graceful handling of failed calls · no irreversible action without approval · a trail that can be audited. Difficulty scales with the control layer, not the capability layer — and in a regulated environment, so does the governance work.</a:t>
            </a:r>
            <a:endParaRPr lang="en-US" sz="1500" dirty="0"/>
          </a:p>
        </p:txBody>
      </p:sp>
      <p:sp>
        <p:nvSpPr>
          <p:cNvPr id="6" name="Shape 4"/>
          <p:cNvSpPr/>
          <p:nvPr/>
        </p:nvSpPr>
        <p:spPr>
          <a:xfrm>
            <a:off x="841248" y="3977640"/>
            <a:ext cx="822960" cy="41148"/>
          </a:xfrm>
          <a:prstGeom prst="rect">
            <a:avLst/>
          </a:prstGeom>
          <a:solidFill>
            <a:srgbClr val="06D6A0"/>
          </a:solidFill>
          <a:ln/>
        </p:spPr>
        <p:txBody>
          <a:bodyPr/>
          <a:lstStyle/>
          <a:p>
            <a:endParaRPr lang="en-US"/>
          </a:p>
        </p:txBody>
      </p:sp>
      <p:sp>
        <p:nvSpPr>
          <p:cNvPr id="7" name="Text 5"/>
          <p:cNvSpPr/>
          <p:nvPr/>
        </p:nvSpPr>
        <p:spPr>
          <a:xfrm>
            <a:off x="841248" y="4224528"/>
            <a:ext cx="7315200" cy="274320"/>
          </a:xfrm>
          <a:prstGeom prst="rect">
            <a:avLst/>
          </a:prstGeom>
          <a:noFill/>
          <a:ln/>
        </p:spPr>
        <p:txBody>
          <a:bodyPr wrap="square" lIns="0" tIns="0" rIns="0" bIns="0" rtlCol="0" anchor="ctr"/>
          <a:lstStyle/>
          <a:p>
            <a:pPr marL="0" indent="0">
              <a:buNone/>
            </a:pPr>
            <a:r>
              <a:rPr lang="en-US" sz="950" dirty="0">
                <a:solidFill>
                  <a:srgbClr val="6B7B8C"/>
                </a:solidFill>
                <a:latin typeface="JetBrains Mono" pitchFamily="34" charset="0"/>
                <a:ea typeface="JetBrains Mono" pitchFamily="34" charset="-122"/>
                <a:cs typeface="JetBrains Mono" pitchFamily="34" charset="-120"/>
              </a:rPr>
              <a:t>Knowledge cutoff applies — verify current MCP and framework specifics before relying on them.</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SOURCES</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Continue the conversation</a:t>
            </a:r>
            <a:endParaRPr lang="en-US" sz="3200" dirty="0"/>
          </a:p>
        </p:txBody>
      </p:sp>
      <p:sp>
        <p:nvSpPr>
          <p:cNvPr id="6" name="Shape 4"/>
          <p:cNvSpPr/>
          <p:nvPr/>
        </p:nvSpPr>
        <p:spPr>
          <a:xfrm>
            <a:off x="566928" y="1719072"/>
            <a:ext cx="8046720" cy="749808"/>
          </a:xfrm>
          <a:prstGeom prst="rect">
            <a:avLst/>
          </a:prstGeom>
          <a:noFill/>
          <a:ln w="9525">
            <a:solidFill>
              <a:srgbClr val="0D1B2A"/>
            </a:solidFill>
            <a:prstDash val="solid"/>
          </a:ln>
        </p:spPr>
        <p:txBody>
          <a:bodyPr/>
          <a:lstStyle/>
          <a:p>
            <a:endParaRPr lang="en-US"/>
          </a:p>
        </p:txBody>
      </p:sp>
      <p:sp>
        <p:nvSpPr>
          <p:cNvPr id="7" name="Shape 5"/>
          <p:cNvSpPr/>
          <p:nvPr/>
        </p:nvSpPr>
        <p:spPr>
          <a:xfrm>
            <a:off x="566928" y="1719072"/>
            <a:ext cx="82296" cy="749808"/>
          </a:xfrm>
          <a:prstGeom prst="rect">
            <a:avLst/>
          </a:prstGeom>
          <a:solidFill>
            <a:srgbClr val="1B9AAA"/>
          </a:solidFill>
          <a:ln/>
        </p:spPr>
        <p:txBody>
          <a:bodyPr/>
          <a:lstStyle/>
          <a:p>
            <a:endParaRPr lang="en-US"/>
          </a:p>
        </p:txBody>
      </p:sp>
      <p:sp>
        <p:nvSpPr>
          <p:cNvPr id="8" name="Text 6">
            <a:hlinkClick r:id="rId3"/>
          </p:cNvPr>
          <p:cNvSpPr/>
          <p:nvPr/>
        </p:nvSpPr>
        <p:spPr>
          <a:xfrm>
            <a:off x="896112" y="1828800"/>
            <a:ext cx="3657600" cy="228600"/>
          </a:xfrm>
          <a:prstGeom prst="rect">
            <a:avLst/>
          </a:prstGeom>
          <a:noFill/>
          <a:ln/>
        </p:spPr>
        <p:txBody>
          <a:bodyPr wrap="square" lIns="0" tIns="0" rIns="0" bIns="0" rtlCol="0" anchor="ctr"/>
          <a:lstStyle/>
          <a:p>
            <a:pPr marL="0" indent="0">
              <a:buNone/>
            </a:pPr>
            <a:r>
              <a:rPr lang="en-US" sz="1800" u="sng" dirty="0">
                <a:latin typeface="Oswald" pitchFamily="34" charset="0"/>
                <a:ea typeface="Oswald" pitchFamily="34" charset="-122"/>
                <a:cs typeface="Oswald" pitchFamily="34" charset="-120"/>
                <a:hlinkClick r:id="rId3">
                  <a:extLst>
                    <a:ext uri="{A12FA001-AC4F-418D-AE19-62706E023703}">
                      <ahyp:hlinkClr xmlns:ahyp="http://schemas.microsoft.com/office/drawing/2018/hyperlinkcolor" val="tx"/>
                    </a:ext>
                  </a:extLst>
                </a:hlinkClick>
              </a:rPr>
              <a:t>AI Glossary for LE Teams · Q4 2024</a:t>
            </a:r>
            <a:endParaRPr lang="en-US" sz="1800" dirty="0"/>
          </a:p>
        </p:txBody>
      </p:sp>
      <p:sp>
        <p:nvSpPr>
          <p:cNvPr id="9" name="Text 7"/>
          <p:cNvSpPr/>
          <p:nvPr/>
        </p:nvSpPr>
        <p:spPr>
          <a:xfrm>
            <a:off x="896112" y="2148840"/>
            <a:ext cx="4114800" cy="201168"/>
          </a:xfrm>
          <a:prstGeom prst="rect">
            <a:avLst/>
          </a:prstGeom>
          <a:noFill/>
          <a:ln/>
        </p:spPr>
        <p:txBody>
          <a:bodyPr wrap="square" lIns="0" tIns="0" rIns="0" bIns="0" rtlCol="0" anchor="ctr"/>
          <a:lstStyle/>
          <a:p>
            <a:pPr marL="0" indent="0">
              <a:buNone/>
            </a:pPr>
            <a:r>
              <a:rPr lang="en-US" sz="1150" dirty="0">
                <a:solidFill>
                  <a:srgbClr val="6B7B8C"/>
                </a:solidFill>
                <a:latin typeface="Roboto" pitchFamily="34" charset="0"/>
                <a:ea typeface="Roboto" pitchFamily="34" charset="-122"/>
                <a:cs typeface="Roboto" pitchFamily="34" charset="-120"/>
              </a:rPr>
              <a:t>Legal &amp; Compliance knowledge base · terminology and definitions</a:t>
            </a:r>
          </a:p>
        </p:txBody>
      </p:sp>
      <p:sp>
        <p:nvSpPr>
          <p:cNvPr id="10" name="Text 8">
            <a:hlinkClick r:id="rId3"/>
          </p:cNvPr>
          <p:cNvSpPr/>
          <p:nvPr/>
        </p:nvSpPr>
        <p:spPr>
          <a:xfrm>
            <a:off x="4937760" y="1865376"/>
            <a:ext cx="3291840" cy="384048"/>
          </a:xfrm>
          <a:prstGeom prst="rect">
            <a:avLst/>
          </a:prstGeom>
          <a:noFill/>
          <a:ln/>
        </p:spPr>
        <p:txBody>
          <a:bodyPr wrap="square" lIns="0" tIns="0" rIns="0" bIns="0" rtlCol="0" anchor="ctr">
            <a:normAutofit lnSpcReduction="10000"/>
          </a:bodyPr>
          <a:lstStyle/>
          <a:p>
            <a:r>
              <a:rPr lang="en-US" sz="740" u="sng" dirty="0">
                <a:solidFill>
                  <a:srgbClr val="1B9AAA"/>
                </a:solidFill>
                <a:latin typeface="JetBrains Mono" pitchFamily="34" charset="0"/>
                <a:ea typeface="JetBrains Mono" pitchFamily="34" charset="-122"/>
                <a:hlinkClick r:id="rId3">
                  <a:extLst>
                    <a:ext uri="{A12FA001-AC4F-418D-AE19-62706E023703}">
                      <ahyp:hlinkClr xmlns:ahyp="http://schemas.microsoft.com/office/drawing/2018/hyperlinkcolor" val="tx"/>
                    </a:ext>
                  </a:extLst>
                </a:hlinkClick>
              </a:rPr>
              <a:t>https://evarooms.merckgroup.com/Organization/Legal-Compliance/PublishingImages/le-knowledge-base/le-expert-groups/digital-data-economy/AI%20Glossary%20for%20LE%20Teams%20Q4%2024.pdf</a:t>
            </a:r>
            <a:endParaRPr lang="en-US" sz="740" u="sng" dirty="0">
              <a:solidFill>
                <a:srgbClr val="1B9AAA"/>
              </a:solidFill>
              <a:latin typeface="JetBrains Mono" pitchFamily="34" charset="0"/>
              <a:ea typeface="JetBrains Mono" pitchFamily="34" charset="-122"/>
            </a:endParaRPr>
          </a:p>
        </p:txBody>
      </p:sp>
      <p:sp>
        <p:nvSpPr>
          <p:cNvPr id="11" name="Shape 9"/>
          <p:cNvSpPr/>
          <p:nvPr/>
        </p:nvSpPr>
        <p:spPr>
          <a:xfrm>
            <a:off x="566928" y="2615184"/>
            <a:ext cx="8046720" cy="749808"/>
          </a:xfrm>
          <a:prstGeom prst="rect">
            <a:avLst/>
          </a:prstGeom>
          <a:solidFill>
            <a:srgbClr val="FFFFFF"/>
          </a:solidFill>
          <a:ln w="9525">
            <a:solidFill>
              <a:srgbClr val="DDE5E9"/>
            </a:solidFill>
            <a:prstDash val="solid"/>
          </a:ln>
        </p:spPr>
        <p:txBody>
          <a:bodyPr/>
          <a:lstStyle/>
          <a:p>
            <a:endParaRPr lang="en-US"/>
          </a:p>
        </p:txBody>
      </p:sp>
      <p:sp>
        <p:nvSpPr>
          <p:cNvPr id="12" name="Shape 10"/>
          <p:cNvSpPr/>
          <p:nvPr/>
        </p:nvSpPr>
        <p:spPr>
          <a:xfrm>
            <a:off x="566928" y="2615184"/>
            <a:ext cx="82296" cy="749808"/>
          </a:xfrm>
          <a:prstGeom prst="rect">
            <a:avLst/>
          </a:prstGeom>
          <a:solidFill>
            <a:srgbClr val="1B9AAA"/>
          </a:solidFill>
          <a:ln/>
        </p:spPr>
        <p:txBody>
          <a:bodyPr/>
          <a:lstStyle/>
          <a:p>
            <a:endParaRPr lang="en-US"/>
          </a:p>
        </p:txBody>
      </p:sp>
      <p:sp>
        <p:nvSpPr>
          <p:cNvPr id="13" name="Text 11">
            <a:hlinkClick r:id="rId4"/>
          </p:cNvPr>
          <p:cNvSpPr/>
          <p:nvPr/>
        </p:nvSpPr>
        <p:spPr>
          <a:xfrm>
            <a:off x="896112" y="2724912"/>
            <a:ext cx="3657600" cy="228600"/>
          </a:xfrm>
          <a:prstGeom prst="rect">
            <a:avLst/>
          </a:prstGeom>
          <a:noFill/>
          <a:ln/>
        </p:spPr>
        <p:txBody>
          <a:bodyPr wrap="square" lIns="0" tIns="0" rIns="0" bIns="0" rtlCol="0" anchor="ctr"/>
          <a:lstStyle/>
          <a:p>
            <a:pPr marL="0" indent="0">
              <a:buNone/>
            </a:pPr>
            <a:r>
              <a:rPr lang="en-US" sz="1800" u="sng" dirty="0">
                <a:solidFill>
                  <a:srgbClr val="0D1B2A"/>
                </a:solidFill>
                <a:latin typeface="Oswald" pitchFamily="34" charset="0"/>
                <a:ea typeface="Oswald" pitchFamily="34" charset="-122"/>
                <a:cs typeface="Oswald" pitchFamily="34" charset="-120"/>
                <a:hlinkClick r:id="rId4">
                  <a:extLst>
                    <a:ext uri="{A12FA001-AC4F-418D-AE19-62706E023703}">
                      <ahyp:hlinkClr xmlns:ahyp="http://schemas.microsoft.com/office/drawing/2018/hyperlinkcolor" val="tx"/>
                    </a:ext>
                  </a:extLst>
                </a:hlinkClick>
              </a:rPr>
              <a:t>AI Microlesson Series</a:t>
            </a:r>
            <a:endParaRPr lang="en-US" sz="1800" dirty="0"/>
          </a:p>
        </p:txBody>
      </p:sp>
      <p:sp>
        <p:nvSpPr>
          <p:cNvPr id="14" name="Text 12"/>
          <p:cNvSpPr/>
          <p:nvPr/>
        </p:nvSpPr>
        <p:spPr>
          <a:xfrm>
            <a:off x="896112" y="3044952"/>
            <a:ext cx="4114800" cy="201168"/>
          </a:xfrm>
          <a:prstGeom prst="rect">
            <a:avLst/>
          </a:prstGeom>
          <a:noFill/>
          <a:ln/>
        </p:spPr>
        <p:txBody>
          <a:bodyPr wrap="square" lIns="0" tIns="0" rIns="0" bIns="0" rtlCol="0" anchor="ctr"/>
          <a:lstStyle/>
          <a:p>
            <a:pPr marL="0" indent="0">
              <a:buNone/>
            </a:pPr>
            <a:r>
              <a:rPr lang="en-US" sz="1150" dirty="0">
                <a:solidFill>
                  <a:srgbClr val="6B7B8C"/>
                </a:solidFill>
                <a:latin typeface="Roboto" pitchFamily="34" charset="0"/>
                <a:ea typeface="Roboto" pitchFamily="34" charset="-122"/>
                <a:cs typeface="Roboto" pitchFamily="34" charset="-120"/>
              </a:rPr>
              <a:t>MGF Data · learning and development · practical AI concepts</a:t>
            </a:r>
            <a:endParaRPr lang="en-US" sz="1150" dirty="0"/>
          </a:p>
        </p:txBody>
      </p:sp>
      <p:sp>
        <p:nvSpPr>
          <p:cNvPr id="15" name="Text 13">
            <a:hlinkClick r:id="rId4"/>
          </p:cNvPr>
          <p:cNvSpPr/>
          <p:nvPr/>
        </p:nvSpPr>
        <p:spPr>
          <a:xfrm>
            <a:off x="4937760" y="2761488"/>
            <a:ext cx="3291840" cy="384048"/>
          </a:xfrm>
          <a:prstGeom prst="rect">
            <a:avLst/>
          </a:prstGeom>
          <a:noFill/>
          <a:ln/>
        </p:spPr>
        <p:txBody>
          <a:bodyPr wrap="square" lIns="0" tIns="0" rIns="0" bIns="0" rtlCol="0" anchor="ctr">
            <a:normAutofit/>
          </a:bodyPr>
          <a:lstStyle/>
          <a:p>
            <a:pPr marL="0" indent="0">
              <a:buNone/>
            </a:pPr>
            <a:r>
              <a:rPr lang="en-US" sz="740" u="sng" dirty="0">
                <a:solidFill>
                  <a:srgbClr val="1B9AAA"/>
                </a:solidFill>
                <a:latin typeface="JetBrains Mono" pitchFamily="34" charset="0"/>
                <a:ea typeface="JetBrains Mono" pitchFamily="34" charset="-122"/>
                <a:cs typeface="JetBrains Mono" pitchFamily="34" charset="-120"/>
                <a:hlinkClick r:id="rId4">
                  <a:extLst>
                    <a:ext uri="{A12FA001-AC4F-418D-AE19-62706E023703}">
                      <ahyp:hlinkClr xmlns:ahyp="http://schemas.microsoft.com/office/drawing/2018/hyperlinkcolor" val="tx"/>
                    </a:ext>
                  </a:extLst>
                </a:hlinkClick>
              </a:rPr>
              <a:t>https://evarooms.merckgroup.com/Topic/MGF-Data/learning-development/ai-microlesson-series</a:t>
            </a:r>
            <a:endParaRPr lang="en-US" sz="740" dirty="0"/>
          </a:p>
        </p:txBody>
      </p:sp>
      <p:sp>
        <p:nvSpPr>
          <p:cNvPr id="16" name="Shape 14"/>
          <p:cNvSpPr/>
          <p:nvPr/>
        </p:nvSpPr>
        <p:spPr>
          <a:xfrm>
            <a:off x="566928" y="3511296"/>
            <a:ext cx="8046720" cy="749808"/>
          </a:xfrm>
          <a:prstGeom prst="rect">
            <a:avLst/>
          </a:prstGeom>
          <a:solidFill>
            <a:srgbClr val="FFFFFF"/>
          </a:solidFill>
          <a:ln w="9525">
            <a:solidFill>
              <a:srgbClr val="DDE5E9"/>
            </a:solidFill>
            <a:prstDash val="solid"/>
          </a:ln>
        </p:spPr>
        <p:txBody>
          <a:bodyPr/>
          <a:lstStyle/>
          <a:p>
            <a:endParaRPr lang="en-US"/>
          </a:p>
        </p:txBody>
      </p:sp>
      <p:sp>
        <p:nvSpPr>
          <p:cNvPr id="17" name="Shape 15"/>
          <p:cNvSpPr/>
          <p:nvPr/>
        </p:nvSpPr>
        <p:spPr>
          <a:xfrm>
            <a:off x="566928" y="3511296"/>
            <a:ext cx="82296" cy="749808"/>
          </a:xfrm>
          <a:prstGeom prst="rect">
            <a:avLst/>
          </a:prstGeom>
          <a:solidFill>
            <a:srgbClr val="1B9AAA"/>
          </a:solidFill>
          <a:ln/>
        </p:spPr>
        <p:txBody>
          <a:bodyPr/>
          <a:lstStyle/>
          <a:p>
            <a:endParaRPr lang="en-US"/>
          </a:p>
        </p:txBody>
      </p:sp>
      <p:sp>
        <p:nvSpPr>
          <p:cNvPr id="18" name="Text 16">
            <a:hlinkClick r:id="rId5"/>
          </p:cNvPr>
          <p:cNvSpPr/>
          <p:nvPr/>
        </p:nvSpPr>
        <p:spPr>
          <a:xfrm>
            <a:off x="896112" y="3621024"/>
            <a:ext cx="3657600" cy="228600"/>
          </a:xfrm>
          <a:prstGeom prst="rect">
            <a:avLst/>
          </a:prstGeom>
          <a:noFill/>
          <a:ln/>
        </p:spPr>
        <p:txBody>
          <a:bodyPr wrap="square" lIns="0" tIns="0" rIns="0" bIns="0" rtlCol="0" anchor="ctr"/>
          <a:lstStyle/>
          <a:p>
            <a:pPr marL="0" indent="0">
              <a:buNone/>
            </a:pPr>
            <a:r>
              <a:rPr lang="en-US" sz="1800" u="sng" dirty="0">
                <a:solidFill>
                  <a:srgbClr val="0D1B2A"/>
                </a:solidFill>
                <a:latin typeface="Oswald" pitchFamily="34" charset="0"/>
                <a:ea typeface="Oswald" pitchFamily="34" charset="-122"/>
                <a:cs typeface="Oswald" pitchFamily="34" charset="-120"/>
              </a:rPr>
              <a:t>Merck Data and AI –Learning Hub</a:t>
            </a:r>
            <a:endParaRPr lang="en-US" sz="1800" dirty="0"/>
          </a:p>
        </p:txBody>
      </p:sp>
      <p:sp>
        <p:nvSpPr>
          <p:cNvPr id="19" name="Text 17"/>
          <p:cNvSpPr/>
          <p:nvPr/>
        </p:nvSpPr>
        <p:spPr>
          <a:xfrm>
            <a:off x="896112" y="3941064"/>
            <a:ext cx="4114800" cy="201168"/>
          </a:xfrm>
          <a:prstGeom prst="rect">
            <a:avLst/>
          </a:prstGeom>
          <a:noFill/>
          <a:ln/>
        </p:spPr>
        <p:txBody>
          <a:bodyPr wrap="square" lIns="0" tIns="0" rIns="0" bIns="0" rtlCol="0" anchor="ctr"/>
          <a:lstStyle/>
          <a:p>
            <a:pPr marL="0" indent="0">
              <a:buNone/>
            </a:pPr>
            <a:r>
              <a:rPr lang="en-US" sz="1150" dirty="0">
                <a:solidFill>
                  <a:srgbClr val="6B7B8C"/>
                </a:solidFill>
                <a:latin typeface="Roboto" pitchFamily="34" charset="0"/>
                <a:ea typeface="Roboto" pitchFamily="34" charset="-122"/>
                <a:cs typeface="Roboto" pitchFamily="34" charset="-120"/>
              </a:rPr>
              <a:t>Merck Data · learning resource</a:t>
            </a:r>
            <a:endParaRPr lang="en-US" sz="1150" dirty="0"/>
          </a:p>
        </p:txBody>
      </p:sp>
      <p:sp>
        <p:nvSpPr>
          <p:cNvPr id="20" name="Text 18">
            <a:hlinkClick r:id="rId5"/>
          </p:cNvPr>
          <p:cNvSpPr/>
          <p:nvPr/>
        </p:nvSpPr>
        <p:spPr>
          <a:xfrm>
            <a:off x="4937760" y="3657600"/>
            <a:ext cx="3291840" cy="384048"/>
          </a:xfrm>
          <a:prstGeom prst="rect">
            <a:avLst/>
          </a:prstGeom>
          <a:noFill/>
          <a:ln/>
        </p:spPr>
        <p:txBody>
          <a:bodyPr wrap="square" lIns="0" tIns="0" rIns="0" bIns="0" rtlCol="0" anchor="ctr">
            <a:normAutofit/>
          </a:bodyPr>
          <a:lstStyle/>
          <a:p>
            <a:pPr marL="0" indent="0">
              <a:buNone/>
            </a:pPr>
            <a:r>
              <a:rPr lang="en-US" sz="740" u="sng" dirty="0">
                <a:solidFill>
                  <a:srgbClr val="1B9AAA"/>
                </a:solidFill>
                <a:latin typeface="JetBrains Mono" pitchFamily="34" charset="0"/>
                <a:ea typeface="JetBrains Mono" pitchFamily="34" charset="-122"/>
                <a:cs typeface="JetBrains Mono" pitchFamily="34" charset="-120"/>
                <a:hlinkClick r:id="rId5">
                  <a:extLst>
                    <a:ext uri="{A12FA001-AC4F-418D-AE19-62706E023703}">
                      <ahyp:hlinkClr xmlns:ahyp="http://schemas.microsoft.com/office/drawing/2018/hyperlinkcolor" val="tx"/>
                    </a:ext>
                  </a:extLst>
                </a:hlinkClick>
              </a:rPr>
              <a:t>https://evarooms.merckgroup.com/Topic/MerckData/learn</a:t>
            </a:r>
            <a:endParaRPr lang="en-US" sz="7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2098</Words>
  <Application>Microsoft Macintosh PowerPoint</Application>
  <PresentationFormat>Bildschirmpräsentation (16:9)</PresentationFormat>
  <Paragraphs>264</Paragraphs>
  <Slides>18</Slides>
  <Notes>18</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18</vt:i4>
      </vt:variant>
    </vt:vector>
  </HeadingPairs>
  <TitlesOfParts>
    <vt:vector size="26" baseType="lpstr">
      <vt:lpstr>Arial</vt:lpstr>
      <vt:lpstr>Bahnschrift Condensed</vt:lpstr>
      <vt:lpstr>Consolas</vt:lpstr>
      <vt:lpstr>Courier New</vt:lpstr>
      <vt:lpstr>JetBrains Mono</vt:lpstr>
      <vt:lpstr>Oswald</vt:lpstr>
      <vt:lpstr>Roboto</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decides?</dc:title>
  <dc:subject>PptxGenJS Presentation</dc:subject>
  <dc:creator>myGPT Suite</dc:creator>
  <cp:lastModifiedBy>Lukas Rödl</cp:lastModifiedBy>
  <cp:revision>2</cp:revision>
  <dcterms:created xsi:type="dcterms:W3CDTF">2026-09-14T09:26:33Z</dcterms:created>
  <dcterms:modified xsi:type="dcterms:W3CDTF">2026-09-22T09:35:46Z</dcterms:modified>
</cp:coreProperties>
</file>