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336" r:id="rId3"/>
    <p:sldId id="257" r:id="rId4"/>
    <p:sldId id="376" r:id="rId5"/>
    <p:sldId id="377" r:id="rId6"/>
    <p:sldId id="355" r:id="rId7"/>
    <p:sldId id="378" r:id="rId8"/>
    <p:sldId id="359" r:id="rId9"/>
    <p:sldId id="383" r:id="rId10"/>
    <p:sldId id="379" r:id="rId11"/>
    <p:sldId id="387" r:id="rId12"/>
    <p:sldId id="380" r:id="rId13"/>
    <p:sldId id="385" r:id="rId14"/>
    <p:sldId id="388" r:id="rId15"/>
    <p:sldId id="356" r:id="rId16"/>
    <p:sldId id="270" r:id="rId17"/>
    <p:sldId id="358" r:id="rId18"/>
    <p:sldId id="389" r:id="rId19"/>
    <p:sldId id="284" r:id="rId20"/>
    <p:sldId id="285" r:id="rId21"/>
    <p:sldId id="289" r:id="rId22"/>
    <p:sldId id="381" r:id="rId23"/>
    <p:sldId id="258" r:id="rId24"/>
    <p:sldId id="259" r:id="rId25"/>
    <p:sldId id="260" r:id="rId26"/>
    <p:sldId id="261" r:id="rId27"/>
    <p:sldId id="262" r:id="rId28"/>
    <p:sldId id="263" r:id="rId29"/>
    <p:sldId id="264" r:id="rId30"/>
    <p:sldId id="265" r:id="rId31"/>
    <p:sldId id="266" r:id="rId32"/>
    <p:sldId id="274" r:id="rId33"/>
    <p:sldId id="269" r:id="rId34"/>
    <p:sldId id="275" r:id="rId3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D1CC"/>
    <a:srgbClr val="0B2B3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3699" autoAdjust="0"/>
    <p:restoredTop sz="94610"/>
  </p:normalViewPr>
  <p:slideViewPr>
    <p:cSldViewPr snapToGrid="0" snapToObjects="1">
      <p:cViewPr varScale="1">
        <p:scale>
          <a:sx n="145" d="100"/>
          <a:sy n="145" d="100"/>
        </p:scale>
        <p:origin x="184" y="2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32701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every step in this story moves one decision from the engineer to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Foundations. Note that only the last step is not a pure subset relationship.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an invented teaching example, not measured output from a particular model. The first distribution sums to 100% (45+25+20+10); the second also sums to 100% (70+15+10+5). "Other" aggregates all remaining vocabulary items. The model computes a conditional distribution P(next token | current context). Greedy decoding chooses the highest-scoring token; sampling can choose a lower-probability token. Temperature and other decoding settings affect selection. Tokens may be whole words, word fragments or punctuation. Training often uses next-token prediction; instruction tuning and other post-training methods influence subsequent behavior. This is the required classical probability-based generative-AI illustration.</a:t>
            </a:r>
          </a:p>
        </p:txBody>
      </p:sp>
      <p:sp>
        <p:nvSpPr>
          <p:cNvPr id="4" name="Slide Number Placeholder 3"/>
          <p:cNvSpPr>
            <a:spLocks noGrp="1"/>
          </p:cNvSpPr>
          <p:nvPr>
            <p:ph type="sldNum" sz="quarter" idx="5"/>
          </p:nvPr>
        </p:nvSpPr>
        <p:spPr/>
        <p:txBody>
          <a:bodyPr/>
          <a:lstStyle/>
          <a:p>
            <a:fld id="{268293A4-D7FB-4C4F-9FB1-BAAEFCDE513E}" type="slidenum">
              <a:rPr lang="en-US" smtClean="0"/>
              <a:t>16</a:t>
            </a:fld>
            <a:endParaRPr lang="en-US"/>
          </a:p>
        </p:txBody>
      </p:sp>
    </p:spTree>
    <p:extLst>
      <p:ext uri="{BB962C8B-B14F-4D97-AF65-F5344CB8AC3E}">
        <p14:creationId xmlns:p14="http://schemas.microsoft.com/office/powerpoint/2010/main" val="39076343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itself changes character: from a task on given material to a goal.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and the runtime loop are the two parts the rest of this deck unpacks.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Hand over from taxonomy to mechanics.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gaps are what everything that follows is answering.</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RAG first, tool use generalised it, MCP standardised the plumbing.</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 in classic RAG the model makes no decision at all.</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use is itself a learned skill: when to call, which tool, how to shape arguments.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 when presenting: the MCP spec moves fast; check current details.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anchor diagram for the whole talk.</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splits an AI system into three roles. The host owns the user experience and permissions, a client holds one connection per server, and each server exposes a focused capability through tools, resources and prompts.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engineering and governance implication, not the taxonomy.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slide. The deck references the AI Glossary for LE Teams, Q4 2024, the AI Microlesson Series on the MGF Data learning and development site, and the Merck Data learning resource.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78DF0F-DD56-4C3E-2B48-35E3EF2B7E7F}"/>
              </a:ext>
            </a:extLst>
          </p:cNvPr>
          <p:cNvSpPr>
            <a:spLocks noGrp="1"/>
          </p:cNvSpPr>
          <p:nvPr>
            <p:ph type="dt" sz="half" idx="10"/>
          </p:nvPr>
        </p:nvSpPr>
        <p:spPr/>
        <p:txBody>
          <a:bodyPr/>
          <a:lstStyle/>
          <a:p>
            <a:fld id="{990A80E8-06B7-46C8-9730-7088A7D38457}" type="datetimeFigureOut">
              <a:rPr lang="en-US" smtClean="0"/>
              <a:t>9/23/26</a:t>
            </a:fld>
            <a:endParaRPr lang="en-US"/>
          </a:p>
        </p:txBody>
      </p:sp>
      <p:sp>
        <p:nvSpPr>
          <p:cNvPr id="3" name="Footer Placeholder 2">
            <a:extLst>
              <a:ext uri="{FF2B5EF4-FFF2-40B4-BE49-F238E27FC236}">
                <a16:creationId xmlns:a16="http://schemas.microsoft.com/office/drawing/2014/main" id="{589D5061-057E-E425-09A7-7A1D3F9C98E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A851C34-4DBC-B32C-EBC9-8A717994991F}"/>
              </a:ext>
            </a:extLst>
          </p:cNvPr>
          <p:cNvSpPr>
            <a:spLocks noGrp="1"/>
          </p:cNvSpPr>
          <p:nvPr>
            <p:ph type="sldNum" sz="quarter" idx="12"/>
          </p:nvPr>
        </p:nvSpPr>
        <p:spPr/>
        <p:txBody>
          <a:bodyPr/>
          <a:lstStyle/>
          <a:p>
            <a:fld id="{97B361D9-8D1E-49E3-A856-CA9B3D3BB66A}" type="slidenum">
              <a:rPr lang="en-US" smtClean="0"/>
              <a:t>‹Nr.›</a:t>
            </a:fld>
            <a:endParaRPr lang="en-US"/>
          </a:p>
        </p:txBody>
      </p:sp>
    </p:spTree>
    <p:extLst>
      <p:ext uri="{BB962C8B-B14F-4D97-AF65-F5344CB8AC3E}">
        <p14:creationId xmlns:p14="http://schemas.microsoft.com/office/powerpoint/2010/main" val="41271246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MAIN">
    <p:bg>
      <p:bgPr>
        <a:solidFill>
          <a:srgbClr val="F1F5F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052198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hyperlink" Target="https://evarooms.merckgroup.com/Organization/Legal-Compliance/PublishingImages/le-knowledge-base/le-expert-groups/digital-data-economy/AI%20Glossary%20for%20LE%20Teams%20Q4%2024.pdf"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hyperlink" Target="https://evarooms.merckgroup.com/Topic/MerckData/learn" TargetMode="External"/><Relationship Id="rId4" Type="http://schemas.openxmlformats.org/officeDocument/2006/relationships/hyperlink" Target="https://evarooms.merckgroup.com/Topic/MGF-Data/learning-development/ai-microlesson-seri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5852160" y="-1371600"/>
            <a:ext cx="5120640" cy="5120640"/>
          </a:xfrm>
          <a:prstGeom prst="ellipse">
            <a:avLst/>
          </a:prstGeom>
          <a:solidFill>
            <a:srgbClr val="1B9AAA">
              <a:alpha val="18000"/>
            </a:srgbClr>
          </a:solidFill>
          <a:ln w="9525">
            <a:solidFill>
              <a:srgbClr val="1B9AAA"/>
            </a:solidFill>
            <a:prstDash val="solid"/>
          </a:ln>
        </p:spPr>
        <p:txBody>
          <a:bodyPr/>
          <a:lstStyle/>
          <a:p>
            <a:endParaRPr lang="en-US"/>
          </a:p>
        </p:txBody>
      </p:sp>
      <p:sp>
        <p:nvSpPr>
          <p:cNvPr id="3" name="Shape 1"/>
          <p:cNvSpPr/>
          <p:nvPr/>
        </p:nvSpPr>
        <p:spPr>
          <a:xfrm>
            <a:off x="6949440" y="2011680"/>
            <a:ext cx="3108960" cy="3108960"/>
          </a:xfrm>
          <a:prstGeom prst="ellipse">
            <a:avLst/>
          </a:prstGeom>
          <a:solidFill>
            <a:srgbClr val="06D6A0">
              <a:alpha val="12000"/>
            </a:srgbClr>
          </a:solidFill>
          <a:ln w="9525">
            <a:solidFill>
              <a:srgbClr val="06D6A0"/>
            </a:solidFill>
            <a:prstDash val="solid"/>
          </a:ln>
        </p:spPr>
        <p:txBody>
          <a:bodyPr/>
          <a:lstStyle/>
          <a:p>
            <a:endParaRPr lang="en-US"/>
          </a:p>
        </p:txBody>
      </p:sp>
      <p:sp>
        <p:nvSpPr>
          <p:cNvPr id="4" name="Text 2"/>
          <p:cNvSpPr/>
          <p:nvPr/>
        </p:nvSpPr>
        <p:spPr>
          <a:xfrm>
            <a:off x="731520" y="1234440"/>
            <a:ext cx="6400800" cy="274320"/>
          </a:xfrm>
          <a:prstGeom prst="rect">
            <a:avLst/>
          </a:prstGeom>
          <a:noFill/>
          <a:ln/>
        </p:spPr>
        <p:txBody>
          <a:bodyPr wrap="square" lIns="0" tIns="0" rIns="0" bIns="0" rtlCol="0" anchor="ctr"/>
          <a:lstStyle/>
          <a:p>
            <a:pPr marL="0" indent="0">
              <a:buNone/>
            </a:pPr>
            <a:r>
              <a:rPr lang="en-US" sz="1100" kern="0" spc="300" dirty="0">
                <a:solidFill>
                  <a:srgbClr val="06D6A0"/>
                </a:solidFill>
                <a:latin typeface="JetBrains Mono" pitchFamily="34" charset="0"/>
                <a:ea typeface="JetBrains Mono" pitchFamily="34" charset="-122"/>
                <a:cs typeface="JetBrains Mono" pitchFamily="34" charset="-120"/>
              </a:rPr>
              <a:t>A SHORT HISTORY OF AI</a:t>
            </a:r>
            <a:endParaRPr lang="en-US" sz="1100" dirty="0"/>
          </a:p>
        </p:txBody>
      </p:sp>
      <p:sp>
        <p:nvSpPr>
          <p:cNvPr id="5" name="Text 3"/>
          <p:cNvSpPr/>
          <p:nvPr/>
        </p:nvSpPr>
        <p:spPr>
          <a:xfrm>
            <a:off x="731520" y="1600200"/>
            <a:ext cx="6766560" cy="914400"/>
          </a:xfrm>
          <a:prstGeom prst="rect">
            <a:avLst/>
          </a:prstGeom>
          <a:noFill/>
          <a:ln/>
        </p:spPr>
        <p:txBody>
          <a:bodyPr wrap="square" lIns="0" tIns="0" rIns="0" bIns="0" rtlCol="0" anchor="ctr"/>
          <a:lstStyle/>
          <a:p>
            <a:pPr marL="0" indent="0">
              <a:buNone/>
            </a:pPr>
            <a:r>
              <a:rPr lang="en-US" sz="4400" dirty="0">
                <a:solidFill>
                  <a:srgbClr val="FFFFFF"/>
                </a:solidFill>
                <a:latin typeface="Oswald" pitchFamily="34" charset="0"/>
                <a:ea typeface="Oswald" pitchFamily="34" charset="-122"/>
                <a:cs typeface="Oswald" pitchFamily="34" charset="-120"/>
              </a:rPr>
              <a:t>From Generative AI to Agentic AI</a:t>
            </a:r>
            <a:endParaRPr lang="en-US" sz="4400" dirty="0"/>
          </a:p>
        </p:txBody>
      </p:sp>
      <p:sp>
        <p:nvSpPr>
          <p:cNvPr id="6" name="Text 4"/>
          <p:cNvSpPr/>
          <p:nvPr/>
        </p:nvSpPr>
        <p:spPr>
          <a:xfrm>
            <a:off x="749808" y="2606040"/>
            <a:ext cx="6035040" cy="731520"/>
          </a:xfrm>
          <a:prstGeom prst="rect">
            <a:avLst/>
          </a:prstGeom>
          <a:noFill/>
          <a:ln/>
        </p:spPr>
        <p:txBody>
          <a:bodyPr wrap="square" lIns="0" tIns="0" rIns="0" bIns="0" rtlCol="0" anchor="ctr"/>
          <a:lstStyle/>
          <a:p>
            <a:pPr marL="0" indent="0">
              <a:buNone/>
            </a:pPr>
            <a:r>
              <a:rPr lang="en-US" sz="1600" dirty="0">
                <a:solidFill>
                  <a:srgbClr val="AFC2CE"/>
                </a:solidFill>
                <a:latin typeface="Roboto" pitchFamily="34" charset="0"/>
                <a:ea typeface="Roboto" pitchFamily="34" charset="-122"/>
                <a:cs typeface="Roboto" pitchFamily="34" charset="-120"/>
              </a:rPr>
              <a:t>Welcome to terminology hell </a:t>
            </a:r>
            <a:r>
              <a:rPr lang="en-US" sz="1600" dirty="0">
                <a:solidFill>
                  <a:srgbClr val="AFC2CE"/>
                </a:solidFill>
                <a:latin typeface="Roboto" pitchFamily="34" charset="0"/>
                <a:ea typeface="Roboto" pitchFamily="34" charset="-122"/>
                <a:cs typeface="Roboto" pitchFamily="34" charset="-120"/>
                <a:sym typeface="Wingdings" panose="05000000000000000000" pitchFamily="2" charset="2"/>
              </a:rPr>
              <a:t> </a:t>
            </a:r>
            <a:endParaRPr lang="en-US" sz="1600" dirty="0"/>
          </a:p>
        </p:txBody>
      </p:sp>
      <p:sp>
        <p:nvSpPr>
          <p:cNvPr id="7" name="Shape 5"/>
          <p:cNvSpPr/>
          <p:nvPr/>
        </p:nvSpPr>
        <p:spPr>
          <a:xfrm>
            <a:off x="749808" y="3611880"/>
            <a:ext cx="822960" cy="41148"/>
          </a:xfrm>
          <a:prstGeom prst="rect">
            <a:avLst/>
          </a:prstGeom>
          <a:solidFill>
            <a:srgbClr val="06D6A0"/>
          </a:solidFill>
          <a:ln/>
        </p:spPr>
        <p:txBody>
          <a:bodyPr/>
          <a:lstStyle/>
          <a:p>
            <a:endParaRPr lang="en-US"/>
          </a:p>
        </p:txBody>
      </p:sp>
      <p:sp>
        <p:nvSpPr>
          <p:cNvPr id="8" name="Text 6"/>
          <p:cNvSpPr/>
          <p:nvPr/>
        </p:nvSpPr>
        <p:spPr>
          <a:xfrm>
            <a:off x="749808" y="3886200"/>
            <a:ext cx="6400800" cy="274320"/>
          </a:xfrm>
          <a:prstGeom prst="rect">
            <a:avLst/>
          </a:prstGeom>
          <a:noFill/>
          <a:ln/>
        </p:spPr>
        <p:txBody>
          <a:bodyPr wrap="square" lIns="0" tIns="0" rIns="0" bIns="0" rtlCol="0" anchor="ctr"/>
          <a:lstStyle/>
          <a:p>
            <a:pPr marL="0" indent="0">
              <a:buNone/>
            </a:pPr>
            <a:r>
              <a:rPr lang="en-US" sz="1000" dirty="0">
                <a:solidFill>
                  <a:srgbClr val="6B7B8C"/>
                </a:solidFill>
                <a:latin typeface="JetBrains Mono" pitchFamily="34" charset="0"/>
                <a:ea typeface="JetBrains Mono" pitchFamily="34" charset="-122"/>
                <a:cs typeface="JetBrains Mono" pitchFamily="34" charset="-120"/>
              </a:rPr>
              <a:t>Merck KGaA, Darmstadt, Germany  ·  myGPT Suite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160520" y="91439"/>
            <a:ext cx="4937760" cy="4937760"/>
          </a:xfrm>
          <a:prstGeom prst="ellipse">
            <a:avLst/>
          </a:prstGeom>
          <a:solidFill>
            <a:srgbClr val="1B9AAA">
              <a:alpha val="18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7589520" y="3566160"/>
            <a:ext cx="2743200" cy="2743200"/>
          </a:xfrm>
          <a:prstGeom prst="ellipse">
            <a:avLst/>
          </a:prstGeom>
          <a:solidFill>
            <a:srgbClr val="06D6A0">
              <a:alpha val="12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234440"/>
            <a:ext cx="3108960" cy="274320"/>
          </a:xfrm>
          <a:prstGeom prst="rect">
            <a:avLst/>
          </a:prstGeom>
          <a:noFill/>
        </p:spPr>
        <p:txBody>
          <a:bodyPr wrap="square" lIns="0" tIns="0" rIns="0" bIns="0" anchor="t">
            <a:spAutoFit/>
          </a:bodyPr>
          <a:lstStyle/>
          <a:p>
            <a:pPr algn="l"/>
            <a:r>
              <a:rPr sz="1100" b="0" spc="300">
                <a:solidFill>
                  <a:srgbClr val="06D6A0"/>
                </a:solidFill>
                <a:latin typeface="JetBrains Mono"/>
              </a:rPr>
              <a:t>BEFORE WE START</a:t>
            </a:r>
          </a:p>
        </p:txBody>
      </p:sp>
      <p:sp>
        <p:nvSpPr>
          <p:cNvPr id="5" name="terminology-hell-title"/>
          <p:cNvSpPr txBox="1"/>
          <p:nvPr/>
        </p:nvSpPr>
        <p:spPr>
          <a:xfrm>
            <a:off x="731520" y="1554480"/>
            <a:ext cx="3108960" cy="1645920"/>
          </a:xfrm>
          <a:prstGeom prst="rect">
            <a:avLst/>
          </a:prstGeom>
          <a:noFill/>
        </p:spPr>
        <p:txBody>
          <a:bodyPr wrap="square" lIns="0" tIns="0" rIns="0" bIns="0" anchor="t">
            <a:spAutoFit/>
          </a:bodyPr>
          <a:lstStyle/>
          <a:p>
            <a:pPr algn="l"/>
            <a:r>
              <a:rPr sz="4800" b="0">
                <a:solidFill>
                  <a:srgbClr val="FFFFFF"/>
                </a:solidFill>
                <a:latin typeface="Oswald"/>
              </a:rPr>
              <a:t>Terminology</a:t>
            </a:r>
          </a:p>
          <a:p>
            <a:pPr algn="l"/>
            <a:r>
              <a:rPr sz="4800" b="0">
                <a:solidFill>
                  <a:srgbClr val="FFFFFF"/>
                </a:solidFill>
                <a:latin typeface="Oswald"/>
              </a:rPr>
              <a:t>hell</a:t>
            </a:r>
          </a:p>
        </p:txBody>
      </p:sp>
      <p:sp>
        <p:nvSpPr>
          <p:cNvPr id="6" name="TextBox 5"/>
          <p:cNvSpPr txBox="1"/>
          <p:nvPr/>
        </p:nvSpPr>
        <p:spPr>
          <a:xfrm>
            <a:off x="731520" y="3246120"/>
            <a:ext cx="3017520" cy="822960"/>
          </a:xfrm>
          <a:prstGeom prst="rect">
            <a:avLst/>
          </a:prstGeom>
          <a:noFill/>
        </p:spPr>
        <p:txBody>
          <a:bodyPr wrap="square" lIns="0" tIns="0" rIns="0" bIns="0" anchor="t">
            <a:spAutoFit/>
          </a:bodyPr>
          <a:lstStyle/>
          <a:p>
            <a:pPr algn="l"/>
            <a:r>
              <a:rPr sz="1400" b="0">
                <a:solidFill>
                  <a:srgbClr val="AFC2CE"/>
                </a:solidFill>
                <a:latin typeface="Roboto"/>
              </a:rPr>
              <a:t>All of these terms show up in this talk. By the end, each one will have its place in the story.</a:t>
            </a:r>
          </a:p>
        </p:txBody>
      </p:sp>
      <p:sp>
        <p:nvSpPr>
          <p:cNvPr id="7" name="Rectangle 6"/>
          <p:cNvSpPr/>
          <p:nvPr/>
        </p:nvSpPr>
        <p:spPr>
          <a:xfrm>
            <a:off x="731520" y="42062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rot="21360000">
            <a:off x="5486400" y="548640"/>
            <a:ext cx="609600" cy="711200"/>
          </a:xfrm>
          <a:prstGeom prst="rect">
            <a:avLst/>
          </a:prstGeom>
          <a:noFill/>
        </p:spPr>
        <p:txBody>
          <a:bodyPr wrap="none" lIns="0" tIns="0" rIns="0" bIns="0" anchor="t">
            <a:spAutoFit/>
          </a:bodyPr>
          <a:lstStyle/>
          <a:p>
            <a:pPr algn="l"/>
            <a:r>
              <a:rPr sz="4000" b="0">
                <a:solidFill>
                  <a:srgbClr val="1B9AAA"/>
                </a:solidFill>
                <a:latin typeface="Oswald"/>
              </a:rPr>
              <a:t>LLM</a:t>
            </a:r>
          </a:p>
        </p:txBody>
      </p:sp>
      <p:sp>
        <p:nvSpPr>
          <p:cNvPr id="9" name="TextBox 8"/>
          <p:cNvSpPr txBox="1"/>
          <p:nvPr/>
        </p:nvSpPr>
        <p:spPr>
          <a:xfrm>
            <a:off x="6355080" y="804672"/>
            <a:ext cx="419100" cy="213359"/>
          </a:xfrm>
          <a:prstGeom prst="rect">
            <a:avLst/>
          </a:prstGeom>
          <a:noFill/>
        </p:spPr>
        <p:txBody>
          <a:bodyPr wrap="none" lIns="0" tIns="0" rIns="0" bIns="0" anchor="t">
            <a:spAutoFit/>
          </a:bodyPr>
          <a:lstStyle/>
          <a:p>
            <a:pPr algn="l"/>
            <a:r>
              <a:rPr sz="1200" b="0">
                <a:solidFill>
                  <a:srgbClr val="8FA6B2"/>
                </a:solidFill>
                <a:latin typeface="JetBrains Mono"/>
              </a:rPr>
              <a:t>Token</a:t>
            </a:r>
          </a:p>
        </p:txBody>
      </p:sp>
      <p:sp>
        <p:nvSpPr>
          <p:cNvPr id="10" name="TextBox 9"/>
          <p:cNvSpPr txBox="1"/>
          <p:nvPr/>
        </p:nvSpPr>
        <p:spPr>
          <a:xfrm rot="240000">
            <a:off x="7040880" y="530352"/>
            <a:ext cx="518160" cy="604520"/>
          </a:xfrm>
          <a:prstGeom prst="rect">
            <a:avLst/>
          </a:prstGeom>
          <a:noFill/>
        </p:spPr>
        <p:txBody>
          <a:bodyPr wrap="none" lIns="0" tIns="0" rIns="0" bIns="0" anchor="t">
            <a:spAutoFit/>
          </a:bodyPr>
          <a:lstStyle/>
          <a:p>
            <a:pPr algn="l"/>
            <a:r>
              <a:rPr sz="3400" b="0">
                <a:solidFill>
                  <a:srgbClr val="FFFFFF"/>
                </a:solidFill>
                <a:latin typeface="Oswald"/>
              </a:rPr>
              <a:t>MCP</a:t>
            </a:r>
          </a:p>
        </p:txBody>
      </p:sp>
      <p:sp>
        <p:nvSpPr>
          <p:cNvPr id="11" name="TextBox 10"/>
          <p:cNvSpPr txBox="1"/>
          <p:nvPr/>
        </p:nvSpPr>
        <p:spPr>
          <a:xfrm rot="21120000">
            <a:off x="4572000" y="1417320"/>
            <a:ext cx="544830" cy="231140"/>
          </a:xfrm>
          <a:prstGeom prst="rect">
            <a:avLst/>
          </a:prstGeom>
          <a:noFill/>
        </p:spPr>
        <p:txBody>
          <a:bodyPr wrap="none" lIns="0" tIns="0" rIns="0" bIns="0" anchor="t">
            <a:spAutoFit/>
          </a:bodyPr>
          <a:lstStyle/>
          <a:p>
            <a:pPr algn="l"/>
            <a:r>
              <a:rPr sz="1300" b="0">
                <a:solidFill>
                  <a:srgbClr val="06D6A0"/>
                </a:solidFill>
                <a:latin typeface="JetBrains Mono"/>
              </a:rPr>
              <a:t>Prompt</a:t>
            </a:r>
          </a:p>
        </p:txBody>
      </p:sp>
      <p:sp>
        <p:nvSpPr>
          <p:cNvPr id="12" name="TextBox 11"/>
          <p:cNvSpPr txBox="1"/>
          <p:nvPr/>
        </p:nvSpPr>
        <p:spPr>
          <a:xfrm>
            <a:off x="5440680" y="1051560"/>
            <a:ext cx="609600" cy="1066800"/>
          </a:xfrm>
          <a:prstGeom prst="rect">
            <a:avLst/>
          </a:prstGeom>
          <a:noFill/>
        </p:spPr>
        <p:txBody>
          <a:bodyPr wrap="none" lIns="0" tIns="0" rIns="0" bIns="0" anchor="t">
            <a:spAutoFit/>
          </a:bodyPr>
          <a:lstStyle/>
          <a:p>
            <a:pPr algn="l"/>
            <a:r>
              <a:rPr sz="6000" b="0">
                <a:solidFill>
                  <a:srgbClr val="FFFFFF"/>
                </a:solidFill>
                <a:latin typeface="Oswald"/>
              </a:rPr>
              <a:t>AI</a:t>
            </a:r>
          </a:p>
        </p:txBody>
      </p:sp>
      <p:sp>
        <p:nvSpPr>
          <p:cNvPr id="13" name="TextBox 12"/>
          <p:cNvSpPr txBox="1"/>
          <p:nvPr/>
        </p:nvSpPr>
        <p:spPr>
          <a:xfrm>
            <a:off x="6583680" y="1143000"/>
            <a:ext cx="1452880" cy="391160"/>
          </a:xfrm>
          <a:prstGeom prst="rect">
            <a:avLst/>
          </a:prstGeom>
          <a:noFill/>
        </p:spPr>
        <p:txBody>
          <a:bodyPr wrap="none" lIns="0" tIns="0" rIns="0" bIns="0" anchor="t">
            <a:spAutoFit/>
          </a:bodyPr>
          <a:lstStyle/>
          <a:p>
            <a:pPr algn="l"/>
            <a:r>
              <a:rPr sz="2200" b="0">
                <a:solidFill>
                  <a:srgbClr val="AFC2CE"/>
                </a:solidFill>
                <a:latin typeface="Oswald"/>
              </a:rPr>
              <a:t>Deep Learning</a:t>
            </a:r>
          </a:p>
        </p:txBody>
      </p:sp>
      <p:sp>
        <p:nvSpPr>
          <p:cNvPr id="14" name="TextBox 13"/>
          <p:cNvSpPr txBox="1"/>
          <p:nvPr/>
        </p:nvSpPr>
        <p:spPr>
          <a:xfrm>
            <a:off x="6400800" y="1691640"/>
            <a:ext cx="1337056" cy="284479"/>
          </a:xfrm>
          <a:prstGeom prst="rect">
            <a:avLst/>
          </a:prstGeom>
          <a:noFill/>
        </p:spPr>
        <p:txBody>
          <a:bodyPr wrap="none" lIns="0" tIns="0" rIns="0" bIns="0" anchor="t">
            <a:spAutoFit/>
          </a:bodyPr>
          <a:lstStyle/>
          <a:p>
            <a:pPr algn="l"/>
            <a:r>
              <a:rPr sz="1600" b="0">
                <a:solidFill>
                  <a:srgbClr val="AFC2CE"/>
                </a:solidFill>
                <a:latin typeface="Roboto"/>
              </a:rPr>
              <a:t>Neural Network</a:t>
            </a:r>
          </a:p>
        </p:txBody>
      </p:sp>
      <p:sp>
        <p:nvSpPr>
          <p:cNvPr id="15" name="TextBox 14"/>
          <p:cNvSpPr txBox="1"/>
          <p:nvPr/>
        </p:nvSpPr>
        <p:spPr>
          <a:xfrm rot="180000">
            <a:off x="7909560" y="1554480"/>
            <a:ext cx="457200" cy="533400"/>
          </a:xfrm>
          <a:prstGeom prst="rect">
            <a:avLst/>
          </a:prstGeom>
          <a:noFill/>
        </p:spPr>
        <p:txBody>
          <a:bodyPr wrap="none" lIns="0" tIns="0" rIns="0" bIns="0" anchor="t">
            <a:spAutoFit/>
          </a:bodyPr>
          <a:lstStyle/>
          <a:p>
            <a:pPr algn="l"/>
            <a:r>
              <a:rPr sz="3000" b="0">
                <a:solidFill>
                  <a:srgbClr val="1B9AAA"/>
                </a:solidFill>
                <a:latin typeface="Oswald"/>
              </a:rPr>
              <a:t>GPT</a:t>
            </a:r>
          </a:p>
        </p:txBody>
      </p:sp>
      <p:sp>
        <p:nvSpPr>
          <p:cNvPr id="16" name="TextBox 15"/>
          <p:cNvSpPr txBox="1"/>
          <p:nvPr/>
        </p:nvSpPr>
        <p:spPr>
          <a:xfrm>
            <a:off x="4434840" y="1874519"/>
            <a:ext cx="922020" cy="195580"/>
          </a:xfrm>
          <a:prstGeom prst="rect">
            <a:avLst/>
          </a:prstGeom>
          <a:noFill/>
        </p:spPr>
        <p:txBody>
          <a:bodyPr wrap="none" lIns="0" tIns="0" rIns="0" bIns="0" anchor="t">
            <a:spAutoFit/>
          </a:bodyPr>
          <a:lstStyle/>
          <a:p>
            <a:pPr algn="l"/>
            <a:r>
              <a:rPr sz="1100" b="0">
                <a:solidFill>
                  <a:srgbClr val="06D6A0"/>
                </a:solidFill>
                <a:latin typeface="JetBrains Mono"/>
              </a:rPr>
              <a:t>Pre-training</a:t>
            </a:r>
          </a:p>
        </p:txBody>
      </p:sp>
      <p:sp>
        <p:nvSpPr>
          <p:cNvPr id="17" name="TextBox 16"/>
          <p:cNvSpPr txBox="1"/>
          <p:nvPr/>
        </p:nvSpPr>
        <p:spPr>
          <a:xfrm>
            <a:off x="4389120" y="2240280"/>
            <a:ext cx="691515" cy="195580"/>
          </a:xfrm>
          <a:prstGeom prst="rect">
            <a:avLst/>
          </a:prstGeom>
          <a:noFill/>
        </p:spPr>
        <p:txBody>
          <a:bodyPr wrap="none" lIns="0" tIns="0" rIns="0" bIns="0" anchor="t">
            <a:spAutoFit/>
          </a:bodyPr>
          <a:lstStyle/>
          <a:p>
            <a:pPr algn="l"/>
            <a:r>
              <a:rPr sz="1100" b="0">
                <a:solidFill>
                  <a:srgbClr val="8FA6B2"/>
                </a:solidFill>
                <a:latin typeface="JetBrains Mono"/>
              </a:rPr>
              <a:t>Embedding</a:t>
            </a:r>
          </a:p>
        </p:txBody>
      </p:sp>
      <p:sp>
        <p:nvSpPr>
          <p:cNvPr id="18" name="TextBox 17"/>
          <p:cNvSpPr txBox="1"/>
          <p:nvPr/>
        </p:nvSpPr>
        <p:spPr>
          <a:xfrm>
            <a:off x="5669280" y="2148840"/>
            <a:ext cx="1625600" cy="355600"/>
          </a:xfrm>
          <a:prstGeom prst="rect">
            <a:avLst/>
          </a:prstGeom>
          <a:noFill/>
        </p:spPr>
        <p:txBody>
          <a:bodyPr wrap="none" lIns="0" tIns="0" rIns="0" bIns="0" anchor="t">
            <a:spAutoFit/>
          </a:bodyPr>
          <a:lstStyle/>
          <a:p>
            <a:pPr algn="l"/>
            <a:r>
              <a:rPr sz="2000" b="0">
                <a:solidFill>
                  <a:srgbClr val="FFFFFF"/>
                </a:solidFill>
                <a:latin typeface="Oswald"/>
              </a:rPr>
              <a:t>Machine Learning</a:t>
            </a:r>
          </a:p>
        </p:txBody>
      </p:sp>
      <p:sp>
        <p:nvSpPr>
          <p:cNvPr id="19" name="TextBox 18"/>
          <p:cNvSpPr txBox="1"/>
          <p:nvPr/>
        </p:nvSpPr>
        <p:spPr>
          <a:xfrm>
            <a:off x="7406640" y="2176272"/>
            <a:ext cx="1117600" cy="355600"/>
          </a:xfrm>
          <a:prstGeom prst="rect">
            <a:avLst/>
          </a:prstGeom>
          <a:noFill/>
        </p:spPr>
        <p:txBody>
          <a:bodyPr wrap="none" lIns="0" tIns="0" rIns="0" bIns="0" anchor="t">
            <a:spAutoFit/>
          </a:bodyPr>
          <a:lstStyle/>
          <a:p>
            <a:pPr algn="l"/>
            <a:r>
              <a:rPr sz="2000" b="0">
                <a:solidFill>
                  <a:srgbClr val="AFC2CE"/>
                </a:solidFill>
                <a:latin typeface="Oswald"/>
              </a:rPr>
              <a:t>Transformer</a:t>
            </a:r>
          </a:p>
        </p:txBody>
      </p:sp>
      <p:sp>
        <p:nvSpPr>
          <p:cNvPr id="20" name="TextBox 19"/>
          <p:cNvSpPr txBox="1"/>
          <p:nvPr/>
        </p:nvSpPr>
        <p:spPr>
          <a:xfrm>
            <a:off x="4434840" y="2697480"/>
            <a:ext cx="1551939" cy="231140"/>
          </a:xfrm>
          <a:prstGeom prst="rect">
            <a:avLst/>
          </a:prstGeom>
          <a:noFill/>
        </p:spPr>
        <p:txBody>
          <a:bodyPr wrap="none" lIns="0" tIns="0" rIns="0" bIns="0" anchor="t">
            <a:spAutoFit/>
          </a:bodyPr>
          <a:lstStyle/>
          <a:p>
            <a:pPr algn="l"/>
            <a:r>
              <a:rPr sz="1300" b="0">
                <a:solidFill>
                  <a:srgbClr val="AFC2CE"/>
                </a:solidFill>
                <a:latin typeface="Roboto"/>
              </a:rPr>
              <a:t>Next-word prediction</a:t>
            </a:r>
          </a:p>
        </p:txBody>
      </p:sp>
      <p:sp>
        <p:nvSpPr>
          <p:cNvPr id="21" name="TextBox 20"/>
          <p:cNvSpPr txBox="1"/>
          <p:nvPr/>
        </p:nvSpPr>
        <p:spPr>
          <a:xfrm>
            <a:off x="6172200" y="2606040"/>
            <a:ext cx="812800" cy="568959"/>
          </a:xfrm>
          <a:prstGeom prst="rect">
            <a:avLst/>
          </a:prstGeom>
          <a:noFill/>
        </p:spPr>
        <p:txBody>
          <a:bodyPr wrap="none" lIns="0" tIns="0" rIns="0" bIns="0" anchor="t">
            <a:spAutoFit/>
          </a:bodyPr>
          <a:lstStyle/>
          <a:p>
            <a:pPr algn="l"/>
            <a:r>
              <a:rPr sz="3200" b="0">
                <a:solidFill>
                  <a:srgbClr val="1B9AAA"/>
                </a:solidFill>
                <a:latin typeface="Oswald"/>
              </a:rPr>
              <a:t>GenAI</a:t>
            </a:r>
          </a:p>
        </p:txBody>
      </p:sp>
      <p:sp>
        <p:nvSpPr>
          <p:cNvPr id="22" name="TextBox 21"/>
          <p:cNvSpPr txBox="1"/>
          <p:nvPr/>
        </p:nvSpPr>
        <p:spPr>
          <a:xfrm rot="300000">
            <a:off x="7498079" y="2606040"/>
            <a:ext cx="548640" cy="640080"/>
          </a:xfrm>
          <a:prstGeom prst="rect">
            <a:avLst/>
          </a:prstGeom>
          <a:noFill/>
        </p:spPr>
        <p:txBody>
          <a:bodyPr wrap="none" lIns="0" tIns="0" rIns="0" bIns="0" anchor="t">
            <a:spAutoFit/>
          </a:bodyPr>
          <a:lstStyle/>
          <a:p>
            <a:pPr algn="l"/>
            <a:r>
              <a:rPr sz="3600" b="0">
                <a:solidFill>
                  <a:srgbClr val="06D6A0"/>
                </a:solidFill>
                <a:latin typeface="Oswald"/>
              </a:rPr>
              <a:t>RAG</a:t>
            </a:r>
          </a:p>
        </p:txBody>
      </p:sp>
      <p:sp>
        <p:nvSpPr>
          <p:cNvPr id="23" name="TextBox 22"/>
          <p:cNvSpPr txBox="1"/>
          <p:nvPr/>
        </p:nvSpPr>
        <p:spPr>
          <a:xfrm>
            <a:off x="4663440" y="3246120"/>
            <a:ext cx="812800" cy="355600"/>
          </a:xfrm>
          <a:prstGeom prst="rect">
            <a:avLst/>
          </a:prstGeom>
          <a:noFill/>
        </p:spPr>
        <p:txBody>
          <a:bodyPr wrap="none" lIns="0" tIns="0" rIns="0" bIns="0" anchor="t">
            <a:spAutoFit/>
          </a:bodyPr>
          <a:lstStyle/>
          <a:p>
            <a:pPr algn="l"/>
            <a:r>
              <a:rPr sz="2000" b="0">
                <a:solidFill>
                  <a:srgbClr val="FFFFFF"/>
                </a:solidFill>
                <a:latin typeface="Oswald"/>
              </a:rPr>
              <a:t>Tool use</a:t>
            </a:r>
          </a:p>
        </p:txBody>
      </p:sp>
      <p:sp>
        <p:nvSpPr>
          <p:cNvPr id="24" name="TextBox 23"/>
          <p:cNvSpPr txBox="1"/>
          <p:nvPr/>
        </p:nvSpPr>
        <p:spPr>
          <a:xfrm>
            <a:off x="5760720" y="3246120"/>
            <a:ext cx="894080" cy="391160"/>
          </a:xfrm>
          <a:prstGeom prst="rect">
            <a:avLst/>
          </a:prstGeom>
          <a:noFill/>
        </p:spPr>
        <p:txBody>
          <a:bodyPr wrap="none" lIns="0" tIns="0" rIns="0" bIns="0" anchor="t">
            <a:spAutoFit/>
          </a:bodyPr>
          <a:lstStyle/>
          <a:p>
            <a:pPr algn="l"/>
            <a:r>
              <a:rPr sz="2200" b="0">
                <a:solidFill>
                  <a:srgbClr val="1B9AAA"/>
                </a:solidFill>
                <a:latin typeface="Oswald"/>
              </a:rPr>
              <a:t>AI Agent</a:t>
            </a:r>
          </a:p>
        </p:txBody>
      </p:sp>
      <p:sp>
        <p:nvSpPr>
          <p:cNvPr id="25" name="TextBox 24"/>
          <p:cNvSpPr txBox="1"/>
          <p:nvPr/>
        </p:nvSpPr>
        <p:spPr>
          <a:xfrm rot="21420000">
            <a:off x="6949440" y="3337560"/>
            <a:ext cx="775969" cy="231140"/>
          </a:xfrm>
          <a:prstGeom prst="rect">
            <a:avLst/>
          </a:prstGeom>
          <a:noFill/>
        </p:spPr>
        <p:txBody>
          <a:bodyPr wrap="none" lIns="0" tIns="0" rIns="0" bIns="0" anchor="t">
            <a:spAutoFit/>
          </a:bodyPr>
          <a:lstStyle/>
          <a:p>
            <a:pPr algn="l"/>
            <a:r>
              <a:rPr sz="1300" b="0">
                <a:solidFill>
                  <a:srgbClr val="AFC2CE"/>
                </a:solidFill>
                <a:latin typeface="Roboto"/>
              </a:rPr>
              <a:t>MCP Server</a:t>
            </a:r>
          </a:p>
        </p:txBody>
      </p:sp>
      <p:sp>
        <p:nvSpPr>
          <p:cNvPr id="26" name="TextBox 25"/>
          <p:cNvSpPr txBox="1"/>
          <p:nvPr/>
        </p:nvSpPr>
        <p:spPr>
          <a:xfrm rot="21360000">
            <a:off x="5029200" y="3840480"/>
            <a:ext cx="1163954" cy="266700"/>
          </a:xfrm>
          <a:prstGeom prst="rect">
            <a:avLst/>
          </a:prstGeom>
          <a:noFill/>
        </p:spPr>
        <p:txBody>
          <a:bodyPr wrap="none" lIns="0" tIns="0" rIns="0" bIns="0" anchor="t">
            <a:spAutoFit/>
          </a:bodyPr>
          <a:lstStyle/>
          <a:p>
            <a:pPr algn="l"/>
            <a:r>
              <a:rPr sz="1500" b="0">
                <a:solidFill>
                  <a:srgbClr val="06D6A0"/>
                </a:solidFill>
                <a:latin typeface="Roboto"/>
              </a:rPr>
              <a:t>Hallucination</a:t>
            </a:r>
          </a:p>
        </p:txBody>
      </p:sp>
      <p:sp>
        <p:nvSpPr>
          <p:cNvPr id="27" name="TextBox 26"/>
          <p:cNvSpPr txBox="1"/>
          <p:nvPr/>
        </p:nvSpPr>
        <p:spPr>
          <a:xfrm rot="21420000">
            <a:off x="6263640" y="3749039"/>
            <a:ext cx="1422400" cy="497839"/>
          </a:xfrm>
          <a:prstGeom prst="rect">
            <a:avLst/>
          </a:prstGeom>
          <a:noFill/>
        </p:spPr>
        <p:txBody>
          <a:bodyPr wrap="none" lIns="0" tIns="0" rIns="0" bIns="0" anchor="t">
            <a:spAutoFit/>
          </a:bodyPr>
          <a:lstStyle/>
          <a:p>
            <a:pPr algn="l"/>
            <a:r>
              <a:rPr sz="2800" b="0">
                <a:solidFill>
                  <a:srgbClr val="FFFFFF"/>
                </a:solidFill>
                <a:latin typeface="Oswald"/>
              </a:rPr>
              <a:t>Agentic AI</a:t>
            </a:r>
          </a:p>
        </p:txBody>
      </p:sp>
      <p:sp>
        <p:nvSpPr>
          <p:cNvPr id="28" name="TextBox 27"/>
          <p:cNvSpPr txBox="1"/>
          <p:nvPr/>
        </p:nvSpPr>
        <p:spPr>
          <a:xfrm>
            <a:off x="5394960" y="4343400"/>
            <a:ext cx="1173480" cy="213359"/>
          </a:xfrm>
          <a:prstGeom prst="rect">
            <a:avLst/>
          </a:prstGeom>
          <a:noFill/>
        </p:spPr>
        <p:txBody>
          <a:bodyPr wrap="none" lIns="0" tIns="0" rIns="0" bIns="0" anchor="t">
            <a:spAutoFit/>
          </a:bodyPr>
          <a:lstStyle/>
          <a:p>
            <a:pPr algn="l"/>
            <a:r>
              <a:rPr sz="1200" b="0">
                <a:solidFill>
                  <a:srgbClr val="AFC2CE"/>
                </a:solidFill>
                <a:latin typeface="JetBrains Mono"/>
              </a:rPr>
              <a:t>Context window</a:t>
            </a:r>
          </a:p>
        </p:txBody>
      </p:sp>
      <p:sp>
        <p:nvSpPr>
          <p:cNvPr id="29" name="TextBox 28"/>
          <p:cNvSpPr txBox="1"/>
          <p:nvPr/>
        </p:nvSpPr>
        <p:spPr>
          <a:xfrm>
            <a:off x="6675120" y="4315968"/>
            <a:ext cx="998855" cy="195580"/>
          </a:xfrm>
          <a:prstGeom prst="rect">
            <a:avLst/>
          </a:prstGeom>
          <a:noFill/>
        </p:spPr>
        <p:txBody>
          <a:bodyPr wrap="none" lIns="0" tIns="0" rIns="0" bIns="0" anchor="t">
            <a:spAutoFit/>
          </a:bodyPr>
          <a:lstStyle/>
          <a:p>
            <a:pPr algn="l"/>
            <a:r>
              <a:rPr sz="1100" b="0">
                <a:solidFill>
                  <a:srgbClr val="8FA6B2"/>
                </a:solidFill>
                <a:latin typeface="JetBrains Mono"/>
              </a:rPr>
              <a:t>Rule-based AI</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FOUNDATIONS · 1955–2024</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Five nested ideas, seventy years</a:t>
            </a:r>
            <a:endParaRPr lang="en-US" sz="3200" dirty="0"/>
          </a:p>
        </p:txBody>
      </p:sp>
      <p:sp>
        <p:nvSpPr>
          <p:cNvPr id="5" name="Shape 3"/>
          <p:cNvSpPr/>
          <p:nvPr/>
        </p:nvSpPr>
        <p:spPr>
          <a:xfrm>
            <a:off x="640080" y="1463040"/>
            <a:ext cx="3703320" cy="3127248"/>
          </a:xfrm>
          <a:prstGeom prst="rect">
            <a:avLst/>
          </a:prstGeom>
          <a:solidFill>
            <a:srgbClr val="1B9AAA">
              <a:alpha val="7000"/>
            </a:srgbClr>
          </a:solidFill>
          <a:ln w="9525">
            <a:solidFill>
              <a:srgbClr val="14293D"/>
            </a:solidFill>
            <a:prstDash val="solid"/>
          </a:ln>
        </p:spPr>
        <p:txBody>
          <a:bodyPr/>
          <a:lstStyle/>
          <a:p>
            <a:endParaRPr lang="en-US"/>
          </a:p>
        </p:txBody>
      </p:sp>
      <p:sp>
        <p:nvSpPr>
          <p:cNvPr id="6" name="Text 4"/>
          <p:cNvSpPr/>
          <p:nvPr/>
        </p:nvSpPr>
        <p:spPr>
          <a:xfrm>
            <a:off x="768096" y="1572768"/>
            <a:ext cx="3447288" cy="237744"/>
          </a:xfrm>
          <a:prstGeom prst="rect">
            <a:avLst/>
          </a:prstGeom>
          <a:noFill/>
          <a:ln/>
        </p:spPr>
        <p:txBody>
          <a:bodyPr wrap="square" lIns="0" tIns="0" rIns="0" bIns="0" rtlCol="0" anchor="ctr"/>
          <a:lstStyle/>
          <a:p>
            <a:pPr marL="0" indent="0">
              <a:buNone/>
            </a:pPr>
            <a:r>
              <a:rPr lang="en-US" sz="1200" dirty="0">
                <a:solidFill>
                  <a:srgbClr val="0D1B2A"/>
                </a:solidFill>
                <a:latin typeface="Oswald" pitchFamily="34" charset="0"/>
                <a:ea typeface="Oswald" pitchFamily="34" charset="-122"/>
                <a:cs typeface="Oswald" pitchFamily="34" charset="-120"/>
              </a:rPr>
              <a:t>Artificial Intelligence</a:t>
            </a:r>
            <a:endParaRPr lang="en-US" sz="1200" dirty="0"/>
          </a:p>
        </p:txBody>
      </p:sp>
      <p:sp>
        <p:nvSpPr>
          <p:cNvPr id="7" name="Shape 5"/>
          <p:cNvSpPr/>
          <p:nvPr/>
        </p:nvSpPr>
        <p:spPr>
          <a:xfrm>
            <a:off x="896112" y="1810512"/>
            <a:ext cx="3200400" cy="2542032"/>
          </a:xfrm>
          <a:prstGeom prst="rect">
            <a:avLst/>
          </a:prstGeom>
          <a:solidFill>
            <a:srgbClr val="1B9AAA">
              <a:alpha val="7000"/>
            </a:srgbClr>
          </a:solidFill>
          <a:ln w="9525">
            <a:solidFill>
              <a:srgbClr val="14293D"/>
            </a:solidFill>
            <a:prstDash val="solid"/>
          </a:ln>
        </p:spPr>
        <p:txBody>
          <a:bodyPr/>
          <a:lstStyle/>
          <a:p>
            <a:endParaRPr lang="en-US"/>
          </a:p>
        </p:txBody>
      </p:sp>
      <p:sp>
        <p:nvSpPr>
          <p:cNvPr id="8" name="Text 6"/>
          <p:cNvSpPr/>
          <p:nvPr/>
        </p:nvSpPr>
        <p:spPr>
          <a:xfrm>
            <a:off x="1024128" y="1920240"/>
            <a:ext cx="2944368" cy="237744"/>
          </a:xfrm>
          <a:prstGeom prst="rect">
            <a:avLst/>
          </a:prstGeom>
          <a:noFill/>
          <a:ln/>
        </p:spPr>
        <p:txBody>
          <a:bodyPr wrap="square" lIns="0" tIns="0" rIns="0" bIns="0" rtlCol="0" anchor="ctr"/>
          <a:lstStyle/>
          <a:p>
            <a:pPr marL="0" indent="0">
              <a:buNone/>
            </a:pPr>
            <a:r>
              <a:rPr lang="en-US" sz="1200" dirty="0">
                <a:solidFill>
                  <a:srgbClr val="0D1B2A"/>
                </a:solidFill>
                <a:latin typeface="Oswald" pitchFamily="34" charset="0"/>
                <a:ea typeface="Oswald" pitchFamily="34" charset="-122"/>
                <a:cs typeface="Oswald" pitchFamily="34" charset="-120"/>
              </a:rPr>
              <a:t>Machine Learning</a:t>
            </a:r>
            <a:endParaRPr lang="en-US" sz="1200" dirty="0"/>
          </a:p>
        </p:txBody>
      </p:sp>
      <p:sp>
        <p:nvSpPr>
          <p:cNvPr id="9" name="Shape 7"/>
          <p:cNvSpPr/>
          <p:nvPr/>
        </p:nvSpPr>
        <p:spPr>
          <a:xfrm>
            <a:off x="1152144" y="2157984"/>
            <a:ext cx="2697480" cy="1975104"/>
          </a:xfrm>
          <a:prstGeom prst="rect">
            <a:avLst/>
          </a:prstGeom>
          <a:solidFill>
            <a:srgbClr val="1B9AAA">
              <a:alpha val="7000"/>
            </a:srgbClr>
          </a:solidFill>
          <a:ln w="9525">
            <a:solidFill>
              <a:srgbClr val="14293D"/>
            </a:solidFill>
            <a:prstDash val="solid"/>
          </a:ln>
        </p:spPr>
        <p:txBody>
          <a:bodyPr/>
          <a:lstStyle/>
          <a:p>
            <a:endParaRPr lang="en-US"/>
          </a:p>
        </p:txBody>
      </p:sp>
      <p:sp>
        <p:nvSpPr>
          <p:cNvPr id="10" name="Text 8"/>
          <p:cNvSpPr/>
          <p:nvPr/>
        </p:nvSpPr>
        <p:spPr>
          <a:xfrm>
            <a:off x="1280160" y="2267712"/>
            <a:ext cx="2441448" cy="237744"/>
          </a:xfrm>
          <a:prstGeom prst="rect">
            <a:avLst/>
          </a:prstGeom>
          <a:noFill/>
          <a:ln/>
        </p:spPr>
        <p:txBody>
          <a:bodyPr wrap="square" lIns="0" tIns="0" rIns="0" bIns="0" rtlCol="0" anchor="ctr"/>
          <a:lstStyle/>
          <a:p>
            <a:pPr marL="0" indent="0">
              <a:buNone/>
            </a:pPr>
            <a:r>
              <a:rPr lang="en-US" sz="1200" dirty="0">
                <a:solidFill>
                  <a:srgbClr val="0D1B2A"/>
                </a:solidFill>
                <a:latin typeface="Oswald" pitchFamily="34" charset="0"/>
                <a:ea typeface="Oswald" pitchFamily="34" charset="-122"/>
                <a:cs typeface="Oswald" pitchFamily="34" charset="-120"/>
              </a:rPr>
              <a:t>Deep Learning</a:t>
            </a:r>
            <a:endParaRPr lang="en-US" sz="1200" dirty="0"/>
          </a:p>
        </p:txBody>
      </p:sp>
      <p:sp>
        <p:nvSpPr>
          <p:cNvPr id="11" name="Shape 9"/>
          <p:cNvSpPr/>
          <p:nvPr/>
        </p:nvSpPr>
        <p:spPr>
          <a:xfrm>
            <a:off x="1408176" y="2780465"/>
            <a:ext cx="1011890" cy="941832"/>
          </a:xfrm>
          <a:prstGeom prst="rect">
            <a:avLst/>
          </a:prstGeom>
          <a:solidFill>
            <a:srgbClr val="1B9AAA">
              <a:alpha val="7000"/>
            </a:srgbClr>
          </a:solidFill>
          <a:ln w="9525">
            <a:solidFill>
              <a:srgbClr val="14293D"/>
            </a:solidFill>
            <a:prstDash val="solid"/>
          </a:ln>
        </p:spPr>
        <p:txBody>
          <a:bodyPr/>
          <a:lstStyle/>
          <a:p>
            <a:endParaRPr lang="en-US"/>
          </a:p>
        </p:txBody>
      </p:sp>
      <p:sp>
        <p:nvSpPr>
          <p:cNvPr id="12" name="Text 10"/>
          <p:cNvSpPr/>
          <p:nvPr/>
        </p:nvSpPr>
        <p:spPr>
          <a:xfrm>
            <a:off x="1527048" y="2881049"/>
            <a:ext cx="1225296" cy="237744"/>
          </a:xfrm>
          <a:prstGeom prst="rect">
            <a:avLst/>
          </a:prstGeom>
          <a:noFill/>
          <a:ln/>
        </p:spPr>
        <p:txBody>
          <a:bodyPr wrap="square" lIns="0" tIns="0" rIns="0" bIns="0" rtlCol="0" anchor="ctr"/>
          <a:lstStyle/>
          <a:p>
            <a:pPr marL="0" indent="0">
              <a:buNone/>
            </a:pPr>
            <a:r>
              <a:rPr lang="en-US" sz="1100" dirty="0">
                <a:solidFill>
                  <a:srgbClr val="0D1B2A"/>
                </a:solidFill>
                <a:latin typeface="Oswald" pitchFamily="34" charset="0"/>
                <a:ea typeface="Oswald" pitchFamily="34" charset="-122"/>
                <a:cs typeface="Oswald" pitchFamily="34" charset="-120"/>
              </a:rPr>
              <a:t>Generative AI</a:t>
            </a:r>
            <a:endParaRPr lang="en-US" sz="1100" dirty="0"/>
          </a:p>
        </p:txBody>
      </p:sp>
      <p:sp>
        <p:nvSpPr>
          <p:cNvPr id="13" name="Shape 11"/>
          <p:cNvSpPr/>
          <p:nvPr/>
        </p:nvSpPr>
        <p:spPr>
          <a:xfrm>
            <a:off x="2548082" y="2789609"/>
            <a:ext cx="1011890" cy="941832"/>
          </a:xfrm>
          <a:prstGeom prst="rect">
            <a:avLst/>
          </a:prstGeom>
          <a:solidFill>
            <a:srgbClr val="06D6A0">
              <a:alpha val="18000"/>
            </a:srgbClr>
          </a:solidFill>
          <a:ln w="12700">
            <a:solidFill>
              <a:srgbClr val="0D1B2A"/>
            </a:solidFill>
            <a:prstDash val="solid"/>
          </a:ln>
        </p:spPr>
        <p:txBody>
          <a:bodyPr/>
          <a:lstStyle/>
          <a:p>
            <a:endParaRPr lang="en-US"/>
          </a:p>
        </p:txBody>
      </p:sp>
      <p:sp>
        <p:nvSpPr>
          <p:cNvPr id="14" name="Text 12"/>
          <p:cNvSpPr/>
          <p:nvPr/>
        </p:nvSpPr>
        <p:spPr>
          <a:xfrm>
            <a:off x="2638044" y="2881049"/>
            <a:ext cx="1280160" cy="237744"/>
          </a:xfrm>
          <a:prstGeom prst="rect">
            <a:avLst/>
          </a:prstGeom>
          <a:noFill/>
          <a:ln/>
        </p:spPr>
        <p:txBody>
          <a:bodyPr wrap="square" lIns="0" tIns="0" rIns="0" bIns="0" rtlCol="0" anchor="ctr"/>
          <a:lstStyle/>
          <a:p>
            <a:pPr marL="0" indent="0">
              <a:buNone/>
            </a:pPr>
            <a:r>
              <a:rPr lang="en-US" sz="1100" dirty="0">
                <a:solidFill>
                  <a:srgbClr val="0D1B2A"/>
                </a:solidFill>
                <a:latin typeface="Oswald" pitchFamily="34" charset="0"/>
                <a:ea typeface="Oswald" pitchFamily="34" charset="-122"/>
                <a:cs typeface="Oswald" pitchFamily="34" charset="-120"/>
              </a:rPr>
              <a:t>Agentic AI</a:t>
            </a:r>
            <a:endParaRPr lang="en-US" sz="1100" dirty="0"/>
          </a:p>
        </p:txBody>
      </p:sp>
      <p:sp>
        <p:nvSpPr>
          <p:cNvPr id="16" name="Shape 14"/>
          <p:cNvSpPr/>
          <p:nvPr/>
        </p:nvSpPr>
        <p:spPr>
          <a:xfrm>
            <a:off x="4617720" y="1463040"/>
            <a:ext cx="566928" cy="237744"/>
          </a:xfrm>
          <a:prstGeom prst="rect">
            <a:avLst/>
          </a:prstGeom>
          <a:solidFill>
            <a:srgbClr val="1B9AAA"/>
          </a:solidFill>
          <a:ln/>
        </p:spPr>
        <p:txBody>
          <a:bodyPr/>
          <a:lstStyle/>
          <a:p>
            <a:endParaRPr lang="en-US"/>
          </a:p>
        </p:txBody>
      </p:sp>
      <p:sp>
        <p:nvSpPr>
          <p:cNvPr id="17" name="Text 15"/>
          <p:cNvSpPr/>
          <p:nvPr/>
        </p:nvSpPr>
        <p:spPr>
          <a:xfrm>
            <a:off x="4617720" y="149504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1955</a:t>
            </a:r>
            <a:endParaRPr lang="en-US" sz="950" dirty="0"/>
          </a:p>
        </p:txBody>
      </p:sp>
      <p:sp>
        <p:nvSpPr>
          <p:cNvPr id="18" name="Text 16"/>
          <p:cNvSpPr/>
          <p:nvPr/>
        </p:nvSpPr>
        <p:spPr>
          <a:xfrm>
            <a:off x="5303520" y="146761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Artificial Intelligence</a:t>
            </a:r>
            <a:endParaRPr lang="en-US" sz="1400" dirty="0"/>
          </a:p>
        </p:txBody>
      </p:sp>
      <p:sp>
        <p:nvSpPr>
          <p:cNvPr id="19" name="Text 17"/>
          <p:cNvSpPr/>
          <p:nvPr/>
        </p:nvSpPr>
        <p:spPr>
          <a:xfrm>
            <a:off x="5303520" y="172821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The overarching field: machines performing tasks that require human-like intelligence.</a:t>
            </a:r>
            <a:endParaRPr lang="en-US" sz="950" dirty="0"/>
          </a:p>
        </p:txBody>
      </p:sp>
      <p:sp>
        <p:nvSpPr>
          <p:cNvPr id="20" name="Shape 18"/>
          <p:cNvSpPr/>
          <p:nvPr/>
        </p:nvSpPr>
        <p:spPr>
          <a:xfrm>
            <a:off x="4617720" y="2103120"/>
            <a:ext cx="566928" cy="237744"/>
          </a:xfrm>
          <a:prstGeom prst="rect">
            <a:avLst/>
          </a:prstGeom>
          <a:solidFill>
            <a:srgbClr val="1B9AAA"/>
          </a:solidFill>
          <a:ln/>
        </p:spPr>
        <p:txBody>
          <a:bodyPr/>
          <a:lstStyle/>
          <a:p>
            <a:endParaRPr lang="en-US"/>
          </a:p>
        </p:txBody>
      </p:sp>
      <p:sp>
        <p:nvSpPr>
          <p:cNvPr id="21" name="Text 19"/>
          <p:cNvSpPr/>
          <p:nvPr/>
        </p:nvSpPr>
        <p:spPr>
          <a:xfrm>
            <a:off x="4617720" y="213512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1959</a:t>
            </a:r>
            <a:endParaRPr lang="en-US" sz="950" dirty="0"/>
          </a:p>
        </p:txBody>
      </p:sp>
      <p:sp>
        <p:nvSpPr>
          <p:cNvPr id="22" name="Text 20"/>
          <p:cNvSpPr/>
          <p:nvPr/>
        </p:nvSpPr>
        <p:spPr>
          <a:xfrm>
            <a:off x="5303520" y="210769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Machine Learning</a:t>
            </a:r>
            <a:endParaRPr lang="en-US" sz="1400" dirty="0"/>
          </a:p>
        </p:txBody>
      </p:sp>
      <p:sp>
        <p:nvSpPr>
          <p:cNvPr id="23" name="Text 21"/>
          <p:cNvSpPr/>
          <p:nvPr/>
        </p:nvSpPr>
        <p:spPr>
          <a:xfrm>
            <a:off x="5303520" y="236829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A subset of AI: learning from data instead of explicit programming, to predict, classify or detect patterns.</a:t>
            </a:r>
            <a:endParaRPr lang="en-US" sz="950" dirty="0"/>
          </a:p>
        </p:txBody>
      </p:sp>
      <p:sp>
        <p:nvSpPr>
          <p:cNvPr id="24" name="Shape 22"/>
          <p:cNvSpPr/>
          <p:nvPr/>
        </p:nvSpPr>
        <p:spPr>
          <a:xfrm>
            <a:off x="4617720" y="2743200"/>
            <a:ext cx="566928" cy="237744"/>
          </a:xfrm>
          <a:prstGeom prst="rect">
            <a:avLst/>
          </a:prstGeom>
          <a:solidFill>
            <a:srgbClr val="1B9AAA"/>
          </a:solidFill>
          <a:ln/>
        </p:spPr>
        <p:txBody>
          <a:bodyPr/>
          <a:lstStyle/>
          <a:p>
            <a:endParaRPr lang="en-US"/>
          </a:p>
        </p:txBody>
      </p:sp>
      <p:sp>
        <p:nvSpPr>
          <p:cNvPr id="25" name="Text 23"/>
          <p:cNvSpPr/>
          <p:nvPr/>
        </p:nvSpPr>
        <p:spPr>
          <a:xfrm>
            <a:off x="4617720" y="277520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2012</a:t>
            </a:r>
            <a:endParaRPr lang="en-US" sz="950" dirty="0"/>
          </a:p>
        </p:txBody>
      </p:sp>
      <p:sp>
        <p:nvSpPr>
          <p:cNvPr id="26" name="Text 24"/>
          <p:cNvSpPr/>
          <p:nvPr/>
        </p:nvSpPr>
        <p:spPr>
          <a:xfrm>
            <a:off x="5303520" y="274777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Deep Learning</a:t>
            </a:r>
            <a:endParaRPr lang="en-US" sz="1400" dirty="0"/>
          </a:p>
        </p:txBody>
      </p:sp>
      <p:sp>
        <p:nvSpPr>
          <p:cNvPr id="27" name="Text 25"/>
          <p:cNvSpPr/>
          <p:nvPr/>
        </p:nvSpPr>
        <p:spPr>
          <a:xfrm>
            <a:off x="5303520" y="300837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A subset of ML using many-layered neural networks to find complex patterns in large, unstructured data — text, images, audio, video.</a:t>
            </a:r>
            <a:endParaRPr lang="en-US" sz="950" dirty="0"/>
          </a:p>
        </p:txBody>
      </p:sp>
      <p:sp>
        <p:nvSpPr>
          <p:cNvPr id="28" name="Shape 26"/>
          <p:cNvSpPr/>
          <p:nvPr/>
        </p:nvSpPr>
        <p:spPr>
          <a:xfrm>
            <a:off x="4617720" y="3383280"/>
            <a:ext cx="566928" cy="237744"/>
          </a:xfrm>
          <a:prstGeom prst="rect">
            <a:avLst/>
          </a:prstGeom>
          <a:solidFill>
            <a:srgbClr val="1B9AAA"/>
          </a:solidFill>
          <a:ln/>
        </p:spPr>
        <p:txBody>
          <a:bodyPr/>
          <a:lstStyle/>
          <a:p>
            <a:endParaRPr lang="en-US"/>
          </a:p>
        </p:txBody>
      </p:sp>
      <p:sp>
        <p:nvSpPr>
          <p:cNvPr id="29" name="Text 27"/>
          <p:cNvSpPr/>
          <p:nvPr/>
        </p:nvSpPr>
        <p:spPr>
          <a:xfrm>
            <a:off x="4617720" y="3415284"/>
            <a:ext cx="566928" cy="182880"/>
          </a:xfrm>
          <a:prstGeom prst="rect">
            <a:avLst/>
          </a:prstGeom>
          <a:noFill/>
          <a:ln/>
        </p:spPr>
        <p:txBody>
          <a:bodyPr wrap="square" lIns="0" tIns="0" rIns="0" bIns="0" rtlCol="0" anchor="ctr"/>
          <a:lstStyle/>
          <a:p>
            <a:pPr marL="0" indent="0" algn="ctr">
              <a:buNone/>
            </a:pPr>
            <a:r>
              <a:rPr lang="en-US" sz="950" dirty="0">
                <a:solidFill>
                  <a:srgbClr val="FFFFFF"/>
                </a:solidFill>
                <a:latin typeface="JetBrains Mono" pitchFamily="34" charset="0"/>
                <a:ea typeface="JetBrains Mono" pitchFamily="34" charset="-122"/>
                <a:cs typeface="JetBrains Mono" pitchFamily="34" charset="-120"/>
              </a:rPr>
              <a:t>2018</a:t>
            </a:r>
            <a:endParaRPr lang="en-US" sz="950" dirty="0"/>
          </a:p>
        </p:txBody>
      </p:sp>
      <p:sp>
        <p:nvSpPr>
          <p:cNvPr id="30" name="Text 28"/>
          <p:cNvSpPr/>
          <p:nvPr/>
        </p:nvSpPr>
        <p:spPr>
          <a:xfrm>
            <a:off x="5303520" y="338785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Generative AI</a:t>
            </a:r>
            <a:endParaRPr lang="en-US" sz="1400" dirty="0"/>
          </a:p>
        </p:txBody>
      </p:sp>
      <p:sp>
        <p:nvSpPr>
          <p:cNvPr id="31" name="Text 29"/>
          <p:cNvSpPr/>
          <p:nvPr/>
        </p:nvSpPr>
        <p:spPr>
          <a:xfrm>
            <a:off x="5303520" y="364845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A branch of AI that creates new content — text, images, video, audio, code — by learning patterns from massive datasets.</a:t>
            </a:r>
            <a:endParaRPr lang="en-US" sz="950" dirty="0"/>
          </a:p>
        </p:txBody>
      </p:sp>
      <p:sp>
        <p:nvSpPr>
          <p:cNvPr id="32" name="Shape 30"/>
          <p:cNvSpPr/>
          <p:nvPr/>
        </p:nvSpPr>
        <p:spPr>
          <a:xfrm>
            <a:off x="4617720" y="4023360"/>
            <a:ext cx="566928" cy="237744"/>
          </a:xfrm>
          <a:prstGeom prst="rect">
            <a:avLst/>
          </a:prstGeom>
          <a:solidFill>
            <a:srgbClr val="06D6A0"/>
          </a:solidFill>
          <a:ln/>
        </p:spPr>
        <p:txBody>
          <a:bodyPr/>
          <a:lstStyle/>
          <a:p>
            <a:endParaRPr lang="en-US"/>
          </a:p>
        </p:txBody>
      </p:sp>
      <p:sp>
        <p:nvSpPr>
          <p:cNvPr id="33" name="Text 31"/>
          <p:cNvSpPr/>
          <p:nvPr/>
        </p:nvSpPr>
        <p:spPr>
          <a:xfrm>
            <a:off x="4617720" y="4055364"/>
            <a:ext cx="566928" cy="182880"/>
          </a:xfrm>
          <a:prstGeom prst="rect">
            <a:avLst/>
          </a:prstGeom>
          <a:noFill/>
          <a:ln/>
        </p:spPr>
        <p:txBody>
          <a:bodyPr wrap="square" lIns="0" tIns="0" rIns="0" bIns="0" rtlCol="0" anchor="ctr"/>
          <a:lstStyle/>
          <a:p>
            <a:pPr marL="0" indent="0" algn="ctr">
              <a:buNone/>
            </a:pPr>
            <a:r>
              <a:rPr lang="en-US" sz="950" dirty="0">
                <a:solidFill>
                  <a:srgbClr val="0D1B2A"/>
                </a:solidFill>
                <a:latin typeface="JetBrains Mono" pitchFamily="34" charset="0"/>
                <a:ea typeface="JetBrains Mono" pitchFamily="34" charset="-122"/>
                <a:cs typeface="JetBrains Mono" pitchFamily="34" charset="-120"/>
              </a:rPr>
              <a:t>2024</a:t>
            </a:r>
            <a:endParaRPr lang="en-US" sz="950" dirty="0"/>
          </a:p>
        </p:txBody>
      </p:sp>
      <p:sp>
        <p:nvSpPr>
          <p:cNvPr id="34" name="Text 32"/>
          <p:cNvSpPr/>
          <p:nvPr/>
        </p:nvSpPr>
        <p:spPr>
          <a:xfrm>
            <a:off x="5303520" y="4027932"/>
            <a:ext cx="3291840" cy="237744"/>
          </a:xfrm>
          <a:prstGeom prst="rect">
            <a:avLst/>
          </a:prstGeom>
          <a:noFill/>
          <a:ln/>
        </p:spPr>
        <p:txBody>
          <a:bodyPr wrap="square" lIns="0" tIns="0" rIns="0" bIns="0" rtlCol="0" anchor="ctr"/>
          <a:lstStyle/>
          <a:p>
            <a:pPr marL="0" indent="0">
              <a:buNone/>
            </a:pPr>
            <a:r>
              <a:rPr lang="en-US" sz="1400" dirty="0">
                <a:solidFill>
                  <a:srgbClr val="0D1B2A"/>
                </a:solidFill>
                <a:latin typeface="Oswald" pitchFamily="34" charset="0"/>
                <a:ea typeface="Oswald" pitchFamily="34" charset="-122"/>
                <a:cs typeface="Oswald" pitchFamily="34" charset="-120"/>
              </a:rPr>
              <a:t>Agentic AI</a:t>
            </a:r>
            <a:endParaRPr lang="en-US" sz="1400" dirty="0"/>
          </a:p>
        </p:txBody>
      </p:sp>
      <p:sp>
        <p:nvSpPr>
          <p:cNvPr id="35" name="Text 33"/>
          <p:cNvSpPr/>
          <p:nvPr/>
        </p:nvSpPr>
        <p:spPr>
          <a:xfrm>
            <a:off x="5303520" y="4288536"/>
            <a:ext cx="3310128" cy="36576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Builds on generative models by adding tool/API use, memory and planning in a closed loop, enabling autonomous goal pursuit beyond content creation.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0D1B2A"/>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8FA6B2"/>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THE BIG PICTURE · SINCE 1955</a:t>
            </a:r>
          </a:p>
        </p:txBody>
      </p:sp>
      <p:sp>
        <p:nvSpPr>
          <p:cNvPr id="47" name="section-ai"/>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Artificial</a:t>
            </a:r>
          </a:p>
          <a:p>
            <a:pPr algn="l"/>
            <a:r>
              <a:rPr sz="4800" b="0">
                <a:solidFill>
                  <a:srgbClr val="FFFFFF"/>
                </a:solidFill>
                <a:latin typeface="Oswald"/>
              </a:rPr>
              <a:t>Intelligence</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The big umbrella: machines doing tasks that normally need human intelligence.</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THE FAMILY TREE</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Each part of this talk is one branch of AI. The highlighted box shows where we are.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0D1B2A"/>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8FA6B2"/>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1 OF 5 · SINCE THE 1950S</a:t>
            </a:r>
          </a:p>
        </p:txBody>
      </p:sp>
      <p:sp>
        <p:nvSpPr>
          <p:cNvPr id="47" name="section-rulebased"/>
          <p:cNvSpPr txBox="1"/>
          <p:nvPr/>
        </p:nvSpPr>
        <p:spPr>
          <a:xfrm>
            <a:off x="731520" y="1234440"/>
            <a:ext cx="3657600" cy="740664"/>
          </a:xfrm>
          <a:prstGeom prst="rect">
            <a:avLst/>
          </a:prstGeom>
          <a:noFill/>
        </p:spPr>
        <p:txBody>
          <a:bodyPr wrap="square" lIns="0" tIns="0" rIns="0" bIns="0" anchor="t">
            <a:spAutoFit/>
          </a:bodyPr>
          <a:lstStyle/>
          <a:p>
            <a:pPr algn="l"/>
            <a:r>
              <a:rPr sz="4800" b="0">
                <a:solidFill>
                  <a:srgbClr val="FFFFFF"/>
                </a:solidFill>
                <a:latin typeface="Oswald"/>
              </a:rPr>
              <a:t>Rule-based AI</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People write down their knowledge as rules, and the computer follows them.</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Early AI: humans write the rules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FOUNDATIONS · STREAM 1 · 1950S–1980S</a:t>
            </a:r>
          </a:p>
        </p:txBody>
      </p:sp>
      <p:sp>
        <p:nvSpPr>
          <p:cNvPr id="4" name="slide-explicit-programming"/>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Early AI: humans write the rules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Rule-based AI (also called symbolic AI) captures knowledge in hand-written IF–THEN rules.</a:t>
            </a:r>
          </a:p>
        </p:txBody>
      </p:sp>
      <p:sp>
        <p:nvSpPr>
          <p:cNvPr id="6" name="Rectangle 5"/>
          <p:cNvSpPr/>
          <p:nvPr/>
        </p:nvSpPr>
        <p:spPr>
          <a:xfrm>
            <a:off x="566928" y="1783080"/>
            <a:ext cx="502920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EXAMPLE · IS THIS EMAIL SPAM?</a:t>
            </a:r>
          </a:p>
        </p:txBody>
      </p:sp>
      <p:sp>
        <p:nvSpPr>
          <p:cNvPr id="9" name="Rounded Rectangle 8"/>
          <p:cNvSpPr/>
          <p:nvPr/>
        </p:nvSpPr>
        <p:spPr>
          <a:xfrm>
            <a:off x="777240" y="2514599"/>
            <a:ext cx="2359151" cy="1481328"/>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549946"/>
            <a:ext cx="932681" cy="215444"/>
          </a:xfrm>
          <a:prstGeom prst="rect">
            <a:avLst/>
          </a:prstGeom>
          <a:noFill/>
        </p:spPr>
        <p:txBody>
          <a:bodyPr wrap="square" lIns="0" tIns="0" rIns="0" bIns="0" anchor="t">
            <a:spAutoFit/>
          </a:bodyPr>
          <a:lstStyle/>
          <a:p>
            <a:pPr algn="l"/>
            <a:r>
              <a:rPr sz="700" b="0" spc="100" dirty="0">
                <a:solidFill>
                  <a:srgbClr val="1B9AAA"/>
                </a:solidFill>
                <a:latin typeface="JetBrains Mono"/>
              </a:rPr>
              <a:t>RULES</a:t>
            </a:r>
            <a:r>
              <a:rPr lang="de-DE" sz="700" b="0" spc="100" dirty="0">
                <a:solidFill>
                  <a:srgbClr val="1B9AAA"/>
                </a:solidFill>
                <a:latin typeface="JetBrains Mono"/>
              </a:rPr>
              <a:t> </a:t>
            </a:r>
            <a:r>
              <a:rPr sz="700" b="0" spc="100" dirty="0">
                <a:solidFill>
                  <a:srgbClr val="1B9AAA"/>
                </a:solidFill>
                <a:latin typeface="JetBrains Mono"/>
              </a:rPr>
              <a:t>WRITTEN BY HAND</a:t>
            </a:r>
          </a:p>
        </p:txBody>
      </p:sp>
      <p:sp>
        <p:nvSpPr>
          <p:cNvPr id="11" name="Rounded Rectangle 10"/>
          <p:cNvSpPr/>
          <p:nvPr/>
        </p:nvSpPr>
        <p:spPr>
          <a:xfrm>
            <a:off x="914400" y="2084832"/>
            <a:ext cx="1920240" cy="34747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New email</a:t>
            </a:r>
          </a:p>
        </p:txBody>
      </p:sp>
      <p:cxnSp>
        <p:nvCxnSpPr>
          <p:cNvPr id="12" name="Connector 11"/>
          <p:cNvCxnSpPr>
            <a:cxnSpLocks/>
            <a:endCxn id="13" idx="0"/>
          </p:cNvCxnSpPr>
          <p:nvPr/>
        </p:nvCxnSpPr>
        <p:spPr>
          <a:xfrm>
            <a:off x="1874520" y="2432304"/>
            <a:ext cx="0" cy="358041"/>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2790345"/>
            <a:ext cx="1920240" cy="347472"/>
          </a:xfrm>
          <a:prstGeom prst="roundRect">
            <a:avLst>
              <a:gd name="adj" fmla="val 18000"/>
            </a:avLst>
          </a:prstGeom>
          <a:solidFill>
            <a:srgbClr val="FFFFFF"/>
          </a:solidFill>
          <a:ln w="1587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dirty="0">
                <a:solidFill>
                  <a:srgbClr val="1B9AAA"/>
                </a:solidFill>
                <a:latin typeface="JetBrains Mono"/>
              </a:rPr>
              <a:t>IF </a:t>
            </a:r>
            <a:r>
              <a:rPr sz="900" b="1" dirty="0">
                <a:solidFill>
                  <a:srgbClr val="1B9AAA"/>
                </a:solidFill>
                <a:latin typeface="JetBrains Mono"/>
              </a:rPr>
              <a:t> </a:t>
            </a:r>
            <a:r>
              <a:rPr sz="1000" b="0" dirty="0">
                <a:solidFill>
                  <a:srgbClr val="0D1B2A"/>
                </a:solidFill>
                <a:latin typeface="Roboto"/>
              </a:rPr>
              <a:t>it says “free money”</a:t>
            </a:r>
            <a:endParaRPr sz="1050" b="0" dirty="0">
              <a:solidFill>
                <a:srgbClr val="0D1B2A"/>
              </a:solidFill>
              <a:latin typeface="Roboto"/>
            </a:endParaRPr>
          </a:p>
        </p:txBody>
      </p:sp>
      <p:sp>
        <p:nvSpPr>
          <p:cNvPr id="14" name="Rounded Rectangle 13"/>
          <p:cNvSpPr/>
          <p:nvPr/>
        </p:nvSpPr>
        <p:spPr>
          <a:xfrm>
            <a:off x="914400" y="3419856"/>
            <a:ext cx="1920240" cy="347472"/>
          </a:xfrm>
          <a:prstGeom prst="roundRect">
            <a:avLst>
              <a:gd name="adj" fmla="val 18000"/>
            </a:avLst>
          </a:prstGeom>
          <a:solidFill>
            <a:srgbClr val="FFFFFF"/>
          </a:solidFill>
          <a:ln w="1587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b="1" dirty="0">
                <a:solidFill>
                  <a:srgbClr val="1B9AAA"/>
                </a:solidFill>
                <a:latin typeface="JetBrains Mono"/>
              </a:rPr>
              <a:t>ELSE IF  </a:t>
            </a:r>
            <a:r>
              <a:rPr sz="1000" b="0" dirty="0">
                <a:solidFill>
                  <a:srgbClr val="0D1B2A"/>
                </a:solidFill>
                <a:latin typeface="Roboto"/>
              </a:rPr>
              <a:t>unknown sender + link</a:t>
            </a:r>
            <a:endParaRPr sz="1050" b="0" dirty="0">
              <a:solidFill>
                <a:srgbClr val="0D1B2A"/>
              </a:solidFill>
              <a:latin typeface="Roboto"/>
            </a:endParaRPr>
          </a:p>
        </p:txBody>
      </p:sp>
      <p:cxnSp>
        <p:nvCxnSpPr>
          <p:cNvPr id="15" name="Connector 14"/>
          <p:cNvCxnSpPr>
            <a:cxnSpLocks/>
            <a:stCxn id="13" idx="3"/>
            <a:endCxn id="17" idx="1"/>
          </p:cNvCxnSpPr>
          <p:nvPr/>
        </p:nvCxnSpPr>
        <p:spPr>
          <a:xfrm>
            <a:off x="2834640" y="2964081"/>
            <a:ext cx="571500" cy="5621"/>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907791" y="2786571"/>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yes</a:t>
            </a:r>
          </a:p>
        </p:txBody>
      </p:sp>
      <p:sp>
        <p:nvSpPr>
          <p:cNvPr id="17" name="Rounded Rectangle 16"/>
          <p:cNvSpPr/>
          <p:nvPr/>
        </p:nvSpPr>
        <p:spPr>
          <a:xfrm>
            <a:off x="3406140" y="2795966"/>
            <a:ext cx="1920240" cy="34747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6D6A0"/>
                </a:solidFill>
                <a:latin typeface="JetBrains Mono"/>
              </a:rPr>
              <a:t>SPAM</a:t>
            </a:r>
          </a:p>
        </p:txBody>
      </p:sp>
      <p:cxnSp>
        <p:nvCxnSpPr>
          <p:cNvPr id="18" name="Connector 17"/>
          <p:cNvCxnSpPr>
            <a:cxnSpLocks/>
            <a:stCxn id="14" idx="3"/>
            <a:endCxn id="20" idx="1"/>
          </p:cNvCxnSpPr>
          <p:nvPr/>
        </p:nvCxnSpPr>
        <p:spPr>
          <a:xfrm>
            <a:off x="2834640" y="3593592"/>
            <a:ext cx="571500"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907791" y="3396996"/>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yes</a:t>
            </a:r>
          </a:p>
        </p:txBody>
      </p:sp>
      <p:sp>
        <p:nvSpPr>
          <p:cNvPr id="20" name="Rounded Rectangle 19"/>
          <p:cNvSpPr/>
          <p:nvPr/>
        </p:nvSpPr>
        <p:spPr>
          <a:xfrm>
            <a:off x="3406140" y="3419856"/>
            <a:ext cx="1920240" cy="34747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6D6A0"/>
                </a:solidFill>
                <a:latin typeface="JetBrains Mono"/>
              </a:rPr>
              <a:t>SPAM</a:t>
            </a:r>
          </a:p>
        </p:txBody>
      </p:sp>
      <p:cxnSp>
        <p:nvCxnSpPr>
          <p:cNvPr id="21" name="Connector 20"/>
          <p:cNvCxnSpPr>
            <a:cxnSpLocks/>
            <a:stCxn id="13" idx="2"/>
            <a:endCxn id="14" idx="0"/>
          </p:cNvCxnSpPr>
          <p:nvPr/>
        </p:nvCxnSpPr>
        <p:spPr>
          <a:xfrm>
            <a:off x="1874520" y="3137817"/>
            <a:ext cx="0" cy="282039"/>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a:cxnSpLocks/>
          </p:cNvCxnSpPr>
          <p:nvPr/>
        </p:nvCxnSpPr>
        <p:spPr>
          <a:xfrm>
            <a:off x="1874520" y="3767328"/>
            <a:ext cx="0" cy="365759"/>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933957" y="3187396"/>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no</a:t>
            </a:r>
          </a:p>
        </p:txBody>
      </p:sp>
      <p:sp>
        <p:nvSpPr>
          <p:cNvPr id="24" name="TextBox 23"/>
          <p:cNvSpPr txBox="1"/>
          <p:nvPr/>
        </p:nvSpPr>
        <p:spPr>
          <a:xfrm>
            <a:off x="1933957" y="3783139"/>
            <a:ext cx="365760" cy="182880"/>
          </a:xfrm>
          <a:prstGeom prst="rect">
            <a:avLst/>
          </a:prstGeom>
          <a:noFill/>
        </p:spPr>
        <p:txBody>
          <a:bodyPr wrap="square" lIns="0" tIns="0" rIns="0" bIns="0" anchor="t">
            <a:spAutoFit/>
          </a:bodyPr>
          <a:lstStyle/>
          <a:p>
            <a:pPr algn="l"/>
            <a:r>
              <a:rPr sz="900" b="0" dirty="0">
                <a:solidFill>
                  <a:srgbClr val="1B9AAA"/>
                </a:solidFill>
                <a:latin typeface="JetBrains Mono"/>
              </a:rPr>
              <a:t>no</a:t>
            </a:r>
          </a:p>
        </p:txBody>
      </p:sp>
      <p:sp>
        <p:nvSpPr>
          <p:cNvPr id="25" name="Rounded Rectangle 24"/>
          <p:cNvSpPr/>
          <p:nvPr/>
        </p:nvSpPr>
        <p:spPr>
          <a:xfrm>
            <a:off x="914399" y="4133087"/>
            <a:ext cx="1920240" cy="34747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NOT SPAM</a:t>
            </a:r>
          </a:p>
        </p:txBody>
      </p:sp>
      <p:sp>
        <p:nvSpPr>
          <p:cNvPr id="26" name="Rectangle 25"/>
          <p:cNvSpPr/>
          <p:nvPr/>
        </p:nvSpPr>
        <p:spPr>
          <a:xfrm>
            <a:off x="5760720" y="1783080"/>
            <a:ext cx="294436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760720" y="1783080"/>
            <a:ext cx="54864" cy="1298448"/>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71032"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WHERE IT BREAKS</a:t>
            </a:r>
          </a:p>
        </p:txBody>
      </p:sp>
      <p:sp>
        <p:nvSpPr>
          <p:cNvPr id="29" name="Rounded Rectangle 28"/>
          <p:cNvSpPr/>
          <p:nvPr/>
        </p:nvSpPr>
        <p:spPr>
          <a:xfrm>
            <a:off x="5971032" y="2157984"/>
            <a:ext cx="1965960" cy="292608"/>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Roboto"/>
              </a:rPr>
              <a:t>“Claim your prize today!”</a:t>
            </a:r>
          </a:p>
        </p:txBody>
      </p:sp>
      <p:sp>
        <p:nvSpPr>
          <p:cNvPr id="30" name="TextBox 29"/>
          <p:cNvSpPr txBox="1"/>
          <p:nvPr/>
        </p:nvSpPr>
        <p:spPr>
          <a:xfrm>
            <a:off x="8001000" y="2157984"/>
            <a:ext cx="228600" cy="292608"/>
          </a:xfrm>
          <a:prstGeom prst="rect">
            <a:avLst/>
          </a:prstGeom>
          <a:noFill/>
        </p:spPr>
        <p:txBody>
          <a:bodyPr wrap="square" lIns="0" tIns="0" rIns="0" bIns="0" anchor="ctr">
            <a:spAutoFit/>
          </a:bodyPr>
          <a:lstStyle/>
          <a:p>
            <a:pPr algn="l"/>
            <a:r>
              <a:rPr sz="1300" b="0">
                <a:solidFill>
                  <a:srgbClr val="6B7B8C"/>
                </a:solidFill>
                <a:latin typeface="Roboto"/>
              </a:rPr>
              <a:t>✗</a:t>
            </a:r>
          </a:p>
        </p:txBody>
      </p:sp>
      <p:sp>
        <p:nvSpPr>
          <p:cNvPr id="31" name="TextBox 30"/>
          <p:cNvSpPr txBox="1"/>
          <p:nvPr/>
        </p:nvSpPr>
        <p:spPr>
          <a:xfrm>
            <a:off x="5971032" y="2542032"/>
            <a:ext cx="2578608" cy="457200"/>
          </a:xfrm>
          <a:prstGeom prst="rect">
            <a:avLst/>
          </a:prstGeom>
          <a:noFill/>
        </p:spPr>
        <p:txBody>
          <a:bodyPr wrap="square" lIns="0" tIns="0" rIns="0" bIns="0" anchor="t">
            <a:spAutoFit/>
          </a:bodyPr>
          <a:lstStyle/>
          <a:p>
            <a:pPr algn="l"/>
            <a:r>
              <a:rPr sz="1000" b="0">
                <a:solidFill>
                  <a:srgbClr val="14293D"/>
                </a:solidFill>
                <a:latin typeface="Roboto"/>
              </a:rPr>
              <a:t>No rule matches, so it lands in the inbox. Every new trick needs a new rule.</a:t>
            </a:r>
          </a:p>
        </p:txBody>
      </p:sp>
      <p:sp>
        <p:nvSpPr>
          <p:cNvPr id="32" name="Rectangle 31"/>
          <p:cNvSpPr/>
          <p:nvPr/>
        </p:nvSpPr>
        <p:spPr>
          <a:xfrm>
            <a:off x="5760720" y="3227832"/>
            <a:ext cx="294436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5760720" y="3227832"/>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971032" y="3346704"/>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FAMOUS EXAMPLES</a:t>
            </a:r>
          </a:p>
        </p:txBody>
      </p:sp>
      <p:sp>
        <p:nvSpPr>
          <p:cNvPr id="35" name="TextBox 34"/>
          <p:cNvSpPr txBox="1"/>
          <p:nvPr/>
        </p:nvSpPr>
        <p:spPr>
          <a:xfrm>
            <a:off x="5971032" y="3602736"/>
            <a:ext cx="731520" cy="274320"/>
          </a:xfrm>
          <a:prstGeom prst="rect">
            <a:avLst/>
          </a:prstGeom>
          <a:noFill/>
        </p:spPr>
        <p:txBody>
          <a:bodyPr wrap="square" lIns="0" tIns="0" rIns="0" bIns="0" anchor="t">
            <a:spAutoFit/>
          </a:bodyPr>
          <a:lstStyle/>
          <a:p>
            <a:pPr algn="l"/>
            <a:r>
              <a:rPr sz="900" b="0">
                <a:solidFill>
                  <a:srgbClr val="1B9AAA"/>
                </a:solidFill>
                <a:latin typeface="JetBrains Mono"/>
              </a:rPr>
              <a:t>1956</a:t>
            </a:r>
          </a:p>
        </p:txBody>
      </p:sp>
      <p:sp>
        <p:nvSpPr>
          <p:cNvPr id="36" name="TextBox 35"/>
          <p:cNvSpPr txBox="1"/>
          <p:nvPr/>
        </p:nvSpPr>
        <p:spPr>
          <a:xfrm>
            <a:off x="6675120" y="3584448"/>
            <a:ext cx="1938527" cy="274320"/>
          </a:xfrm>
          <a:prstGeom prst="rect">
            <a:avLst/>
          </a:prstGeom>
          <a:noFill/>
        </p:spPr>
        <p:txBody>
          <a:bodyPr wrap="square" lIns="0" tIns="0" rIns="0" bIns="0" anchor="t">
            <a:spAutoFit/>
          </a:bodyPr>
          <a:lstStyle/>
          <a:p>
            <a:pPr algn="l"/>
            <a:r>
              <a:rPr sz="1000" b="0">
                <a:solidFill>
                  <a:srgbClr val="14293D"/>
                </a:solidFill>
                <a:latin typeface="Roboto"/>
              </a:rPr>
              <a:t>Logic Theorist proves theorems</a:t>
            </a:r>
          </a:p>
        </p:txBody>
      </p:sp>
      <p:sp>
        <p:nvSpPr>
          <p:cNvPr id="37" name="TextBox 36"/>
          <p:cNvSpPr txBox="1"/>
          <p:nvPr/>
        </p:nvSpPr>
        <p:spPr>
          <a:xfrm>
            <a:off x="5971032" y="3895344"/>
            <a:ext cx="731520" cy="274320"/>
          </a:xfrm>
          <a:prstGeom prst="rect">
            <a:avLst/>
          </a:prstGeom>
          <a:noFill/>
        </p:spPr>
        <p:txBody>
          <a:bodyPr wrap="square" lIns="0" tIns="0" rIns="0" bIns="0" anchor="t">
            <a:spAutoFit/>
          </a:bodyPr>
          <a:lstStyle/>
          <a:p>
            <a:pPr algn="l"/>
            <a:r>
              <a:rPr sz="900" b="0">
                <a:solidFill>
                  <a:srgbClr val="1B9AAA"/>
                </a:solidFill>
                <a:latin typeface="JetBrains Mono"/>
              </a:rPr>
              <a:t>1966</a:t>
            </a:r>
          </a:p>
        </p:txBody>
      </p:sp>
      <p:sp>
        <p:nvSpPr>
          <p:cNvPr id="38" name="TextBox 37"/>
          <p:cNvSpPr txBox="1"/>
          <p:nvPr/>
        </p:nvSpPr>
        <p:spPr>
          <a:xfrm>
            <a:off x="6675120" y="3877056"/>
            <a:ext cx="1938527" cy="274320"/>
          </a:xfrm>
          <a:prstGeom prst="rect">
            <a:avLst/>
          </a:prstGeom>
          <a:noFill/>
        </p:spPr>
        <p:txBody>
          <a:bodyPr wrap="square" lIns="0" tIns="0" rIns="0" bIns="0" anchor="t">
            <a:spAutoFit/>
          </a:bodyPr>
          <a:lstStyle/>
          <a:p>
            <a:pPr algn="l"/>
            <a:r>
              <a:rPr sz="1000" b="0">
                <a:solidFill>
                  <a:srgbClr val="14293D"/>
                </a:solidFill>
                <a:latin typeface="Roboto"/>
              </a:rPr>
              <a:t>ELIZA, a scripted chatbot</a:t>
            </a:r>
          </a:p>
        </p:txBody>
      </p:sp>
      <p:sp>
        <p:nvSpPr>
          <p:cNvPr id="39" name="TextBox 38"/>
          <p:cNvSpPr txBox="1"/>
          <p:nvPr/>
        </p:nvSpPr>
        <p:spPr>
          <a:xfrm>
            <a:off x="5971032" y="4187952"/>
            <a:ext cx="731520" cy="274320"/>
          </a:xfrm>
          <a:prstGeom prst="rect">
            <a:avLst/>
          </a:prstGeom>
          <a:noFill/>
        </p:spPr>
        <p:txBody>
          <a:bodyPr wrap="square" lIns="0" tIns="0" rIns="0" bIns="0" anchor="t">
            <a:spAutoFit/>
          </a:bodyPr>
          <a:lstStyle/>
          <a:p>
            <a:pPr algn="l"/>
            <a:r>
              <a:rPr sz="900" b="0">
                <a:solidFill>
                  <a:srgbClr val="1B9AAA"/>
                </a:solidFill>
                <a:latin typeface="JetBrains Mono"/>
              </a:rPr>
              <a:t>1970s–80s</a:t>
            </a:r>
          </a:p>
        </p:txBody>
      </p:sp>
      <p:sp>
        <p:nvSpPr>
          <p:cNvPr id="40" name="TextBox 39"/>
          <p:cNvSpPr txBox="1"/>
          <p:nvPr/>
        </p:nvSpPr>
        <p:spPr>
          <a:xfrm>
            <a:off x="6675120" y="4169664"/>
            <a:ext cx="1938527" cy="274320"/>
          </a:xfrm>
          <a:prstGeom prst="rect">
            <a:avLst/>
          </a:prstGeom>
          <a:noFill/>
        </p:spPr>
        <p:txBody>
          <a:bodyPr wrap="square" lIns="0" tIns="0" rIns="0" bIns="0" anchor="t">
            <a:spAutoFit/>
          </a:bodyPr>
          <a:lstStyle/>
          <a:p>
            <a:pPr algn="l"/>
            <a:r>
              <a:rPr sz="1000" b="0">
                <a:solidFill>
                  <a:srgbClr val="14293D"/>
                </a:solidFill>
                <a:latin typeface="Roboto"/>
              </a:rPr>
              <a:t>Expert systems, e.g. MYCIN</a:t>
            </a:r>
          </a:p>
        </p:txBody>
      </p:sp>
      <p:sp>
        <p:nvSpPr>
          <p:cNvPr id="41" name="Rectangle 40"/>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Rules + data → answers. Works for clear-cut problems, breaks on messy reality.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0D1B2A"/>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8FA6B2"/>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2 OF 5 · SINCE 1959</a:t>
            </a:r>
          </a:p>
        </p:txBody>
      </p:sp>
      <p:sp>
        <p:nvSpPr>
          <p:cNvPr id="47" name="section-ml"/>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Machine</a:t>
            </a:r>
          </a:p>
          <a:p>
            <a:pPr algn="l"/>
            <a:r>
              <a:rPr sz="4800" b="0">
                <a:solidFill>
                  <a:srgbClr val="FFFFFF"/>
                </a:solidFill>
                <a:latin typeface="Oswald"/>
              </a:rPr>
              <a:t>Learning</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Instead of following hand-written rules, the computer learns from examples.</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The computer finds the rules itself · Why learning pulled ahead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FOUNDATIONS · STREAM 2 · SINCE 1959</a:t>
            </a:r>
          </a:p>
        </p:txBody>
      </p:sp>
      <p:sp>
        <p:nvSpPr>
          <p:cNvPr id="4" name="slide-machine-learning"/>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Machine learning: the computer finds the rules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Instead of writing rules, show the computer many examples together with the right answer.</a:t>
            </a:r>
          </a:p>
        </p:txBody>
      </p:sp>
      <p:sp>
        <p:nvSpPr>
          <p:cNvPr id="6" name="Rectangle 5"/>
          <p:cNvSpPr/>
          <p:nvPr/>
        </p:nvSpPr>
        <p:spPr>
          <a:xfrm>
            <a:off x="566928" y="1783080"/>
            <a:ext cx="8138160" cy="210312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10312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85800" y="1856231"/>
            <a:ext cx="2194560" cy="1956816"/>
          </a:xfrm>
          <a:prstGeom prst="roundRect">
            <a:avLst>
              <a:gd name="adj" fmla="val 3738"/>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090672" y="1856231"/>
            <a:ext cx="1463040" cy="1956816"/>
          </a:xfrm>
          <a:prstGeom prst="roundRect">
            <a:avLst>
              <a:gd name="adj" fmla="val 5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754880" y="1856231"/>
            <a:ext cx="2011680" cy="1956816"/>
          </a:xfrm>
          <a:prstGeom prst="roundRect">
            <a:avLst>
              <a:gd name="adj" fmla="val 3738"/>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967728" y="1856231"/>
            <a:ext cx="1655064" cy="1956816"/>
          </a:xfrm>
          <a:prstGeom prst="roundRect">
            <a:avLst>
              <a:gd name="adj" fmla="val 4419"/>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2880360" y="2834640"/>
            <a:ext cx="192024"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53712" y="2834640"/>
            <a:ext cx="182880"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66560" y="2834640"/>
            <a:ext cx="182880" cy="0"/>
          </a:xfrm>
          <a:prstGeom prst="line">
            <a:avLst/>
          </a:prstGeom>
          <a:ln w="1905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95528" y="1920240"/>
            <a:ext cx="2103120" cy="228600"/>
          </a:xfrm>
          <a:prstGeom prst="rect">
            <a:avLst/>
          </a:prstGeom>
          <a:noFill/>
        </p:spPr>
        <p:txBody>
          <a:bodyPr wrap="square" lIns="0" tIns="0" rIns="0" bIns="0" anchor="t">
            <a:spAutoFit/>
          </a:bodyPr>
          <a:lstStyle/>
          <a:p>
            <a:pPr algn="l"/>
            <a:r>
              <a:rPr sz="850" b="0" spc="100">
                <a:solidFill>
                  <a:srgbClr val="1B9AAA"/>
                </a:solidFill>
                <a:latin typeface="JetBrains Mono"/>
              </a:rPr>
              <a:t>STEP 1: LABELLED EXAMPLES</a:t>
            </a:r>
          </a:p>
        </p:txBody>
      </p:sp>
      <p:sp>
        <p:nvSpPr>
          <p:cNvPr id="16" name="Rounded Rectangle 15"/>
          <p:cNvSpPr/>
          <p:nvPr/>
        </p:nvSpPr>
        <p:spPr>
          <a:xfrm>
            <a:off x="795528" y="2212848"/>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Free money now!</a:t>
            </a:r>
          </a:p>
        </p:txBody>
      </p:sp>
      <p:sp>
        <p:nvSpPr>
          <p:cNvPr id="17" name="Rounded Rectangle 16"/>
          <p:cNvSpPr/>
          <p:nvPr/>
        </p:nvSpPr>
        <p:spPr>
          <a:xfrm>
            <a:off x="2304288" y="2212848"/>
            <a:ext cx="502920"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6D6A0"/>
                </a:solidFill>
                <a:latin typeface="JetBrains Mono"/>
              </a:rPr>
              <a:t>SPAM</a:t>
            </a:r>
          </a:p>
        </p:txBody>
      </p:sp>
      <p:sp>
        <p:nvSpPr>
          <p:cNvPr id="18" name="Rounded Rectangle 17"/>
          <p:cNvSpPr/>
          <p:nvPr/>
        </p:nvSpPr>
        <p:spPr>
          <a:xfrm>
            <a:off x="795528" y="2542032"/>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Meeting at 3 pm</a:t>
            </a:r>
          </a:p>
        </p:txBody>
      </p:sp>
      <p:sp>
        <p:nvSpPr>
          <p:cNvPr id="19" name="Rounded Rectangle 18"/>
          <p:cNvSpPr/>
          <p:nvPr/>
        </p:nvSpPr>
        <p:spPr>
          <a:xfrm>
            <a:off x="2304288" y="2542032"/>
            <a:ext cx="50292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JetBrains Mono"/>
              </a:rPr>
              <a:t>OK</a:t>
            </a:r>
          </a:p>
        </p:txBody>
      </p:sp>
      <p:sp>
        <p:nvSpPr>
          <p:cNvPr id="20" name="Rounded Rectangle 19"/>
          <p:cNvSpPr/>
          <p:nvPr/>
        </p:nvSpPr>
        <p:spPr>
          <a:xfrm>
            <a:off x="795528" y="2871215"/>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You won a prize!</a:t>
            </a:r>
          </a:p>
        </p:txBody>
      </p:sp>
      <p:sp>
        <p:nvSpPr>
          <p:cNvPr id="21" name="Rounded Rectangle 20"/>
          <p:cNvSpPr/>
          <p:nvPr/>
        </p:nvSpPr>
        <p:spPr>
          <a:xfrm>
            <a:off x="2304288" y="2871215"/>
            <a:ext cx="502920" cy="25603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6D6A0"/>
                </a:solidFill>
                <a:latin typeface="JetBrains Mono"/>
              </a:rPr>
              <a:t>SPAM</a:t>
            </a:r>
          </a:p>
        </p:txBody>
      </p:sp>
      <p:sp>
        <p:nvSpPr>
          <p:cNvPr id="22" name="Rounded Rectangle 21"/>
          <p:cNvSpPr/>
          <p:nvPr/>
        </p:nvSpPr>
        <p:spPr>
          <a:xfrm>
            <a:off x="795528" y="3200400"/>
            <a:ext cx="1463040" cy="256032"/>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Minutes from Monday</a:t>
            </a:r>
          </a:p>
        </p:txBody>
      </p:sp>
      <p:sp>
        <p:nvSpPr>
          <p:cNvPr id="23" name="Rounded Rectangle 22"/>
          <p:cNvSpPr/>
          <p:nvPr/>
        </p:nvSpPr>
        <p:spPr>
          <a:xfrm>
            <a:off x="2304288" y="3200400"/>
            <a:ext cx="50292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50">
                <a:solidFill>
                  <a:srgbClr val="0D1B2A"/>
                </a:solidFill>
                <a:latin typeface="JetBrains Mono"/>
              </a:rPr>
              <a:t>OK</a:t>
            </a:r>
          </a:p>
        </p:txBody>
      </p:sp>
      <p:sp>
        <p:nvSpPr>
          <p:cNvPr id="24" name="TextBox 23"/>
          <p:cNvSpPr txBox="1"/>
          <p:nvPr/>
        </p:nvSpPr>
        <p:spPr>
          <a:xfrm>
            <a:off x="795528" y="3529584"/>
            <a:ext cx="2011680" cy="228600"/>
          </a:xfrm>
          <a:prstGeom prst="rect">
            <a:avLst/>
          </a:prstGeom>
          <a:noFill/>
        </p:spPr>
        <p:txBody>
          <a:bodyPr wrap="square" lIns="0" tIns="0" rIns="0" bIns="0" anchor="t">
            <a:spAutoFit/>
          </a:bodyPr>
          <a:lstStyle/>
          <a:p>
            <a:pPr algn="l"/>
            <a:r>
              <a:rPr sz="950" b="0">
                <a:solidFill>
                  <a:srgbClr val="6B7B8C"/>
                </a:solidFill>
                <a:latin typeface="Roboto"/>
              </a:rPr>
              <a:t>… plus thousands more</a:t>
            </a:r>
          </a:p>
        </p:txBody>
      </p:sp>
      <p:sp>
        <p:nvSpPr>
          <p:cNvPr id="25" name="TextBox 24"/>
          <p:cNvSpPr txBox="1"/>
          <p:nvPr/>
        </p:nvSpPr>
        <p:spPr>
          <a:xfrm>
            <a:off x="3200400" y="1920240"/>
            <a:ext cx="1371600" cy="228600"/>
          </a:xfrm>
          <a:prstGeom prst="rect">
            <a:avLst/>
          </a:prstGeom>
          <a:noFill/>
        </p:spPr>
        <p:txBody>
          <a:bodyPr wrap="square" lIns="0" tIns="0" rIns="0" bIns="0" anchor="t">
            <a:spAutoFit/>
          </a:bodyPr>
          <a:lstStyle/>
          <a:p>
            <a:pPr algn="l"/>
            <a:r>
              <a:rPr sz="850" b="0" spc="100">
                <a:solidFill>
                  <a:srgbClr val="1B9AAA"/>
                </a:solidFill>
                <a:latin typeface="JetBrains Mono"/>
              </a:rPr>
              <a:t>STEP 2: TRAINING</a:t>
            </a:r>
          </a:p>
        </p:txBody>
      </p:sp>
      <p:sp>
        <p:nvSpPr>
          <p:cNvPr id="26" name="Oval 25"/>
          <p:cNvSpPr/>
          <p:nvPr/>
        </p:nvSpPr>
        <p:spPr>
          <a:xfrm>
            <a:off x="3364991" y="2377440"/>
            <a:ext cx="914400" cy="914400"/>
          </a:xfrm>
          <a:prstGeom prst="ellipse">
            <a:avLst/>
          </a:prstGeom>
          <a:solidFill>
            <a:srgbClr val="1B9AAA">
              <a:alpha val="18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364991" y="2679192"/>
            <a:ext cx="914400" cy="320040"/>
          </a:xfrm>
          <a:prstGeom prst="rect">
            <a:avLst/>
          </a:prstGeom>
          <a:noFill/>
        </p:spPr>
        <p:txBody>
          <a:bodyPr wrap="square" lIns="0" tIns="0" rIns="0" bIns="0" anchor="t">
            <a:spAutoFit/>
          </a:bodyPr>
          <a:lstStyle/>
          <a:p>
            <a:pPr algn="ctr"/>
            <a:r>
              <a:rPr sz="1500" b="0">
                <a:solidFill>
                  <a:srgbClr val="0D1B2A"/>
                </a:solidFill>
                <a:latin typeface="Oswald"/>
              </a:rPr>
              <a:t>Learn</a:t>
            </a:r>
          </a:p>
        </p:txBody>
      </p:sp>
      <p:sp>
        <p:nvSpPr>
          <p:cNvPr id="28" name="TextBox 27"/>
          <p:cNvSpPr txBox="1"/>
          <p:nvPr/>
        </p:nvSpPr>
        <p:spPr>
          <a:xfrm>
            <a:off x="4846320" y="1920240"/>
            <a:ext cx="2011680" cy="228600"/>
          </a:xfrm>
          <a:prstGeom prst="rect">
            <a:avLst/>
          </a:prstGeom>
          <a:noFill/>
        </p:spPr>
        <p:txBody>
          <a:bodyPr wrap="square" lIns="0" tIns="0" rIns="0" bIns="0" anchor="t">
            <a:spAutoFit/>
          </a:bodyPr>
          <a:lstStyle/>
          <a:p>
            <a:pPr algn="l"/>
            <a:r>
              <a:rPr sz="850" b="0" spc="100">
                <a:solidFill>
                  <a:srgbClr val="1B9AAA"/>
                </a:solidFill>
                <a:latin typeface="JetBrains Mono"/>
              </a:rPr>
              <a:t>STEP 3: LEARNED PATTERNS</a:t>
            </a:r>
          </a:p>
        </p:txBody>
      </p:sp>
      <p:sp>
        <p:nvSpPr>
          <p:cNvPr id="29" name="Rounded Rectangle 28"/>
          <p:cNvSpPr/>
          <p:nvPr/>
        </p:nvSpPr>
        <p:spPr>
          <a:xfrm>
            <a:off x="4864608" y="2176272"/>
            <a:ext cx="566928" cy="21945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00">
                <a:solidFill>
                  <a:srgbClr val="0D1B2A"/>
                </a:solidFill>
                <a:latin typeface="JetBrains Mono"/>
              </a:rPr>
              <a:t>◄ OK</a:t>
            </a:r>
          </a:p>
        </p:txBody>
      </p:sp>
      <p:sp>
        <p:nvSpPr>
          <p:cNvPr id="30" name="Rounded Rectangle 29"/>
          <p:cNvSpPr/>
          <p:nvPr/>
        </p:nvSpPr>
        <p:spPr>
          <a:xfrm>
            <a:off x="6089904" y="2176272"/>
            <a:ext cx="566928" cy="219456"/>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800">
                <a:solidFill>
                  <a:srgbClr val="06D6A0"/>
                </a:solidFill>
                <a:latin typeface="JetBrains Mono"/>
              </a:rPr>
              <a:t>SPAM ►</a:t>
            </a:r>
          </a:p>
        </p:txBody>
      </p:sp>
      <p:cxnSp>
        <p:nvCxnSpPr>
          <p:cNvPr id="31" name="Connector 30"/>
          <p:cNvCxnSpPr/>
          <p:nvPr/>
        </p:nvCxnSpPr>
        <p:spPr>
          <a:xfrm>
            <a:off x="5760720" y="2432304"/>
            <a:ext cx="0" cy="1097280"/>
          </a:xfrm>
          <a:prstGeom prst="line">
            <a:avLst/>
          </a:prstGeom>
          <a:ln w="12700">
            <a:solidFill>
              <a:srgbClr val="8FA6B2"/>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760720" y="2487168"/>
            <a:ext cx="781812" cy="128016"/>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956048" y="2450592"/>
            <a:ext cx="731520" cy="201168"/>
          </a:xfrm>
          <a:prstGeom prst="rect">
            <a:avLst/>
          </a:prstGeom>
          <a:noFill/>
        </p:spPr>
        <p:txBody>
          <a:bodyPr wrap="square" lIns="0" tIns="0" rIns="0" bIns="0" anchor="t">
            <a:spAutoFit/>
          </a:bodyPr>
          <a:lstStyle/>
          <a:p>
            <a:pPr algn="r"/>
            <a:r>
              <a:rPr sz="900" b="0">
                <a:solidFill>
                  <a:srgbClr val="0D1B2A"/>
                </a:solidFill>
                <a:latin typeface="JetBrains Mono"/>
              </a:rPr>
              <a:t>prize</a:t>
            </a:r>
          </a:p>
        </p:txBody>
      </p:sp>
      <p:sp>
        <p:nvSpPr>
          <p:cNvPr id="34" name="Rectangle 33"/>
          <p:cNvSpPr/>
          <p:nvPr/>
        </p:nvSpPr>
        <p:spPr>
          <a:xfrm>
            <a:off x="5760720" y="2706624"/>
            <a:ext cx="699516" cy="128016"/>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956048" y="2670048"/>
            <a:ext cx="731520" cy="201168"/>
          </a:xfrm>
          <a:prstGeom prst="rect">
            <a:avLst/>
          </a:prstGeom>
          <a:noFill/>
        </p:spPr>
        <p:txBody>
          <a:bodyPr wrap="square" lIns="0" tIns="0" rIns="0" bIns="0" anchor="t">
            <a:spAutoFit/>
          </a:bodyPr>
          <a:lstStyle/>
          <a:p>
            <a:pPr algn="r"/>
            <a:r>
              <a:rPr sz="900" b="0">
                <a:solidFill>
                  <a:srgbClr val="0D1B2A"/>
                </a:solidFill>
                <a:latin typeface="JetBrains Mono"/>
              </a:rPr>
              <a:t>free</a:t>
            </a:r>
          </a:p>
        </p:txBody>
      </p:sp>
      <p:sp>
        <p:nvSpPr>
          <p:cNvPr id="36" name="Rectangle 35"/>
          <p:cNvSpPr/>
          <p:nvPr/>
        </p:nvSpPr>
        <p:spPr>
          <a:xfrm>
            <a:off x="5760720" y="2926080"/>
            <a:ext cx="493776" cy="128016"/>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956048" y="2889504"/>
            <a:ext cx="731520" cy="201168"/>
          </a:xfrm>
          <a:prstGeom prst="rect">
            <a:avLst/>
          </a:prstGeom>
          <a:noFill/>
        </p:spPr>
        <p:txBody>
          <a:bodyPr wrap="square" lIns="0" tIns="0" rIns="0" bIns="0" anchor="t">
            <a:spAutoFit/>
          </a:bodyPr>
          <a:lstStyle/>
          <a:p>
            <a:pPr algn="r"/>
            <a:r>
              <a:rPr sz="900" b="0">
                <a:solidFill>
                  <a:srgbClr val="0D1B2A"/>
                </a:solidFill>
                <a:latin typeface="JetBrains Mono"/>
              </a:rPr>
              <a:t>claim</a:t>
            </a:r>
          </a:p>
        </p:txBody>
      </p:sp>
      <p:sp>
        <p:nvSpPr>
          <p:cNvPr id="38" name="Rectangle 37"/>
          <p:cNvSpPr/>
          <p:nvPr/>
        </p:nvSpPr>
        <p:spPr>
          <a:xfrm>
            <a:off x="5143500" y="3145536"/>
            <a:ext cx="617220" cy="12801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833872" y="3108960"/>
            <a:ext cx="731520" cy="201168"/>
          </a:xfrm>
          <a:prstGeom prst="rect">
            <a:avLst/>
          </a:prstGeom>
          <a:noFill/>
        </p:spPr>
        <p:txBody>
          <a:bodyPr wrap="square" lIns="0" tIns="0" rIns="0" bIns="0" anchor="t">
            <a:spAutoFit/>
          </a:bodyPr>
          <a:lstStyle/>
          <a:p>
            <a:pPr algn="l"/>
            <a:r>
              <a:rPr sz="900" b="0">
                <a:solidFill>
                  <a:srgbClr val="0D1B2A"/>
                </a:solidFill>
                <a:latin typeface="JetBrains Mono"/>
              </a:rPr>
              <a:t>meeting</a:t>
            </a:r>
          </a:p>
        </p:txBody>
      </p:sp>
      <p:sp>
        <p:nvSpPr>
          <p:cNvPr id="40" name="Rectangle 39"/>
          <p:cNvSpPr/>
          <p:nvPr/>
        </p:nvSpPr>
        <p:spPr>
          <a:xfrm>
            <a:off x="5266944" y="3364992"/>
            <a:ext cx="493776" cy="12801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833872" y="3328416"/>
            <a:ext cx="731520" cy="201168"/>
          </a:xfrm>
          <a:prstGeom prst="rect">
            <a:avLst/>
          </a:prstGeom>
          <a:noFill/>
        </p:spPr>
        <p:txBody>
          <a:bodyPr wrap="square" lIns="0" tIns="0" rIns="0" bIns="0" anchor="t">
            <a:spAutoFit/>
          </a:bodyPr>
          <a:lstStyle/>
          <a:p>
            <a:pPr algn="l"/>
            <a:r>
              <a:rPr sz="900" b="0">
                <a:solidFill>
                  <a:srgbClr val="0D1B2A"/>
                </a:solidFill>
                <a:latin typeface="JetBrains Mono"/>
              </a:rPr>
              <a:t>minutes</a:t>
            </a:r>
          </a:p>
        </p:txBody>
      </p:sp>
      <p:sp>
        <p:nvSpPr>
          <p:cNvPr id="42" name="TextBox 41"/>
          <p:cNvSpPr txBox="1"/>
          <p:nvPr/>
        </p:nvSpPr>
        <p:spPr>
          <a:xfrm>
            <a:off x="7059168" y="1920240"/>
            <a:ext cx="1554480" cy="228600"/>
          </a:xfrm>
          <a:prstGeom prst="rect">
            <a:avLst/>
          </a:prstGeom>
          <a:noFill/>
        </p:spPr>
        <p:txBody>
          <a:bodyPr wrap="square" lIns="0" tIns="0" rIns="0" bIns="0" anchor="t">
            <a:spAutoFit/>
          </a:bodyPr>
          <a:lstStyle/>
          <a:p>
            <a:pPr algn="l"/>
            <a:r>
              <a:rPr sz="850" b="0" spc="100">
                <a:solidFill>
                  <a:srgbClr val="1B9AAA"/>
                </a:solidFill>
                <a:latin typeface="JetBrains Mono"/>
              </a:rPr>
              <a:t>STEP 4: CLASSIFICATION</a:t>
            </a:r>
          </a:p>
        </p:txBody>
      </p:sp>
      <p:sp>
        <p:nvSpPr>
          <p:cNvPr id="43" name="Rounded Rectangle 42"/>
          <p:cNvSpPr/>
          <p:nvPr/>
        </p:nvSpPr>
        <p:spPr>
          <a:xfrm>
            <a:off x="7059168" y="2395728"/>
            <a:ext cx="1472184" cy="420624"/>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Roboto"/>
              </a:rPr>
              <a:t>“Claim your prize today!”</a:t>
            </a:r>
          </a:p>
        </p:txBody>
      </p:sp>
      <p:cxnSp>
        <p:nvCxnSpPr>
          <p:cNvPr id="44" name="Connector 43"/>
          <p:cNvCxnSpPr/>
          <p:nvPr/>
        </p:nvCxnSpPr>
        <p:spPr>
          <a:xfrm>
            <a:off x="7795260" y="2852928"/>
            <a:ext cx="0" cy="237744"/>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059168" y="3127248"/>
            <a:ext cx="1472184" cy="329184"/>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6D6A0"/>
                </a:solidFill>
                <a:latin typeface="JetBrains Mono"/>
              </a:rPr>
              <a:t>SPAM · 94%</a:t>
            </a:r>
          </a:p>
        </p:txBody>
      </p:sp>
      <p:sp>
        <p:nvSpPr>
          <p:cNvPr id="46" name="TextBox 45"/>
          <p:cNvSpPr txBox="1"/>
          <p:nvPr/>
        </p:nvSpPr>
        <p:spPr>
          <a:xfrm>
            <a:off x="7059168" y="3529584"/>
            <a:ext cx="1563624" cy="228600"/>
          </a:xfrm>
          <a:prstGeom prst="rect">
            <a:avLst/>
          </a:prstGeom>
          <a:noFill/>
        </p:spPr>
        <p:txBody>
          <a:bodyPr wrap="square" lIns="0" tIns="0" rIns="0" bIns="0" anchor="t">
            <a:spAutoFit/>
          </a:bodyPr>
          <a:lstStyle/>
          <a:p>
            <a:pPr algn="l"/>
            <a:r>
              <a:rPr sz="950" b="0">
                <a:solidFill>
                  <a:srgbClr val="1B9AAA"/>
                </a:solidFill>
                <a:latin typeface="Roboto"/>
              </a:rPr>
              <a:t>Caught, with no new rule</a:t>
            </a:r>
          </a:p>
        </p:txBody>
      </p:sp>
      <p:sp>
        <p:nvSpPr>
          <p:cNvPr id="47" name="Rectangle 46"/>
          <p:cNvSpPr/>
          <p:nvPr/>
        </p:nvSpPr>
        <p:spPr>
          <a:xfrm>
            <a:off x="566928" y="4005072"/>
            <a:ext cx="8138160" cy="47548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566928" y="4005072"/>
            <a:ext cx="54864" cy="47548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77240" y="4133087"/>
            <a:ext cx="7818120" cy="274320"/>
          </a:xfrm>
          <a:prstGeom prst="rect">
            <a:avLst/>
          </a:prstGeom>
          <a:noFill/>
        </p:spPr>
        <p:txBody>
          <a:bodyPr wrap="square" lIns="0" tIns="0" rIns="0" bIns="0" anchor="t">
            <a:spAutoFit/>
          </a:bodyPr>
          <a:lstStyle/>
          <a:p>
            <a:pPr algn="l"/>
            <a:r>
              <a:rPr sz="1050" b="0">
                <a:solidFill>
                  <a:srgbClr val="14293D"/>
                </a:solidFill>
                <a:latin typeface="Roboto"/>
              </a:rPr>
              <a:t>1959: Arthur Samuel's checkers program learns by playing against itself and gives “machine learning” its name.</a:t>
            </a:r>
          </a:p>
        </p:txBody>
      </p:sp>
      <p:sp>
        <p:nvSpPr>
          <p:cNvPr id="50" name="Rectangle 49"/>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Data + answers → rules. The more good examples, the better the learned rules.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309360" y="2514600"/>
            <a:ext cx="3474720" cy="3474720"/>
          </a:xfrm>
          <a:prstGeom prst="ellipse">
            <a:avLst/>
          </a:prstGeom>
          <a:solidFill>
            <a:srgbClr val="1B9AAA">
              <a:alpha val="12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772400" y="1737360"/>
            <a:ext cx="2194560" cy="2194560"/>
          </a:xfrm>
          <a:prstGeom prst="ellipse">
            <a:avLst/>
          </a:prstGeom>
          <a:solidFill>
            <a:srgbClr val="06D6A0">
              <a:alpha val="10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22960" y="160020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lide-ml-outperforms"/>
          <p:cNvSpPr txBox="1"/>
          <p:nvPr/>
        </p:nvSpPr>
        <p:spPr>
          <a:xfrm>
            <a:off x="822960" y="1783080"/>
            <a:ext cx="6035040" cy="1828800"/>
          </a:xfrm>
          <a:prstGeom prst="rect">
            <a:avLst/>
          </a:prstGeom>
          <a:noFill/>
        </p:spPr>
        <p:txBody>
          <a:bodyPr wrap="square" lIns="0" tIns="0" rIns="0" bIns="0" anchor="t">
            <a:spAutoFit/>
          </a:bodyPr>
          <a:lstStyle/>
          <a:p>
            <a:pPr algn="l"/>
            <a:r>
              <a:rPr sz="3600" b="0">
                <a:solidFill>
                  <a:srgbClr val="0D1B2A"/>
                </a:solidFill>
                <a:latin typeface="Oswald"/>
              </a:rPr>
              <a:t>Both streams ran side by side. Machine Learning took the lead from the 1990s, as data and computing power grew.</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FFFFFF"/>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0D1B2A"/>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3 OF 5 · SINCE 2012</a:t>
            </a:r>
          </a:p>
        </p:txBody>
      </p:sp>
      <p:sp>
        <p:nvSpPr>
          <p:cNvPr id="47" name="section-dl"/>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Deep</a:t>
            </a:r>
          </a:p>
          <a:p>
            <a:pPr algn="l"/>
            <a:r>
              <a:rPr sz="4800" b="0">
                <a:solidFill>
                  <a:srgbClr val="FFFFFF"/>
                </a:solidFill>
                <a:latin typeface="Oswald"/>
              </a:rPr>
              <a:t>Learning</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Machine learning with many-layered neural networks that spot complex patterns.</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Neural networks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PART 3 · DEEP LEARNING</a:t>
            </a:r>
          </a:p>
        </p:txBody>
      </p:sp>
      <p:sp>
        <p:nvSpPr>
          <p:cNvPr id="4" name="slide-neural-network"/>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Neural networks: many layers, many adjustable weights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Deep learning uses neural networks with many layers to learn complex patterns.</a:t>
            </a:r>
          </a:p>
        </p:txBody>
      </p:sp>
      <p:sp>
        <p:nvSpPr>
          <p:cNvPr id="6" name="Rectangle 5"/>
          <p:cNvSpPr/>
          <p:nvPr/>
        </p:nvSpPr>
        <p:spPr>
          <a:xfrm>
            <a:off x="566928" y="1783080"/>
            <a:ext cx="5285232"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 name="Connector 7"/>
          <p:cNvCxnSpPr/>
          <p:nvPr/>
        </p:nvCxnSpPr>
        <p:spPr>
          <a:xfrm>
            <a:off x="1572768" y="2788920"/>
            <a:ext cx="786384" cy="27432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572768" y="2788920"/>
            <a:ext cx="786384" cy="68580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572768" y="2788920"/>
            <a:ext cx="786384" cy="10972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572768" y="3063240"/>
            <a:ext cx="786384" cy="1828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72768" y="3246120"/>
            <a:ext cx="786384" cy="22860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72768" y="3246120"/>
            <a:ext cx="786384" cy="6400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572768" y="3063240"/>
            <a:ext cx="786384" cy="6400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572768" y="3474720"/>
            <a:ext cx="786384" cy="22860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572768" y="3703320"/>
            <a:ext cx="786384" cy="1828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572768" y="2651760"/>
            <a:ext cx="786384" cy="137160"/>
          </a:xfrm>
          <a:prstGeom prst="line">
            <a:avLst/>
          </a:prstGeom>
          <a:ln w="9525">
            <a:solidFill>
              <a:srgbClr val="06D6A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rot="20988000">
            <a:off x="1833372" y="2587752"/>
            <a:ext cx="329184" cy="146304"/>
          </a:xfrm>
          <a:prstGeom prst="rect">
            <a:avLst/>
          </a:prstGeom>
          <a:noFill/>
        </p:spPr>
        <p:txBody>
          <a:bodyPr wrap="square" lIns="0" tIns="0" rIns="0" bIns="0" anchor="t">
            <a:spAutoFit/>
          </a:bodyPr>
          <a:lstStyle/>
          <a:p>
            <a:pPr algn="ctr"/>
            <a:r>
              <a:rPr sz="700" b="0">
                <a:solidFill>
                  <a:srgbClr val="06D6A0"/>
                </a:solidFill>
                <a:latin typeface="JetBrains Mono"/>
              </a:rPr>
              <a:t>0.50</a:t>
            </a:r>
          </a:p>
        </p:txBody>
      </p:sp>
      <p:cxnSp>
        <p:nvCxnSpPr>
          <p:cNvPr id="19" name="Connector 18"/>
          <p:cNvCxnSpPr/>
          <p:nvPr/>
        </p:nvCxnSpPr>
        <p:spPr>
          <a:xfrm flipV="1">
            <a:off x="1572768" y="2651760"/>
            <a:ext cx="786384" cy="594360"/>
          </a:xfrm>
          <a:prstGeom prst="line">
            <a:avLst/>
          </a:prstGeom>
          <a:ln w="9525">
            <a:solidFill>
              <a:srgbClr val="06D6A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rot="19398000">
            <a:off x="1834286" y="2779776"/>
            <a:ext cx="329184" cy="146304"/>
          </a:xfrm>
          <a:prstGeom prst="rect">
            <a:avLst/>
          </a:prstGeom>
          <a:noFill/>
        </p:spPr>
        <p:txBody>
          <a:bodyPr wrap="square" lIns="0" tIns="0" rIns="0" bIns="0" anchor="t">
            <a:spAutoFit/>
          </a:bodyPr>
          <a:lstStyle/>
          <a:p>
            <a:pPr algn="ctr"/>
            <a:r>
              <a:rPr sz="700" b="0">
                <a:solidFill>
                  <a:srgbClr val="06D6A0"/>
                </a:solidFill>
                <a:latin typeface="JetBrains Mono"/>
              </a:rPr>
              <a:t>−0.40</a:t>
            </a:r>
          </a:p>
        </p:txBody>
      </p:sp>
      <p:cxnSp>
        <p:nvCxnSpPr>
          <p:cNvPr id="21" name="Connector 20"/>
          <p:cNvCxnSpPr/>
          <p:nvPr/>
        </p:nvCxnSpPr>
        <p:spPr>
          <a:xfrm flipV="1">
            <a:off x="1572768" y="2651760"/>
            <a:ext cx="786384" cy="1051560"/>
          </a:xfrm>
          <a:prstGeom prst="line">
            <a:avLst/>
          </a:prstGeom>
          <a:ln w="9525">
            <a:solidFill>
              <a:srgbClr val="06D6A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rot="18570000">
            <a:off x="1842516" y="2991916"/>
            <a:ext cx="329184" cy="146304"/>
          </a:xfrm>
          <a:prstGeom prst="rect">
            <a:avLst/>
          </a:prstGeom>
          <a:noFill/>
        </p:spPr>
        <p:txBody>
          <a:bodyPr wrap="square" lIns="0" tIns="0" rIns="0" bIns="0" anchor="t">
            <a:spAutoFit/>
          </a:bodyPr>
          <a:lstStyle/>
          <a:p>
            <a:pPr algn="ctr"/>
            <a:r>
              <a:rPr sz="700" b="0">
                <a:solidFill>
                  <a:srgbClr val="06D6A0"/>
                </a:solidFill>
                <a:latin typeface="JetBrains Mono"/>
              </a:rPr>
              <a:t>0.80</a:t>
            </a:r>
          </a:p>
        </p:txBody>
      </p:sp>
      <p:cxnSp>
        <p:nvCxnSpPr>
          <p:cNvPr id="23" name="Connector 22"/>
          <p:cNvCxnSpPr/>
          <p:nvPr/>
        </p:nvCxnSpPr>
        <p:spPr>
          <a:xfrm>
            <a:off x="2670048" y="2651760"/>
            <a:ext cx="786384"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670048" y="265176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670048" y="2651760"/>
            <a:ext cx="786384" cy="8229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670048" y="2651760"/>
            <a:ext cx="786384" cy="123444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670048" y="265176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670048" y="3063240"/>
            <a:ext cx="786384"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670048" y="306324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670048" y="3063240"/>
            <a:ext cx="786384" cy="8229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670048" y="2651760"/>
            <a:ext cx="786384" cy="8229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670048" y="306324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670048" y="3474720"/>
            <a:ext cx="786384"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670048" y="347472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670048" y="2651760"/>
            <a:ext cx="786384" cy="123444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0048" y="3063240"/>
            <a:ext cx="786384" cy="8229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670048" y="347472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70048" y="3886200"/>
            <a:ext cx="786384"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767328" y="265176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767328" y="2651760"/>
            <a:ext cx="786384" cy="8686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767328" y="3063240"/>
            <a:ext cx="786384"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767328" y="3063240"/>
            <a:ext cx="786384" cy="45720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767328" y="3063240"/>
            <a:ext cx="786384" cy="41148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3767328" y="3474720"/>
            <a:ext cx="786384" cy="4572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767328" y="3063240"/>
            <a:ext cx="786384" cy="8229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3767328" y="3520440"/>
            <a:ext cx="786384" cy="36576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1261872" y="2633472"/>
            <a:ext cx="310896" cy="31089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261872" y="272491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0.90</a:t>
            </a:r>
          </a:p>
        </p:txBody>
      </p:sp>
      <p:sp>
        <p:nvSpPr>
          <p:cNvPr id="49" name="Oval 48"/>
          <p:cNvSpPr/>
          <p:nvPr/>
        </p:nvSpPr>
        <p:spPr>
          <a:xfrm>
            <a:off x="1261872" y="3090672"/>
            <a:ext cx="310896" cy="31089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261872" y="318211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0.30</a:t>
            </a:r>
          </a:p>
        </p:txBody>
      </p:sp>
      <p:sp>
        <p:nvSpPr>
          <p:cNvPr id="51" name="Oval 50"/>
          <p:cNvSpPr/>
          <p:nvPr/>
        </p:nvSpPr>
        <p:spPr>
          <a:xfrm>
            <a:off x="1261872" y="3547872"/>
            <a:ext cx="310896" cy="31089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261872" y="363931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0.60</a:t>
            </a:r>
          </a:p>
        </p:txBody>
      </p:sp>
      <p:sp>
        <p:nvSpPr>
          <p:cNvPr id="53" name="Oval 52"/>
          <p:cNvSpPr/>
          <p:nvPr/>
        </p:nvSpPr>
        <p:spPr>
          <a:xfrm>
            <a:off x="2359152" y="249631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359152" y="258775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0.81</a:t>
            </a:r>
          </a:p>
        </p:txBody>
      </p:sp>
      <p:sp>
        <p:nvSpPr>
          <p:cNvPr id="55" name="Oval 54"/>
          <p:cNvSpPr/>
          <p:nvPr/>
        </p:nvSpPr>
        <p:spPr>
          <a:xfrm>
            <a:off x="2359152" y="290779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2359152" y="299923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0.24</a:t>
            </a:r>
          </a:p>
        </p:txBody>
      </p:sp>
      <p:sp>
        <p:nvSpPr>
          <p:cNvPr id="57" name="Oval 56"/>
          <p:cNvSpPr/>
          <p:nvPr/>
        </p:nvSpPr>
        <p:spPr>
          <a:xfrm>
            <a:off x="2359152" y="331927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359152" y="341071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0.76</a:t>
            </a:r>
          </a:p>
        </p:txBody>
      </p:sp>
      <p:sp>
        <p:nvSpPr>
          <p:cNvPr id="59" name="Oval 58"/>
          <p:cNvSpPr/>
          <p:nvPr/>
        </p:nvSpPr>
        <p:spPr>
          <a:xfrm>
            <a:off x="2359152" y="373075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359152" y="3822191"/>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0.38</a:t>
            </a:r>
          </a:p>
        </p:txBody>
      </p:sp>
      <p:sp>
        <p:nvSpPr>
          <p:cNvPr id="61" name="Oval 60"/>
          <p:cNvSpPr/>
          <p:nvPr/>
        </p:nvSpPr>
        <p:spPr>
          <a:xfrm>
            <a:off x="3456432" y="249631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3456432" y="258775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0.52</a:t>
            </a:r>
          </a:p>
        </p:txBody>
      </p:sp>
      <p:sp>
        <p:nvSpPr>
          <p:cNvPr id="63" name="Oval 62"/>
          <p:cNvSpPr/>
          <p:nvPr/>
        </p:nvSpPr>
        <p:spPr>
          <a:xfrm>
            <a:off x="3456432" y="290779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3456432" y="299923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0.91</a:t>
            </a:r>
          </a:p>
        </p:txBody>
      </p:sp>
      <p:sp>
        <p:nvSpPr>
          <p:cNvPr id="65" name="Oval 64"/>
          <p:cNvSpPr/>
          <p:nvPr/>
        </p:nvSpPr>
        <p:spPr>
          <a:xfrm>
            <a:off x="3456432" y="331927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456432" y="341071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0.14</a:t>
            </a:r>
          </a:p>
        </p:txBody>
      </p:sp>
      <p:sp>
        <p:nvSpPr>
          <p:cNvPr id="67" name="Oval 66"/>
          <p:cNvSpPr/>
          <p:nvPr/>
        </p:nvSpPr>
        <p:spPr>
          <a:xfrm>
            <a:off x="3456432" y="3730752"/>
            <a:ext cx="310896" cy="310896"/>
          </a:xfrm>
          <a:prstGeom prst="ellipse">
            <a:avLst/>
          </a:prstGeom>
          <a:solidFill>
            <a:srgbClr val="1B9AAA">
              <a:alpha val="10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3456432" y="3822191"/>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0.63</a:t>
            </a:r>
          </a:p>
        </p:txBody>
      </p:sp>
      <p:sp>
        <p:nvSpPr>
          <p:cNvPr id="69" name="Oval 68"/>
          <p:cNvSpPr/>
          <p:nvPr/>
        </p:nvSpPr>
        <p:spPr>
          <a:xfrm>
            <a:off x="4553712" y="2907792"/>
            <a:ext cx="310896" cy="31089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553712" y="299923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0.45</a:t>
            </a:r>
          </a:p>
        </p:txBody>
      </p:sp>
      <p:sp>
        <p:nvSpPr>
          <p:cNvPr id="71" name="Oval 70"/>
          <p:cNvSpPr/>
          <p:nvPr/>
        </p:nvSpPr>
        <p:spPr>
          <a:xfrm>
            <a:off x="4553712" y="3364992"/>
            <a:ext cx="310896" cy="31089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4553712" y="3456432"/>
            <a:ext cx="310896" cy="146304"/>
          </a:xfrm>
          <a:prstGeom prst="rect">
            <a:avLst/>
          </a:prstGeom>
          <a:noFill/>
        </p:spPr>
        <p:txBody>
          <a:bodyPr wrap="square" lIns="0" tIns="0" rIns="0" bIns="0" anchor="t">
            <a:spAutoFit/>
          </a:bodyPr>
          <a:lstStyle/>
          <a:p>
            <a:pPr algn="ctr"/>
            <a:r>
              <a:rPr sz="700" b="0">
                <a:solidFill>
                  <a:srgbClr val="FFFFFF"/>
                </a:solidFill>
                <a:latin typeface="JetBrains Mono"/>
              </a:rPr>
              <a:t>0.18</a:t>
            </a:r>
          </a:p>
        </p:txBody>
      </p:sp>
      <p:sp>
        <p:nvSpPr>
          <p:cNvPr id="73" name="TextBox 72"/>
          <p:cNvSpPr txBox="1"/>
          <p:nvPr/>
        </p:nvSpPr>
        <p:spPr>
          <a:xfrm>
            <a:off x="777240" y="1874519"/>
            <a:ext cx="3291840" cy="201168"/>
          </a:xfrm>
          <a:prstGeom prst="rect">
            <a:avLst/>
          </a:prstGeom>
          <a:noFill/>
        </p:spPr>
        <p:txBody>
          <a:bodyPr wrap="none" lIns="0" tIns="0" rIns="0" bIns="0">
            <a:spAutoFit/>
          </a:bodyPr>
          <a:lstStyle/>
          <a:p>
            <a:pPr algn="l"/>
            <a:r>
              <a:rPr sz="800">
                <a:solidFill>
                  <a:srgbClr val="0D1B2A"/>
                </a:solidFill>
                <a:latin typeface="JetBrains Mono"/>
              </a:rPr>
              <a:t>0.90 × </a:t>
            </a:r>
            <a:r>
              <a:rPr sz="800">
                <a:solidFill>
                  <a:srgbClr val="06D6A0"/>
                </a:solidFill>
                <a:latin typeface="JetBrains Mono"/>
              </a:rPr>
              <a:t>0.50</a:t>
            </a:r>
            <a:r>
              <a:rPr sz="800">
                <a:solidFill>
                  <a:srgbClr val="0D1B2A"/>
                </a:solidFill>
                <a:latin typeface="JetBrains Mono"/>
              </a:rPr>
              <a:t>  +  0.30 × (</a:t>
            </a:r>
            <a:r>
              <a:rPr sz="800">
                <a:solidFill>
                  <a:srgbClr val="06D6A0"/>
                </a:solidFill>
                <a:latin typeface="JetBrains Mono"/>
              </a:rPr>
              <a:t>−0.40</a:t>
            </a:r>
            <a:r>
              <a:rPr sz="800">
                <a:solidFill>
                  <a:srgbClr val="0D1B2A"/>
                </a:solidFill>
                <a:latin typeface="JetBrains Mono"/>
              </a:rPr>
              <a:t>)  +  0.60 × </a:t>
            </a:r>
            <a:r>
              <a:rPr sz="800">
                <a:solidFill>
                  <a:srgbClr val="06D6A0"/>
                </a:solidFill>
                <a:latin typeface="JetBrains Mono"/>
              </a:rPr>
              <a:t>0.80</a:t>
            </a:r>
            <a:r>
              <a:rPr sz="800">
                <a:solidFill>
                  <a:srgbClr val="0D1B2A"/>
                </a:solidFill>
                <a:latin typeface="JetBrains Mono"/>
              </a:rPr>
              <a:t>  =  0.81</a:t>
            </a:r>
          </a:p>
        </p:txBody>
      </p:sp>
      <p:sp>
        <p:nvSpPr>
          <p:cNvPr id="74" name="Rounded Rectangle 73"/>
          <p:cNvSpPr/>
          <p:nvPr/>
        </p:nvSpPr>
        <p:spPr>
          <a:xfrm>
            <a:off x="3392424" y="2432304"/>
            <a:ext cx="438912" cy="1682496"/>
          </a:xfrm>
          <a:prstGeom prst="roundRect">
            <a:avLst>
              <a:gd name="adj" fmla="val 12500"/>
            </a:avLst>
          </a:prstGeom>
          <a:no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023360" y="2112264"/>
            <a:ext cx="548640" cy="155448"/>
          </a:xfrm>
          <a:prstGeom prst="rect">
            <a:avLst/>
          </a:prstGeom>
          <a:noFill/>
        </p:spPr>
        <p:txBody>
          <a:bodyPr wrap="square" lIns="0" tIns="0" rIns="0" bIns="0" anchor="t">
            <a:spAutoFit/>
          </a:bodyPr>
          <a:lstStyle/>
          <a:p>
            <a:pPr algn="l"/>
            <a:r>
              <a:rPr sz="1000" b="0">
                <a:solidFill>
                  <a:srgbClr val="1B9AAA"/>
                </a:solidFill>
                <a:latin typeface="Roboto"/>
              </a:rPr>
              <a:t>Layer</a:t>
            </a:r>
          </a:p>
        </p:txBody>
      </p:sp>
      <p:cxnSp>
        <p:nvCxnSpPr>
          <p:cNvPr id="76" name="Connector 75"/>
          <p:cNvCxnSpPr/>
          <p:nvPr/>
        </p:nvCxnSpPr>
        <p:spPr>
          <a:xfrm flipH="1">
            <a:off x="3895344" y="2304288"/>
            <a:ext cx="173736" cy="228600"/>
          </a:xfrm>
          <a:prstGeom prst="line">
            <a:avLst/>
          </a:prstGeom>
          <a:ln w="1270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1417320" y="2112264"/>
            <a:ext cx="548640" cy="155448"/>
          </a:xfrm>
          <a:prstGeom prst="rect">
            <a:avLst/>
          </a:prstGeom>
          <a:noFill/>
        </p:spPr>
        <p:txBody>
          <a:bodyPr wrap="square" lIns="0" tIns="0" rIns="0" bIns="0" anchor="t">
            <a:spAutoFit/>
          </a:bodyPr>
          <a:lstStyle/>
          <a:p>
            <a:pPr algn="l"/>
            <a:r>
              <a:rPr sz="1000" b="0">
                <a:solidFill>
                  <a:srgbClr val="06D6A0"/>
                </a:solidFill>
                <a:latin typeface="Roboto"/>
              </a:rPr>
              <a:t>Weights</a:t>
            </a:r>
          </a:p>
        </p:txBody>
      </p:sp>
      <p:cxnSp>
        <p:nvCxnSpPr>
          <p:cNvPr id="78" name="Connector 77"/>
          <p:cNvCxnSpPr/>
          <p:nvPr/>
        </p:nvCxnSpPr>
        <p:spPr>
          <a:xfrm>
            <a:off x="1792224" y="2340864"/>
            <a:ext cx="146304" cy="231343"/>
          </a:xfrm>
          <a:prstGeom prst="line">
            <a:avLst/>
          </a:prstGeom>
          <a:ln w="12700">
            <a:solidFill>
              <a:srgbClr val="06D6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2761488" y="2112264"/>
            <a:ext cx="438912" cy="155448"/>
          </a:xfrm>
          <a:prstGeom prst="rect">
            <a:avLst/>
          </a:prstGeom>
          <a:noFill/>
        </p:spPr>
        <p:txBody>
          <a:bodyPr wrap="square" lIns="0" tIns="0" rIns="0" bIns="0" anchor="t">
            <a:spAutoFit/>
          </a:bodyPr>
          <a:lstStyle/>
          <a:p>
            <a:pPr algn="l"/>
            <a:r>
              <a:rPr sz="1000" b="0">
                <a:solidFill>
                  <a:srgbClr val="1B9AAA"/>
                </a:solidFill>
                <a:latin typeface="Roboto"/>
              </a:rPr>
              <a:t>Neuron</a:t>
            </a:r>
          </a:p>
        </p:txBody>
      </p:sp>
      <p:cxnSp>
        <p:nvCxnSpPr>
          <p:cNvPr id="80" name="Connector 79"/>
          <p:cNvCxnSpPr/>
          <p:nvPr/>
        </p:nvCxnSpPr>
        <p:spPr>
          <a:xfrm flipH="1">
            <a:off x="2633472" y="2304288"/>
            <a:ext cx="155448" cy="210312"/>
          </a:xfrm>
          <a:prstGeom prst="line">
            <a:avLst/>
          </a:prstGeom>
          <a:ln w="12700">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685800" y="4206240"/>
            <a:ext cx="1463040" cy="201168"/>
          </a:xfrm>
          <a:prstGeom prst="rect">
            <a:avLst/>
          </a:prstGeom>
          <a:noFill/>
        </p:spPr>
        <p:txBody>
          <a:bodyPr wrap="square" lIns="0" tIns="0" rIns="0" bIns="0" anchor="t">
            <a:spAutoFit/>
          </a:bodyPr>
          <a:lstStyle/>
          <a:p>
            <a:pPr algn="ctr"/>
            <a:r>
              <a:rPr sz="950" b="0" spc="100">
                <a:solidFill>
                  <a:srgbClr val="6B7B8C"/>
                </a:solidFill>
                <a:latin typeface="JetBrains Mono"/>
              </a:rPr>
              <a:t>INPUT LAYER</a:t>
            </a:r>
          </a:p>
        </p:txBody>
      </p:sp>
      <p:sp>
        <p:nvSpPr>
          <p:cNvPr id="82" name="TextBox 81"/>
          <p:cNvSpPr txBox="1"/>
          <p:nvPr/>
        </p:nvSpPr>
        <p:spPr>
          <a:xfrm>
            <a:off x="2148840" y="4206240"/>
            <a:ext cx="1828800" cy="201168"/>
          </a:xfrm>
          <a:prstGeom prst="rect">
            <a:avLst/>
          </a:prstGeom>
          <a:noFill/>
        </p:spPr>
        <p:txBody>
          <a:bodyPr wrap="square" lIns="0" tIns="0" rIns="0" bIns="0" anchor="t">
            <a:spAutoFit/>
          </a:bodyPr>
          <a:lstStyle/>
          <a:p>
            <a:pPr algn="ctr"/>
            <a:r>
              <a:rPr sz="950" b="0" spc="100">
                <a:solidFill>
                  <a:srgbClr val="6B7B8C"/>
                </a:solidFill>
                <a:latin typeface="JetBrains Mono"/>
              </a:rPr>
              <a:t>HIDDEN LAYERS</a:t>
            </a:r>
          </a:p>
        </p:txBody>
      </p:sp>
      <p:sp>
        <p:nvSpPr>
          <p:cNvPr id="83" name="TextBox 82"/>
          <p:cNvSpPr txBox="1"/>
          <p:nvPr/>
        </p:nvSpPr>
        <p:spPr>
          <a:xfrm>
            <a:off x="3977640" y="4206240"/>
            <a:ext cx="1463040" cy="201168"/>
          </a:xfrm>
          <a:prstGeom prst="rect">
            <a:avLst/>
          </a:prstGeom>
          <a:noFill/>
        </p:spPr>
        <p:txBody>
          <a:bodyPr wrap="square" lIns="0" tIns="0" rIns="0" bIns="0" anchor="t">
            <a:spAutoFit/>
          </a:bodyPr>
          <a:lstStyle/>
          <a:p>
            <a:pPr algn="ctr"/>
            <a:r>
              <a:rPr sz="950" b="0" spc="100">
                <a:solidFill>
                  <a:srgbClr val="6B7B8C"/>
                </a:solidFill>
                <a:latin typeface="JetBrains Mono"/>
              </a:rPr>
              <a:t>OUTPUT LAYER</a:t>
            </a:r>
          </a:p>
        </p:txBody>
      </p:sp>
      <p:sp>
        <p:nvSpPr>
          <p:cNvPr id="84" name="Rounded Rectangle 83"/>
          <p:cNvSpPr/>
          <p:nvPr/>
        </p:nvSpPr>
        <p:spPr>
          <a:xfrm>
            <a:off x="658368" y="2660903"/>
            <a:ext cx="54864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The</a:t>
            </a:r>
          </a:p>
        </p:txBody>
      </p:sp>
      <p:cxnSp>
        <p:nvCxnSpPr>
          <p:cNvPr id="85" name="Connector 84"/>
          <p:cNvCxnSpPr/>
          <p:nvPr/>
        </p:nvCxnSpPr>
        <p:spPr>
          <a:xfrm>
            <a:off x="1225296" y="2788920"/>
            <a:ext cx="18288" cy="0"/>
          </a:xfrm>
          <a:prstGeom prst="line">
            <a:avLst/>
          </a:prstGeom>
          <a:ln w="9525">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658368" y="3118103"/>
            <a:ext cx="54864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cat</a:t>
            </a:r>
          </a:p>
        </p:txBody>
      </p:sp>
      <p:cxnSp>
        <p:nvCxnSpPr>
          <p:cNvPr id="87" name="Connector 86"/>
          <p:cNvCxnSpPr/>
          <p:nvPr/>
        </p:nvCxnSpPr>
        <p:spPr>
          <a:xfrm>
            <a:off x="1225296" y="3246120"/>
            <a:ext cx="18288" cy="0"/>
          </a:xfrm>
          <a:prstGeom prst="line">
            <a:avLst/>
          </a:prstGeom>
          <a:ln w="9525">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Rounded Rectangle 87"/>
          <p:cNvSpPr/>
          <p:nvPr/>
        </p:nvSpPr>
        <p:spPr>
          <a:xfrm>
            <a:off x="658368" y="3575303"/>
            <a:ext cx="548640" cy="25603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sat</a:t>
            </a:r>
          </a:p>
        </p:txBody>
      </p:sp>
      <p:cxnSp>
        <p:nvCxnSpPr>
          <p:cNvPr id="89" name="Connector 88"/>
          <p:cNvCxnSpPr/>
          <p:nvPr/>
        </p:nvCxnSpPr>
        <p:spPr>
          <a:xfrm>
            <a:off x="1225296" y="3703320"/>
            <a:ext cx="18288" cy="0"/>
          </a:xfrm>
          <a:prstGeom prst="line">
            <a:avLst/>
          </a:prstGeom>
          <a:ln w="9525">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4882896" y="3063240"/>
            <a:ext cx="192024" cy="0"/>
          </a:xfrm>
          <a:prstGeom prst="line">
            <a:avLst/>
          </a:prstGeom>
          <a:ln w="9525">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Rounded Rectangle 90"/>
          <p:cNvSpPr/>
          <p:nvPr/>
        </p:nvSpPr>
        <p:spPr>
          <a:xfrm>
            <a:off x="5120640" y="2935224"/>
            <a:ext cx="356616" cy="25603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on</a:t>
            </a:r>
          </a:p>
        </p:txBody>
      </p:sp>
      <p:sp>
        <p:nvSpPr>
          <p:cNvPr id="92" name="TextBox 91"/>
          <p:cNvSpPr txBox="1"/>
          <p:nvPr/>
        </p:nvSpPr>
        <p:spPr>
          <a:xfrm>
            <a:off x="5522976" y="2999232"/>
            <a:ext cx="274320" cy="123444"/>
          </a:xfrm>
          <a:prstGeom prst="rect">
            <a:avLst/>
          </a:prstGeom>
          <a:noFill/>
        </p:spPr>
        <p:txBody>
          <a:bodyPr wrap="square" lIns="0" tIns="0" rIns="0" bIns="0" anchor="ctr">
            <a:spAutoFit/>
          </a:bodyPr>
          <a:lstStyle/>
          <a:p>
            <a:pPr algn="l"/>
            <a:r>
              <a:rPr sz="800" b="0">
                <a:solidFill>
                  <a:srgbClr val="0D1B2A"/>
                </a:solidFill>
                <a:latin typeface="JetBrains Mono"/>
              </a:rPr>
              <a:t>45 %</a:t>
            </a:r>
          </a:p>
        </p:txBody>
      </p:sp>
      <p:cxnSp>
        <p:nvCxnSpPr>
          <p:cNvPr id="93" name="Connector 92"/>
          <p:cNvCxnSpPr/>
          <p:nvPr/>
        </p:nvCxnSpPr>
        <p:spPr>
          <a:xfrm>
            <a:off x="4882896" y="3520440"/>
            <a:ext cx="192024" cy="0"/>
          </a:xfrm>
          <a:prstGeom prst="line">
            <a:avLst/>
          </a:prstGeom>
          <a:ln w="9525">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5120640" y="3392424"/>
            <a:ext cx="356616" cy="25603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down</a:t>
            </a:r>
          </a:p>
        </p:txBody>
      </p:sp>
      <p:sp>
        <p:nvSpPr>
          <p:cNvPr id="95" name="TextBox 94"/>
          <p:cNvSpPr txBox="1"/>
          <p:nvPr/>
        </p:nvSpPr>
        <p:spPr>
          <a:xfrm>
            <a:off x="5522976" y="3456432"/>
            <a:ext cx="274320" cy="123444"/>
          </a:xfrm>
          <a:prstGeom prst="rect">
            <a:avLst/>
          </a:prstGeom>
          <a:noFill/>
        </p:spPr>
        <p:txBody>
          <a:bodyPr wrap="square" lIns="0" tIns="0" rIns="0" bIns="0" anchor="ctr">
            <a:spAutoFit/>
          </a:bodyPr>
          <a:lstStyle/>
          <a:p>
            <a:pPr algn="l"/>
            <a:r>
              <a:rPr sz="800" b="0">
                <a:solidFill>
                  <a:srgbClr val="0D1B2A"/>
                </a:solidFill>
                <a:latin typeface="JetBrains Mono"/>
              </a:rPr>
              <a:t>18 %</a:t>
            </a:r>
          </a:p>
        </p:txBody>
      </p:sp>
      <p:sp>
        <p:nvSpPr>
          <p:cNvPr id="96" name="Rectangle 95"/>
          <p:cNvSpPr/>
          <p:nvPr/>
        </p:nvSpPr>
        <p:spPr>
          <a:xfrm>
            <a:off x="5971032" y="1783080"/>
            <a:ext cx="2871216" cy="105156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Rectangle 96"/>
          <p:cNvSpPr/>
          <p:nvPr/>
        </p:nvSpPr>
        <p:spPr>
          <a:xfrm>
            <a:off x="5971032" y="1783080"/>
            <a:ext cx="45720" cy="105156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6144768" y="1874519"/>
            <a:ext cx="2194560" cy="155448"/>
          </a:xfrm>
          <a:prstGeom prst="rect">
            <a:avLst/>
          </a:prstGeom>
          <a:noFill/>
        </p:spPr>
        <p:txBody>
          <a:bodyPr wrap="square" lIns="0" tIns="0" rIns="0" bIns="0" anchor="t">
            <a:spAutoFit/>
          </a:bodyPr>
          <a:lstStyle/>
          <a:p>
            <a:pPr algn="l"/>
            <a:r>
              <a:rPr sz="950" b="0" spc="100">
                <a:solidFill>
                  <a:srgbClr val="06D6A0"/>
                </a:solidFill>
                <a:latin typeface="JetBrains Mono"/>
              </a:rPr>
              <a:t>WHAT THE MODEL LEARNS</a:t>
            </a:r>
          </a:p>
        </p:txBody>
      </p:sp>
      <p:sp>
        <p:nvSpPr>
          <p:cNvPr id="99" name="TextBox 98"/>
          <p:cNvSpPr txBox="1"/>
          <p:nvPr/>
        </p:nvSpPr>
        <p:spPr>
          <a:xfrm>
            <a:off x="6153912" y="2075688"/>
            <a:ext cx="2514600" cy="685799"/>
          </a:xfrm>
          <a:prstGeom prst="rect">
            <a:avLst/>
          </a:prstGeom>
          <a:noFill/>
        </p:spPr>
        <p:txBody>
          <a:bodyPr wrap="square" lIns="0" tIns="0" rIns="0" bIns="0" anchor="t">
            <a:spAutoFit/>
          </a:bodyPr>
          <a:lstStyle/>
          <a:p>
            <a:pPr algn="l"/>
            <a:r>
              <a:rPr sz="1000" b="0">
                <a:solidFill>
                  <a:srgbClr val="14293D"/>
                </a:solidFill>
                <a:latin typeface="Roboto"/>
              </a:rPr>
              <a:t>Training adjusts the weights on every connection — millions to billions of numbers. Those weights are the model's knowledge; nothing else is stored.</a:t>
            </a:r>
          </a:p>
        </p:txBody>
      </p:sp>
      <p:sp>
        <p:nvSpPr>
          <p:cNvPr id="100" name="Rectangle 99"/>
          <p:cNvSpPr/>
          <p:nvPr/>
        </p:nvSpPr>
        <p:spPr>
          <a:xfrm>
            <a:off x="5971032" y="2916936"/>
            <a:ext cx="2871216" cy="65836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Rectangle 100"/>
          <p:cNvSpPr/>
          <p:nvPr/>
        </p:nvSpPr>
        <p:spPr>
          <a:xfrm>
            <a:off x="5971032" y="2916936"/>
            <a:ext cx="45720" cy="658368"/>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6144768" y="3008376"/>
            <a:ext cx="2194560" cy="155448"/>
          </a:xfrm>
          <a:prstGeom prst="rect">
            <a:avLst/>
          </a:prstGeom>
          <a:noFill/>
        </p:spPr>
        <p:txBody>
          <a:bodyPr wrap="square" lIns="0" tIns="0" rIns="0" bIns="0" anchor="t">
            <a:spAutoFit/>
          </a:bodyPr>
          <a:lstStyle/>
          <a:p>
            <a:pPr algn="l"/>
            <a:r>
              <a:rPr sz="950" b="0" spc="100">
                <a:solidFill>
                  <a:srgbClr val="0D1B2A"/>
                </a:solidFill>
                <a:latin typeface="JetBrains Mono"/>
              </a:rPr>
              <a:t>INPUTS AND OUTPUTS</a:t>
            </a:r>
          </a:p>
        </p:txBody>
      </p:sp>
      <p:sp>
        <p:nvSpPr>
          <p:cNvPr id="103" name="TextBox 102"/>
          <p:cNvSpPr txBox="1"/>
          <p:nvPr/>
        </p:nvSpPr>
        <p:spPr>
          <a:xfrm>
            <a:off x="6153912" y="3209544"/>
            <a:ext cx="2514600" cy="292607"/>
          </a:xfrm>
          <a:prstGeom prst="rect">
            <a:avLst/>
          </a:prstGeom>
          <a:noFill/>
        </p:spPr>
        <p:txBody>
          <a:bodyPr wrap="square" lIns="0" tIns="0" rIns="0" bIns="0" anchor="t">
            <a:spAutoFit/>
          </a:bodyPr>
          <a:lstStyle/>
          <a:p>
            <a:pPr algn="l"/>
            <a:r>
              <a:rPr sz="1000" b="0">
                <a:solidFill>
                  <a:srgbClr val="14293D"/>
                </a:solidFill>
                <a:latin typeface="Roboto"/>
              </a:rPr>
              <a:t>In a language model, what goes in and comes out are tokens.</a:t>
            </a:r>
          </a:p>
        </p:txBody>
      </p:sp>
      <p:sp>
        <p:nvSpPr>
          <p:cNvPr id="104" name="Rectangle 103"/>
          <p:cNvSpPr/>
          <p:nvPr/>
        </p:nvSpPr>
        <p:spPr>
          <a:xfrm>
            <a:off x="5971032" y="3657600"/>
            <a:ext cx="2871216" cy="86868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Rectangle 104"/>
          <p:cNvSpPr/>
          <p:nvPr/>
        </p:nvSpPr>
        <p:spPr>
          <a:xfrm>
            <a:off x="5971032" y="3657600"/>
            <a:ext cx="45720" cy="8686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6144768" y="3749039"/>
            <a:ext cx="2194560" cy="155448"/>
          </a:xfrm>
          <a:prstGeom prst="rect">
            <a:avLst/>
          </a:prstGeom>
          <a:noFill/>
        </p:spPr>
        <p:txBody>
          <a:bodyPr wrap="square" lIns="0" tIns="0" rIns="0" bIns="0" anchor="t">
            <a:spAutoFit/>
          </a:bodyPr>
          <a:lstStyle/>
          <a:p>
            <a:pPr algn="l"/>
            <a:r>
              <a:rPr sz="950" b="0" spc="100">
                <a:solidFill>
                  <a:srgbClr val="1B9AAA"/>
                </a:solidFill>
                <a:latin typeface="JetBrains Mono"/>
              </a:rPr>
              <a:t>SIMPLIFIED ON PURPOSE</a:t>
            </a:r>
          </a:p>
        </p:txBody>
      </p:sp>
      <p:sp>
        <p:nvSpPr>
          <p:cNvPr id="107" name="TextBox 106"/>
          <p:cNvSpPr txBox="1"/>
          <p:nvPr/>
        </p:nvSpPr>
        <p:spPr>
          <a:xfrm>
            <a:off x="6126480" y="3913632"/>
            <a:ext cx="2606040" cy="146304"/>
          </a:xfrm>
          <a:prstGeom prst="rect">
            <a:avLst/>
          </a:prstGeom>
          <a:noFill/>
        </p:spPr>
        <p:txBody>
          <a:bodyPr wrap="square" lIns="0" tIns="0" rIns="0" bIns="0" anchor="t">
            <a:spAutoFit/>
          </a:bodyPr>
          <a:lstStyle/>
          <a:p>
            <a:pPr algn="l"/>
            <a:r>
              <a:rPr sz="900" b="0">
                <a:solidFill>
                  <a:srgbClr val="14293D"/>
                </a:solidFill>
                <a:latin typeface="Roboto"/>
              </a:rPr>
              <a:t>· One token = many numbers</a:t>
            </a:r>
          </a:p>
        </p:txBody>
      </p:sp>
      <p:sp>
        <p:nvSpPr>
          <p:cNvPr id="108" name="TextBox 107"/>
          <p:cNvSpPr txBox="1"/>
          <p:nvPr/>
        </p:nvSpPr>
        <p:spPr>
          <a:xfrm>
            <a:off x="6126480" y="4059936"/>
            <a:ext cx="2606040" cy="146304"/>
          </a:xfrm>
          <a:prstGeom prst="rect">
            <a:avLst/>
          </a:prstGeom>
          <a:noFill/>
        </p:spPr>
        <p:txBody>
          <a:bodyPr wrap="square" lIns="0" tIns="0" rIns="0" bIns="0" anchor="t">
            <a:spAutoFit/>
          </a:bodyPr>
          <a:lstStyle/>
          <a:p>
            <a:pPr algn="l"/>
            <a:r>
              <a:rPr sz="900" b="0">
                <a:solidFill>
                  <a:srgbClr val="14293D"/>
                </a:solidFill>
                <a:latin typeface="Roboto"/>
              </a:rPr>
              <a:t>· Output is calculated across the whole vocabulary</a:t>
            </a:r>
          </a:p>
        </p:txBody>
      </p:sp>
      <p:sp>
        <p:nvSpPr>
          <p:cNvPr id="109" name="TextBox 108"/>
          <p:cNvSpPr txBox="1"/>
          <p:nvPr/>
        </p:nvSpPr>
        <p:spPr>
          <a:xfrm>
            <a:off x="6126480" y="4206240"/>
            <a:ext cx="2606040" cy="146304"/>
          </a:xfrm>
          <a:prstGeom prst="rect">
            <a:avLst/>
          </a:prstGeom>
          <a:noFill/>
        </p:spPr>
        <p:txBody>
          <a:bodyPr wrap="square" lIns="0" tIns="0" rIns="0" bIns="0" anchor="t">
            <a:spAutoFit/>
          </a:bodyPr>
          <a:lstStyle/>
          <a:p>
            <a:pPr algn="l"/>
            <a:r>
              <a:rPr sz="900" b="0">
                <a:solidFill>
                  <a:srgbClr val="14293D"/>
                </a:solidFill>
                <a:latin typeface="Roboto"/>
              </a:rPr>
              <a:t>· Each neuron also has a bias</a:t>
            </a:r>
          </a:p>
        </p:txBody>
      </p:sp>
      <p:sp>
        <p:nvSpPr>
          <p:cNvPr id="110" name="TextBox 109"/>
          <p:cNvSpPr txBox="1"/>
          <p:nvPr/>
        </p:nvSpPr>
        <p:spPr>
          <a:xfrm>
            <a:off x="6126480" y="4352544"/>
            <a:ext cx="2606040" cy="146304"/>
          </a:xfrm>
          <a:prstGeom prst="rect">
            <a:avLst/>
          </a:prstGeom>
          <a:noFill/>
        </p:spPr>
        <p:txBody>
          <a:bodyPr wrap="square" lIns="0" tIns="0" rIns="0" bIns="0" anchor="t">
            <a:spAutoFit/>
          </a:bodyPr>
          <a:lstStyle/>
          <a:p>
            <a:pPr algn="l"/>
            <a:r>
              <a:rPr sz="900" b="0">
                <a:solidFill>
                  <a:srgbClr val="14293D"/>
                </a:solidFill>
                <a:latin typeface="Roboto"/>
              </a:rPr>
              <a:t>· A real LLM is a Transformer</a:t>
            </a:r>
          </a:p>
        </p:txBody>
      </p:sp>
      <p:sp>
        <p:nvSpPr>
          <p:cNvPr id="111" name="Rectangle 110"/>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Deep learning is a method within machine learning, not a synonym for all AI.</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FFFFFF"/>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FFFFFF"/>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0D1B2A"/>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4 OF 5 · SINCE 2018</a:t>
            </a:r>
          </a:p>
        </p:txBody>
      </p:sp>
      <p:sp>
        <p:nvSpPr>
          <p:cNvPr id="47" name="section-genai"/>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Generative</a:t>
            </a:r>
          </a:p>
          <a:p>
            <a:pPr algn="l"/>
            <a:r>
              <a:rPr sz="4800" b="0">
                <a:solidFill>
                  <a:srgbClr val="FFFFFF"/>
                </a:solidFill>
                <a:latin typeface="Oswald"/>
              </a:rPr>
              <a:t>AI</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AI that creates new content: text, images, audio and code.</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LLMs · Transformer &amp; GPT · Tokens · Next‑word prediction · Pre‑training · Prompt · Context window · Hallucination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PART 4 · GENERATIVE AI</a:t>
            </a:r>
          </a:p>
        </p:txBody>
      </p:sp>
      <p:sp>
        <p:nvSpPr>
          <p:cNvPr id="4" name="slide-generative-ai"/>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From recognizing content to creating it</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dirty="0">
                <a:solidFill>
                  <a:srgbClr val="14293D"/>
                </a:solidFill>
                <a:latin typeface="Roboto"/>
              </a:rPr>
              <a:t>The same machinery, put to a new job: not naming what is there, but making something new.</a:t>
            </a:r>
          </a:p>
        </p:txBody>
      </p:sp>
      <p:sp>
        <p:nvSpPr>
          <p:cNvPr id="6" name="Rectangle 5"/>
          <p:cNvSpPr/>
          <p:nvPr/>
        </p:nvSpPr>
        <p:spPr>
          <a:xfrm>
            <a:off x="566928" y="1783080"/>
            <a:ext cx="4370832"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892807"/>
            <a:ext cx="2743200" cy="228600"/>
          </a:xfrm>
          <a:prstGeom prst="rect">
            <a:avLst/>
          </a:prstGeom>
          <a:noFill/>
        </p:spPr>
        <p:txBody>
          <a:bodyPr wrap="square" lIns="0" tIns="0" rIns="0" bIns="0" anchor="t">
            <a:spAutoFit/>
          </a:bodyPr>
          <a:lstStyle/>
          <a:p>
            <a:pPr algn="l"/>
            <a:r>
              <a:rPr sz="950" b="0" spc="100">
                <a:solidFill>
                  <a:srgbClr val="1B9AAA"/>
                </a:solidFill>
                <a:latin typeface="JetBrains Mono"/>
              </a:rPr>
              <a:t>RECOGNISE, PREDICT OR CLASSIFY</a:t>
            </a:r>
          </a:p>
        </p:txBody>
      </p:sp>
      <p:sp>
        <p:nvSpPr>
          <p:cNvPr id="9" name="Rounded Rectangle 8"/>
          <p:cNvSpPr/>
          <p:nvPr/>
        </p:nvSpPr>
        <p:spPr>
          <a:xfrm>
            <a:off x="777240" y="2176272"/>
            <a:ext cx="566928" cy="457200"/>
          </a:xfrm>
          <a:prstGeom prst="roundRect">
            <a:avLst>
              <a:gd name="adj" fmla="val 10000"/>
            </a:avLst>
          </a:prstGeom>
          <a:solidFill>
            <a:srgbClr val="D4ECE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185416"/>
            <a:ext cx="448056" cy="448056"/>
          </a:xfrm>
          <a:prstGeom prst="rect">
            <a:avLst/>
          </a:prstGeom>
        </p:spPr>
      </p:pic>
      <p:cxnSp>
        <p:nvCxnSpPr>
          <p:cNvPr id="11" name="Connector 10"/>
          <p:cNvCxnSpPr/>
          <p:nvPr/>
        </p:nvCxnSpPr>
        <p:spPr>
          <a:xfrm>
            <a:off x="1389888" y="2404872"/>
            <a:ext cx="329184"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764792" y="2249424"/>
            <a:ext cx="777240" cy="310896"/>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FFFFFF"/>
                </a:solidFill>
                <a:latin typeface="JetBrains Mono"/>
              </a:rPr>
              <a:t>Model</a:t>
            </a:r>
          </a:p>
        </p:txBody>
      </p:sp>
      <p:cxnSp>
        <p:nvCxnSpPr>
          <p:cNvPr id="13" name="Connector 12"/>
          <p:cNvCxnSpPr/>
          <p:nvPr/>
        </p:nvCxnSpPr>
        <p:spPr>
          <a:xfrm>
            <a:off x="2587752" y="2404872"/>
            <a:ext cx="329184"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62656" y="2249424"/>
            <a:ext cx="960120"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 · 92 %</a:t>
            </a:r>
          </a:p>
        </p:txBody>
      </p:sp>
      <p:sp>
        <p:nvSpPr>
          <p:cNvPr id="15" name="TextBox 14"/>
          <p:cNvSpPr txBox="1"/>
          <p:nvPr/>
        </p:nvSpPr>
        <p:spPr>
          <a:xfrm>
            <a:off x="2953512" y="2642616"/>
            <a:ext cx="1335024" cy="155448"/>
          </a:xfrm>
          <a:prstGeom prst="rect">
            <a:avLst/>
          </a:prstGeom>
          <a:noFill/>
        </p:spPr>
        <p:txBody>
          <a:bodyPr wrap="square" lIns="0" tIns="0" rIns="0" bIns="0" anchor="t">
            <a:spAutoFit/>
          </a:bodyPr>
          <a:lstStyle/>
          <a:p>
            <a:pPr algn="l"/>
            <a:r>
              <a:rPr sz="1000" b="0">
                <a:solidFill>
                  <a:srgbClr val="6B7B8C"/>
                </a:solidFill>
                <a:latin typeface="Roboto"/>
              </a:rPr>
              <a:t>The answer is a label.</a:t>
            </a:r>
          </a:p>
        </p:txBody>
      </p:sp>
      <p:cxnSp>
        <p:nvCxnSpPr>
          <p:cNvPr id="16" name="Connector 15"/>
          <p:cNvCxnSpPr/>
          <p:nvPr/>
        </p:nvCxnSpPr>
        <p:spPr>
          <a:xfrm>
            <a:off x="777240" y="3072384"/>
            <a:ext cx="3931920" cy="0"/>
          </a:xfrm>
          <a:prstGeom prst="line">
            <a:avLst/>
          </a:prstGeom>
          <a:ln w="9525">
            <a:solidFill>
              <a:srgbClr val="DDE5E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7240" y="3200400"/>
            <a:ext cx="2743200" cy="228600"/>
          </a:xfrm>
          <a:prstGeom prst="rect">
            <a:avLst/>
          </a:prstGeom>
          <a:noFill/>
        </p:spPr>
        <p:txBody>
          <a:bodyPr wrap="square" lIns="0" tIns="0" rIns="0" bIns="0" anchor="t">
            <a:spAutoFit/>
          </a:bodyPr>
          <a:lstStyle/>
          <a:p>
            <a:pPr algn="l"/>
            <a:r>
              <a:rPr sz="950" b="0" spc="100">
                <a:solidFill>
                  <a:srgbClr val="1B9AAA"/>
                </a:solidFill>
                <a:latin typeface="JetBrains Mono"/>
              </a:rPr>
              <a:t>GENERATE</a:t>
            </a:r>
          </a:p>
        </p:txBody>
      </p:sp>
      <p:sp>
        <p:nvSpPr>
          <p:cNvPr id="18" name="Rounded Rectangle 17"/>
          <p:cNvSpPr/>
          <p:nvPr/>
        </p:nvSpPr>
        <p:spPr>
          <a:xfrm>
            <a:off x="777240" y="3511296"/>
            <a:ext cx="1371600"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00">
                <a:solidFill>
                  <a:srgbClr val="0D1B2A"/>
                </a:solidFill>
                <a:latin typeface="JetBrains Mono"/>
              </a:rPr>
              <a:t>“Write a summary …”</a:t>
            </a:r>
          </a:p>
        </p:txBody>
      </p:sp>
      <p:cxnSp>
        <p:nvCxnSpPr>
          <p:cNvPr id="19" name="Connector 18"/>
          <p:cNvCxnSpPr/>
          <p:nvPr/>
        </p:nvCxnSpPr>
        <p:spPr>
          <a:xfrm>
            <a:off x="2194560" y="3666744"/>
            <a:ext cx="329184"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569464" y="3511296"/>
            <a:ext cx="777240" cy="310896"/>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FFFFFF"/>
                </a:solidFill>
                <a:latin typeface="JetBrains Mono"/>
              </a:rPr>
              <a:t>Model</a:t>
            </a:r>
          </a:p>
        </p:txBody>
      </p:sp>
      <p:cxnSp>
        <p:nvCxnSpPr>
          <p:cNvPr id="21" name="Connector 20"/>
          <p:cNvCxnSpPr/>
          <p:nvPr/>
        </p:nvCxnSpPr>
        <p:spPr>
          <a:xfrm>
            <a:off x="3392424" y="3666744"/>
            <a:ext cx="329184"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767328" y="3493008"/>
            <a:ext cx="914400" cy="64008"/>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3767328" y="3611879"/>
            <a:ext cx="777240" cy="64008"/>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767328" y="3730752"/>
            <a:ext cx="914400" cy="64008"/>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767328" y="3849624"/>
            <a:ext cx="548640" cy="64008"/>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767328" y="3977639"/>
            <a:ext cx="1069848" cy="310896"/>
          </a:xfrm>
          <a:prstGeom prst="rect">
            <a:avLst/>
          </a:prstGeom>
          <a:noFill/>
        </p:spPr>
        <p:txBody>
          <a:bodyPr wrap="square" lIns="0" tIns="0" rIns="0" bIns="0" anchor="t">
            <a:spAutoFit/>
          </a:bodyPr>
          <a:lstStyle/>
          <a:p>
            <a:pPr algn="l"/>
            <a:r>
              <a:rPr sz="1000" b="0">
                <a:solidFill>
                  <a:srgbClr val="6B7B8C"/>
                </a:solidFill>
                <a:latin typeface="Roboto"/>
              </a:rPr>
              <a:t>The answer is new content.</a:t>
            </a:r>
          </a:p>
        </p:txBody>
      </p:sp>
      <p:sp>
        <p:nvSpPr>
          <p:cNvPr id="27" name="Rectangle 26"/>
          <p:cNvSpPr/>
          <p:nvPr/>
        </p:nvSpPr>
        <p:spPr>
          <a:xfrm>
            <a:off x="5120640" y="1783080"/>
            <a:ext cx="3584448"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5120640" y="1783080"/>
            <a:ext cx="54864" cy="274320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330952" y="1892807"/>
            <a:ext cx="2743200" cy="228600"/>
          </a:xfrm>
          <a:prstGeom prst="rect">
            <a:avLst/>
          </a:prstGeom>
          <a:noFill/>
        </p:spPr>
        <p:txBody>
          <a:bodyPr wrap="square" lIns="0" tIns="0" rIns="0" bIns="0" anchor="t">
            <a:spAutoFit/>
          </a:bodyPr>
          <a:lstStyle/>
          <a:p>
            <a:pPr algn="l"/>
            <a:r>
              <a:rPr sz="950" b="0" spc="100">
                <a:solidFill>
                  <a:srgbClr val="1B9AAA"/>
                </a:solidFill>
                <a:latin typeface="JetBrains Mono"/>
              </a:rPr>
              <a:t>DIFFERENT DOMAINS OF GENERATIVE AI</a:t>
            </a:r>
          </a:p>
        </p:txBody>
      </p:sp>
      <p:sp>
        <p:nvSpPr>
          <p:cNvPr id="30" name="Rounded Rectangle 29"/>
          <p:cNvSpPr/>
          <p:nvPr/>
        </p:nvSpPr>
        <p:spPr>
          <a:xfrm>
            <a:off x="5394960" y="2834640"/>
            <a:ext cx="1325880" cy="548640"/>
          </a:xfrm>
          <a:prstGeom prst="roundRect">
            <a:avLst>
              <a:gd name="adj" fmla="val 10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394960" y="2916936"/>
            <a:ext cx="1325880" cy="411480"/>
          </a:xfrm>
          <a:prstGeom prst="rect">
            <a:avLst/>
          </a:prstGeom>
          <a:noFill/>
        </p:spPr>
        <p:txBody>
          <a:bodyPr wrap="square" lIns="0" tIns="0" rIns="0" bIns="0" anchor="t">
            <a:spAutoFit/>
          </a:bodyPr>
          <a:lstStyle/>
          <a:p>
            <a:pPr algn="ctr"/>
            <a:r>
              <a:rPr sz="1200" b="0">
                <a:solidFill>
                  <a:srgbClr val="FFFFFF"/>
                </a:solidFill>
                <a:latin typeface="Oswald"/>
              </a:rPr>
              <a:t>Generative</a:t>
            </a:r>
          </a:p>
          <a:p>
            <a:pPr algn="ctr"/>
            <a:r>
              <a:rPr sz="1200" b="0">
                <a:solidFill>
                  <a:srgbClr val="FFFFFF"/>
                </a:solidFill>
                <a:latin typeface="Oswald"/>
              </a:rPr>
              <a:t>AI</a:t>
            </a:r>
          </a:p>
        </p:txBody>
      </p:sp>
      <p:cxnSp>
        <p:nvCxnSpPr>
          <p:cNvPr id="32" name="Connector 31"/>
          <p:cNvCxnSpPr/>
          <p:nvPr/>
        </p:nvCxnSpPr>
        <p:spPr>
          <a:xfrm>
            <a:off x="6720840" y="3108960"/>
            <a:ext cx="228600" cy="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949440" y="2432304"/>
            <a:ext cx="0" cy="164592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949440" y="2432304"/>
            <a:ext cx="228600" cy="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178040" y="2240280"/>
            <a:ext cx="1371600" cy="384048"/>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Text  (LLM)</a:t>
            </a:r>
          </a:p>
        </p:txBody>
      </p:sp>
      <p:cxnSp>
        <p:nvCxnSpPr>
          <p:cNvPr id="36" name="Connector 35"/>
          <p:cNvCxnSpPr/>
          <p:nvPr/>
        </p:nvCxnSpPr>
        <p:spPr>
          <a:xfrm>
            <a:off x="6949440" y="2980944"/>
            <a:ext cx="228600" cy="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7178040" y="2788920"/>
            <a:ext cx="1371600" cy="384048"/>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Images</a:t>
            </a:r>
          </a:p>
        </p:txBody>
      </p:sp>
      <p:cxnSp>
        <p:nvCxnSpPr>
          <p:cNvPr id="38" name="Connector 37"/>
          <p:cNvCxnSpPr/>
          <p:nvPr/>
        </p:nvCxnSpPr>
        <p:spPr>
          <a:xfrm>
            <a:off x="6949440" y="3529584"/>
            <a:ext cx="228600" cy="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7178040" y="3337560"/>
            <a:ext cx="1371600" cy="384048"/>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Audio</a:t>
            </a:r>
          </a:p>
        </p:txBody>
      </p:sp>
      <p:cxnSp>
        <p:nvCxnSpPr>
          <p:cNvPr id="40" name="Connector 39"/>
          <p:cNvCxnSpPr/>
          <p:nvPr/>
        </p:nvCxnSpPr>
        <p:spPr>
          <a:xfrm>
            <a:off x="6949440" y="4078224"/>
            <a:ext cx="228600" cy="0"/>
          </a:xfrm>
          <a:prstGeom prst="line">
            <a:avLst/>
          </a:prstGeom>
          <a:ln w="12700">
            <a:solidFill>
              <a:srgbClr val="1B9AAA"/>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7178040" y="3886200"/>
            <a:ext cx="1371600" cy="384048"/>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Video</a:t>
            </a:r>
          </a:p>
        </p:txBody>
      </p:sp>
      <p:sp>
        <p:nvSpPr>
          <p:cNvPr id="42" name="Rectangle 41"/>
          <p:cNvSpPr/>
          <p:nvPr/>
        </p:nvSpPr>
        <p:spPr>
          <a:xfrm>
            <a:off x="566928" y="4672584"/>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13232" y="4700016"/>
            <a:ext cx="8138160" cy="169277"/>
          </a:xfrm>
          <a:prstGeom prst="rect">
            <a:avLst/>
          </a:prstGeom>
          <a:noFill/>
        </p:spPr>
        <p:txBody>
          <a:bodyPr wrap="square" lIns="0" tIns="0" rIns="0" bIns="0" anchor="t">
            <a:spAutoFit/>
          </a:bodyPr>
          <a:lstStyle/>
          <a:p>
            <a:pPr algn="l"/>
            <a:r>
              <a:rPr lang="de-DE" sz="1100" b="0" dirty="0">
                <a:solidFill>
                  <a:srgbClr val="0D1B2A"/>
                </a:solidFill>
                <a:latin typeface="Roboto"/>
              </a:rPr>
              <a:t>An </a:t>
            </a:r>
            <a:r>
              <a:rPr lang="de-DE" sz="1100" b="0" dirty="0">
                <a:solidFill>
                  <a:srgbClr val="01D1CC"/>
                </a:solidFill>
                <a:latin typeface="Roboto"/>
              </a:rPr>
              <a:t>LLM</a:t>
            </a:r>
            <a:r>
              <a:rPr lang="de-DE" sz="1100" b="0" dirty="0">
                <a:solidFill>
                  <a:srgbClr val="0D1B2A"/>
                </a:solidFill>
                <a:latin typeface="Roboto"/>
              </a:rPr>
              <a:t> </a:t>
            </a:r>
            <a:r>
              <a:rPr lang="de-DE" sz="1100" b="0" dirty="0" err="1">
                <a:solidFill>
                  <a:srgbClr val="0D1B2A"/>
                </a:solidFill>
                <a:latin typeface="Roboto"/>
              </a:rPr>
              <a:t>is</a:t>
            </a:r>
            <a:r>
              <a:rPr lang="de-DE" sz="1100" b="0" dirty="0">
                <a:solidFill>
                  <a:srgbClr val="0D1B2A"/>
                </a:solidFill>
                <a:latin typeface="Roboto"/>
              </a:rPr>
              <a:t> </a:t>
            </a:r>
            <a:r>
              <a:rPr lang="de-DE" sz="1100" b="0" dirty="0" err="1">
                <a:solidFill>
                  <a:srgbClr val="0D1B2A"/>
                </a:solidFill>
                <a:latin typeface="Roboto"/>
              </a:rPr>
              <a:t>one</a:t>
            </a:r>
            <a:r>
              <a:rPr lang="de-DE" sz="1100" b="0" dirty="0">
                <a:solidFill>
                  <a:srgbClr val="0D1B2A"/>
                </a:solidFill>
                <a:latin typeface="Roboto"/>
              </a:rPr>
              <a:t> </a:t>
            </a:r>
            <a:r>
              <a:rPr lang="de-DE" sz="1100" b="0" dirty="0" err="1">
                <a:solidFill>
                  <a:srgbClr val="0D1B2A"/>
                </a:solidFill>
                <a:latin typeface="Roboto"/>
              </a:rPr>
              <a:t>kind</a:t>
            </a:r>
            <a:r>
              <a:rPr lang="de-DE" sz="1100" b="0" dirty="0">
                <a:solidFill>
                  <a:srgbClr val="0D1B2A"/>
                </a:solidFill>
                <a:latin typeface="Roboto"/>
              </a:rPr>
              <a:t> of generative </a:t>
            </a:r>
            <a:r>
              <a:rPr lang="de-DE" sz="1100" b="0" dirty="0" err="1">
                <a:solidFill>
                  <a:srgbClr val="0D1B2A"/>
                </a:solidFill>
                <a:latin typeface="Roboto"/>
              </a:rPr>
              <a:t>model</a:t>
            </a:r>
            <a:r>
              <a:rPr lang="de-DE" sz="1100" b="0" dirty="0">
                <a:solidFill>
                  <a:srgbClr val="0D1B2A"/>
                </a:solidFill>
                <a:latin typeface="Roboto"/>
              </a:rPr>
              <a:t>. GenAI </a:t>
            </a:r>
            <a:r>
              <a:rPr lang="de-DE" sz="1100" b="0" dirty="0" err="1">
                <a:solidFill>
                  <a:srgbClr val="0D1B2A"/>
                </a:solidFill>
                <a:latin typeface="Roboto"/>
              </a:rPr>
              <a:t>is</a:t>
            </a:r>
            <a:r>
              <a:rPr lang="de-DE" sz="1100" b="0" dirty="0">
                <a:solidFill>
                  <a:srgbClr val="0D1B2A"/>
                </a:solidFill>
                <a:latin typeface="Roboto"/>
              </a:rPr>
              <a:t> </a:t>
            </a:r>
            <a:r>
              <a:rPr lang="de-DE" sz="1100" b="0" dirty="0" err="1">
                <a:solidFill>
                  <a:srgbClr val="0D1B2A"/>
                </a:solidFill>
                <a:latin typeface="Roboto"/>
              </a:rPr>
              <a:t>characterized</a:t>
            </a:r>
            <a:r>
              <a:rPr lang="de-DE" sz="1100" b="0" dirty="0">
                <a:solidFill>
                  <a:srgbClr val="0D1B2A"/>
                </a:solidFill>
                <a:latin typeface="Roboto"/>
              </a:rPr>
              <a:t> by </a:t>
            </a:r>
            <a:r>
              <a:rPr lang="de-DE" sz="1100" b="0" dirty="0" err="1">
                <a:solidFill>
                  <a:srgbClr val="0D1B2A"/>
                </a:solidFill>
                <a:latin typeface="Roboto"/>
              </a:rPr>
              <a:t>creating</a:t>
            </a:r>
            <a:r>
              <a:rPr lang="de-DE" sz="1100" b="0" dirty="0">
                <a:solidFill>
                  <a:srgbClr val="0D1B2A"/>
                </a:solidFill>
                <a:latin typeface="Roboto"/>
              </a:rPr>
              <a:t> </a:t>
            </a:r>
            <a:r>
              <a:rPr lang="de-DE" sz="1100" b="0" dirty="0" err="1">
                <a:solidFill>
                  <a:srgbClr val="0D1B2A"/>
                </a:solidFill>
                <a:latin typeface="Roboto"/>
              </a:rPr>
              <a:t>content</a:t>
            </a:r>
            <a:r>
              <a:rPr lang="de-DE" sz="1100" b="0" dirty="0">
                <a:solidFill>
                  <a:srgbClr val="0D1B2A"/>
                </a:solidFill>
                <a:latin typeface="Roboto"/>
              </a:rPr>
              <a:t> of </a:t>
            </a:r>
            <a:r>
              <a:rPr lang="de-DE" sz="1100" b="0" dirty="0" err="1">
                <a:solidFill>
                  <a:srgbClr val="0D1B2A"/>
                </a:solidFill>
                <a:latin typeface="Roboto"/>
              </a:rPr>
              <a:t>any</a:t>
            </a:r>
            <a:r>
              <a:rPr lang="de-DE" sz="1100" b="0" dirty="0">
                <a:solidFill>
                  <a:srgbClr val="0D1B2A"/>
                </a:solidFill>
                <a:latin typeface="Roboto"/>
              </a:rPr>
              <a:t> </a:t>
            </a:r>
            <a:r>
              <a:rPr lang="de-DE" sz="1100" b="0" dirty="0" err="1">
                <a:solidFill>
                  <a:srgbClr val="0D1B2A"/>
                </a:solidFill>
                <a:latin typeface="Roboto"/>
              </a:rPr>
              <a:t>kind</a:t>
            </a:r>
            <a:r>
              <a:rPr lang="de-DE" sz="1100" b="0" dirty="0">
                <a:solidFill>
                  <a:srgbClr val="0D1B2A"/>
                </a:solidFill>
                <a:latin typeface="Roboto"/>
              </a:rPr>
              <a:t>, </a:t>
            </a:r>
            <a:r>
              <a:rPr lang="de-DE" sz="1100" b="0" dirty="0" err="1">
                <a:solidFill>
                  <a:srgbClr val="0D1B2A"/>
                </a:solidFill>
                <a:latin typeface="Roboto"/>
              </a:rPr>
              <a:t>including</a:t>
            </a:r>
            <a:r>
              <a:rPr lang="de-DE" sz="1100" b="0" dirty="0">
                <a:solidFill>
                  <a:srgbClr val="0D1B2A"/>
                </a:solidFill>
                <a:latin typeface="Roboto"/>
              </a:rPr>
              <a:t> </a:t>
            </a:r>
            <a:r>
              <a:rPr lang="de-DE" sz="1100" b="0" dirty="0" err="1">
                <a:solidFill>
                  <a:srgbClr val="0D1B2A"/>
                </a:solidFill>
                <a:latin typeface="Roboto"/>
              </a:rPr>
              <a:t>images</a:t>
            </a:r>
            <a:r>
              <a:rPr lang="de-DE" sz="1100" b="0" dirty="0">
                <a:solidFill>
                  <a:srgbClr val="0D1B2A"/>
                </a:solidFill>
                <a:latin typeface="Roboto"/>
              </a:rPr>
              <a:t>, </a:t>
            </a:r>
            <a:r>
              <a:rPr lang="de-DE" sz="1100" b="0" dirty="0" err="1">
                <a:solidFill>
                  <a:srgbClr val="0D1B2A"/>
                </a:solidFill>
                <a:latin typeface="Roboto"/>
              </a:rPr>
              <a:t>audio</a:t>
            </a:r>
            <a:r>
              <a:rPr lang="de-DE" sz="1100" b="0" dirty="0">
                <a:solidFill>
                  <a:srgbClr val="0D1B2A"/>
                </a:solidFill>
                <a:latin typeface="Roboto"/>
              </a:rPr>
              <a:t> and </a:t>
            </a:r>
            <a:r>
              <a:rPr lang="de-DE" sz="1100" b="0" dirty="0" err="1">
                <a:solidFill>
                  <a:srgbClr val="0D1B2A"/>
                </a:solidFill>
                <a:latin typeface="Roboto"/>
              </a:rPr>
              <a:t>video</a:t>
            </a:r>
            <a:r>
              <a:rPr lang="de-DE" sz="1100" b="0" dirty="0">
                <a:solidFill>
                  <a:srgbClr val="0D1B2A"/>
                </a:solidFill>
                <a:latin typeface="Roboto"/>
              </a:rPr>
              <a:t>.</a:t>
            </a:r>
            <a:endParaRPr sz="1100" b="0" dirty="0">
              <a:solidFill>
                <a:srgbClr val="0D1B2A"/>
              </a:solidFill>
              <a:latin typeface="Robo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GENERATIVE AI · 2017–2018</a:t>
            </a:r>
          </a:p>
        </p:txBody>
      </p:sp>
      <p:sp>
        <p:nvSpPr>
          <p:cNvPr id="4" name="slide-transformer"/>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The engine for every LLM: Transformer Architecture</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A 2017 published neural-network architecture from Google lead to the first GPT model in 2018.</a:t>
            </a:r>
          </a:p>
        </p:txBody>
      </p:sp>
      <p:sp>
        <p:nvSpPr>
          <p:cNvPr id="6" name="Rectangle 5"/>
          <p:cNvSpPr/>
          <p:nvPr/>
        </p:nvSpPr>
        <p:spPr>
          <a:xfrm>
            <a:off x="566928" y="1783080"/>
            <a:ext cx="4005072"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20240"/>
            <a:ext cx="2286000" cy="228600"/>
          </a:xfrm>
          <a:prstGeom prst="rect">
            <a:avLst/>
          </a:prstGeom>
          <a:noFill/>
        </p:spPr>
        <p:txBody>
          <a:bodyPr wrap="square" lIns="0" tIns="0" rIns="0" bIns="0" anchor="t">
            <a:spAutoFit/>
          </a:bodyPr>
          <a:lstStyle/>
          <a:p>
            <a:pPr algn="l"/>
            <a:r>
              <a:rPr sz="950" b="0" spc="100">
                <a:solidFill>
                  <a:srgbClr val="06D6A0"/>
                </a:solidFill>
                <a:latin typeface="JetBrains Mono"/>
              </a:rPr>
              <a:t>2017 · GOOGLE</a:t>
            </a:r>
          </a:p>
        </p:txBody>
      </p:sp>
      <p:sp>
        <p:nvSpPr>
          <p:cNvPr id="9" name="TextBox 8"/>
          <p:cNvSpPr txBox="1"/>
          <p:nvPr/>
        </p:nvSpPr>
        <p:spPr>
          <a:xfrm>
            <a:off x="777240" y="2249424"/>
            <a:ext cx="3794759" cy="155448"/>
          </a:xfrm>
          <a:prstGeom prst="rect">
            <a:avLst/>
          </a:prstGeom>
          <a:noFill/>
        </p:spPr>
        <p:txBody>
          <a:bodyPr wrap="square" lIns="0" tIns="0" rIns="0" bIns="0" anchor="t">
            <a:spAutoFit/>
          </a:bodyPr>
          <a:lstStyle/>
          <a:p>
            <a:pPr algn="l"/>
            <a:r>
              <a:rPr sz="1000" b="0">
                <a:solidFill>
                  <a:srgbClr val="14293D"/>
                </a:solidFill>
                <a:latin typeface="Roboto"/>
              </a:rPr>
              <a:t>“Attention Is All You Need” introduces Transformer Architecture.</a:t>
            </a:r>
          </a:p>
        </p:txBody>
      </p:sp>
      <p:sp>
        <p:nvSpPr>
          <p:cNvPr id="10" name="Rectangle 9"/>
          <p:cNvSpPr/>
          <p:nvPr/>
        </p:nvSpPr>
        <p:spPr>
          <a:xfrm>
            <a:off x="4700016" y="1783080"/>
            <a:ext cx="4005072"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00016" y="1783080"/>
            <a:ext cx="54864" cy="27432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10328" y="1920240"/>
            <a:ext cx="2286000" cy="228600"/>
          </a:xfrm>
          <a:prstGeom prst="rect">
            <a:avLst/>
          </a:prstGeom>
          <a:noFill/>
        </p:spPr>
        <p:txBody>
          <a:bodyPr wrap="square" lIns="0" tIns="0" rIns="0" bIns="0" anchor="t">
            <a:spAutoFit/>
          </a:bodyPr>
          <a:lstStyle/>
          <a:p>
            <a:pPr algn="l"/>
            <a:r>
              <a:rPr sz="950" b="0" spc="100">
                <a:solidFill>
                  <a:srgbClr val="0D1B2A"/>
                </a:solidFill>
                <a:latin typeface="JetBrains Mono"/>
              </a:rPr>
              <a:t>2018 · OPENAI</a:t>
            </a:r>
          </a:p>
        </p:txBody>
      </p:sp>
      <p:sp>
        <p:nvSpPr>
          <p:cNvPr id="13" name="TextBox 12"/>
          <p:cNvSpPr txBox="1"/>
          <p:nvPr/>
        </p:nvSpPr>
        <p:spPr>
          <a:xfrm>
            <a:off x="4910328" y="2249424"/>
            <a:ext cx="3794759" cy="155448"/>
          </a:xfrm>
          <a:prstGeom prst="rect">
            <a:avLst/>
          </a:prstGeom>
          <a:noFill/>
        </p:spPr>
        <p:txBody>
          <a:bodyPr wrap="square" lIns="0" tIns="0" rIns="0" bIns="0" anchor="t">
            <a:spAutoFit/>
          </a:bodyPr>
          <a:lstStyle/>
          <a:p>
            <a:pPr algn="l"/>
            <a:r>
              <a:rPr sz="1000" b="0">
                <a:solidFill>
                  <a:srgbClr val="14293D"/>
                </a:solidFill>
                <a:latin typeface="Roboto"/>
              </a:rPr>
              <a:t>GPT-1: the first Generative Pre-trained Transformer.</a:t>
            </a:r>
          </a:p>
        </p:txBody>
      </p:sp>
      <p:sp>
        <p:nvSpPr>
          <p:cNvPr id="14" name="TextBox 13"/>
          <p:cNvSpPr txBox="1"/>
          <p:nvPr/>
        </p:nvSpPr>
        <p:spPr>
          <a:xfrm>
            <a:off x="777240" y="2633472"/>
            <a:ext cx="2743200" cy="228600"/>
          </a:xfrm>
          <a:prstGeom prst="rect">
            <a:avLst/>
          </a:prstGeom>
          <a:noFill/>
        </p:spPr>
        <p:txBody>
          <a:bodyPr wrap="square" lIns="0" tIns="0" rIns="0" bIns="0" anchor="t">
            <a:spAutoFit/>
          </a:bodyPr>
          <a:lstStyle/>
          <a:p>
            <a:pPr algn="l"/>
            <a:r>
              <a:rPr sz="950" b="0" spc="100">
                <a:solidFill>
                  <a:srgbClr val="1B9AAA"/>
                </a:solidFill>
                <a:latin typeface="JetBrains Mono"/>
              </a:rPr>
              <a:t>ATTENTION: THE CORE IDEA</a:t>
            </a:r>
          </a:p>
        </p:txBody>
      </p:sp>
      <p:sp>
        <p:nvSpPr>
          <p:cNvPr id="15" name="Rounded Rectangle 14"/>
          <p:cNvSpPr/>
          <p:nvPr/>
        </p:nvSpPr>
        <p:spPr>
          <a:xfrm>
            <a:off x="777240" y="2889504"/>
            <a:ext cx="356616"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The</a:t>
            </a:r>
          </a:p>
        </p:txBody>
      </p:sp>
      <p:sp>
        <p:nvSpPr>
          <p:cNvPr id="16" name="Rounded Rectangle 15"/>
          <p:cNvSpPr/>
          <p:nvPr/>
        </p:nvSpPr>
        <p:spPr>
          <a:xfrm>
            <a:off x="1188720" y="2889504"/>
            <a:ext cx="356616"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cat</a:t>
            </a:r>
          </a:p>
        </p:txBody>
      </p:sp>
      <p:sp>
        <p:nvSpPr>
          <p:cNvPr id="17" name="Rounded Rectangle 16"/>
          <p:cNvSpPr/>
          <p:nvPr/>
        </p:nvSpPr>
        <p:spPr>
          <a:xfrm>
            <a:off x="1600200" y="2889504"/>
            <a:ext cx="356616"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sat</a:t>
            </a:r>
          </a:p>
        </p:txBody>
      </p:sp>
      <p:sp>
        <p:nvSpPr>
          <p:cNvPr id="18" name="Rounded Rectangle 17"/>
          <p:cNvSpPr/>
          <p:nvPr/>
        </p:nvSpPr>
        <p:spPr>
          <a:xfrm>
            <a:off x="2011680" y="2889504"/>
            <a:ext cx="685800"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because</a:t>
            </a:r>
          </a:p>
        </p:txBody>
      </p:sp>
      <p:sp>
        <p:nvSpPr>
          <p:cNvPr id="19" name="Rounded Rectangle 18"/>
          <p:cNvSpPr/>
          <p:nvPr/>
        </p:nvSpPr>
        <p:spPr>
          <a:xfrm>
            <a:off x="2752344" y="2889504"/>
            <a:ext cx="27432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it</a:t>
            </a:r>
          </a:p>
        </p:txBody>
      </p:sp>
      <p:sp>
        <p:nvSpPr>
          <p:cNvPr id="20" name="Rounded Rectangle 19"/>
          <p:cNvSpPr/>
          <p:nvPr/>
        </p:nvSpPr>
        <p:spPr>
          <a:xfrm>
            <a:off x="3081528" y="2889504"/>
            <a:ext cx="356616"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JetBrains Mono"/>
              </a:rPr>
              <a:t>was</a:t>
            </a:r>
          </a:p>
        </p:txBody>
      </p:sp>
      <p:sp>
        <p:nvSpPr>
          <p:cNvPr id="21" name="Rounded Rectangle 20"/>
          <p:cNvSpPr/>
          <p:nvPr/>
        </p:nvSpPr>
        <p:spPr>
          <a:xfrm>
            <a:off x="3493008" y="2889504"/>
            <a:ext cx="521207"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JetBrains Mono"/>
              </a:rPr>
              <a:t>tired</a:t>
            </a:r>
          </a:p>
        </p:txBody>
      </p:sp>
      <p:cxnSp>
        <p:nvCxnSpPr>
          <p:cNvPr id="22" name="Connector 21"/>
          <p:cNvCxnSpPr/>
          <p:nvPr/>
        </p:nvCxnSpPr>
        <p:spPr>
          <a:xfrm flipH="1" flipV="1">
            <a:off x="955547" y="3163824"/>
            <a:ext cx="699517" cy="219456"/>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67028" y="3163824"/>
            <a:ext cx="288036" cy="219456"/>
          </a:xfrm>
          <a:prstGeom prst="line">
            <a:avLst/>
          </a:prstGeom>
          <a:ln w="19050">
            <a:solidFill>
              <a:srgbClr val="06D6A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655064" y="3163824"/>
            <a:ext cx="123444" cy="219456"/>
          </a:xfrm>
          <a:prstGeom prst="line">
            <a:avLst/>
          </a:prstGeom>
          <a:ln w="9525">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55064" y="3163824"/>
            <a:ext cx="699516" cy="219456"/>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655064" y="3163824"/>
            <a:ext cx="1234440" cy="219456"/>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1271016" y="3383280"/>
            <a:ext cx="768096"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FFFFFF"/>
                </a:solidFill>
                <a:latin typeface="JetBrains Mono"/>
              </a:rPr>
              <a:t>“it” = ?</a:t>
            </a:r>
          </a:p>
        </p:txBody>
      </p:sp>
      <p:sp>
        <p:nvSpPr>
          <p:cNvPr id="28" name="TextBox 27"/>
          <p:cNvSpPr txBox="1"/>
          <p:nvPr/>
        </p:nvSpPr>
        <p:spPr>
          <a:xfrm>
            <a:off x="777240" y="3767328"/>
            <a:ext cx="3593591" cy="585216"/>
          </a:xfrm>
          <a:prstGeom prst="rect">
            <a:avLst/>
          </a:prstGeom>
          <a:noFill/>
        </p:spPr>
        <p:txBody>
          <a:bodyPr wrap="square" lIns="0" tIns="0" rIns="0" bIns="0" anchor="t">
            <a:spAutoFit/>
          </a:bodyPr>
          <a:lstStyle/>
          <a:p>
            <a:pPr algn="l"/>
            <a:r>
              <a:rPr sz="950" b="0">
                <a:solidFill>
                  <a:srgbClr val="14293D"/>
                </a:solidFill>
                <a:latin typeface="Roboto"/>
              </a:rPr>
              <a:t>The model perceives “it” as a weighted combination of itself and all of the words before it. A thicker line means more attention, so the word “cat” matters most for the word “it” — the mechanism that made Transformers so good at language.</a:t>
            </a:r>
          </a:p>
        </p:txBody>
      </p:sp>
      <p:sp>
        <p:nvSpPr>
          <p:cNvPr id="29" name="Rounded Rectangle 28"/>
          <p:cNvSpPr/>
          <p:nvPr/>
        </p:nvSpPr>
        <p:spPr>
          <a:xfrm>
            <a:off x="4910328" y="2596896"/>
            <a:ext cx="3584448" cy="484632"/>
          </a:xfrm>
          <a:prstGeom prst="roundRect">
            <a:avLst>
              <a:gd name="adj" fmla="val 13207"/>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910328" y="2596896"/>
            <a:ext cx="36576" cy="48463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5038344" y="2679191"/>
            <a:ext cx="320040" cy="32004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38344" y="2679191"/>
            <a:ext cx="320040" cy="301752"/>
          </a:xfrm>
          <a:prstGeom prst="rect">
            <a:avLst/>
          </a:prstGeom>
          <a:noFill/>
        </p:spPr>
        <p:txBody>
          <a:bodyPr wrap="square" lIns="0" tIns="0" rIns="0" bIns="0" anchor="ctr">
            <a:spAutoFit/>
          </a:bodyPr>
          <a:lstStyle/>
          <a:p>
            <a:pPr algn="ctr"/>
            <a:r>
              <a:rPr sz="1900" b="0">
                <a:solidFill>
                  <a:srgbClr val="1B9AAA"/>
                </a:solidFill>
                <a:latin typeface="Oswald"/>
              </a:rPr>
              <a:t>G</a:t>
            </a:r>
          </a:p>
        </p:txBody>
      </p:sp>
      <p:sp>
        <p:nvSpPr>
          <p:cNvPr id="33" name="TextBox 32"/>
          <p:cNvSpPr txBox="1"/>
          <p:nvPr/>
        </p:nvSpPr>
        <p:spPr>
          <a:xfrm>
            <a:off x="5468112" y="2660903"/>
            <a:ext cx="2194560" cy="201168"/>
          </a:xfrm>
          <a:prstGeom prst="rect">
            <a:avLst/>
          </a:prstGeom>
          <a:noFill/>
        </p:spPr>
        <p:txBody>
          <a:bodyPr wrap="none" lIns="0" tIns="0" rIns="0" bIns="0">
            <a:spAutoFit/>
          </a:bodyPr>
          <a:lstStyle/>
          <a:p>
            <a:pPr algn="l"/>
            <a:r>
              <a:rPr sz="1200">
                <a:solidFill>
                  <a:srgbClr val="0D1B2A"/>
                </a:solidFill>
                <a:latin typeface="Oswald"/>
              </a:rPr>
              <a:t>Generative</a:t>
            </a:r>
          </a:p>
        </p:txBody>
      </p:sp>
      <p:sp>
        <p:nvSpPr>
          <p:cNvPr id="34" name="TextBox 33"/>
          <p:cNvSpPr txBox="1"/>
          <p:nvPr/>
        </p:nvSpPr>
        <p:spPr>
          <a:xfrm>
            <a:off x="5468112" y="2852928"/>
            <a:ext cx="2907791" cy="182880"/>
          </a:xfrm>
          <a:prstGeom prst="rect">
            <a:avLst/>
          </a:prstGeom>
          <a:noFill/>
        </p:spPr>
        <p:txBody>
          <a:bodyPr wrap="square" lIns="0" tIns="0" rIns="0" bIns="0" anchor="t">
            <a:spAutoFit/>
          </a:bodyPr>
          <a:lstStyle/>
          <a:p>
            <a:pPr algn="l"/>
            <a:r>
              <a:rPr sz="900" b="0">
                <a:solidFill>
                  <a:srgbClr val="6B7B8C"/>
                </a:solidFill>
                <a:latin typeface="Roboto"/>
              </a:rPr>
              <a:t>Creates new text, not just labels or scores.</a:t>
            </a:r>
          </a:p>
        </p:txBody>
      </p:sp>
      <p:sp>
        <p:nvSpPr>
          <p:cNvPr id="35" name="Rounded Rectangle 34"/>
          <p:cNvSpPr/>
          <p:nvPr/>
        </p:nvSpPr>
        <p:spPr>
          <a:xfrm>
            <a:off x="4910328" y="3209544"/>
            <a:ext cx="3584448" cy="484632"/>
          </a:xfrm>
          <a:prstGeom prst="roundRect">
            <a:avLst>
              <a:gd name="adj" fmla="val 13207"/>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910328" y="3209544"/>
            <a:ext cx="36576" cy="48463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5038344" y="3291839"/>
            <a:ext cx="320040" cy="32004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038344" y="3291839"/>
            <a:ext cx="320040" cy="301752"/>
          </a:xfrm>
          <a:prstGeom prst="rect">
            <a:avLst/>
          </a:prstGeom>
          <a:noFill/>
        </p:spPr>
        <p:txBody>
          <a:bodyPr wrap="square" lIns="0" tIns="0" rIns="0" bIns="0" anchor="ctr">
            <a:spAutoFit/>
          </a:bodyPr>
          <a:lstStyle/>
          <a:p>
            <a:pPr algn="ctr"/>
            <a:r>
              <a:rPr sz="1900" b="0">
                <a:solidFill>
                  <a:srgbClr val="1B9AAA"/>
                </a:solidFill>
                <a:latin typeface="Oswald"/>
              </a:rPr>
              <a:t>P</a:t>
            </a:r>
          </a:p>
        </p:txBody>
      </p:sp>
      <p:sp>
        <p:nvSpPr>
          <p:cNvPr id="39" name="TextBox 38"/>
          <p:cNvSpPr txBox="1"/>
          <p:nvPr/>
        </p:nvSpPr>
        <p:spPr>
          <a:xfrm>
            <a:off x="5468112" y="3273551"/>
            <a:ext cx="2194560" cy="201168"/>
          </a:xfrm>
          <a:prstGeom prst="rect">
            <a:avLst/>
          </a:prstGeom>
          <a:noFill/>
        </p:spPr>
        <p:txBody>
          <a:bodyPr wrap="none" lIns="0" tIns="0" rIns="0" bIns="0">
            <a:spAutoFit/>
          </a:bodyPr>
          <a:lstStyle/>
          <a:p>
            <a:pPr algn="l"/>
            <a:r>
              <a:rPr sz="1200">
                <a:solidFill>
                  <a:srgbClr val="0D1B2A"/>
                </a:solidFill>
                <a:latin typeface="Oswald"/>
              </a:rPr>
              <a:t>Pre-trained</a:t>
            </a:r>
          </a:p>
        </p:txBody>
      </p:sp>
      <p:sp>
        <p:nvSpPr>
          <p:cNvPr id="40" name="TextBox 39"/>
          <p:cNvSpPr txBox="1"/>
          <p:nvPr/>
        </p:nvSpPr>
        <p:spPr>
          <a:xfrm>
            <a:off x="5468112" y="3465576"/>
            <a:ext cx="2907791" cy="182880"/>
          </a:xfrm>
          <a:prstGeom prst="rect">
            <a:avLst/>
          </a:prstGeom>
          <a:noFill/>
        </p:spPr>
        <p:txBody>
          <a:bodyPr wrap="square" lIns="0" tIns="0" rIns="0" bIns="0" anchor="t">
            <a:spAutoFit/>
          </a:bodyPr>
          <a:lstStyle/>
          <a:p>
            <a:pPr algn="l"/>
            <a:r>
              <a:rPr sz="900" b="0">
                <a:solidFill>
                  <a:srgbClr val="6B7B8C"/>
                </a:solidFill>
                <a:latin typeface="Roboto"/>
              </a:rPr>
              <a:t>Learn from huge amounts of text, before anyone uses it.</a:t>
            </a:r>
          </a:p>
        </p:txBody>
      </p:sp>
      <p:sp>
        <p:nvSpPr>
          <p:cNvPr id="41" name="Rounded Rectangle 40"/>
          <p:cNvSpPr/>
          <p:nvPr/>
        </p:nvSpPr>
        <p:spPr>
          <a:xfrm>
            <a:off x="4910328" y="3822191"/>
            <a:ext cx="3584448" cy="484632"/>
          </a:xfrm>
          <a:prstGeom prst="roundRect">
            <a:avLst>
              <a:gd name="adj" fmla="val 13207"/>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910328" y="3822191"/>
            <a:ext cx="36576" cy="48463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5038344" y="3904487"/>
            <a:ext cx="320040" cy="32004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38344" y="3904487"/>
            <a:ext cx="320040" cy="301752"/>
          </a:xfrm>
          <a:prstGeom prst="rect">
            <a:avLst/>
          </a:prstGeom>
          <a:noFill/>
        </p:spPr>
        <p:txBody>
          <a:bodyPr wrap="square" lIns="0" tIns="0" rIns="0" bIns="0" anchor="ctr">
            <a:spAutoFit/>
          </a:bodyPr>
          <a:lstStyle/>
          <a:p>
            <a:pPr algn="ctr"/>
            <a:r>
              <a:rPr sz="1900" b="0">
                <a:solidFill>
                  <a:srgbClr val="1B9AAA"/>
                </a:solidFill>
                <a:latin typeface="Oswald"/>
              </a:rPr>
              <a:t>T</a:t>
            </a:r>
          </a:p>
        </p:txBody>
      </p:sp>
      <p:sp>
        <p:nvSpPr>
          <p:cNvPr id="45" name="TextBox 44"/>
          <p:cNvSpPr txBox="1"/>
          <p:nvPr/>
        </p:nvSpPr>
        <p:spPr>
          <a:xfrm>
            <a:off x="5468112" y="3886200"/>
            <a:ext cx="2194560" cy="201168"/>
          </a:xfrm>
          <a:prstGeom prst="rect">
            <a:avLst/>
          </a:prstGeom>
          <a:noFill/>
        </p:spPr>
        <p:txBody>
          <a:bodyPr wrap="none" lIns="0" tIns="0" rIns="0" bIns="0">
            <a:spAutoFit/>
          </a:bodyPr>
          <a:lstStyle/>
          <a:p>
            <a:pPr algn="l"/>
            <a:r>
              <a:rPr sz="1200">
                <a:solidFill>
                  <a:srgbClr val="0D1B2A"/>
                </a:solidFill>
                <a:latin typeface="Oswald"/>
              </a:rPr>
              <a:t>Transformer</a:t>
            </a:r>
          </a:p>
        </p:txBody>
      </p:sp>
      <p:sp>
        <p:nvSpPr>
          <p:cNvPr id="46" name="TextBox 45"/>
          <p:cNvSpPr txBox="1"/>
          <p:nvPr/>
        </p:nvSpPr>
        <p:spPr>
          <a:xfrm>
            <a:off x="5468112" y="4078224"/>
            <a:ext cx="2907791" cy="182880"/>
          </a:xfrm>
          <a:prstGeom prst="rect">
            <a:avLst/>
          </a:prstGeom>
          <a:noFill/>
        </p:spPr>
        <p:txBody>
          <a:bodyPr wrap="square" lIns="0" tIns="0" rIns="0" bIns="0" anchor="t">
            <a:spAutoFit/>
          </a:bodyPr>
          <a:lstStyle/>
          <a:p>
            <a:pPr algn="l"/>
            <a:r>
              <a:rPr sz="900" b="0">
                <a:solidFill>
                  <a:srgbClr val="6B7B8C"/>
                </a:solidFill>
                <a:latin typeface="Roboto"/>
              </a:rPr>
              <a:t>Built on the transformer architecture.</a:t>
            </a:r>
          </a:p>
        </p:txBody>
      </p:sp>
      <p:cxnSp>
        <p:nvCxnSpPr>
          <p:cNvPr id="47" name="Connector 46"/>
          <p:cNvCxnSpPr/>
          <p:nvPr/>
        </p:nvCxnSpPr>
        <p:spPr>
          <a:xfrm>
            <a:off x="777240" y="2157984"/>
            <a:ext cx="7717536" cy="0"/>
          </a:xfrm>
          <a:prstGeom prst="line">
            <a:avLst/>
          </a:prstGeom>
          <a:ln w="19050">
            <a:solidFill>
              <a:srgbClr val="DDE5E9"/>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813816" y="2093976"/>
            <a:ext cx="128016" cy="128016"/>
          </a:xfrm>
          <a:prstGeom prst="ellipse">
            <a:avLst/>
          </a:prstGeom>
          <a:solidFill>
            <a:srgbClr val="06D6A0">
              <a:alpha val="100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4946904" y="2093976"/>
            <a:ext cx="128016" cy="128016"/>
          </a:xfrm>
          <a:prstGeom prst="ellipse">
            <a:avLst/>
          </a:prstGeom>
          <a:solidFill>
            <a:srgbClr val="0D1B2A">
              <a:alpha val="100000"/>
            </a:srgbClr>
          </a:solidFill>
          <a:ln w="9525">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566928" y="4636008"/>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13232" y="4617720"/>
            <a:ext cx="7991856" cy="182880"/>
          </a:xfrm>
          <a:prstGeom prst="rect">
            <a:avLst/>
          </a:prstGeom>
          <a:noFill/>
        </p:spPr>
        <p:txBody>
          <a:bodyPr wrap="square" lIns="0" tIns="0" rIns="0" bIns="0" anchor="t">
            <a:spAutoFit/>
          </a:bodyPr>
          <a:lstStyle/>
          <a:p>
            <a:pPr algn="l"/>
            <a:r>
              <a:rPr sz="1200" b="0">
                <a:solidFill>
                  <a:srgbClr val="0D1B2A"/>
                </a:solidFill>
                <a:latin typeface="Roboto"/>
              </a:rPr>
              <a:t>Nearly every language model today is built on this architecture — ChatGPT, Claude, Gemini, Llama and more.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GENERATIVE AI · TOKENS</a:t>
            </a:r>
          </a:p>
        </p:txBody>
      </p:sp>
      <p:sp>
        <p:nvSpPr>
          <p:cNvPr id="4" name="slide-token"/>
          <p:cNvSpPr txBox="1"/>
          <p:nvPr/>
        </p:nvSpPr>
        <p:spPr>
          <a:xfrm>
            <a:off x="566928" y="603504"/>
            <a:ext cx="8138160" cy="492443"/>
          </a:xfrm>
          <a:prstGeom prst="rect">
            <a:avLst/>
          </a:prstGeom>
          <a:noFill/>
        </p:spPr>
        <p:txBody>
          <a:bodyPr wrap="square" lIns="0" tIns="0" rIns="0" bIns="0" anchor="t">
            <a:spAutoFit/>
          </a:bodyPr>
          <a:lstStyle/>
          <a:p>
            <a:pPr algn="l"/>
            <a:r>
              <a:rPr sz="3200" b="0">
                <a:solidFill>
                  <a:srgbClr val="0D1B2A"/>
                </a:solidFill>
                <a:latin typeface="Oswald"/>
              </a:rPr>
              <a:t>Models </a:t>
            </a:r>
            <a:r>
              <a:rPr sz="3200" b="0" dirty="0">
                <a:solidFill>
                  <a:srgbClr val="0D1B2A"/>
                </a:solidFill>
                <a:latin typeface="Oswald"/>
              </a:rPr>
              <a:t>read tokens, not words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dirty="0">
                <a:solidFill>
                  <a:srgbClr val="14293D"/>
                </a:solidFill>
                <a:latin typeface="Roboto"/>
              </a:rPr>
              <a:t>Text is cut into tokens: small pieces, often a whole word, sometimes just part of one.</a:t>
            </a:r>
          </a:p>
        </p:txBody>
      </p:sp>
      <p:sp>
        <p:nvSpPr>
          <p:cNvPr id="6" name="Rectangle 5"/>
          <p:cNvSpPr/>
          <p:nvPr/>
        </p:nvSpPr>
        <p:spPr>
          <a:xfrm>
            <a:off x="566928" y="1783080"/>
            <a:ext cx="512064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13232" y="1892807"/>
            <a:ext cx="4846320" cy="658368"/>
          </a:xfrm>
          <a:prstGeom prst="roundRect">
            <a:avLst>
              <a:gd name="adj" fmla="val 11111"/>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13232" y="2624328"/>
            <a:ext cx="4846320" cy="658368"/>
          </a:xfrm>
          <a:prstGeom prst="roundRect">
            <a:avLst>
              <a:gd name="adj" fmla="val 11111"/>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13232" y="3355848"/>
            <a:ext cx="4846320" cy="658368"/>
          </a:xfrm>
          <a:prstGeom prst="roundRect">
            <a:avLst>
              <a:gd name="adj" fmla="val 11111"/>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1248" y="1956815"/>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1: YOUR TEXT</a:t>
            </a:r>
          </a:p>
        </p:txBody>
      </p:sp>
      <p:sp>
        <p:nvSpPr>
          <p:cNvPr id="12" name="TextBox 11"/>
          <p:cNvSpPr txBox="1"/>
          <p:nvPr/>
        </p:nvSpPr>
        <p:spPr>
          <a:xfrm>
            <a:off x="841248" y="2157984"/>
            <a:ext cx="4572000" cy="365760"/>
          </a:xfrm>
          <a:prstGeom prst="rect">
            <a:avLst/>
          </a:prstGeom>
          <a:noFill/>
        </p:spPr>
        <p:txBody>
          <a:bodyPr wrap="square" lIns="0" tIns="0" rIns="0" bIns="0" anchor="t">
            <a:spAutoFit/>
          </a:bodyPr>
          <a:lstStyle/>
          <a:p>
            <a:pPr algn="l"/>
            <a:r>
              <a:rPr sz="1800" b="0">
                <a:solidFill>
                  <a:srgbClr val="0D1B2A"/>
                </a:solidFill>
                <a:latin typeface="Roboto"/>
              </a:rPr>
              <a:t>Pharmacovigilance matters!</a:t>
            </a:r>
          </a:p>
        </p:txBody>
      </p:sp>
      <p:sp>
        <p:nvSpPr>
          <p:cNvPr id="13" name="TextBox 12"/>
          <p:cNvSpPr txBox="1"/>
          <p:nvPr/>
        </p:nvSpPr>
        <p:spPr>
          <a:xfrm>
            <a:off x="841248" y="2688336"/>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2: CUT INTO TOKENS</a:t>
            </a:r>
          </a:p>
        </p:txBody>
      </p:sp>
      <p:sp>
        <p:nvSpPr>
          <p:cNvPr id="14" name="TextBox 13"/>
          <p:cNvSpPr txBox="1"/>
          <p:nvPr/>
        </p:nvSpPr>
        <p:spPr>
          <a:xfrm>
            <a:off x="841248" y="3419856"/>
            <a:ext cx="3657600" cy="228600"/>
          </a:xfrm>
          <a:prstGeom prst="rect">
            <a:avLst/>
          </a:prstGeom>
          <a:noFill/>
        </p:spPr>
        <p:txBody>
          <a:bodyPr wrap="square" lIns="0" tIns="0" rIns="0" bIns="0" anchor="t">
            <a:spAutoFit/>
          </a:bodyPr>
          <a:lstStyle/>
          <a:p>
            <a:pPr algn="l"/>
            <a:r>
              <a:rPr sz="850" b="0" spc="100">
                <a:solidFill>
                  <a:srgbClr val="1B9AAA"/>
                </a:solidFill>
                <a:latin typeface="JetBrains Mono"/>
              </a:rPr>
              <a:t>STEP 3: EACH TOKEN BECOMES A NUMBER</a:t>
            </a:r>
          </a:p>
        </p:txBody>
      </p:sp>
      <p:sp>
        <p:nvSpPr>
          <p:cNvPr id="15" name="Rounded Rectangle 14"/>
          <p:cNvSpPr/>
          <p:nvPr/>
        </p:nvSpPr>
        <p:spPr>
          <a:xfrm>
            <a:off x="841248" y="2907792"/>
            <a:ext cx="676656"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Pharm</a:t>
            </a:r>
          </a:p>
        </p:txBody>
      </p:sp>
      <p:sp>
        <p:nvSpPr>
          <p:cNvPr id="16" name="Rounded Rectangle 15"/>
          <p:cNvSpPr/>
          <p:nvPr/>
        </p:nvSpPr>
        <p:spPr>
          <a:xfrm>
            <a:off x="841248" y="3639312"/>
            <a:ext cx="67665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47312</a:t>
            </a:r>
          </a:p>
        </p:txBody>
      </p:sp>
      <p:sp>
        <p:nvSpPr>
          <p:cNvPr id="17" name="Rounded Rectangle 16"/>
          <p:cNvSpPr/>
          <p:nvPr/>
        </p:nvSpPr>
        <p:spPr>
          <a:xfrm>
            <a:off x="1609344" y="2907792"/>
            <a:ext cx="493776" cy="310896"/>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aco</a:t>
            </a:r>
          </a:p>
        </p:txBody>
      </p:sp>
      <p:sp>
        <p:nvSpPr>
          <p:cNvPr id="18" name="Rounded Rectangle 17"/>
          <p:cNvSpPr/>
          <p:nvPr/>
        </p:nvSpPr>
        <p:spPr>
          <a:xfrm>
            <a:off x="1609344" y="3639312"/>
            <a:ext cx="49377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7904</a:t>
            </a:r>
          </a:p>
        </p:txBody>
      </p:sp>
      <p:sp>
        <p:nvSpPr>
          <p:cNvPr id="19" name="Rounded Rectangle 18"/>
          <p:cNvSpPr/>
          <p:nvPr/>
        </p:nvSpPr>
        <p:spPr>
          <a:xfrm>
            <a:off x="2194560" y="2907792"/>
            <a:ext cx="493776"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vig</a:t>
            </a:r>
          </a:p>
        </p:txBody>
      </p:sp>
      <p:sp>
        <p:nvSpPr>
          <p:cNvPr id="20" name="Rounded Rectangle 19"/>
          <p:cNvSpPr/>
          <p:nvPr/>
        </p:nvSpPr>
        <p:spPr>
          <a:xfrm>
            <a:off x="2194560" y="3639312"/>
            <a:ext cx="49377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29015</a:t>
            </a:r>
          </a:p>
        </p:txBody>
      </p:sp>
      <p:sp>
        <p:nvSpPr>
          <p:cNvPr id="21" name="Rounded Rectangle 20"/>
          <p:cNvSpPr/>
          <p:nvPr/>
        </p:nvSpPr>
        <p:spPr>
          <a:xfrm>
            <a:off x="2779776" y="2907792"/>
            <a:ext cx="768096" cy="310896"/>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ilance</a:t>
            </a:r>
          </a:p>
        </p:txBody>
      </p:sp>
      <p:sp>
        <p:nvSpPr>
          <p:cNvPr id="22" name="Rounded Rectangle 21"/>
          <p:cNvSpPr/>
          <p:nvPr/>
        </p:nvSpPr>
        <p:spPr>
          <a:xfrm>
            <a:off x="2779776" y="3639312"/>
            <a:ext cx="76809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5818</a:t>
            </a:r>
          </a:p>
        </p:txBody>
      </p:sp>
      <p:sp>
        <p:nvSpPr>
          <p:cNvPr id="23" name="Rounded Rectangle 22"/>
          <p:cNvSpPr/>
          <p:nvPr/>
        </p:nvSpPr>
        <p:spPr>
          <a:xfrm>
            <a:off x="3639312" y="2907792"/>
            <a:ext cx="859536" cy="310896"/>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matters</a:t>
            </a:r>
          </a:p>
        </p:txBody>
      </p:sp>
      <p:sp>
        <p:nvSpPr>
          <p:cNvPr id="24" name="Rounded Rectangle 23"/>
          <p:cNvSpPr/>
          <p:nvPr/>
        </p:nvSpPr>
        <p:spPr>
          <a:xfrm>
            <a:off x="3639312" y="3639312"/>
            <a:ext cx="85953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13121</a:t>
            </a:r>
          </a:p>
        </p:txBody>
      </p:sp>
      <p:sp>
        <p:nvSpPr>
          <p:cNvPr id="25" name="Rounded Rectangle 24"/>
          <p:cNvSpPr/>
          <p:nvPr/>
        </p:nvSpPr>
        <p:spPr>
          <a:xfrm>
            <a:off x="4590288" y="2907792"/>
            <a:ext cx="310896" cy="310896"/>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a:solidFill>
                  <a:srgbClr val="0D1B2A"/>
                </a:solidFill>
                <a:latin typeface="JetBrains Mono"/>
              </a:rPr>
              <a:t>!</a:t>
            </a:r>
          </a:p>
        </p:txBody>
      </p:sp>
      <p:sp>
        <p:nvSpPr>
          <p:cNvPr id="26" name="Rounded Rectangle 25"/>
          <p:cNvSpPr/>
          <p:nvPr/>
        </p:nvSpPr>
        <p:spPr>
          <a:xfrm>
            <a:off x="4590288" y="3639312"/>
            <a:ext cx="310896" cy="310896"/>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0</a:t>
            </a:r>
          </a:p>
        </p:txBody>
      </p:sp>
      <p:sp>
        <p:nvSpPr>
          <p:cNvPr id="27" name="TextBox 26"/>
          <p:cNvSpPr txBox="1"/>
          <p:nvPr/>
        </p:nvSpPr>
        <p:spPr>
          <a:xfrm>
            <a:off x="841248" y="4142232"/>
            <a:ext cx="4754880" cy="228600"/>
          </a:xfrm>
          <a:prstGeom prst="rect">
            <a:avLst/>
          </a:prstGeom>
          <a:noFill/>
        </p:spPr>
        <p:txBody>
          <a:bodyPr wrap="square" lIns="0" tIns="0" rIns="0" bIns="0" anchor="t">
            <a:spAutoFit/>
          </a:bodyPr>
          <a:lstStyle/>
          <a:p>
            <a:pPr algn="l"/>
            <a:r>
              <a:rPr sz="1000" b="0">
                <a:solidFill>
                  <a:srgbClr val="6B7B8C"/>
                </a:solidFill>
                <a:latin typeface="Roboto"/>
              </a:rPr>
              <a:t>Illustrative split: every model has its own token vocabulary.</a:t>
            </a:r>
          </a:p>
        </p:txBody>
      </p:sp>
      <p:sp>
        <p:nvSpPr>
          <p:cNvPr id="28" name="Rectangle 27"/>
          <p:cNvSpPr/>
          <p:nvPr/>
        </p:nvSpPr>
        <p:spPr>
          <a:xfrm>
            <a:off x="5897880" y="1783080"/>
            <a:ext cx="280720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5897880" y="1783080"/>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12648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RULE OF THUMB</a:t>
            </a:r>
          </a:p>
        </p:txBody>
      </p:sp>
      <p:sp>
        <p:nvSpPr>
          <p:cNvPr id="31" name="TextBox 30"/>
          <p:cNvSpPr txBox="1"/>
          <p:nvPr/>
        </p:nvSpPr>
        <p:spPr>
          <a:xfrm>
            <a:off x="6126480" y="2148840"/>
            <a:ext cx="2441448" cy="365760"/>
          </a:xfrm>
          <a:prstGeom prst="rect">
            <a:avLst/>
          </a:prstGeom>
          <a:noFill/>
        </p:spPr>
        <p:txBody>
          <a:bodyPr wrap="square" lIns="0" tIns="0" rIns="0" bIns="0" anchor="t">
            <a:spAutoFit/>
          </a:bodyPr>
          <a:lstStyle/>
          <a:p>
            <a:pPr algn="l"/>
            <a:r>
              <a:rPr sz="2000" b="0">
                <a:solidFill>
                  <a:srgbClr val="0D1B2A"/>
                </a:solidFill>
                <a:latin typeface="Oswald"/>
              </a:rPr>
              <a:t>1 token ≈ ¾ of a word</a:t>
            </a:r>
          </a:p>
        </p:txBody>
      </p:sp>
      <p:sp>
        <p:nvSpPr>
          <p:cNvPr id="32" name="TextBox 31"/>
          <p:cNvSpPr txBox="1"/>
          <p:nvPr/>
        </p:nvSpPr>
        <p:spPr>
          <a:xfrm>
            <a:off x="6126480" y="2651760"/>
            <a:ext cx="2441448" cy="274320"/>
          </a:xfrm>
          <a:prstGeom prst="rect">
            <a:avLst/>
          </a:prstGeom>
          <a:noFill/>
        </p:spPr>
        <p:txBody>
          <a:bodyPr wrap="square" lIns="0" tIns="0" rIns="0" bIns="0" anchor="t">
            <a:spAutoFit/>
          </a:bodyPr>
          <a:lstStyle/>
          <a:p>
            <a:pPr algn="l"/>
            <a:r>
              <a:rPr sz="1100" b="0">
                <a:solidFill>
                  <a:srgbClr val="6B7B8C"/>
                </a:solidFill>
                <a:latin typeface="Roboto"/>
              </a:rPr>
              <a:t>100 tokens ≈ 75 English words</a:t>
            </a:r>
          </a:p>
        </p:txBody>
      </p:sp>
      <p:sp>
        <p:nvSpPr>
          <p:cNvPr id="33" name="Rectangle 32"/>
          <p:cNvSpPr/>
          <p:nvPr/>
        </p:nvSpPr>
        <p:spPr>
          <a:xfrm>
            <a:off x="5897880" y="3227832"/>
            <a:ext cx="280720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897880" y="3227832"/>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126480" y="3346704"/>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WHY IT MATTERS</a:t>
            </a:r>
          </a:p>
        </p:txBody>
      </p:sp>
      <p:sp>
        <p:nvSpPr>
          <p:cNvPr id="36" name="TextBox 35"/>
          <p:cNvSpPr txBox="1"/>
          <p:nvPr/>
        </p:nvSpPr>
        <p:spPr>
          <a:xfrm>
            <a:off x="6126480" y="3593592"/>
            <a:ext cx="2441448" cy="868680"/>
          </a:xfrm>
          <a:prstGeom prst="rect">
            <a:avLst/>
          </a:prstGeom>
          <a:noFill/>
        </p:spPr>
        <p:txBody>
          <a:bodyPr wrap="square" lIns="0" tIns="0" rIns="0" bIns="0" anchor="t">
            <a:spAutoFit/>
          </a:bodyPr>
          <a:lstStyle/>
          <a:p>
            <a:pPr algn="l"/>
            <a:r>
              <a:rPr sz="1100" b="0">
                <a:solidFill>
                  <a:srgbClr val="14293D"/>
                </a:solidFill>
                <a:latin typeface="Roboto"/>
              </a:rPr>
              <a:t>Limits, speed and prices of AI tools are counted in tokens. German text usually needs more tokens than English.</a:t>
            </a:r>
          </a:p>
        </p:txBody>
      </p:sp>
      <p:sp>
        <p:nvSpPr>
          <p:cNvPr id="37" name="Rectangle 36"/>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The model never sees letters or words, only numbered tokens.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8-1">
            <a:extLst>
              <a:ext uri="{FF2B5EF4-FFF2-40B4-BE49-F238E27FC236}">
                <a16:creationId xmlns:a16="http://schemas.microsoft.com/office/drawing/2014/main" id="{619E808D-2DBF-CAB2-E251-6F211A8D5F14}"/>
              </a:ext>
            </a:extLst>
          </p:cNvPr>
          <p:cNvSpPr txBox="1"/>
          <p:nvPr/>
        </p:nvSpPr>
        <p:spPr>
          <a:xfrm>
            <a:off x="495300" y="257175"/>
            <a:ext cx="8153400" cy="209550"/>
          </a:xfrm>
          <a:prstGeom prst="rect">
            <a:avLst/>
          </a:prstGeom>
          <a:noFill/>
        </p:spPr>
        <p:txBody>
          <a:bodyPr vert="horz" wrap="square" lIns="0" tIns="0" rIns="0" bIns="0" rtlCol="0">
            <a:noAutofit/>
          </a:bodyPr>
          <a:lstStyle/>
          <a:p>
            <a:endParaRPr lang="en-US" sz="900" dirty="0">
              <a:solidFill>
                <a:srgbClr val="1B9AAA"/>
              </a:solidFill>
              <a:latin typeface="Consolas" panose="020B0609020204030204" pitchFamily="49" charset="0"/>
            </a:endParaRPr>
          </a:p>
        </p:txBody>
      </p:sp>
      <p:sp>
        <p:nvSpPr>
          <p:cNvPr id="3" name="Text 8-2">
            <a:extLst>
              <a:ext uri="{FF2B5EF4-FFF2-40B4-BE49-F238E27FC236}">
                <a16:creationId xmlns:a16="http://schemas.microsoft.com/office/drawing/2014/main" id="{0663FF39-8191-336D-3FD0-E846C9BA0680}"/>
              </a:ext>
            </a:extLst>
          </p:cNvPr>
          <p:cNvSpPr txBox="1"/>
          <p:nvPr/>
        </p:nvSpPr>
        <p:spPr>
          <a:xfrm>
            <a:off x="495300" y="561975"/>
            <a:ext cx="8153400" cy="504825"/>
          </a:xfrm>
          <a:prstGeom prst="rect">
            <a:avLst/>
          </a:prstGeom>
          <a:noFill/>
        </p:spPr>
        <p:txBody>
          <a:bodyPr vert="horz" wrap="square" lIns="0" tIns="0" rIns="0" bIns="0" rtlCol="0">
            <a:noAutofit/>
          </a:bodyPr>
          <a:lstStyle/>
          <a:p>
            <a:r>
              <a:rPr lang="en-US" sz="2700" dirty="0">
                <a:solidFill>
                  <a:srgbClr val="0D1B2A"/>
                </a:solidFill>
                <a:latin typeface="Bahnschrift Condensed" panose="020B0502040204020203" pitchFamily="34" charset="0"/>
              </a:rPr>
              <a:t>Next-word prediction: probabilities become text</a:t>
            </a:r>
          </a:p>
        </p:txBody>
      </p:sp>
      <p:sp>
        <p:nvSpPr>
          <p:cNvPr id="4" name="Text 8-3">
            <a:extLst>
              <a:ext uri="{FF2B5EF4-FFF2-40B4-BE49-F238E27FC236}">
                <a16:creationId xmlns:a16="http://schemas.microsoft.com/office/drawing/2014/main" id="{E63343AD-6424-9DAC-D41A-7C5AE5F28A56}"/>
              </a:ext>
            </a:extLst>
          </p:cNvPr>
          <p:cNvSpPr txBox="1"/>
          <p:nvPr/>
        </p:nvSpPr>
        <p:spPr>
          <a:xfrm>
            <a:off x="495300" y="1133475"/>
            <a:ext cx="8153400" cy="361950"/>
          </a:xfrm>
          <a:prstGeom prst="rect">
            <a:avLst/>
          </a:prstGeom>
          <a:noFill/>
        </p:spPr>
        <p:txBody>
          <a:bodyPr vert="horz" wrap="square" lIns="0" tIns="0" rIns="0" bIns="0" rtlCol="0">
            <a:noAutofit/>
          </a:bodyPr>
          <a:lstStyle/>
          <a:p>
            <a:r>
              <a:rPr lang="en-US" sz="1275">
                <a:solidFill>
                  <a:srgbClr val="586E7D"/>
                </a:solidFill>
                <a:latin typeface="Arial" panose="020B0604020202020204" pitchFamily="34" charset="0"/>
              </a:rPr>
              <a:t>A toy example of an autoregressive language model. All probabilities are illustrative.</a:t>
            </a:r>
          </a:p>
        </p:txBody>
      </p:sp>
      <p:sp>
        <p:nvSpPr>
          <p:cNvPr id="8" name="Rectangle 7">
            <a:extLst>
              <a:ext uri="{FF2B5EF4-FFF2-40B4-BE49-F238E27FC236}">
                <a16:creationId xmlns:a16="http://schemas.microsoft.com/office/drawing/2014/main" id="{8E2EED29-6145-7EDF-3BB3-A176264AEA8B}"/>
              </a:ext>
            </a:extLst>
          </p:cNvPr>
          <p:cNvSpPr/>
          <p:nvPr/>
        </p:nvSpPr>
        <p:spPr>
          <a:xfrm>
            <a:off x="495300" y="1638300"/>
            <a:ext cx="3943350" cy="2600325"/>
          </a:xfrm>
          <a:prstGeom prst="rect">
            <a:avLst/>
          </a:prstGeom>
          <a:solidFill>
            <a:srgbClr val="FFFFFF"/>
          </a:solidFill>
          <a:ln w="10160">
            <a:solidFill>
              <a:srgbClr val="DDE5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Text 8-8">
            <a:extLst>
              <a:ext uri="{FF2B5EF4-FFF2-40B4-BE49-F238E27FC236}">
                <a16:creationId xmlns:a16="http://schemas.microsoft.com/office/drawing/2014/main" id="{9147D9F7-612F-DC46-0646-7A924820E5E5}"/>
              </a:ext>
            </a:extLst>
          </p:cNvPr>
          <p:cNvSpPr txBox="1"/>
          <p:nvPr/>
        </p:nvSpPr>
        <p:spPr>
          <a:xfrm>
            <a:off x="676275" y="1771650"/>
            <a:ext cx="3590925" cy="209550"/>
          </a:xfrm>
          <a:prstGeom prst="rect">
            <a:avLst/>
          </a:prstGeom>
          <a:noFill/>
        </p:spPr>
        <p:txBody>
          <a:bodyPr vert="horz" wrap="square" lIns="0" tIns="0" rIns="0" bIns="0" rtlCol="0">
            <a:noAutofit/>
          </a:bodyPr>
          <a:lstStyle/>
          <a:p>
            <a:r>
              <a:rPr lang="en-US" sz="900">
                <a:solidFill>
                  <a:srgbClr val="1B9AAA"/>
                </a:solidFill>
                <a:latin typeface="Consolas" panose="020B0609020204030204" pitchFamily="49" charset="0"/>
              </a:rPr>
              <a:t>STEP 1: SCORE POSSIBLE NEXT TOKENS</a:t>
            </a:r>
          </a:p>
        </p:txBody>
      </p:sp>
      <p:sp>
        <p:nvSpPr>
          <p:cNvPr id="10" name="Text 8-9">
            <a:extLst>
              <a:ext uri="{FF2B5EF4-FFF2-40B4-BE49-F238E27FC236}">
                <a16:creationId xmlns:a16="http://schemas.microsoft.com/office/drawing/2014/main" id="{45B1801E-B882-0E3F-2594-B0003C55A6DB}"/>
              </a:ext>
            </a:extLst>
          </p:cNvPr>
          <p:cNvSpPr txBox="1"/>
          <p:nvPr/>
        </p:nvSpPr>
        <p:spPr>
          <a:xfrm>
            <a:off x="676275" y="2105025"/>
            <a:ext cx="3590925" cy="381000"/>
          </a:xfrm>
          <a:prstGeom prst="rect">
            <a:avLst/>
          </a:prstGeom>
          <a:noFill/>
        </p:spPr>
        <p:txBody>
          <a:bodyPr vert="horz" wrap="square" lIns="0" tIns="0" rIns="0" bIns="0" rtlCol="0">
            <a:noAutofit/>
          </a:bodyPr>
          <a:lstStyle/>
          <a:p>
            <a:r>
              <a:rPr lang="en-US" sz="1875">
                <a:solidFill>
                  <a:srgbClr val="0D1B2A"/>
                </a:solidFill>
                <a:latin typeface="Bahnschrift Condensed" panose="020B0502040204020203" pitchFamily="34" charset="0"/>
              </a:rPr>
              <a:t>The cat sat on the ...</a:t>
            </a:r>
          </a:p>
        </p:txBody>
      </p:sp>
      <p:sp>
        <p:nvSpPr>
          <p:cNvPr id="11" name="Text 8-10">
            <a:extLst>
              <a:ext uri="{FF2B5EF4-FFF2-40B4-BE49-F238E27FC236}">
                <a16:creationId xmlns:a16="http://schemas.microsoft.com/office/drawing/2014/main" id="{743F3939-FAD4-FCD8-A48E-7F494AC504EB}"/>
              </a:ext>
            </a:extLst>
          </p:cNvPr>
          <p:cNvSpPr txBox="1"/>
          <p:nvPr/>
        </p:nvSpPr>
        <p:spPr>
          <a:xfrm>
            <a:off x="685800" y="2676525"/>
            <a:ext cx="666750" cy="238125"/>
          </a:xfrm>
          <a:prstGeom prst="rect">
            <a:avLst/>
          </a:prstGeom>
          <a:noFill/>
        </p:spPr>
        <p:txBody>
          <a:bodyPr vert="horz" wrap="square" lIns="0" tIns="0" rIns="0" bIns="0" rtlCol="0">
            <a:noAutofit/>
          </a:bodyPr>
          <a:lstStyle/>
          <a:p>
            <a:r>
              <a:rPr lang="en-US" sz="1200">
                <a:solidFill>
                  <a:srgbClr val="0D1B2A"/>
                </a:solidFill>
                <a:latin typeface="Consolas" panose="020B0609020204030204" pitchFamily="49" charset="0"/>
              </a:rPr>
              <a:t>mat</a:t>
            </a:r>
          </a:p>
        </p:txBody>
      </p:sp>
      <p:sp>
        <p:nvSpPr>
          <p:cNvPr id="12" name="Rectangle 11">
            <a:extLst>
              <a:ext uri="{FF2B5EF4-FFF2-40B4-BE49-F238E27FC236}">
                <a16:creationId xmlns:a16="http://schemas.microsoft.com/office/drawing/2014/main" id="{0AA3C3AB-EDD5-D8B3-95E1-9D257791FDB8}"/>
              </a:ext>
            </a:extLst>
          </p:cNvPr>
          <p:cNvSpPr/>
          <p:nvPr/>
        </p:nvSpPr>
        <p:spPr>
          <a:xfrm>
            <a:off x="1438275" y="2705100"/>
            <a:ext cx="2181225" cy="152400"/>
          </a:xfrm>
          <a:prstGeom prst="rect">
            <a:avLst/>
          </a:prstGeom>
          <a:solidFill>
            <a:srgbClr val="F4F7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Rectangle 12">
            <a:extLst>
              <a:ext uri="{FF2B5EF4-FFF2-40B4-BE49-F238E27FC236}">
                <a16:creationId xmlns:a16="http://schemas.microsoft.com/office/drawing/2014/main" id="{F6F9B5ED-D7AC-2484-0E0D-14F9E92FB864}"/>
              </a:ext>
            </a:extLst>
          </p:cNvPr>
          <p:cNvSpPr/>
          <p:nvPr/>
        </p:nvSpPr>
        <p:spPr>
          <a:xfrm>
            <a:off x="1438275" y="2705100"/>
            <a:ext cx="1963103" cy="15240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Text 8-13">
            <a:extLst>
              <a:ext uri="{FF2B5EF4-FFF2-40B4-BE49-F238E27FC236}">
                <a16:creationId xmlns:a16="http://schemas.microsoft.com/office/drawing/2014/main" id="{EDB33ACA-A41A-FE2A-24B0-E1534F7D5525}"/>
              </a:ext>
            </a:extLst>
          </p:cNvPr>
          <p:cNvSpPr txBox="1"/>
          <p:nvPr/>
        </p:nvSpPr>
        <p:spPr>
          <a:xfrm>
            <a:off x="3724275" y="2676525"/>
            <a:ext cx="523875" cy="238125"/>
          </a:xfrm>
          <a:prstGeom prst="rect">
            <a:avLst/>
          </a:prstGeom>
          <a:noFill/>
        </p:spPr>
        <p:txBody>
          <a:bodyPr vert="horz" wrap="square" lIns="0" tIns="0" rIns="0" bIns="0" rtlCol="0">
            <a:noAutofit/>
          </a:bodyPr>
          <a:lstStyle/>
          <a:p>
            <a:pPr algn="r"/>
            <a:r>
              <a:rPr lang="en-US" sz="1200">
                <a:solidFill>
                  <a:srgbClr val="0D1B2A"/>
                </a:solidFill>
                <a:latin typeface="Consolas" panose="020B0609020204030204" pitchFamily="49" charset="0"/>
              </a:rPr>
              <a:t>45%</a:t>
            </a:r>
          </a:p>
        </p:txBody>
      </p:sp>
      <p:sp>
        <p:nvSpPr>
          <p:cNvPr id="15" name="Text 8-14">
            <a:extLst>
              <a:ext uri="{FF2B5EF4-FFF2-40B4-BE49-F238E27FC236}">
                <a16:creationId xmlns:a16="http://schemas.microsoft.com/office/drawing/2014/main" id="{79892091-D3D1-FB5F-37B9-814022E86532}"/>
              </a:ext>
            </a:extLst>
          </p:cNvPr>
          <p:cNvSpPr txBox="1"/>
          <p:nvPr/>
        </p:nvSpPr>
        <p:spPr>
          <a:xfrm>
            <a:off x="685800" y="3019425"/>
            <a:ext cx="666750" cy="238125"/>
          </a:xfrm>
          <a:prstGeom prst="rect">
            <a:avLst/>
          </a:prstGeom>
          <a:noFill/>
        </p:spPr>
        <p:txBody>
          <a:bodyPr vert="horz" wrap="square" lIns="0" tIns="0" rIns="0" bIns="0" rtlCol="0">
            <a:noAutofit/>
          </a:bodyPr>
          <a:lstStyle/>
          <a:p>
            <a:r>
              <a:rPr lang="en-US" sz="1200">
                <a:solidFill>
                  <a:srgbClr val="0D1B2A"/>
                </a:solidFill>
                <a:latin typeface="Consolas" panose="020B0609020204030204" pitchFamily="49" charset="0"/>
              </a:rPr>
              <a:t>chair</a:t>
            </a:r>
          </a:p>
        </p:txBody>
      </p:sp>
      <p:sp>
        <p:nvSpPr>
          <p:cNvPr id="16" name="Rectangle 15">
            <a:extLst>
              <a:ext uri="{FF2B5EF4-FFF2-40B4-BE49-F238E27FC236}">
                <a16:creationId xmlns:a16="http://schemas.microsoft.com/office/drawing/2014/main" id="{1FCA4327-E5B4-B2DC-00C9-E8DFC14EBF85}"/>
              </a:ext>
            </a:extLst>
          </p:cNvPr>
          <p:cNvSpPr/>
          <p:nvPr/>
        </p:nvSpPr>
        <p:spPr>
          <a:xfrm>
            <a:off x="1438275" y="3048000"/>
            <a:ext cx="2181225" cy="152400"/>
          </a:xfrm>
          <a:prstGeom prst="rect">
            <a:avLst/>
          </a:prstGeom>
          <a:solidFill>
            <a:srgbClr val="F4F7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7" name="Rectangle 16">
            <a:extLst>
              <a:ext uri="{FF2B5EF4-FFF2-40B4-BE49-F238E27FC236}">
                <a16:creationId xmlns:a16="http://schemas.microsoft.com/office/drawing/2014/main" id="{D1B0EC95-2BE9-E090-C4C0-5EE68D578702}"/>
              </a:ext>
            </a:extLst>
          </p:cNvPr>
          <p:cNvSpPr/>
          <p:nvPr/>
        </p:nvSpPr>
        <p:spPr>
          <a:xfrm>
            <a:off x="1438275" y="3048000"/>
            <a:ext cx="1090613" cy="152400"/>
          </a:xfrm>
          <a:prstGeom prst="rect">
            <a:avLst/>
          </a:prstGeom>
          <a:solidFill>
            <a:srgbClr val="AFC2C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8" name="Text 8-17">
            <a:extLst>
              <a:ext uri="{FF2B5EF4-FFF2-40B4-BE49-F238E27FC236}">
                <a16:creationId xmlns:a16="http://schemas.microsoft.com/office/drawing/2014/main" id="{48EB68D9-D838-F4C6-5833-EC14CE7D0346}"/>
              </a:ext>
            </a:extLst>
          </p:cNvPr>
          <p:cNvSpPr txBox="1"/>
          <p:nvPr/>
        </p:nvSpPr>
        <p:spPr>
          <a:xfrm>
            <a:off x="3724275" y="3019425"/>
            <a:ext cx="523875" cy="238125"/>
          </a:xfrm>
          <a:prstGeom prst="rect">
            <a:avLst/>
          </a:prstGeom>
          <a:noFill/>
        </p:spPr>
        <p:txBody>
          <a:bodyPr vert="horz" wrap="square" lIns="0" tIns="0" rIns="0" bIns="0" rtlCol="0">
            <a:noAutofit/>
          </a:bodyPr>
          <a:lstStyle/>
          <a:p>
            <a:pPr algn="r"/>
            <a:r>
              <a:rPr lang="en-US" sz="1200">
                <a:solidFill>
                  <a:srgbClr val="0D1B2A"/>
                </a:solidFill>
                <a:latin typeface="Consolas" panose="020B0609020204030204" pitchFamily="49" charset="0"/>
              </a:rPr>
              <a:t>25%</a:t>
            </a:r>
          </a:p>
        </p:txBody>
      </p:sp>
      <p:sp>
        <p:nvSpPr>
          <p:cNvPr id="19" name="Text 8-18">
            <a:extLst>
              <a:ext uri="{FF2B5EF4-FFF2-40B4-BE49-F238E27FC236}">
                <a16:creationId xmlns:a16="http://schemas.microsoft.com/office/drawing/2014/main" id="{0C295301-D114-062B-1B4D-C12BA3AB9706}"/>
              </a:ext>
            </a:extLst>
          </p:cNvPr>
          <p:cNvSpPr txBox="1"/>
          <p:nvPr/>
        </p:nvSpPr>
        <p:spPr>
          <a:xfrm>
            <a:off x="685800" y="3362325"/>
            <a:ext cx="666750" cy="238125"/>
          </a:xfrm>
          <a:prstGeom prst="rect">
            <a:avLst/>
          </a:prstGeom>
          <a:noFill/>
        </p:spPr>
        <p:txBody>
          <a:bodyPr vert="horz" wrap="square" lIns="0" tIns="0" rIns="0" bIns="0" rtlCol="0">
            <a:noAutofit/>
          </a:bodyPr>
          <a:lstStyle/>
          <a:p>
            <a:r>
              <a:rPr lang="en-US" sz="1200">
                <a:solidFill>
                  <a:srgbClr val="0D1B2A"/>
                </a:solidFill>
                <a:latin typeface="Consolas" panose="020B0609020204030204" pitchFamily="49" charset="0"/>
              </a:rPr>
              <a:t>floor</a:t>
            </a:r>
          </a:p>
        </p:txBody>
      </p:sp>
      <p:sp>
        <p:nvSpPr>
          <p:cNvPr id="20" name="Rectangle 19">
            <a:extLst>
              <a:ext uri="{FF2B5EF4-FFF2-40B4-BE49-F238E27FC236}">
                <a16:creationId xmlns:a16="http://schemas.microsoft.com/office/drawing/2014/main" id="{890E7B40-ED39-375B-EC7D-4EE9420D7264}"/>
              </a:ext>
            </a:extLst>
          </p:cNvPr>
          <p:cNvSpPr/>
          <p:nvPr/>
        </p:nvSpPr>
        <p:spPr>
          <a:xfrm>
            <a:off x="1438275" y="3390900"/>
            <a:ext cx="2181225" cy="152400"/>
          </a:xfrm>
          <a:prstGeom prst="rect">
            <a:avLst/>
          </a:prstGeom>
          <a:solidFill>
            <a:srgbClr val="F4F7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Rectangle 20">
            <a:extLst>
              <a:ext uri="{FF2B5EF4-FFF2-40B4-BE49-F238E27FC236}">
                <a16:creationId xmlns:a16="http://schemas.microsoft.com/office/drawing/2014/main" id="{3780734A-E035-4A0C-5940-0084AF190D74}"/>
              </a:ext>
            </a:extLst>
          </p:cNvPr>
          <p:cNvSpPr/>
          <p:nvPr/>
        </p:nvSpPr>
        <p:spPr>
          <a:xfrm>
            <a:off x="1438275" y="3390900"/>
            <a:ext cx="872490" cy="152400"/>
          </a:xfrm>
          <a:prstGeom prst="rect">
            <a:avLst/>
          </a:prstGeom>
          <a:solidFill>
            <a:srgbClr val="AFC2C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2" name="Text 8-21">
            <a:extLst>
              <a:ext uri="{FF2B5EF4-FFF2-40B4-BE49-F238E27FC236}">
                <a16:creationId xmlns:a16="http://schemas.microsoft.com/office/drawing/2014/main" id="{ED5FDC14-8153-52DC-3C68-564C05CD1307}"/>
              </a:ext>
            </a:extLst>
          </p:cNvPr>
          <p:cNvSpPr txBox="1"/>
          <p:nvPr/>
        </p:nvSpPr>
        <p:spPr>
          <a:xfrm>
            <a:off x="3724275" y="3362325"/>
            <a:ext cx="523875" cy="238125"/>
          </a:xfrm>
          <a:prstGeom prst="rect">
            <a:avLst/>
          </a:prstGeom>
          <a:noFill/>
        </p:spPr>
        <p:txBody>
          <a:bodyPr vert="horz" wrap="square" lIns="0" tIns="0" rIns="0" bIns="0" rtlCol="0">
            <a:noAutofit/>
          </a:bodyPr>
          <a:lstStyle/>
          <a:p>
            <a:pPr algn="r"/>
            <a:r>
              <a:rPr lang="en-US" sz="1200">
                <a:solidFill>
                  <a:srgbClr val="0D1B2A"/>
                </a:solidFill>
                <a:latin typeface="Consolas" panose="020B0609020204030204" pitchFamily="49" charset="0"/>
              </a:rPr>
              <a:t>20%</a:t>
            </a:r>
          </a:p>
        </p:txBody>
      </p:sp>
      <p:sp>
        <p:nvSpPr>
          <p:cNvPr id="23" name="Text 8-22">
            <a:extLst>
              <a:ext uri="{FF2B5EF4-FFF2-40B4-BE49-F238E27FC236}">
                <a16:creationId xmlns:a16="http://schemas.microsoft.com/office/drawing/2014/main" id="{32793718-F820-23C2-D3DE-0295E15D5C11}"/>
              </a:ext>
            </a:extLst>
          </p:cNvPr>
          <p:cNvSpPr txBox="1"/>
          <p:nvPr/>
        </p:nvSpPr>
        <p:spPr>
          <a:xfrm>
            <a:off x="685800" y="3705225"/>
            <a:ext cx="666750" cy="238125"/>
          </a:xfrm>
          <a:prstGeom prst="rect">
            <a:avLst/>
          </a:prstGeom>
          <a:noFill/>
        </p:spPr>
        <p:txBody>
          <a:bodyPr vert="horz" wrap="square" lIns="0" tIns="0" rIns="0" bIns="0" rtlCol="0">
            <a:noAutofit/>
          </a:bodyPr>
          <a:lstStyle/>
          <a:p>
            <a:r>
              <a:rPr lang="en-US" sz="1200">
                <a:solidFill>
                  <a:srgbClr val="0D1B2A"/>
                </a:solidFill>
                <a:latin typeface="Consolas" panose="020B0609020204030204" pitchFamily="49" charset="0"/>
              </a:rPr>
              <a:t>other</a:t>
            </a:r>
          </a:p>
        </p:txBody>
      </p:sp>
      <p:sp>
        <p:nvSpPr>
          <p:cNvPr id="24" name="Rectangle 23">
            <a:extLst>
              <a:ext uri="{FF2B5EF4-FFF2-40B4-BE49-F238E27FC236}">
                <a16:creationId xmlns:a16="http://schemas.microsoft.com/office/drawing/2014/main" id="{EEC4B919-408C-82B3-43E0-5C9C4D8A6982}"/>
              </a:ext>
            </a:extLst>
          </p:cNvPr>
          <p:cNvSpPr/>
          <p:nvPr/>
        </p:nvSpPr>
        <p:spPr>
          <a:xfrm>
            <a:off x="1438275" y="3733800"/>
            <a:ext cx="2181225" cy="152400"/>
          </a:xfrm>
          <a:prstGeom prst="rect">
            <a:avLst/>
          </a:prstGeom>
          <a:solidFill>
            <a:srgbClr val="F4F7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5" name="Rectangle 24">
            <a:extLst>
              <a:ext uri="{FF2B5EF4-FFF2-40B4-BE49-F238E27FC236}">
                <a16:creationId xmlns:a16="http://schemas.microsoft.com/office/drawing/2014/main" id="{7CE6DC1D-B7D3-C84E-81A5-5E41E5970B0D}"/>
              </a:ext>
            </a:extLst>
          </p:cNvPr>
          <p:cNvSpPr/>
          <p:nvPr/>
        </p:nvSpPr>
        <p:spPr>
          <a:xfrm>
            <a:off x="1438275" y="3733800"/>
            <a:ext cx="436245" cy="152400"/>
          </a:xfrm>
          <a:prstGeom prst="rect">
            <a:avLst/>
          </a:prstGeom>
          <a:solidFill>
            <a:srgbClr val="AFC2C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6" name="Text 8-25">
            <a:extLst>
              <a:ext uri="{FF2B5EF4-FFF2-40B4-BE49-F238E27FC236}">
                <a16:creationId xmlns:a16="http://schemas.microsoft.com/office/drawing/2014/main" id="{FD990E2D-32C9-B2DB-972F-EE63584212E2}"/>
              </a:ext>
            </a:extLst>
          </p:cNvPr>
          <p:cNvSpPr txBox="1"/>
          <p:nvPr/>
        </p:nvSpPr>
        <p:spPr>
          <a:xfrm>
            <a:off x="3724275" y="3705225"/>
            <a:ext cx="523875" cy="238125"/>
          </a:xfrm>
          <a:prstGeom prst="rect">
            <a:avLst/>
          </a:prstGeom>
          <a:noFill/>
        </p:spPr>
        <p:txBody>
          <a:bodyPr vert="horz" wrap="square" lIns="0" tIns="0" rIns="0" bIns="0" rtlCol="0">
            <a:noAutofit/>
          </a:bodyPr>
          <a:lstStyle/>
          <a:p>
            <a:pPr algn="r"/>
            <a:r>
              <a:rPr lang="en-US" sz="1200">
                <a:solidFill>
                  <a:srgbClr val="0D1B2A"/>
                </a:solidFill>
                <a:latin typeface="Consolas" panose="020B0609020204030204" pitchFamily="49" charset="0"/>
              </a:rPr>
              <a:t>10%</a:t>
            </a:r>
          </a:p>
        </p:txBody>
      </p:sp>
      <p:sp>
        <p:nvSpPr>
          <p:cNvPr id="27" name="Rectangle 26">
            <a:extLst>
              <a:ext uri="{FF2B5EF4-FFF2-40B4-BE49-F238E27FC236}">
                <a16:creationId xmlns:a16="http://schemas.microsoft.com/office/drawing/2014/main" id="{EA48BC8E-2015-47FB-A488-F38E7A6D31E0}"/>
              </a:ext>
            </a:extLst>
          </p:cNvPr>
          <p:cNvSpPr/>
          <p:nvPr/>
        </p:nvSpPr>
        <p:spPr>
          <a:xfrm>
            <a:off x="4676775" y="1638300"/>
            <a:ext cx="3971925" cy="2600325"/>
          </a:xfrm>
          <a:prstGeom prst="rect">
            <a:avLst/>
          </a:prstGeom>
          <a:solidFill>
            <a:srgbClr val="0D1B2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8" name="Text 8-27">
            <a:extLst>
              <a:ext uri="{FF2B5EF4-FFF2-40B4-BE49-F238E27FC236}">
                <a16:creationId xmlns:a16="http://schemas.microsoft.com/office/drawing/2014/main" id="{599BB9DB-9C2D-3CDB-8ECC-4909C3174249}"/>
              </a:ext>
            </a:extLst>
          </p:cNvPr>
          <p:cNvSpPr txBox="1"/>
          <p:nvPr/>
        </p:nvSpPr>
        <p:spPr>
          <a:xfrm>
            <a:off x="4857750" y="1771650"/>
            <a:ext cx="3600450" cy="219075"/>
          </a:xfrm>
          <a:prstGeom prst="rect">
            <a:avLst/>
          </a:prstGeom>
          <a:noFill/>
        </p:spPr>
        <p:txBody>
          <a:bodyPr vert="horz" wrap="square" lIns="0" tIns="0" rIns="0" bIns="0" rtlCol="0">
            <a:noAutofit/>
          </a:bodyPr>
          <a:lstStyle/>
          <a:p>
            <a:r>
              <a:rPr lang="en-US" sz="900">
                <a:solidFill>
                  <a:srgbClr val="06D6A0"/>
                </a:solidFill>
                <a:latin typeface="Consolas" panose="020B0609020204030204" pitchFamily="49" charset="0"/>
              </a:rPr>
              <a:t>STEP 2: SELECT, APPEND, REPEAT</a:t>
            </a:r>
          </a:p>
        </p:txBody>
      </p:sp>
      <p:sp>
        <p:nvSpPr>
          <p:cNvPr id="29" name="Text 8-28">
            <a:extLst>
              <a:ext uri="{FF2B5EF4-FFF2-40B4-BE49-F238E27FC236}">
                <a16:creationId xmlns:a16="http://schemas.microsoft.com/office/drawing/2014/main" id="{81EE1D93-656D-E239-62EF-868513B0BF09}"/>
              </a:ext>
            </a:extLst>
          </p:cNvPr>
          <p:cNvSpPr txBox="1"/>
          <p:nvPr/>
        </p:nvSpPr>
        <p:spPr>
          <a:xfrm>
            <a:off x="4857750" y="2181225"/>
            <a:ext cx="3600450" cy="361950"/>
          </a:xfrm>
          <a:prstGeom prst="rect">
            <a:avLst/>
          </a:prstGeom>
          <a:noFill/>
        </p:spPr>
        <p:txBody>
          <a:bodyPr vert="horz" wrap="square" lIns="0" tIns="0" rIns="0" bIns="0" rtlCol="0">
            <a:noAutofit/>
          </a:bodyPr>
          <a:lstStyle/>
          <a:p>
            <a:r>
              <a:rPr lang="en-US" sz="1875">
                <a:solidFill>
                  <a:srgbClr val="FFFFFF"/>
                </a:solidFill>
                <a:latin typeface="Bahnschrift Condensed" panose="020B0502040204020203" pitchFamily="34" charset="0"/>
              </a:rPr>
              <a:t>The cat sat on the mat</a:t>
            </a:r>
          </a:p>
        </p:txBody>
      </p:sp>
      <p:sp>
        <p:nvSpPr>
          <p:cNvPr id="30" name="Text 8-29">
            <a:extLst>
              <a:ext uri="{FF2B5EF4-FFF2-40B4-BE49-F238E27FC236}">
                <a16:creationId xmlns:a16="http://schemas.microsoft.com/office/drawing/2014/main" id="{E81FB875-B636-E3C3-1084-8AF8147AD0EE}"/>
              </a:ext>
            </a:extLst>
          </p:cNvPr>
          <p:cNvSpPr txBox="1"/>
          <p:nvPr/>
        </p:nvSpPr>
        <p:spPr>
          <a:xfrm>
            <a:off x="4857750" y="2771775"/>
            <a:ext cx="3600450" cy="762000"/>
          </a:xfrm>
          <a:prstGeom prst="rect">
            <a:avLst/>
          </a:prstGeom>
          <a:noFill/>
        </p:spPr>
        <p:txBody>
          <a:bodyPr vert="horz" wrap="square" lIns="0" tIns="0" rIns="0" bIns="0" rtlCol="0">
            <a:noAutofit/>
          </a:bodyPr>
          <a:lstStyle/>
          <a:p>
            <a:r>
              <a:rPr lang="en-US" sz="1200">
                <a:solidFill>
                  <a:srgbClr val="AFC2CE"/>
                </a:solidFill>
                <a:latin typeface="Consolas" panose="020B0609020204030204" pitchFamily="49" charset="0"/>
              </a:rPr>
              <a:t>Now score the next token again:
'.' 70%  |  'today' 15%
'quietly' 10%  |  other 5%</a:t>
            </a:r>
          </a:p>
        </p:txBody>
      </p:sp>
      <p:sp>
        <p:nvSpPr>
          <p:cNvPr id="31" name="Text 8-30">
            <a:extLst>
              <a:ext uri="{FF2B5EF4-FFF2-40B4-BE49-F238E27FC236}">
                <a16:creationId xmlns:a16="http://schemas.microsoft.com/office/drawing/2014/main" id="{660D6001-32FE-42E1-427B-0FABDA8C768E}"/>
              </a:ext>
            </a:extLst>
          </p:cNvPr>
          <p:cNvSpPr txBox="1"/>
          <p:nvPr/>
        </p:nvSpPr>
        <p:spPr>
          <a:xfrm>
            <a:off x="4857750" y="3714750"/>
            <a:ext cx="3600450" cy="381000"/>
          </a:xfrm>
          <a:prstGeom prst="rect">
            <a:avLst/>
          </a:prstGeom>
          <a:noFill/>
        </p:spPr>
        <p:txBody>
          <a:bodyPr vert="horz" wrap="square" lIns="0" tIns="0" rIns="0" bIns="0" rtlCol="0">
            <a:noAutofit/>
          </a:bodyPr>
          <a:lstStyle/>
          <a:p>
            <a:r>
              <a:rPr lang="en-US" sz="1200">
                <a:solidFill>
                  <a:srgbClr val="FFFFFF"/>
                </a:solidFill>
                <a:latin typeface="Arial" panose="020B0604020202020204" pitchFamily="34" charset="0"/>
              </a:rPr>
              <a:t>A decoding rule selects or samples a token; the context then grows.</a:t>
            </a:r>
          </a:p>
        </p:txBody>
      </p:sp>
      <p:sp>
        <p:nvSpPr>
          <p:cNvPr id="32" name="Rectangle 31">
            <a:extLst>
              <a:ext uri="{FF2B5EF4-FFF2-40B4-BE49-F238E27FC236}">
                <a16:creationId xmlns:a16="http://schemas.microsoft.com/office/drawing/2014/main" id="{2DBE26CB-F529-D724-431D-65DABF889DD3}"/>
              </a:ext>
            </a:extLst>
          </p:cNvPr>
          <p:cNvSpPr/>
          <p:nvPr/>
        </p:nvSpPr>
        <p:spPr>
          <a:xfrm>
            <a:off x="495300" y="4476750"/>
            <a:ext cx="38100" cy="190500"/>
          </a:xfrm>
          <a:prstGeom prst="rect">
            <a:avLst/>
          </a:prstGeom>
          <a:solidFill>
            <a:srgbClr val="1B9A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3" name="Text 8-32">
            <a:extLst>
              <a:ext uri="{FF2B5EF4-FFF2-40B4-BE49-F238E27FC236}">
                <a16:creationId xmlns:a16="http://schemas.microsoft.com/office/drawing/2014/main" id="{14D04DB5-E754-0277-78C2-BAA4C2570E09}"/>
              </a:ext>
            </a:extLst>
          </p:cNvPr>
          <p:cNvSpPr txBox="1"/>
          <p:nvPr/>
        </p:nvSpPr>
        <p:spPr>
          <a:xfrm>
            <a:off x="619125" y="4476750"/>
            <a:ext cx="8029575" cy="238125"/>
          </a:xfrm>
          <a:prstGeom prst="rect">
            <a:avLst/>
          </a:prstGeom>
          <a:noFill/>
        </p:spPr>
        <p:txBody>
          <a:bodyPr vert="horz" wrap="square" lIns="0" tIns="0" rIns="0" bIns="0" rtlCol="0">
            <a:noAutofit/>
          </a:bodyPr>
          <a:lstStyle/>
          <a:p>
            <a:r>
              <a:rPr lang="en-US" sz="1200" dirty="0">
                <a:solidFill>
                  <a:srgbClr val="0D1B2A"/>
                </a:solidFill>
                <a:latin typeface="Arial" panose="020B0604020202020204" pitchFamily="34" charset="0"/>
              </a:rPr>
              <a:t>Likely continuation does not mean verified fact. Real models predict tokens, not always words.</a:t>
            </a:r>
          </a:p>
        </p:txBody>
      </p:sp>
      <p:sp>
        <p:nvSpPr>
          <p:cNvPr id="37" name="Text 6-1">
            <a:extLst>
              <a:ext uri="{FF2B5EF4-FFF2-40B4-BE49-F238E27FC236}">
                <a16:creationId xmlns:a16="http://schemas.microsoft.com/office/drawing/2014/main" id="{C17694F8-48D0-4182-A1CA-A292BB7B3256}"/>
              </a:ext>
            </a:extLst>
          </p:cNvPr>
          <p:cNvSpPr txBox="1"/>
          <p:nvPr/>
        </p:nvSpPr>
        <p:spPr>
          <a:xfrm>
            <a:off x="495300" y="361950"/>
            <a:ext cx="8153400" cy="209550"/>
          </a:xfrm>
          <a:prstGeom prst="rect">
            <a:avLst/>
          </a:prstGeom>
          <a:noFill/>
        </p:spPr>
        <p:txBody>
          <a:bodyPr vert="horz" wrap="square" lIns="0" tIns="0" rIns="0" bIns="0" rtlCol="0">
            <a:noAutofit/>
          </a:bodyPr>
          <a:lstStyle/>
          <a:p>
            <a:r>
              <a:rPr lang="de-DE" sz="900" kern="0" spc="200" dirty="0">
                <a:solidFill>
                  <a:srgbClr val="1B9AAA"/>
                </a:solidFill>
                <a:latin typeface="JetBrains Mono" pitchFamily="34" charset="0"/>
                <a:ea typeface="JetBrains Mono" pitchFamily="34" charset="-122"/>
              </a:rPr>
              <a:t>Generative AI</a:t>
            </a:r>
            <a:endParaRPr lang="en-US" sz="900" dirty="0"/>
          </a:p>
        </p:txBody>
      </p:sp>
    </p:spTree>
    <p:extLst>
      <p:ext uri="{BB962C8B-B14F-4D97-AF65-F5344CB8AC3E}">
        <p14:creationId xmlns:p14="http://schemas.microsoft.com/office/powerpoint/2010/main" val="41134739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GENERATIVE AI · PRE-TRAINING</a:t>
            </a:r>
          </a:p>
        </p:txBody>
      </p:sp>
      <p:sp>
        <p:nvSpPr>
          <p:cNvPr id="4" name="slide-pretraining"/>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Pre-training: guess the next token, trillions of times</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The model reads huge amounts of text and practices predicting what comes next.</a:t>
            </a:r>
          </a:p>
        </p:txBody>
      </p:sp>
      <p:sp>
        <p:nvSpPr>
          <p:cNvPr id="6" name="Rectangle 5"/>
          <p:cNvSpPr/>
          <p:nvPr/>
        </p:nvSpPr>
        <p:spPr>
          <a:xfrm>
            <a:off x="566928" y="1783080"/>
            <a:ext cx="201168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01952"/>
            <a:ext cx="1737360" cy="228600"/>
          </a:xfrm>
          <a:prstGeom prst="rect">
            <a:avLst/>
          </a:prstGeom>
          <a:noFill/>
        </p:spPr>
        <p:txBody>
          <a:bodyPr wrap="square" lIns="0" tIns="0" rIns="0" bIns="0" anchor="t">
            <a:spAutoFit/>
          </a:bodyPr>
          <a:lstStyle/>
          <a:p>
            <a:pPr algn="l"/>
            <a:r>
              <a:rPr sz="850" b="0" spc="100">
                <a:solidFill>
                  <a:srgbClr val="1B9AAA"/>
                </a:solidFill>
                <a:latin typeface="JetBrains Mono"/>
              </a:rPr>
              <a:t>STEP 1: ANY TEXT</a:t>
            </a:r>
          </a:p>
        </p:txBody>
      </p:sp>
      <p:sp>
        <p:nvSpPr>
          <p:cNvPr id="9" name="Rectangle 8"/>
          <p:cNvSpPr/>
          <p:nvPr/>
        </p:nvSpPr>
        <p:spPr>
          <a:xfrm>
            <a:off x="777240" y="2194560"/>
            <a:ext cx="1600200" cy="169164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05256" y="2359152"/>
            <a:ext cx="13258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05256" y="2560320"/>
            <a:ext cx="118872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05256" y="2761488"/>
            <a:ext cx="13258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86968" y="2907792"/>
            <a:ext cx="1371600" cy="182880"/>
          </a:xfrm>
          <a:prstGeom prst="rect">
            <a:avLst/>
          </a:prstGeom>
          <a:solidFill>
            <a:srgbClr val="CFF5EA"/>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32688" y="2916936"/>
            <a:ext cx="1325880" cy="164592"/>
          </a:xfrm>
          <a:prstGeom prst="rect">
            <a:avLst/>
          </a:prstGeom>
          <a:noFill/>
        </p:spPr>
        <p:txBody>
          <a:bodyPr wrap="square" lIns="0" tIns="0" rIns="0" bIns="0" anchor="t">
            <a:spAutoFit/>
          </a:bodyPr>
          <a:lstStyle/>
          <a:p>
            <a:pPr algn="l"/>
            <a:r>
              <a:rPr sz="800" b="0">
                <a:solidFill>
                  <a:srgbClr val="0D1B2A"/>
                </a:solidFill>
                <a:latin typeface="Roboto"/>
              </a:rPr>
              <a:t>The cat sat on the mat.</a:t>
            </a:r>
          </a:p>
        </p:txBody>
      </p:sp>
      <p:sp>
        <p:nvSpPr>
          <p:cNvPr id="15" name="Rectangle 14"/>
          <p:cNvSpPr/>
          <p:nvPr/>
        </p:nvSpPr>
        <p:spPr>
          <a:xfrm>
            <a:off x="905256" y="3163824"/>
            <a:ext cx="10972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05256" y="3364992"/>
            <a:ext cx="132588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05256" y="3566160"/>
            <a:ext cx="822960" cy="54864"/>
          </a:xfrm>
          <a:prstGeom prst="rect">
            <a:avLst/>
          </a:prstGeom>
          <a:solidFill>
            <a:srgbClr val="DD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3950208"/>
            <a:ext cx="1737360" cy="548640"/>
          </a:xfrm>
          <a:prstGeom prst="rect">
            <a:avLst/>
          </a:prstGeom>
          <a:noFill/>
        </p:spPr>
        <p:txBody>
          <a:bodyPr wrap="square" lIns="0" tIns="0" rIns="0" bIns="0" anchor="t">
            <a:spAutoFit/>
          </a:bodyPr>
          <a:lstStyle/>
          <a:p>
            <a:pPr algn="l"/>
            <a:r>
              <a:rPr sz="950" b="0">
                <a:solidFill>
                  <a:srgbClr val="6B7B8C"/>
                </a:solidFill>
                <a:latin typeface="Roboto"/>
              </a:rPr>
              <a:t>Books, websites, articles: every sentence is practice. No labels needed.</a:t>
            </a:r>
          </a:p>
        </p:txBody>
      </p:sp>
      <p:cxnSp>
        <p:nvCxnSpPr>
          <p:cNvPr id="19" name="Connector 18"/>
          <p:cNvCxnSpPr/>
          <p:nvPr/>
        </p:nvCxnSpPr>
        <p:spPr>
          <a:xfrm>
            <a:off x="2286000" y="2962656"/>
            <a:ext cx="548640" cy="0"/>
          </a:xfrm>
          <a:prstGeom prst="line">
            <a:avLst/>
          </a:prstGeom>
          <a:ln w="19050">
            <a:solidFill>
              <a:srgbClr val="06D6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715768" y="1783080"/>
            <a:ext cx="365760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271576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926080" y="1901952"/>
            <a:ext cx="3291840" cy="228600"/>
          </a:xfrm>
          <a:prstGeom prst="rect">
            <a:avLst/>
          </a:prstGeom>
          <a:noFill/>
        </p:spPr>
        <p:txBody>
          <a:bodyPr wrap="square" lIns="0" tIns="0" rIns="0" bIns="0" anchor="t">
            <a:spAutoFit/>
          </a:bodyPr>
          <a:lstStyle/>
          <a:p>
            <a:pPr algn="l"/>
            <a:r>
              <a:rPr sz="850" b="0" spc="100">
                <a:solidFill>
                  <a:srgbClr val="1B9AAA"/>
                </a:solidFill>
                <a:latin typeface="JetBrains Mono"/>
              </a:rPr>
              <a:t>STEP 2: GUESS THE NEXT TOKEN</a:t>
            </a:r>
          </a:p>
        </p:txBody>
      </p:sp>
      <p:sp>
        <p:nvSpPr>
          <p:cNvPr id="23" name="TextBox 22"/>
          <p:cNvSpPr txBox="1"/>
          <p:nvPr/>
        </p:nvSpPr>
        <p:spPr>
          <a:xfrm>
            <a:off x="2926080" y="2157984"/>
            <a:ext cx="3657600" cy="228600"/>
          </a:xfrm>
          <a:prstGeom prst="rect">
            <a:avLst/>
          </a:prstGeom>
          <a:noFill/>
        </p:spPr>
        <p:txBody>
          <a:bodyPr wrap="square" lIns="0" tIns="0" rIns="0" bIns="0" anchor="t">
            <a:spAutoFit/>
          </a:bodyPr>
          <a:lstStyle/>
          <a:p>
            <a:pPr algn="l"/>
            <a:r>
              <a:rPr sz="800" b="0" spc="100">
                <a:solidFill>
                  <a:srgbClr val="6B7B8C"/>
                </a:solidFill>
                <a:latin typeface="JetBrains Mono"/>
              </a:rPr>
              <a:t>WHAT THE MODEL SEES</a:t>
            </a:r>
          </a:p>
        </p:txBody>
      </p:sp>
      <p:sp>
        <p:nvSpPr>
          <p:cNvPr id="24" name="TextBox 23"/>
          <p:cNvSpPr txBox="1"/>
          <p:nvPr/>
        </p:nvSpPr>
        <p:spPr>
          <a:xfrm>
            <a:off x="5102352" y="2157984"/>
            <a:ext cx="3657600" cy="228600"/>
          </a:xfrm>
          <a:prstGeom prst="rect">
            <a:avLst/>
          </a:prstGeom>
          <a:noFill/>
        </p:spPr>
        <p:txBody>
          <a:bodyPr wrap="square" lIns="0" tIns="0" rIns="0" bIns="0" anchor="t">
            <a:spAutoFit/>
          </a:bodyPr>
          <a:lstStyle/>
          <a:p>
            <a:pPr algn="l"/>
            <a:r>
              <a:rPr sz="800" b="0" spc="100">
                <a:solidFill>
                  <a:srgbClr val="6B7B8C"/>
                </a:solidFill>
                <a:latin typeface="JetBrains Mono"/>
              </a:rPr>
              <a:t>GUESS</a:t>
            </a:r>
          </a:p>
        </p:txBody>
      </p:sp>
      <p:sp>
        <p:nvSpPr>
          <p:cNvPr id="25" name="TextBox 24"/>
          <p:cNvSpPr txBox="1"/>
          <p:nvPr/>
        </p:nvSpPr>
        <p:spPr>
          <a:xfrm>
            <a:off x="5806440" y="2157984"/>
            <a:ext cx="3657600" cy="228600"/>
          </a:xfrm>
          <a:prstGeom prst="rect">
            <a:avLst/>
          </a:prstGeom>
          <a:noFill/>
        </p:spPr>
        <p:txBody>
          <a:bodyPr wrap="square" lIns="0" tIns="0" rIns="0" bIns="0" anchor="t">
            <a:spAutoFit/>
          </a:bodyPr>
          <a:lstStyle/>
          <a:p>
            <a:pPr algn="l"/>
            <a:r>
              <a:rPr sz="800" b="0" spc="100">
                <a:solidFill>
                  <a:srgbClr val="6B7B8C"/>
                </a:solidFill>
                <a:latin typeface="JetBrains Mono"/>
              </a:rPr>
              <a:t>REAL</a:t>
            </a:r>
          </a:p>
        </p:txBody>
      </p:sp>
      <p:sp>
        <p:nvSpPr>
          <p:cNvPr id="26" name="Rounded Rectangle 25"/>
          <p:cNvSpPr/>
          <p:nvPr/>
        </p:nvSpPr>
        <p:spPr>
          <a:xfrm>
            <a:off x="2926080" y="2395728"/>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27" name="Rounded Rectangle 26"/>
          <p:cNvSpPr/>
          <p:nvPr/>
        </p:nvSpPr>
        <p:spPr>
          <a:xfrm>
            <a:off x="3300984" y="2395728"/>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28" name="Rounded Rectangle 27"/>
          <p:cNvSpPr/>
          <p:nvPr/>
        </p:nvSpPr>
        <p:spPr>
          <a:xfrm>
            <a:off x="5102352" y="2395728"/>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dog</a:t>
            </a:r>
          </a:p>
        </p:txBody>
      </p:sp>
      <p:sp>
        <p:nvSpPr>
          <p:cNvPr id="29" name="TextBox 28"/>
          <p:cNvSpPr txBox="1"/>
          <p:nvPr/>
        </p:nvSpPr>
        <p:spPr>
          <a:xfrm>
            <a:off x="5577840" y="2414016"/>
            <a:ext cx="182880" cy="256032"/>
          </a:xfrm>
          <a:prstGeom prst="rect">
            <a:avLst/>
          </a:prstGeom>
          <a:noFill/>
        </p:spPr>
        <p:txBody>
          <a:bodyPr wrap="square" lIns="0" tIns="0" rIns="0" bIns="0" anchor="t">
            <a:spAutoFit/>
          </a:bodyPr>
          <a:lstStyle/>
          <a:p>
            <a:pPr algn="ctr"/>
            <a:r>
              <a:rPr sz="1200" b="0">
                <a:solidFill>
                  <a:srgbClr val="6B7B8C"/>
                </a:solidFill>
                <a:latin typeface="Roboto"/>
              </a:rPr>
              <a:t>✗</a:t>
            </a:r>
          </a:p>
        </p:txBody>
      </p:sp>
      <p:sp>
        <p:nvSpPr>
          <p:cNvPr id="30" name="Rounded Rectangle 29"/>
          <p:cNvSpPr/>
          <p:nvPr/>
        </p:nvSpPr>
        <p:spPr>
          <a:xfrm>
            <a:off x="5806440" y="2395728"/>
            <a:ext cx="457200"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31" name="Rounded Rectangle 30"/>
          <p:cNvSpPr/>
          <p:nvPr/>
        </p:nvSpPr>
        <p:spPr>
          <a:xfrm>
            <a:off x="2926080" y="2798064"/>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32" name="Rounded Rectangle 31"/>
          <p:cNvSpPr/>
          <p:nvPr/>
        </p:nvSpPr>
        <p:spPr>
          <a:xfrm>
            <a:off x="3300984" y="2798064"/>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33" name="Rounded Rectangle 32"/>
          <p:cNvSpPr/>
          <p:nvPr/>
        </p:nvSpPr>
        <p:spPr>
          <a:xfrm>
            <a:off x="3675888" y="2798064"/>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34" name="Rounded Rectangle 33"/>
          <p:cNvSpPr/>
          <p:nvPr/>
        </p:nvSpPr>
        <p:spPr>
          <a:xfrm>
            <a:off x="5102352" y="2798064"/>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35" name="TextBox 34"/>
          <p:cNvSpPr txBox="1"/>
          <p:nvPr/>
        </p:nvSpPr>
        <p:spPr>
          <a:xfrm>
            <a:off x="5577840" y="2816352"/>
            <a:ext cx="182880" cy="256032"/>
          </a:xfrm>
          <a:prstGeom prst="rect">
            <a:avLst/>
          </a:prstGeom>
          <a:noFill/>
        </p:spPr>
        <p:txBody>
          <a:bodyPr wrap="square" lIns="0" tIns="0" rIns="0" bIns="0" anchor="t">
            <a:spAutoFit/>
          </a:bodyPr>
          <a:lstStyle/>
          <a:p>
            <a:pPr algn="ctr"/>
            <a:r>
              <a:rPr sz="1200" b="0">
                <a:solidFill>
                  <a:srgbClr val="1B9AAA"/>
                </a:solidFill>
                <a:latin typeface="Roboto"/>
              </a:rPr>
              <a:t>✓</a:t>
            </a:r>
          </a:p>
        </p:txBody>
      </p:sp>
      <p:sp>
        <p:nvSpPr>
          <p:cNvPr id="36" name="Rounded Rectangle 35"/>
          <p:cNvSpPr/>
          <p:nvPr/>
        </p:nvSpPr>
        <p:spPr>
          <a:xfrm>
            <a:off x="2926080" y="3200400"/>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37" name="Rounded Rectangle 36"/>
          <p:cNvSpPr/>
          <p:nvPr/>
        </p:nvSpPr>
        <p:spPr>
          <a:xfrm>
            <a:off x="3300984" y="3200400"/>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38" name="Rounded Rectangle 37"/>
          <p:cNvSpPr/>
          <p:nvPr/>
        </p:nvSpPr>
        <p:spPr>
          <a:xfrm>
            <a:off x="3675888" y="3200400"/>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39" name="Rounded Rectangle 38"/>
          <p:cNvSpPr/>
          <p:nvPr/>
        </p:nvSpPr>
        <p:spPr>
          <a:xfrm>
            <a:off x="4050792" y="3200400"/>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40" name="Rounded Rectangle 39"/>
          <p:cNvSpPr/>
          <p:nvPr/>
        </p:nvSpPr>
        <p:spPr>
          <a:xfrm>
            <a:off x="5102352" y="3200400"/>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down</a:t>
            </a:r>
          </a:p>
        </p:txBody>
      </p:sp>
      <p:sp>
        <p:nvSpPr>
          <p:cNvPr id="41" name="TextBox 40"/>
          <p:cNvSpPr txBox="1"/>
          <p:nvPr/>
        </p:nvSpPr>
        <p:spPr>
          <a:xfrm>
            <a:off x="5577840" y="3218688"/>
            <a:ext cx="182880" cy="256032"/>
          </a:xfrm>
          <a:prstGeom prst="rect">
            <a:avLst/>
          </a:prstGeom>
          <a:noFill/>
        </p:spPr>
        <p:txBody>
          <a:bodyPr wrap="square" lIns="0" tIns="0" rIns="0" bIns="0" anchor="t">
            <a:spAutoFit/>
          </a:bodyPr>
          <a:lstStyle/>
          <a:p>
            <a:pPr algn="ctr"/>
            <a:r>
              <a:rPr sz="1200" b="0">
                <a:solidFill>
                  <a:srgbClr val="6B7B8C"/>
                </a:solidFill>
                <a:latin typeface="Roboto"/>
              </a:rPr>
              <a:t>✗</a:t>
            </a:r>
          </a:p>
        </p:txBody>
      </p:sp>
      <p:sp>
        <p:nvSpPr>
          <p:cNvPr id="42" name="Rounded Rectangle 41"/>
          <p:cNvSpPr/>
          <p:nvPr/>
        </p:nvSpPr>
        <p:spPr>
          <a:xfrm>
            <a:off x="5806440" y="3200400"/>
            <a:ext cx="457200"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on</a:t>
            </a:r>
          </a:p>
        </p:txBody>
      </p:sp>
      <p:sp>
        <p:nvSpPr>
          <p:cNvPr id="43" name="Rounded Rectangle 42"/>
          <p:cNvSpPr/>
          <p:nvPr/>
        </p:nvSpPr>
        <p:spPr>
          <a:xfrm>
            <a:off x="2926080" y="3602736"/>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44" name="Rounded Rectangle 43"/>
          <p:cNvSpPr/>
          <p:nvPr/>
        </p:nvSpPr>
        <p:spPr>
          <a:xfrm>
            <a:off x="3300984" y="3602736"/>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45" name="Rounded Rectangle 44"/>
          <p:cNvSpPr/>
          <p:nvPr/>
        </p:nvSpPr>
        <p:spPr>
          <a:xfrm>
            <a:off x="3675888" y="3602736"/>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46" name="Rounded Rectangle 45"/>
          <p:cNvSpPr/>
          <p:nvPr/>
        </p:nvSpPr>
        <p:spPr>
          <a:xfrm>
            <a:off x="4050792" y="3602736"/>
            <a:ext cx="256032"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on</a:t>
            </a:r>
          </a:p>
        </p:txBody>
      </p:sp>
      <p:sp>
        <p:nvSpPr>
          <p:cNvPr id="47" name="Rounded Rectangle 46"/>
          <p:cNvSpPr/>
          <p:nvPr/>
        </p:nvSpPr>
        <p:spPr>
          <a:xfrm>
            <a:off x="4352544" y="3602736"/>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48" name="Rounded Rectangle 47"/>
          <p:cNvSpPr/>
          <p:nvPr/>
        </p:nvSpPr>
        <p:spPr>
          <a:xfrm>
            <a:off x="5102352" y="3602736"/>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49" name="TextBox 48"/>
          <p:cNvSpPr txBox="1"/>
          <p:nvPr/>
        </p:nvSpPr>
        <p:spPr>
          <a:xfrm>
            <a:off x="5577840" y="3621024"/>
            <a:ext cx="182880" cy="256032"/>
          </a:xfrm>
          <a:prstGeom prst="rect">
            <a:avLst/>
          </a:prstGeom>
          <a:noFill/>
        </p:spPr>
        <p:txBody>
          <a:bodyPr wrap="square" lIns="0" tIns="0" rIns="0" bIns="0" anchor="t">
            <a:spAutoFit/>
          </a:bodyPr>
          <a:lstStyle/>
          <a:p>
            <a:pPr algn="ctr"/>
            <a:r>
              <a:rPr sz="1200" b="0">
                <a:solidFill>
                  <a:srgbClr val="1B9AAA"/>
                </a:solidFill>
                <a:latin typeface="Roboto"/>
              </a:rPr>
              <a:t>✓</a:t>
            </a:r>
          </a:p>
        </p:txBody>
      </p:sp>
      <p:sp>
        <p:nvSpPr>
          <p:cNvPr id="50" name="Rounded Rectangle 49"/>
          <p:cNvSpPr/>
          <p:nvPr/>
        </p:nvSpPr>
        <p:spPr>
          <a:xfrm>
            <a:off x="2926080" y="40050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51" name="Rounded Rectangle 50"/>
          <p:cNvSpPr/>
          <p:nvPr/>
        </p:nvSpPr>
        <p:spPr>
          <a:xfrm>
            <a:off x="3300984" y="40050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cat</a:t>
            </a:r>
          </a:p>
        </p:txBody>
      </p:sp>
      <p:sp>
        <p:nvSpPr>
          <p:cNvPr id="52" name="Rounded Rectangle 51"/>
          <p:cNvSpPr/>
          <p:nvPr/>
        </p:nvSpPr>
        <p:spPr>
          <a:xfrm>
            <a:off x="3675888" y="40050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sat</a:t>
            </a:r>
          </a:p>
        </p:txBody>
      </p:sp>
      <p:sp>
        <p:nvSpPr>
          <p:cNvPr id="53" name="Rounded Rectangle 52"/>
          <p:cNvSpPr/>
          <p:nvPr/>
        </p:nvSpPr>
        <p:spPr>
          <a:xfrm>
            <a:off x="4050792" y="4005072"/>
            <a:ext cx="256032"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on</a:t>
            </a:r>
          </a:p>
        </p:txBody>
      </p:sp>
      <p:sp>
        <p:nvSpPr>
          <p:cNvPr id="54" name="Rounded Rectangle 53"/>
          <p:cNvSpPr/>
          <p:nvPr/>
        </p:nvSpPr>
        <p:spPr>
          <a:xfrm>
            <a:off x="4352544" y="4005072"/>
            <a:ext cx="329184" cy="2743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the</a:t>
            </a:r>
          </a:p>
        </p:txBody>
      </p:sp>
      <p:sp>
        <p:nvSpPr>
          <p:cNvPr id="55" name="Rounded Rectangle 54"/>
          <p:cNvSpPr/>
          <p:nvPr/>
        </p:nvSpPr>
        <p:spPr>
          <a:xfrm>
            <a:off x="4727448" y="4005072"/>
            <a:ext cx="274320" cy="274320"/>
          </a:xfrm>
          <a:prstGeom prst="roundRect">
            <a:avLst>
              <a:gd name="adj" fmla="val 18000"/>
            </a:avLst>
          </a:prstGeom>
          <a:solidFill>
            <a:srgbClr val="FFFFFF"/>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1B9AAA"/>
                </a:solidFill>
                <a:latin typeface="JetBrains Mono"/>
              </a:rPr>
              <a:t>?</a:t>
            </a:r>
          </a:p>
        </p:txBody>
      </p:sp>
      <p:sp>
        <p:nvSpPr>
          <p:cNvPr id="56" name="Rounded Rectangle 55"/>
          <p:cNvSpPr/>
          <p:nvPr/>
        </p:nvSpPr>
        <p:spPr>
          <a:xfrm>
            <a:off x="5102352" y="4005072"/>
            <a:ext cx="457200" cy="274320"/>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floor</a:t>
            </a:r>
          </a:p>
        </p:txBody>
      </p:sp>
      <p:sp>
        <p:nvSpPr>
          <p:cNvPr id="57" name="TextBox 56"/>
          <p:cNvSpPr txBox="1"/>
          <p:nvPr/>
        </p:nvSpPr>
        <p:spPr>
          <a:xfrm>
            <a:off x="5577840" y="4023359"/>
            <a:ext cx="182880" cy="256032"/>
          </a:xfrm>
          <a:prstGeom prst="rect">
            <a:avLst/>
          </a:prstGeom>
          <a:noFill/>
        </p:spPr>
        <p:txBody>
          <a:bodyPr wrap="square" lIns="0" tIns="0" rIns="0" bIns="0" anchor="t">
            <a:spAutoFit/>
          </a:bodyPr>
          <a:lstStyle/>
          <a:p>
            <a:pPr algn="ctr"/>
            <a:r>
              <a:rPr sz="1200" b="0">
                <a:solidFill>
                  <a:srgbClr val="6B7B8C"/>
                </a:solidFill>
                <a:latin typeface="Roboto"/>
              </a:rPr>
              <a:t>✗</a:t>
            </a:r>
          </a:p>
        </p:txBody>
      </p:sp>
      <p:sp>
        <p:nvSpPr>
          <p:cNvPr id="58" name="Rounded Rectangle 57"/>
          <p:cNvSpPr/>
          <p:nvPr/>
        </p:nvSpPr>
        <p:spPr>
          <a:xfrm>
            <a:off x="5806440" y="4005072"/>
            <a:ext cx="457200" cy="274320"/>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50">
                <a:solidFill>
                  <a:srgbClr val="0D1B2A"/>
                </a:solidFill>
                <a:latin typeface="JetBrains Mono"/>
              </a:rPr>
              <a:t>mat</a:t>
            </a:r>
          </a:p>
        </p:txBody>
      </p:sp>
      <p:sp>
        <p:nvSpPr>
          <p:cNvPr id="59" name="Rectangle 58"/>
          <p:cNvSpPr/>
          <p:nvPr/>
        </p:nvSpPr>
        <p:spPr>
          <a:xfrm>
            <a:off x="6510528" y="1783080"/>
            <a:ext cx="2194559"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6510528" y="1783080"/>
            <a:ext cx="54864" cy="2743200"/>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720840" y="1901952"/>
            <a:ext cx="1920240" cy="228600"/>
          </a:xfrm>
          <a:prstGeom prst="rect">
            <a:avLst/>
          </a:prstGeom>
          <a:noFill/>
        </p:spPr>
        <p:txBody>
          <a:bodyPr wrap="square" lIns="0" tIns="0" rIns="0" bIns="0" anchor="t">
            <a:spAutoFit/>
          </a:bodyPr>
          <a:lstStyle/>
          <a:p>
            <a:pPr algn="l"/>
            <a:r>
              <a:rPr sz="850" b="0" spc="100">
                <a:solidFill>
                  <a:srgbClr val="1B9AAA"/>
                </a:solidFill>
                <a:latin typeface="JetBrains Mono"/>
              </a:rPr>
              <a:t>STEP 3: LEARN &amp; ADJUST</a:t>
            </a:r>
          </a:p>
        </p:txBody>
      </p:sp>
      <p:sp>
        <p:nvSpPr>
          <p:cNvPr id="62" name="Rounded Rectangle 61"/>
          <p:cNvSpPr/>
          <p:nvPr/>
        </p:nvSpPr>
        <p:spPr>
          <a:xfrm>
            <a:off x="6720840" y="2240280"/>
            <a:ext cx="27432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a</a:t>
            </a:r>
          </a:p>
        </p:txBody>
      </p:sp>
      <p:cxnSp>
        <p:nvCxnSpPr>
          <p:cNvPr id="63" name="Connector 62"/>
          <p:cNvCxnSpPr/>
          <p:nvPr/>
        </p:nvCxnSpPr>
        <p:spPr>
          <a:xfrm>
            <a:off x="6858000" y="2542032"/>
            <a:ext cx="0" cy="310896"/>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104888" y="2221992"/>
            <a:ext cx="1508759" cy="228600"/>
          </a:xfrm>
          <a:prstGeom prst="rect">
            <a:avLst/>
          </a:prstGeom>
          <a:noFill/>
        </p:spPr>
        <p:txBody>
          <a:bodyPr wrap="square" lIns="0" tIns="0" rIns="0" bIns="0" anchor="t">
            <a:spAutoFit/>
          </a:bodyPr>
          <a:lstStyle/>
          <a:p>
            <a:pPr algn="l"/>
            <a:r>
              <a:rPr sz="1300" b="0">
                <a:solidFill>
                  <a:srgbClr val="0D1B2A"/>
                </a:solidFill>
                <a:latin typeface="Oswald"/>
              </a:rPr>
              <a:t>Compare  ·  loss</a:t>
            </a:r>
          </a:p>
        </p:txBody>
      </p:sp>
      <p:sp>
        <p:nvSpPr>
          <p:cNvPr id="65" name="TextBox 64"/>
          <p:cNvSpPr txBox="1"/>
          <p:nvPr/>
        </p:nvSpPr>
        <p:spPr>
          <a:xfrm>
            <a:off x="7104888" y="2459736"/>
            <a:ext cx="1508759" cy="365760"/>
          </a:xfrm>
          <a:prstGeom prst="rect">
            <a:avLst/>
          </a:prstGeom>
          <a:noFill/>
        </p:spPr>
        <p:txBody>
          <a:bodyPr wrap="square" lIns="0" tIns="0" rIns="0" bIns="0" anchor="t">
            <a:spAutoFit/>
          </a:bodyPr>
          <a:lstStyle/>
          <a:p>
            <a:pPr algn="l"/>
            <a:r>
              <a:rPr sz="950" b="0">
                <a:solidFill>
                  <a:srgbClr val="6B7B8C"/>
                </a:solidFill>
                <a:latin typeface="Roboto"/>
              </a:rPr>
              <a:t>How wrong was the guess?</a:t>
            </a:r>
          </a:p>
        </p:txBody>
      </p:sp>
      <p:sp>
        <p:nvSpPr>
          <p:cNvPr id="66" name="Rounded Rectangle 65"/>
          <p:cNvSpPr/>
          <p:nvPr/>
        </p:nvSpPr>
        <p:spPr>
          <a:xfrm>
            <a:off x="6720840" y="2880360"/>
            <a:ext cx="27432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b</a:t>
            </a:r>
          </a:p>
        </p:txBody>
      </p:sp>
      <p:cxnSp>
        <p:nvCxnSpPr>
          <p:cNvPr id="67" name="Connector 66"/>
          <p:cNvCxnSpPr/>
          <p:nvPr/>
        </p:nvCxnSpPr>
        <p:spPr>
          <a:xfrm>
            <a:off x="6858000" y="3182112"/>
            <a:ext cx="0" cy="310896"/>
          </a:xfrm>
          <a:prstGeom prst="line">
            <a:avLst/>
          </a:prstGeom>
          <a:ln w="1587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7104888" y="2862072"/>
            <a:ext cx="1508759" cy="228600"/>
          </a:xfrm>
          <a:prstGeom prst="rect">
            <a:avLst/>
          </a:prstGeom>
          <a:noFill/>
        </p:spPr>
        <p:txBody>
          <a:bodyPr wrap="square" lIns="0" tIns="0" rIns="0" bIns="0" anchor="t">
            <a:spAutoFit/>
          </a:bodyPr>
          <a:lstStyle/>
          <a:p>
            <a:pPr algn="l"/>
            <a:r>
              <a:rPr sz="1300" b="0">
                <a:solidFill>
                  <a:srgbClr val="0D1B2A"/>
                </a:solidFill>
                <a:latin typeface="Oswald"/>
              </a:rPr>
              <a:t>Trace back  ·  gradients</a:t>
            </a:r>
          </a:p>
        </p:txBody>
      </p:sp>
      <p:sp>
        <p:nvSpPr>
          <p:cNvPr id="69" name="TextBox 68"/>
          <p:cNvSpPr txBox="1"/>
          <p:nvPr/>
        </p:nvSpPr>
        <p:spPr>
          <a:xfrm>
            <a:off x="7104888" y="3099816"/>
            <a:ext cx="1508759" cy="365760"/>
          </a:xfrm>
          <a:prstGeom prst="rect">
            <a:avLst/>
          </a:prstGeom>
          <a:noFill/>
        </p:spPr>
        <p:txBody>
          <a:bodyPr wrap="square" lIns="0" tIns="0" rIns="0" bIns="0" anchor="t">
            <a:spAutoFit/>
          </a:bodyPr>
          <a:lstStyle/>
          <a:p>
            <a:pPr algn="l"/>
            <a:r>
              <a:rPr sz="950" b="0">
                <a:solidFill>
                  <a:srgbClr val="6B7B8C"/>
                </a:solidFill>
                <a:latin typeface="Roboto"/>
              </a:rPr>
              <a:t>Which way should each weight move?</a:t>
            </a:r>
          </a:p>
        </p:txBody>
      </p:sp>
      <p:sp>
        <p:nvSpPr>
          <p:cNvPr id="70" name="Rounded Rectangle 69"/>
          <p:cNvSpPr/>
          <p:nvPr/>
        </p:nvSpPr>
        <p:spPr>
          <a:xfrm>
            <a:off x="6720840" y="3520440"/>
            <a:ext cx="274320" cy="274320"/>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c</a:t>
            </a:r>
          </a:p>
        </p:txBody>
      </p:sp>
      <p:sp>
        <p:nvSpPr>
          <p:cNvPr id="71" name="TextBox 70"/>
          <p:cNvSpPr txBox="1"/>
          <p:nvPr/>
        </p:nvSpPr>
        <p:spPr>
          <a:xfrm>
            <a:off x="7104888" y="3502152"/>
            <a:ext cx="1508759" cy="228600"/>
          </a:xfrm>
          <a:prstGeom prst="rect">
            <a:avLst/>
          </a:prstGeom>
          <a:noFill/>
        </p:spPr>
        <p:txBody>
          <a:bodyPr wrap="square" lIns="0" tIns="0" rIns="0" bIns="0" anchor="t">
            <a:spAutoFit/>
          </a:bodyPr>
          <a:lstStyle/>
          <a:p>
            <a:pPr algn="l"/>
            <a:r>
              <a:rPr sz="1300" b="0">
                <a:solidFill>
                  <a:srgbClr val="0D1B2A"/>
                </a:solidFill>
                <a:latin typeface="Oswald"/>
              </a:rPr>
              <a:t>Adjust</a:t>
            </a:r>
          </a:p>
        </p:txBody>
      </p:sp>
      <p:sp>
        <p:nvSpPr>
          <p:cNvPr id="72" name="TextBox 71"/>
          <p:cNvSpPr txBox="1"/>
          <p:nvPr/>
        </p:nvSpPr>
        <p:spPr>
          <a:xfrm>
            <a:off x="7104888" y="3739896"/>
            <a:ext cx="1508759" cy="365760"/>
          </a:xfrm>
          <a:prstGeom prst="rect">
            <a:avLst/>
          </a:prstGeom>
          <a:noFill/>
        </p:spPr>
        <p:txBody>
          <a:bodyPr wrap="square" lIns="0" tIns="0" rIns="0" bIns="0" anchor="t">
            <a:spAutoFit/>
          </a:bodyPr>
          <a:lstStyle/>
          <a:p>
            <a:pPr algn="l"/>
            <a:r>
              <a:rPr sz="950" b="0">
                <a:solidFill>
                  <a:srgbClr val="6B7B8C"/>
                </a:solidFill>
                <a:latin typeface="Roboto"/>
              </a:rPr>
              <a:t>Nudge all weights a tiny step.</a:t>
            </a:r>
          </a:p>
        </p:txBody>
      </p:sp>
      <p:sp>
        <p:nvSpPr>
          <p:cNvPr id="73" name="TextBox 72"/>
          <p:cNvSpPr txBox="1"/>
          <p:nvPr/>
        </p:nvSpPr>
        <p:spPr>
          <a:xfrm>
            <a:off x="6720840" y="4160520"/>
            <a:ext cx="1920239" cy="228600"/>
          </a:xfrm>
          <a:prstGeom prst="rect">
            <a:avLst/>
          </a:prstGeom>
          <a:noFill/>
        </p:spPr>
        <p:txBody>
          <a:bodyPr wrap="square" lIns="0" tIns="0" rIns="0" bIns="0" anchor="t">
            <a:spAutoFit/>
          </a:bodyPr>
          <a:lstStyle/>
          <a:p>
            <a:pPr algn="l"/>
            <a:r>
              <a:rPr sz="900" b="0">
                <a:solidFill>
                  <a:srgbClr val="1B9AAA"/>
                </a:solidFill>
                <a:latin typeface="JetBrains Mono"/>
              </a:rPr>
              <a:t>↻  Repeat with the next batch of text</a:t>
            </a:r>
          </a:p>
        </p:txBody>
      </p:sp>
      <p:sp>
        <p:nvSpPr>
          <p:cNvPr id="74" name="Rectangle 73"/>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Repeated over trillions of tokens, this simple game teaches the model grammar, facts and style.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492240" y="2377440"/>
            <a:ext cx="3291840" cy="3291840"/>
          </a:xfrm>
          <a:prstGeom prst="ellipse">
            <a:avLst/>
          </a:prstGeom>
          <a:solidFill>
            <a:srgbClr val="1B9AAA">
              <a:alpha val="10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863840" y="1600200"/>
            <a:ext cx="2103120" cy="2103120"/>
          </a:xfrm>
          <a:prstGeom prst="ellipse">
            <a:avLst/>
          </a:prstGeom>
          <a:solidFill>
            <a:srgbClr val="06D6A0">
              <a:alpha val="8000"/>
            </a:srgbClr>
          </a:solidFill>
          <a:ln w="952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1371600"/>
            <a:ext cx="3657600" cy="274320"/>
          </a:xfrm>
          <a:prstGeom prst="rect">
            <a:avLst/>
          </a:prstGeom>
          <a:noFill/>
        </p:spPr>
        <p:txBody>
          <a:bodyPr wrap="square" lIns="0" tIns="0" rIns="0" bIns="0" anchor="t">
            <a:spAutoFit/>
          </a:bodyPr>
          <a:lstStyle/>
          <a:p>
            <a:pPr algn="l"/>
            <a:r>
              <a:rPr sz="1100" b="0" spc="300">
                <a:solidFill>
                  <a:srgbClr val="1B9AAA"/>
                </a:solidFill>
                <a:latin typeface="JetBrains Mono"/>
              </a:rPr>
              <a:t>PART 4 · GENERATIVE AI</a:t>
            </a:r>
          </a:p>
        </p:txBody>
      </p:sp>
      <p:sp>
        <p:nvSpPr>
          <p:cNvPr id="6" name="slide-llm-terms-divider"/>
          <p:cNvSpPr txBox="1"/>
          <p:nvPr/>
        </p:nvSpPr>
        <p:spPr>
          <a:xfrm>
            <a:off x="822960" y="1691640"/>
            <a:ext cx="4937760" cy="1371600"/>
          </a:xfrm>
          <a:prstGeom prst="rect">
            <a:avLst/>
          </a:prstGeom>
          <a:noFill/>
        </p:spPr>
        <p:txBody>
          <a:bodyPr wrap="square" lIns="0" tIns="0" rIns="0" bIns="0" anchor="t">
            <a:spAutoFit/>
          </a:bodyPr>
          <a:lstStyle/>
          <a:p>
            <a:pPr algn="l"/>
            <a:r>
              <a:rPr sz="4000" b="0">
                <a:solidFill>
                  <a:srgbClr val="0D1B2A"/>
                </a:solidFill>
                <a:latin typeface="Oswald"/>
              </a:rPr>
              <a:t>Terms you meet when</a:t>
            </a:r>
          </a:p>
          <a:p>
            <a:pPr algn="l"/>
            <a:r>
              <a:rPr sz="4000" b="0">
                <a:solidFill>
                  <a:srgbClr val="0D1B2A"/>
                </a:solidFill>
                <a:latin typeface="Oswald"/>
              </a:rPr>
              <a:t>working with LLMs</a:t>
            </a:r>
          </a:p>
        </p:txBody>
      </p:sp>
      <p:sp>
        <p:nvSpPr>
          <p:cNvPr id="7" name="Rectangle 6"/>
          <p:cNvSpPr/>
          <p:nvPr/>
        </p:nvSpPr>
        <p:spPr>
          <a:xfrm>
            <a:off x="822960" y="320040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822960" y="3456432"/>
            <a:ext cx="777240" cy="329184"/>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Prompt</a:t>
            </a:r>
          </a:p>
        </p:txBody>
      </p:sp>
      <p:sp>
        <p:nvSpPr>
          <p:cNvPr id="9" name="Rounded Rectangle 8"/>
          <p:cNvSpPr/>
          <p:nvPr/>
        </p:nvSpPr>
        <p:spPr>
          <a:xfrm>
            <a:off x="1709928" y="3456432"/>
            <a:ext cx="1399032" cy="329184"/>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Context window</a:t>
            </a:r>
          </a:p>
        </p:txBody>
      </p:sp>
      <p:sp>
        <p:nvSpPr>
          <p:cNvPr id="10" name="Rounded Rectangle 9"/>
          <p:cNvSpPr/>
          <p:nvPr/>
        </p:nvSpPr>
        <p:spPr>
          <a:xfrm>
            <a:off x="3218688" y="3456432"/>
            <a:ext cx="1321308" cy="329184"/>
          </a:xfrm>
          <a:prstGeom prst="roundRect">
            <a:avLst>
              <a:gd name="adj" fmla="val 18000"/>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Hallucination</a:t>
            </a:r>
          </a:p>
        </p:txBody>
      </p:sp>
      <p:sp>
        <p:nvSpPr>
          <p:cNvPr id="11" name="TextBox 10"/>
          <p:cNvSpPr txBox="1"/>
          <p:nvPr/>
        </p:nvSpPr>
        <p:spPr>
          <a:xfrm>
            <a:off x="822960" y="4023360"/>
            <a:ext cx="5486400" cy="228600"/>
          </a:xfrm>
          <a:prstGeom prst="rect">
            <a:avLst/>
          </a:prstGeom>
          <a:noFill/>
        </p:spPr>
        <p:txBody>
          <a:bodyPr wrap="square" lIns="0" tIns="0" rIns="0" bIns="0" anchor="t">
            <a:spAutoFit/>
          </a:bodyPr>
          <a:lstStyle/>
          <a:p>
            <a:pPr algn="l"/>
            <a:r>
              <a:rPr sz="1100" b="0">
                <a:solidFill>
                  <a:srgbClr val="6B7B8C"/>
                </a:solidFill>
                <a:latin typeface="Roboto"/>
              </a:rPr>
              <a:t>The next few slides explain each of them in plain language.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WORKING WITH LLMS · PROMPT</a:t>
            </a:r>
          </a:p>
        </p:txBody>
      </p:sp>
      <p:sp>
        <p:nvSpPr>
          <p:cNvPr id="4" name="slide-prompt"/>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The prompt: everything you give the model</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Your input: a question or instruction plus any context. Better input means better output.</a:t>
            </a:r>
          </a:p>
        </p:txBody>
      </p:sp>
      <p:sp>
        <p:nvSpPr>
          <p:cNvPr id="6" name="Rectangle 5"/>
          <p:cNvSpPr/>
          <p:nvPr/>
        </p:nvSpPr>
        <p:spPr>
          <a:xfrm>
            <a:off x="566928" y="1783080"/>
            <a:ext cx="498348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274320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ANATOMY OF A GOOD PROMPT</a:t>
            </a:r>
          </a:p>
        </p:txBody>
      </p:sp>
      <p:sp>
        <p:nvSpPr>
          <p:cNvPr id="9" name="Rounded Rectangle 8"/>
          <p:cNvSpPr/>
          <p:nvPr/>
        </p:nvSpPr>
        <p:spPr>
          <a:xfrm>
            <a:off x="777240" y="2240280"/>
            <a:ext cx="960120" cy="329184"/>
          </a:xfrm>
          <a:prstGeom prst="roundRect">
            <a:avLst>
              <a:gd name="adj" fmla="val 18000"/>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ROLE</a:t>
            </a:r>
          </a:p>
        </p:txBody>
      </p:sp>
      <p:sp>
        <p:nvSpPr>
          <p:cNvPr id="10" name="TextBox 9"/>
          <p:cNvSpPr txBox="1"/>
          <p:nvPr/>
        </p:nvSpPr>
        <p:spPr>
          <a:xfrm>
            <a:off x="1920240" y="2295144"/>
            <a:ext cx="3520440" cy="274320"/>
          </a:xfrm>
          <a:prstGeom prst="rect">
            <a:avLst/>
          </a:prstGeom>
          <a:noFill/>
        </p:spPr>
        <p:txBody>
          <a:bodyPr wrap="square" lIns="0" tIns="0" rIns="0" bIns="0" anchor="t">
            <a:spAutoFit/>
          </a:bodyPr>
          <a:lstStyle/>
          <a:p>
            <a:pPr algn="l"/>
            <a:r>
              <a:rPr sz="1250" b="0">
                <a:solidFill>
                  <a:srgbClr val="0D1B2A"/>
                </a:solidFill>
                <a:latin typeface="Roboto"/>
              </a:rPr>
              <a:t>You are an experienced science writer.</a:t>
            </a:r>
          </a:p>
        </p:txBody>
      </p:sp>
      <p:sp>
        <p:nvSpPr>
          <p:cNvPr id="11" name="Rounded Rectangle 10"/>
          <p:cNvSpPr/>
          <p:nvPr/>
        </p:nvSpPr>
        <p:spPr>
          <a:xfrm>
            <a:off x="777240" y="2788920"/>
            <a:ext cx="960120" cy="329184"/>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JetBrains Mono"/>
              </a:rPr>
              <a:t>TASK</a:t>
            </a:r>
          </a:p>
        </p:txBody>
      </p:sp>
      <p:sp>
        <p:nvSpPr>
          <p:cNvPr id="12" name="TextBox 11"/>
          <p:cNvSpPr txBox="1"/>
          <p:nvPr/>
        </p:nvSpPr>
        <p:spPr>
          <a:xfrm>
            <a:off x="1920240" y="2843784"/>
            <a:ext cx="3520440" cy="274320"/>
          </a:xfrm>
          <a:prstGeom prst="rect">
            <a:avLst/>
          </a:prstGeom>
          <a:noFill/>
        </p:spPr>
        <p:txBody>
          <a:bodyPr wrap="square" lIns="0" tIns="0" rIns="0" bIns="0" anchor="t">
            <a:spAutoFit/>
          </a:bodyPr>
          <a:lstStyle/>
          <a:p>
            <a:pPr algn="l"/>
            <a:r>
              <a:rPr sz="1250" b="0">
                <a:solidFill>
                  <a:srgbClr val="0D1B2A"/>
                </a:solidFill>
                <a:latin typeface="Roboto"/>
              </a:rPr>
              <a:t>Summarize the attached study report</a:t>
            </a:r>
          </a:p>
        </p:txBody>
      </p:sp>
      <p:sp>
        <p:nvSpPr>
          <p:cNvPr id="13" name="Rounded Rectangle 12"/>
          <p:cNvSpPr/>
          <p:nvPr/>
        </p:nvSpPr>
        <p:spPr>
          <a:xfrm>
            <a:off x="777240" y="3337560"/>
            <a:ext cx="960120" cy="329184"/>
          </a:xfrm>
          <a:prstGeom prst="roundRect">
            <a:avLst>
              <a:gd name="adj" fmla="val 18000"/>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CONTEXT</a:t>
            </a:r>
          </a:p>
        </p:txBody>
      </p:sp>
      <p:sp>
        <p:nvSpPr>
          <p:cNvPr id="14" name="TextBox 13"/>
          <p:cNvSpPr txBox="1"/>
          <p:nvPr/>
        </p:nvSpPr>
        <p:spPr>
          <a:xfrm>
            <a:off x="1920240" y="3392424"/>
            <a:ext cx="3520440" cy="274320"/>
          </a:xfrm>
          <a:prstGeom prst="rect">
            <a:avLst/>
          </a:prstGeom>
          <a:noFill/>
        </p:spPr>
        <p:txBody>
          <a:bodyPr wrap="square" lIns="0" tIns="0" rIns="0" bIns="0" anchor="t">
            <a:spAutoFit/>
          </a:bodyPr>
          <a:lstStyle/>
          <a:p>
            <a:pPr algn="l"/>
            <a:r>
              <a:rPr sz="1250" b="0">
                <a:solidFill>
                  <a:srgbClr val="0D1B2A"/>
                </a:solidFill>
                <a:latin typeface="Roboto"/>
              </a:rPr>
              <a:t>for colleagues without a medical background</a:t>
            </a:r>
          </a:p>
        </p:txBody>
      </p:sp>
      <p:sp>
        <p:nvSpPr>
          <p:cNvPr id="15" name="Rounded Rectangle 14"/>
          <p:cNvSpPr/>
          <p:nvPr/>
        </p:nvSpPr>
        <p:spPr>
          <a:xfrm>
            <a:off x="777240" y="3886200"/>
            <a:ext cx="960120" cy="329184"/>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JetBrains Mono"/>
              </a:rPr>
              <a:t>FORMAT</a:t>
            </a:r>
          </a:p>
        </p:txBody>
      </p:sp>
      <p:sp>
        <p:nvSpPr>
          <p:cNvPr id="16" name="TextBox 15"/>
          <p:cNvSpPr txBox="1"/>
          <p:nvPr/>
        </p:nvSpPr>
        <p:spPr>
          <a:xfrm>
            <a:off x="1920240" y="3941063"/>
            <a:ext cx="3520440" cy="274320"/>
          </a:xfrm>
          <a:prstGeom prst="rect">
            <a:avLst/>
          </a:prstGeom>
          <a:noFill/>
        </p:spPr>
        <p:txBody>
          <a:bodyPr wrap="square" lIns="0" tIns="0" rIns="0" bIns="0" anchor="t">
            <a:spAutoFit/>
          </a:bodyPr>
          <a:lstStyle/>
          <a:p>
            <a:pPr algn="l"/>
            <a:r>
              <a:rPr sz="1250" b="0">
                <a:solidFill>
                  <a:srgbClr val="0D1B2A"/>
                </a:solidFill>
                <a:latin typeface="Roboto"/>
              </a:rPr>
              <a:t>in five short bullet points.</a:t>
            </a:r>
          </a:p>
        </p:txBody>
      </p:sp>
      <p:cxnSp>
        <p:nvCxnSpPr>
          <p:cNvPr id="17" name="Connector 16"/>
          <p:cNvCxnSpPr/>
          <p:nvPr/>
        </p:nvCxnSpPr>
        <p:spPr>
          <a:xfrm>
            <a:off x="5623560" y="2377440"/>
            <a:ext cx="1069848" cy="0"/>
          </a:xfrm>
          <a:prstGeom prst="line">
            <a:avLst/>
          </a:prstGeom>
          <a:ln w="2222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739128" y="1847088"/>
            <a:ext cx="1060704" cy="1060704"/>
          </a:xfrm>
          <a:prstGeom prst="ellipse">
            <a:avLst/>
          </a:prstGeom>
          <a:solidFill>
            <a:srgbClr val="1B9AAA">
              <a:alpha val="18000"/>
            </a:srgbClr>
          </a:solidFill>
          <a:ln w="9525">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39128" y="2176272"/>
            <a:ext cx="1060704" cy="411480"/>
          </a:xfrm>
          <a:prstGeom prst="rect">
            <a:avLst/>
          </a:prstGeom>
          <a:noFill/>
        </p:spPr>
        <p:txBody>
          <a:bodyPr wrap="square" lIns="0" tIns="0" rIns="0" bIns="0" anchor="t">
            <a:spAutoFit/>
          </a:bodyPr>
          <a:lstStyle/>
          <a:p>
            <a:pPr algn="ctr"/>
            <a:r>
              <a:rPr sz="2000" b="0">
                <a:solidFill>
                  <a:srgbClr val="0D1B2A"/>
                </a:solidFill>
                <a:latin typeface="Oswald"/>
              </a:rPr>
              <a:t>LLM</a:t>
            </a:r>
          </a:p>
        </p:txBody>
      </p:sp>
      <p:cxnSp>
        <p:nvCxnSpPr>
          <p:cNvPr id="20" name="Connector 19"/>
          <p:cNvCxnSpPr/>
          <p:nvPr/>
        </p:nvCxnSpPr>
        <p:spPr>
          <a:xfrm>
            <a:off x="7269480" y="2935224"/>
            <a:ext cx="0" cy="310896"/>
          </a:xfrm>
          <a:prstGeom prst="line">
            <a:avLst/>
          </a:prstGeom>
          <a:ln w="22225">
            <a:solidFill>
              <a:srgbClr val="1B9AA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852160" y="3291840"/>
            <a:ext cx="2852928" cy="123444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053328" y="3410712"/>
            <a:ext cx="3657600" cy="228600"/>
          </a:xfrm>
          <a:prstGeom prst="rect">
            <a:avLst/>
          </a:prstGeom>
          <a:noFill/>
        </p:spPr>
        <p:txBody>
          <a:bodyPr wrap="square" lIns="0" tIns="0" rIns="0" bIns="0" anchor="t">
            <a:spAutoFit/>
          </a:bodyPr>
          <a:lstStyle/>
          <a:p>
            <a:pPr algn="l"/>
            <a:r>
              <a:rPr sz="950" b="0" spc="100">
                <a:solidFill>
                  <a:srgbClr val="06D6A0"/>
                </a:solidFill>
                <a:latin typeface="JetBrains Mono"/>
              </a:rPr>
              <a:t>ANSWER</a:t>
            </a:r>
          </a:p>
        </p:txBody>
      </p:sp>
      <p:sp>
        <p:nvSpPr>
          <p:cNvPr id="23" name="TextBox 22"/>
          <p:cNvSpPr txBox="1"/>
          <p:nvPr/>
        </p:nvSpPr>
        <p:spPr>
          <a:xfrm>
            <a:off x="6053328" y="3657600"/>
            <a:ext cx="2514600" cy="731520"/>
          </a:xfrm>
          <a:prstGeom prst="rect">
            <a:avLst/>
          </a:prstGeom>
          <a:noFill/>
        </p:spPr>
        <p:txBody>
          <a:bodyPr wrap="square" lIns="0" tIns="0" rIns="0" bIns="0" anchor="t">
            <a:spAutoFit/>
          </a:bodyPr>
          <a:lstStyle/>
          <a:p>
            <a:pPr algn="l"/>
            <a:r>
              <a:rPr sz="1150" b="0">
                <a:solidFill>
                  <a:srgbClr val="AFC2CE"/>
                </a:solidFill>
                <a:latin typeface="Roboto"/>
              </a:rPr>
              <a:t>Five plain-language bullet points, written for exactly this audience.</a:t>
            </a:r>
          </a:p>
        </p:txBody>
      </p:sp>
      <p:sp>
        <p:nvSpPr>
          <p:cNvPr id="24" name="Rectangle 23"/>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Same model, different prompt, different answer.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WORKING WITH LLMS · CONTEXT WINDOW</a:t>
            </a:r>
          </a:p>
        </p:txBody>
      </p:sp>
      <p:sp>
        <p:nvSpPr>
          <p:cNvPr id="4" name="slide-context-window"/>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The context window: the model's working memory</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A model can only “see” a limited amount of text at once, and everything has to fit.</a:t>
            </a:r>
          </a:p>
        </p:txBody>
      </p:sp>
      <p:sp>
        <p:nvSpPr>
          <p:cNvPr id="6" name="Rectangle 5"/>
          <p:cNvSpPr/>
          <p:nvPr/>
        </p:nvSpPr>
        <p:spPr>
          <a:xfrm>
            <a:off x="566928" y="1783080"/>
            <a:ext cx="8138160" cy="157276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783080"/>
            <a:ext cx="54864" cy="157276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A LONG CONVERSATION</a:t>
            </a:r>
          </a:p>
        </p:txBody>
      </p:sp>
      <p:sp>
        <p:nvSpPr>
          <p:cNvPr id="9" name="Rounded Rectangle 8"/>
          <p:cNvSpPr/>
          <p:nvPr/>
        </p:nvSpPr>
        <p:spPr>
          <a:xfrm>
            <a:off x="868680" y="2286000"/>
            <a:ext cx="868680" cy="438912"/>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Roboto"/>
              </a:rPr>
              <a:t>Instructions</a:t>
            </a:r>
          </a:p>
        </p:txBody>
      </p:sp>
      <p:sp>
        <p:nvSpPr>
          <p:cNvPr id="10" name="Rounded Rectangle 9"/>
          <p:cNvSpPr/>
          <p:nvPr/>
        </p:nvSpPr>
        <p:spPr>
          <a:xfrm>
            <a:off x="1801368" y="2286000"/>
            <a:ext cx="1097280" cy="438912"/>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Roboto"/>
              </a:rPr>
              <a:t>Document</a:t>
            </a:r>
          </a:p>
        </p:txBody>
      </p:sp>
      <p:sp>
        <p:nvSpPr>
          <p:cNvPr id="11" name="Rounded Rectangle 10"/>
          <p:cNvSpPr/>
          <p:nvPr/>
        </p:nvSpPr>
        <p:spPr>
          <a:xfrm>
            <a:off x="2962656" y="2286000"/>
            <a:ext cx="822960" cy="438912"/>
          </a:xfrm>
          <a:prstGeom prst="roundRect">
            <a:avLst>
              <a:gd name="adj" fmla="val 18000"/>
            </a:avLst>
          </a:prstGeom>
          <a:solidFill>
            <a:srgbClr val="F4F7F8"/>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8FA6B2"/>
                </a:solidFill>
                <a:latin typeface="Roboto"/>
              </a:rPr>
              <a:t>Question 1</a:t>
            </a:r>
          </a:p>
        </p:txBody>
      </p:sp>
      <p:sp>
        <p:nvSpPr>
          <p:cNvPr id="12" name="Rounded Rectangle 11"/>
          <p:cNvSpPr/>
          <p:nvPr/>
        </p:nvSpPr>
        <p:spPr>
          <a:xfrm>
            <a:off x="3849624" y="2286000"/>
            <a:ext cx="914400" cy="43891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Answer 1</a:t>
            </a:r>
          </a:p>
        </p:txBody>
      </p:sp>
      <p:sp>
        <p:nvSpPr>
          <p:cNvPr id="13" name="Rounded Rectangle 12"/>
          <p:cNvSpPr/>
          <p:nvPr/>
        </p:nvSpPr>
        <p:spPr>
          <a:xfrm>
            <a:off x="4828032" y="2286000"/>
            <a:ext cx="822960" cy="43891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Question 2</a:t>
            </a:r>
          </a:p>
        </p:txBody>
      </p:sp>
      <p:sp>
        <p:nvSpPr>
          <p:cNvPr id="14" name="Rounded Rectangle 13"/>
          <p:cNvSpPr/>
          <p:nvPr/>
        </p:nvSpPr>
        <p:spPr>
          <a:xfrm>
            <a:off x="5715000" y="2286000"/>
            <a:ext cx="914400" cy="438912"/>
          </a:xfrm>
          <a:prstGeom prst="roundRect">
            <a:avLst>
              <a:gd name="adj" fmla="val 18000"/>
            </a:avLst>
          </a:prstGeom>
          <a:solidFill>
            <a:srgbClr val="CFF5E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Answer 2</a:t>
            </a:r>
          </a:p>
        </p:txBody>
      </p:sp>
      <p:sp>
        <p:nvSpPr>
          <p:cNvPr id="15" name="Rounded Rectangle 14"/>
          <p:cNvSpPr/>
          <p:nvPr/>
        </p:nvSpPr>
        <p:spPr>
          <a:xfrm>
            <a:off x="6693408" y="2286000"/>
            <a:ext cx="822960" cy="438912"/>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D1B2A"/>
                </a:solidFill>
                <a:latin typeface="Roboto"/>
              </a:rPr>
              <a:t>Question 3</a:t>
            </a:r>
          </a:p>
        </p:txBody>
      </p:sp>
      <p:sp>
        <p:nvSpPr>
          <p:cNvPr id="16" name="Rounded Rectangle 15"/>
          <p:cNvSpPr/>
          <p:nvPr/>
        </p:nvSpPr>
        <p:spPr>
          <a:xfrm>
            <a:off x="7580376" y="2286000"/>
            <a:ext cx="914400" cy="438912"/>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FFFFFF"/>
                </a:solidFill>
                <a:latin typeface="Roboto"/>
              </a:rPr>
              <a:t>New answer</a:t>
            </a:r>
          </a:p>
        </p:txBody>
      </p:sp>
      <p:sp>
        <p:nvSpPr>
          <p:cNvPr id="17" name="Rounded Rectangle 16"/>
          <p:cNvSpPr/>
          <p:nvPr/>
        </p:nvSpPr>
        <p:spPr>
          <a:xfrm>
            <a:off x="3776472" y="2194560"/>
            <a:ext cx="4791456" cy="621792"/>
          </a:xfrm>
          <a:prstGeom prst="roundRect">
            <a:avLst>
              <a:gd name="adj" fmla="val 18000"/>
            </a:avLst>
          </a:prstGeom>
          <a:noFill/>
          <a:ln w="28575">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776472" y="1901952"/>
            <a:ext cx="4114800" cy="228600"/>
          </a:xfrm>
          <a:prstGeom prst="rect">
            <a:avLst/>
          </a:prstGeom>
          <a:noFill/>
        </p:spPr>
        <p:txBody>
          <a:bodyPr wrap="square" lIns="0" tIns="0" rIns="0" bIns="0" anchor="t">
            <a:spAutoFit/>
          </a:bodyPr>
          <a:lstStyle/>
          <a:p>
            <a:pPr algn="l"/>
            <a:r>
              <a:rPr sz="950" b="0" spc="100">
                <a:solidFill>
                  <a:srgbClr val="0D1B2A"/>
                </a:solidFill>
                <a:latin typeface="JetBrains Mono"/>
              </a:rPr>
              <a:t>CONTEXT WINDOW · WHAT THE MODEL SEES</a:t>
            </a:r>
          </a:p>
        </p:txBody>
      </p:sp>
      <p:cxnSp>
        <p:nvCxnSpPr>
          <p:cNvPr id="19" name="Connector 18"/>
          <p:cNvCxnSpPr/>
          <p:nvPr/>
        </p:nvCxnSpPr>
        <p:spPr>
          <a:xfrm flipH="1">
            <a:off x="914400" y="3017520"/>
            <a:ext cx="2706624" cy="0"/>
          </a:xfrm>
          <a:prstGeom prst="line">
            <a:avLst/>
          </a:prstGeom>
          <a:ln w="12700">
            <a:solidFill>
              <a:srgbClr val="8FA6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895344" y="2907792"/>
            <a:ext cx="4572000" cy="274320"/>
          </a:xfrm>
          <a:prstGeom prst="rect">
            <a:avLst/>
          </a:prstGeom>
          <a:noFill/>
        </p:spPr>
        <p:txBody>
          <a:bodyPr wrap="square" lIns="0" tIns="0" rIns="0" bIns="0" anchor="t">
            <a:spAutoFit/>
          </a:bodyPr>
          <a:lstStyle/>
          <a:p>
            <a:pPr algn="l"/>
            <a:r>
              <a:rPr sz="1050" b="0">
                <a:solidFill>
                  <a:srgbClr val="6B7B8C"/>
                </a:solidFill>
                <a:latin typeface="Roboto"/>
              </a:rPr>
              <a:t>When the window is full, the oldest parts are dropped or shortened.</a:t>
            </a:r>
          </a:p>
        </p:txBody>
      </p:sp>
      <p:sp>
        <p:nvSpPr>
          <p:cNvPr id="21" name="Rectangle 20"/>
          <p:cNvSpPr/>
          <p:nvPr/>
        </p:nvSpPr>
        <p:spPr>
          <a:xfrm>
            <a:off x="566928" y="3493008"/>
            <a:ext cx="8138160" cy="1042415"/>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66928" y="3493008"/>
            <a:ext cx="54864" cy="1042415"/>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3593592"/>
            <a:ext cx="5486400" cy="228600"/>
          </a:xfrm>
          <a:prstGeom prst="rect">
            <a:avLst/>
          </a:prstGeom>
          <a:noFill/>
        </p:spPr>
        <p:txBody>
          <a:bodyPr wrap="square" lIns="0" tIns="0" rIns="0" bIns="0" anchor="t">
            <a:spAutoFit/>
          </a:bodyPr>
          <a:lstStyle/>
          <a:p>
            <a:pPr algn="l"/>
            <a:r>
              <a:rPr sz="950" b="0" spc="100">
                <a:solidFill>
                  <a:srgbClr val="1B9AAA"/>
                </a:solidFill>
                <a:latin typeface="JetBrains Mono"/>
              </a:rPr>
              <a:t>HOW MUCH FITS? (APPROXIMATE, BARS NOT TO SCALE)</a:t>
            </a:r>
          </a:p>
        </p:txBody>
      </p:sp>
      <p:sp>
        <p:nvSpPr>
          <p:cNvPr id="24" name="TextBox 23"/>
          <p:cNvSpPr txBox="1"/>
          <p:nvPr/>
        </p:nvSpPr>
        <p:spPr>
          <a:xfrm>
            <a:off x="777240" y="3858768"/>
            <a:ext cx="457200" cy="182880"/>
          </a:xfrm>
          <a:prstGeom prst="rect">
            <a:avLst/>
          </a:prstGeom>
          <a:noFill/>
        </p:spPr>
        <p:txBody>
          <a:bodyPr wrap="square" lIns="0" tIns="0" rIns="0" bIns="0" anchor="t">
            <a:spAutoFit/>
          </a:bodyPr>
          <a:lstStyle/>
          <a:p>
            <a:pPr algn="l"/>
            <a:r>
              <a:rPr sz="1000" b="0">
                <a:solidFill>
                  <a:srgbClr val="6B7B8C"/>
                </a:solidFill>
                <a:latin typeface="JetBrains Mono"/>
              </a:rPr>
              <a:t>2022</a:t>
            </a:r>
          </a:p>
        </p:txBody>
      </p:sp>
      <p:sp>
        <p:nvSpPr>
          <p:cNvPr id="25" name="Rectangle 24"/>
          <p:cNvSpPr/>
          <p:nvPr/>
        </p:nvSpPr>
        <p:spPr>
          <a:xfrm>
            <a:off x="1325880" y="3895344"/>
            <a:ext cx="228600" cy="11887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691639" y="3858768"/>
            <a:ext cx="4114800" cy="182880"/>
          </a:xfrm>
          <a:prstGeom prst="rect">
            <a:avLst/>
          </a:prstGeom>
          <a:noFill/>
        </p:spPr>
        <p:txBody>
          <a:bodyPr wrap="square" lIns="0" tIns="0" rIns="0" bIns="0" anchor="t">
            <a:spAutoFit/>
          </a:bodyPr>
          <a:lstStyle/>
          <a:p>
            <a:pPr algn="l"/>
            <a:r>
              <a:rPr sz="1050" b="0">
                <a:solidFill>
                  <a:srgbClr val="0D1B2A"/>
                </a:solidFill>
                <a:latin typeface="Roboto"/>
              </a:rPr>
              <a:t>~4,000 tokens  ≈  6 pages</a:t>
            </a:r>
          </a:p>
        </p:txBody>
      </p:sp>
      <p:sp>
        <p:nvSpPr>
          <p:cNvPr id="27" name="TextBox 26"/>
          <p:cNvSpPr txBox="1"/>
          <p:nvPr/>
        </p:nvSpPr>
        <p:spPr>
          <a:xfrm>
            <a:off x="777240" y="4078224"/>
            <a:ext cx="457200" cy="182880"/>
          </a:xfrm>
          <a:prstGeom prst="rect">
            <a:avLst/>
          </a:prstGeom>
          <a:noFill/>
        </p:spPr>
        <p:txBody>
          <a:bodyPr wrap="square" lIns="0" tIns="0" rIns="0" bIns="0" anchor="t">
            <a:spAutoFit/>
          </a:bodyPr>
          <a:lstStyle/>
          <a:p>
            <a:pPr algn="l"/>
            <a:r>
              <a:rPr sz="1000" b="0">
                <a:solidFill>
                  <a:srgbClr val="6B7B8C"/>
                </a:solidFill>
                <a:latin typeface="JetBrains Mono"/>
              </a:rPr>
              <a:t>2023</a:t>
            </a:r>
          </a:p>
        </p:txBody>
      </p:sp>
      <p:sp>
        <p:nvSpPr>
          <p:cNvPr id="28" name="Rectangle 27"/>
          <p:cNvSpPr/>
          <p:nvPr/>
        </p:nvSpPr>
        <p:spPr>
          <a:xfrm>
            <a:off x="1325880" y="4114800"/>
            <a:ext cx="1188720" cy="118872"/>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651760" y="4078224"/>
            <a:ext cx="4114800" cy="182880"/>
          </a:xfrm>
          <a:prstGeom prst="rect">
            <a:avLst/>
          </a:prstGeom>
          <a:noFill/>
        </p:spPr>
        <p:txBody>
          <a:bodyPr wrap="square" lIns="0" tIns="0" rIns="0" bIns="0" anchor="t">
            <a:spAutoFit/>
          </a:bodyPr>
          <a:lstStyle/>
          <a:p>
            <a:pPr algn="l"/>
            <a:r>
              <a:rPr sz="1050" b="0">
                <a:solidFill>
                  <a:srgbClr val="0D1B2A"/>
                </a:solidFill>
                <a:latin typeface="Roboto"/>
              </a:rPr>
              <a:t>~128,000 tokens  ≈  a 200-page book</a:t>
            </a:r>
          </a:p>
        </p:txBody>
      </p:sp>
      <p:sp>
        <p:nvSpPr>
          <p:cNvPr id="30" name="TextBox 29"/>
          <p:cNvSpPr txBox="1"/>
          <p:nvPr/>
        </p:nvSpPr>
        <p:spPr>
          <a:xfrm>
            <a:off x="777240" y="4297679"/>
            <a:ext cx="457200" cy="182880"/>
          </a:xfrm>
          <a:prstGeom prst="rect">
            <a:avLst/>
          </a:prstGeom>
          <a:noFill/>
        </p:spPr>
        <p:txBody>
          <a:bodyPr wrap="square" lIns="0" tIns="0" rIns="0" bIns="0" anchor="t">
            <a:spAutoFit/>
          </a:bodyPr>
          <a:lstStyle/>
          <a:p>
            <a:pPr algn="l"/>
            <a:r>
              <a:rPr sz="1000" b="0">
                <a:solidFill>
                  <a:srgbClr val="6B7B8C"/>
                </a:solidFill>
                <a:latin typeface="JetBrains Mono"/>
              </a:rPr>
              <a:t>2024</a:t>
            </a:r>
          </a:p>
        </p:txBody>
      </p:sp>
      <p:sp>
        <p:nvSpPr>
          <p:cNvPr id="31" name="Rectangle 30"/>
          <p:cNvSpPr/>
          <p:nvPr/>
        </p:nvSpPr>
        <p:spPr>
          <a:xfrm>
            <a:off x="1325880" y="4334255"/>
            <a:ext cx="2743200" cy="118872"/>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206240" y="4297679"/>
            <a:ext cx="4114800" cy="182880"/>
          </a:xfrm>
          <a:prstGeom prst="rect">
            <a:avLst/>
          </a:prstGeom>
          <a:noFill/>
        </p:spPr>
        <p:txBody>
          <a:bodyPr wrap="square" lIns="0" tIns="0" rIns="0" bIns="0" anchor="t">
            <a:spAutoFit/>
          </a:bodyPr>
          <a:lstStyle/>
          <a:p>
            <a:pPr algn="l"/>
            <a:r>
              <a:rPr sz="1050" b="0">
                <a:solidFill>
                  <a:srgbClr val="0D1B2A"/>
                </a:solidFill>
                <a:latin typeface="Roboto"/>
              </a:rPr>
              <a:t>1,000,000+ tokens  ≈  1,500 pages</a:t>
            </a:r>
          </a:p>
        </p:txBody>
      </p:sp>
      <p:sp>
        <p:nvSpPr>
          <p:cNvPr id="33" name="Rectangle 32"/>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13232" y="4663440"/>
            <a:ext cx="7991856" cy="274320"/>
          </a:xfrm>
          <a:prstGeom prst="rect">
            <a:avLst/>
          </a:prstGeom>
          <a:noFill/>
        </p:spPr>
        <p:txBody>
          <a:bodyPr wrap="square" lIns="0" tIns="0" rIns="0" bIns="0" anchor="t">
            <a:spAutoFit/>
          </a:bodyPr>
          <a:lstStyle/>
          <a:p>
            <a:pPr algn="l"/>
            <a:r>
              <a:rPr sz="1200" b="0">
                <a:solidFill>
                  <a:srgbClr val="0D1B2A"/>
                </a:solidFill>
                <a:latin typeface="Roboto"/>
              </a:rPr>
              <a:t>Bigger windows help, but details buried deep in very long inputs can still be overlooked.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51435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329184"/>
            <a:ext cx="8138160" cy="274320"/>
          </a:xfrm>
          <a:prstGeom prst="rect">
            <a:avLst/>
          </a:prstGeom>
          <a:noFill/>
        </p:spPr>
        <p:txBody>
          <a:bodyPr wrap="square" lIns="0" tIns="0" rIns="0" bIns="0" anchor="t">
            <a:spAutoFit/>
          </a:bodyPr>
          <a:lstStyle/>
          <a:p>
            <a:pPr algn="l"/>
            <a:r>
              <a:rPr sz="1100" b="0" spc="300">
                <a:solidFill>
                  <a:srgbClr val="1B9AAA"/>
                </a:solidFill>
                <a:latin typeface="JetBrains Mono"/>
              </a:rPr>
              <a:t>WORKING WITH LLMS · HALLUCINATION</a:t>
            </a:r>
          </a:p>
        </p:txBody>
      </p:sp>
      <p:sp>
        <p:nvSpPr>
          <p:cNvPr id="4" name="slide-hallucination"/>
          <p:cNvSpPr txBox="1"/>
          <p:nvPr/>
        </p:nvSpPr>
        <p:spPr>
          <a:xfrm>
            <a:off x="566928" y="603504"/>
            <a:ext cx="8138160" cy="658368"/>
          </a:xfrm>
          <a:prstGeom prst="rect">
            <a:avLst/>
          </a:prstGeom>
          <a:noFill/>
        </p:spPr>
        <p:txBody>
          <a:bodyPr wrap="square" lIns="0" tIns="0" rIns="0" bIns="0" anchor="t">
            <a:spAutoFit/>
          </a:bodyPr>
          <a:lstStyle/>
          <a:p>
            <a:pPr algn="l"/>
            <a:r>
              <a:rPr sz="3200" b="0">
                <a:solidFill>
                  <a:srgbClr val="0D1B2A"/>
                </a:solidFill>
                <a:latin typeface="Oswald"/>
              </a:rPr>
              <a:t>Hallucination: fluent, confident and wrong</a:t>
            </a:r>
          </a:p>
        </p:txBody>
      </p:sp>
      <p:sp>
        <p:nvSpPr>
          <p:cNvPr id="5" name="TextBox 4"/>
          <p:cNvSpPr txBox="1"/>
          <p:nvPr/>
        </p:nvSpPr>
        <p:spPr>
          <a:xfrm>
            <a:off x="566928" y="1298448"/>
            <a:ext cx="8138160" cy="457200"/>
          </a:xfrm>
          <a:prstGeom prst="rect">
            <a:avLst/>
          </a:prstGeom>
          <a:noFill/>
        </p:spPr>
        <p:txBody>
          <a:bodyPr wrap="square" lIns="0" tIns="0" rIns="0" bIns="0" anchor="t">
            <a:spAutoFit/>
          </a:bodyPr>
          <a:lstStyle/>
          <a:p>
            <a:pPr algn="l"/>
            <a:r>
              <a:rPr sz="1400" b="0">
                <a:solidFill>
                  <a:srgbClr val="14293D"/>
                </a:solidFill>
                <a:latin typeface="Roboto"/>
              </a:rPr>
              <a:t>An LLM writes likely-sounding text, not checked facts. When it doesn't know, it may make things up.</a:t>
            </a:r>
          </a:p>
        </p:txBody>
      </p:sp>
      <p:sp>
        <p:nvSpPr>
          <p:cNvPr id="6" name="Rectangle 5"/>
          <p:cNvSpPr/>
          <p:nvPr/>
        </p:nvSpPr>
        <p:spPr>
          <a:xfrm>
            <a:off x="566928" y="1783080"/>
            <a:ext cx="4846320" cy="2743200"/>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901952"/>
            <a:ext cx="4114800" cy="228600"/>
          </a:xfrm>
          <a:prstGeom prst="rect">
            <a:avLst/>
          </a:prstGeom>
          <a:noFill/>
        </p:spPr>
        <p:txBody>
          <a:bodyPr wrap="square" lIns="0" tIns="0" rIns="0" bIns="0" anchor="t">
            <a:spAutoFit/>
          </a:bodyPr>
          <a:lstStyle/>
          <a:p>
            <a:pPr algn="l"/>
            <a:r>
              <a:rPr sz="950" b="0" spc="100">
                <a:solidFill>
                  <a:srgbClr val="6B7B8C"/>
                </a:solidFill>
                <a:latin typeface="JetBrains Mono"/>
              </a:rPr>
              <a:t>EXAMPLE (INVENTED FOR ILLUSTRATION)</a:t>
            </a:r>
          </a:p>
        </p:txBody>
      </p:sp>
      <p:sp>
        <p:nvSpPr>
          <p:cNvPr id="8" name="Rounded Rectangle 7"/>
          <p:cNvSpPr/>
          <p:nvPr/>
        </p:nvSpPr>
        <p:spPr>
          <a:xfrm>
            <a:off x="2331720" y="2194560"/>
            <a:ext cx="2880360" cy="502920"/>
          </a:xfrm>
          <a:prstGeom prst="roundRect">
            <a:avLst>
              <a:gd name="adj" fmla="val 18000"/>
            </a:avLst>
          </a:prstGeom>
          <a:solidFill>
            <a:srgbClr val="1429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487168" y="2249424"/>
            <a:ext cx="2606040" cy="411480"/>
          </a:xfrm>
          <a:prstGeom prst="rect">
            <a:avLst/>
          </a:prstGeom>
          <a:noFill/>
        </p:spPr>
        <p:txBody>
          <a:bodyPr wrap="square" lIns="0" tIns="0" rIns="0" bIns="0" anchor="ctr">
            <a:spAutoFit/>
          </a:bodyPr>
          <a:lstStyle/>
          <a:p>
            <a:pPr algn="l"/>
            <a:r>
              <a:rPr sz="1050" b="0">
                <a:solidFill>
                  <a:srgbClr val="FFFFFF"/>
                </a:solidFill>
                <a:latin typeface="Roboto"/>
              </a:rPr>
              <a:t>Summarize the 2019 Hartmann &amp; Lindqvist study on remote work.</a:t>
            </a:r>
          </a:p>
        </p:txBody>
      </p:sp>
      <p:sp>
        <p:nvSpPr>
          <p:cNvPr id="10" name="Rounded Rectangle 9"/>
          <p:cNvSpPr/>
          <p:nvPr/>
        </p:nvSpPr>
        <p:spPr>
          <a:xfrm>
            <a:off x="777240" y="2834640"/>
            <a:ext cx="3566160" cy="960120"/>
          </a:xfrm>
          <a:prstGeom prst="roundRect">
            <a:avLst>
              <a:gd name="adj" fmla="val 18000"/>
            </a:avLst>
          </a:prstGeom>
          <a:solidFill>
            <a:srgbClr val="D4E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2907792"/>
            <a:ext cx="3291840" cy="822960"/>
          </a:xfrm>
          <a:prstGeom prst="rect">
            <a:avLst/>
          </a:prstGeom>
          <a:noFill/>
        </p:spPr>
        <p:txBody>
          <a:bodyPr wrap="square" lIns="0" tIns="0" rIns="0" bIns="0" anchor="ctr">
            <a:spAutoFit/>
          </a:bodyPr>
          <a:lstStyle/>
          <a:p>
            <a:pPr algn="l"/>
            <a:r>
              <a:rPr sz="1050" b="0">
                <a:solidFill>
                  <a:srgbClr val="0D1B2A"/>
                </a:solidFill>
                <a:latin typeface="Roboto"/>
              </a:rPr>
              <a:t>Hartmann &amp; Lindqvist (2019) surveyed 2,400 employees and found that productivity rose by 13% when working from home …</a:t>
            </a:r>
          </a:p>
        </p:txBody>
      </p:sp>
      <p:sp>
        <p:nvSpPr>
          <p:cNvPr id="12" name="Rounded Rectangle 11"/>
          <p:cNvSpPr/>
          <p:nvPr/>
        </p:nvSpPr>
        <p:spPr>
          <a:xfrm>
            <a:off x="2651760" y="3931920"/>
            <a:ext cx="2331720" cy="310896"/>
          </a:xfrm>
          <a:prstGeom prst="roundRect">
            <a:avLst>
              <a:gd name="adj" fmla="val 1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00">
                <a:solidFill>
                  <a:srgbClr val="06D6A0"/>
                </a:solidFill>
                <a:latin typeface="JetBrains Mono"/>
              </a:rPr>
              <a:t>This study does not exist</a:t>
            </a:r>
          </a:p>
        </p:txBody>
      </p:sp>
      <p:sp>
        <p:nvSpPr>
          <p:cNvPr id="13" name="TextBox 12"/>
          <p:cNvSpPr txBox="1"/>
          <p:nvPr/>
        </p:nvSpPr>
        <p:spPr>
          <a:xfrm>
            <a:off x="777240" y="3913632"/>
            <a:ext cx="1783080" cy="457200"/>
          </a:xfrm>
          <a:prstGeom prst="rect">
            <a:avLst/>
          </a:prstGeom>
          <a:noFill/>
        </p:spPr>
        <p:txBody>
          <a:bodyPr wrap="square" lIns="0" tIns="0" rIns="0" bIns="0" anchor="t">
            <a:spAutoFit/>
          </a:bodyPr>
          <a:lstStyle/>
          <a:p>
            <a:pPr algn="l"/>
            <a:r>
              <a:rPr sz="1000" b="0">
                <a:solidFill>
                  <a:srgbClr val="6B7B8C"/>
                </a:solidFill>
                <a:latin typeface="Roboto"/>
              </a:rPr>
              <a:t>Names, numbers, sources:</a:t>
            </a:r>
          </a:p>
          <a:p>
            <a:pPr algn="l"/>
            <a:r>
              <a:rPr sz="1000" b="0">
                <a:solidFill>
                  <a:srgbClr val="6B7B8C"/>
                </a:solidFill>
                <a:latin typeface="Roboto"/>
              </a:rPr>
              <a:t>all made up.</a:t>
            </a:r>
          </a:p>
        </p:txBody>
      </p:sp>
      <p:sp>
        <p:nvSpPr>
          <p:cNvPr id="14" name="Rectangle 13"/>
          <p:cNvSpPr/>
          <p:nvPr/>
        </p:nvSpPr>
        <p:spPr>
          <a:xfrm>
            <a:off x="5623560" y="1783080"/>
            <a:ext cx="308152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23560" y="1783080"/>
            <a:ext cx="54864" cy="1298448"/>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52160" y="1901952"/>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WHY IT HAPPENS</a:t>
            </a:r>
          </a:p>
        </p:txBody>
      </p:sp>
      <p:sp>
        <p:nvSpPr>
          <p:cNvPr id="17" name="TextBox 16"/>
          <p:cNvSpPr txBox="1"/>
          <p:nvPr/>
        </p:nvSpPr>
        <p:spPr>
          <a:xfrm>
            <a:off x="5852160" y="2148840"/>
            <a:ext cx="2715768" cy="868680"/>
          </a:xfrm>
          <a:prstGeom prst="rect">
            <a:avLst/>
          </a:prstGeom>
          <a:noFill/>
        </p:spPr>
        <p:txBody>
          <a:bodyPr wrap="square" lIns="0" tIns="0" rIns="0" bIns="0" anchor="t">
            <a:spAutoFit/>
          </a:bodyPr>
          <a:lstStyle/>
          <a:p>
            <a:pPr algn="l"/>
            <a:r>
              <a:rPr sz="1100" b="0">
                <a:solidFill>
                  <a:srgbClr val="14293D"/>
                </a:solidFill>
                <a:latin typeface="Roboto"/>
              </a:rPr>
              <a:t>The model always writes the most likely next token. It has no built-in fact check, and plausible is not the same as true.</a:t>
            </a:r>
          </a:p>
        </p:txBody>
      </p:sp>
      <p:sp>
        <p:nvSpPr>
          <p:cNvPr id="18" name="Rectangle 17"/>
          <p:cNvSpPr/>
          <p:nvPr/>
        </p:nvSpPr>
        <p:spPr>
          <a:xfrm>
            <a:off x="5623560" y="3227832"/>
            <a:ext cx="3081528" cy="1298448"/>
          </a:xfrm>
          <a:prstGeom prst="rect">
            <a:avLst/>
          </a:prstGeom>
          <a:solidFill>
            <a:srgbClr val="FFFFFF"/>
          </a:solidFill>
          <a:ln w="9525">
            <a:solidFill>
              <a:srgbClr val="DD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23560" y="3227832"/>
            <a:ext cx="54864" cy="1298448"/>
          </a:xfrm>
          <a:prstGeom prst="rect">
            <a:avLst/>
          </a:prstGeom>
          <a:solidFill>
            <a:srgbClr val="06D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852160" y="3346704"/>
            <a:ext cx="3657600" cy="228600"/>
          </a:xfrm>
          <a:prstGeom prst="rect">
            <a:avLst/>
          </a:prstGeom>
          <a:noFill/>
        </p:spPr>
        <p:txBody>
          <a:bodyPr wrap="square" lIns="0" tIns="0" rIns="0" bIns="0" anchor="t">
            <a:spAutoFit/>
          </a:bodyPr>
          <a:lstStyle/>
          <a:p>
            <a:pPr algn="l"/>
            <a:r>
              <a:rPr sz="950" b="0" spc="100">
                <a:solidFill>
                  <a:srgbClr val="1B9AAA"/>
                </a:solidFill>
                <a:latin typeface="JetBrains Mono"/>
              </a:rPr>
              <a:t>WHAT HELPS</a:t>
            </a:r>
          </a:p>
        </p:txBody>
      </p:sp>
      <p:sp>
        <p:nvSpPr>
          <p:cNvPr id="21" name="TextBox 20"/>
          <p:cNvSpPr txBox="1"/>
          <p:nvPr/>
        </p:nvSpPr>
        <p:spPr>
          <a:xfrm>
            <a:off x="5852160" y="3593592"/>
            <a:ext cx="2715768" cy="868680"/>
          </a:xfrm>
          <a:prstGeom prst="rect">
            <a:avLst/>
          </a:prstGeom>
          <a:noFill/>
        </p:spPr>
        <p:txBody>
          <a:bodyPr wrap="square" lIns="0" tIns="0" rIns="0" bIns="0" anchor="t">
            <a:spAutoFit/>
          </a:bodyPr>
          <a:lstStyle/>
          <a:p>
            <a:pPr algn="l"/>
            <a:r>
              <a:rPr sz="1100" b="0" dirty="0">
                <a:solidFill>
                  <a:srgbClr val="14293D"/>
                </a:solidFill>
                <a:latin typeface="Roboto"/>
              </a:rPr>
              <a:t>• Give it the source documents (RAG, later in this talk)</a:t>
            </a:r>
          </a:p>
          <a:p>
            <a:pPr algn="l"/>
            <a:r>
              <a:rPr sz="1100" b="0" dirty="0">
                <a:solidFill>
                  <a:srgbClr val="14293D"/>
                </a:solidFill>
                <a:latin typeface="Roboto"/>
              </a:rPr>
              <a:t>• Ask for sources, then check them</a:t>
            </a:r>
          </a:p>
          <a:p>
            <a:pPr algn="l"/>
            <a:r>
              <a:rPr sz="1100" b="0" dirty="0">
                <a:solidFill>
                  <a:srgbClr val="14293D"/>
                </a:solidFill>
                <a:latin typeface="Roboto"/>
              </a:rPr>
              <a:t>• Treat every answer as a first draft</a:t>
            </a:r>
          </a:p>
        </p:txBody>
      </p:sp>
      <p:sp>
        <p:nvSpPr>
          <p:cNvPr id="22" name="Rectangle 21"/>
          <p:cNvSpPr/>
          <p:nvPr/>
        </p:nvSpPr>
        <p:spPr>
          <a:xfrm>
            <a:off x="566928" y="4681727"/>
            <a:ext cx="45720" cy="21945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3232" y="4663440"/>
            <a:ext cx="7991856" cy="274320"/>
          </a:xfrm>
          <a:prstGeom prst="rect">
            <a:avLst/>
          </a:prstGeom>
          <a:noFill/>
        </p:spPr>
        <p:txBody>
          <a:bodyPr wrap="square" lIns="0" tIns="0" rIns="0" bIns="0" anchor="t">
            <a:spAutoFit/>
          </a:bodyPr>
          <a:lstStyle/>
          <a:p>
            <a:pPr algn="l"/>
            <a:r>
              <a:rPr sz="1200" b="0" dirty="0">
                <a:solidFill>
                  <a:srgbClr val="0D1B2A"/>
                </a:solidFill>
                <a:latin typeface="Roboto"/>
              </a:rPr>
              <a:t>You stay responsible for the facts, especially names, numbers and sources.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Oval 1"/>
          <p:cNvSpPr/>
          <p:nvPr/>
        </p:nvSpPr>
        <p:spPr>
          <a:xfrm>
            <a:off x="4572000" y="320040"/>
            <a:ext cx="4572000" cy="4572000"/>
          </a:xfrm>
          <a:prstGeom prst="ellipse">
            <a:avLst/>
          </a:prstGeom>
          <a:solidFill>
            <a:srgbClr val="1B9AAA">
              <a:alpha val="6000"/>
            </a:srgbClr>
          </a:solidFill>
          <a:ln w="63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309360" y="123444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5349240" y="1485900"/>
            <a:ext cx="96012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349240" y="148590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309360" y="123444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309360" y="1485900"/>
            <a:ext cx="96012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4859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228600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583680" y="2537460"/>
            <a:ext cx="68580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83680" y="25374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333756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715000" y="3589020"/>
            <a:ext cx="868680" cy="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715000" y="3589020"/>
            <a:ext cx="0" cy="251460"/>
          </a:xfrm>
          <a:prstGeom prst="line">
            <a:avLst/>
          </a:prstGeom>
          <a:ln w="9525">
            <a:solidFill>
              <a:srgbClr val="8FA6B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333756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589020"/>
            <a:ext cx="868680" cy="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452360" y="3589020"/>
            <a:ext cx="0" cy="251460"/>
          </a:xfrm>
          <a:prstGeom prst="line">
            <a:avLst/>
          </a:prstGeom>
          <a:ln w="25400">
            <a:solidFill>
              <a:srgbClr val="1B9AA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09360" y="1485900"/>
            <a:ext cx="219456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03920" y="148590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43900"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71916"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599932" y="192024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7269480" y="2537460"/>
            <a:ext cx="1234440" cy="0"/>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03920" y="2537460"/>
            <a:ext cx="0" cy="324612"/>
          </a:xfrm>
          <a:prstGeom prst="line">
            <a:avLst/>
          </a:prstGeom>
          <a:ln w="9525">
            <a:solidFill>
              <a:srgbClr val="8FA6B2"/>
            </a:solidFill>
            <a:prstDash val="dash"/>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43900"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471916"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99932" y="2971800"/>
            <a:ext cx="64008" cy="64008"/>
          </a:xfrm>
          <a:prstGeom prst="ellipse">
            <a:avLst/>
          </a:prstGeom>
          <a:solidFill>
            <a:srgbClr val="8FA6B2">
              <a:alpha val="100000"/>
            </a:srgbClr>
          </a:solidFill>
          <a:ln w="6350">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09260" y="68580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09260" y="749808"/>
            <a:ext cx="1600200" cy="274320"/>
          </a:xfrm>
          <a:prstGeom prst="rect">
            <a:avLst/>
          </a:prstGeom>
          <a:noFill/>
        </p:spPr>
        <p:txBody>
          <a:bodyPr wrap="square" lIns="0" tIns="0" rIns="0" bIns="0" anchor="t">
            <a:spAutoFit/>
          </a:bodyPr>
          <a:lstStyle/>
          <a:p>
            <a:pPr algn="ctr"/>
            <a:r>
              <a:rPr sz="1300" b="0">
                <a:solidFill>
                  <a:srgbClr val="FFFFFF"/>
                </a:solidFill>
                <a:latin typeface="Oswald"/>
              </a:rPr>
              <a:t>Artificial Intelligence</a:t>
            </a:r>
          </a:p>
        </p:txBody>
      </p:sp>
      <p:sp>
        <p:nvSpPr>
          <p:cNvPr id="30" name="TextBox 29"/>
          <p:cNvSpPr txBox="1"/>
          <p:nvPr/>
        </p:nvSpPr>
        <p:spPr>
          <a:xfrm>
            <a:off x="5509260" y="101498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1955</a:t>
            </a:r>
          </a:p>
        </p:txBody>
      </p:sp>
      <p:sp>
        <p:nvSpPr>
          <p:cNvPr id="31" name="Rounded Rectangle 30"/>
          <p:cNvSpPr/>
          <p:nvPr/>
        </p:nvSpPr>
        <p:spPr>
          <a:xfrm>
            <a:off x="4549140" y="173736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49140" y="1801368"/>
            <a:ext cx="1600200" cy="274320"/>
          </a:xfrm>
          <a:prstGeom prst="rect">
            <a:avLst/>
          </a:prstGeom>
          <a:noFill/>
        </p:spPr>
        <p:txBody>
          <a:bodyPr wrap="square" lIns="0" tIns="0" rIns="0" bIns="0" anchor="t">
            <a:spAutoFit/>
          </a:bodyPr>
          <a:lstStyle/>
          <a:p>
            <a:pPr algn="ctr"/>
            <a:r>
              <a:rPr sz="1300" b="0">
                <a:solidFill>
                  <a:srgbClr val="8FA6B2"/>
                </a:solidFill>
                <a:latin typeface="Oswald"/>
              </a:rPr>
              <a:t>Rule-based AI</a:t>
            </a:r>
          </a:p>
        </p:txBody>
      </p:sp>
      <p:sp>
        <p:nvSpPr>
          <p:cNvPr id="33" name="TextBox 32"/>
          <p:cNvSpPr txBox="1"/>
          <p:nvPr/>
        </p:nvSpPr>
        <p:spPr>
          <a:xfrm>
            <a:off x="4549140" y="2066543"/>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1950s</a:t>
            </a:r>
          </a:p>
        </p:txBody>
      </p:sp>
      <p:sp>
        <p:nvSpPr>
          <p:cNvPr id="34" name="Rounded Rectangle 33"/>
          <p:cNvSpPr/>
          <p:nvPr/>
        </p:nvSpPr>
        <p:spPr>
          <a:xfrm>
            <a:off x="6469380" y="173736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69380" y="1801368"/>
            <a:ext cx="1600200" cy="274320"/>
          </a:xfrm>
          <a:prstGeom prst="rect">
            <a:avLst/>
          </a:prstGeom>
          <a:noFill/>
        </p:spPr>
        <p:txBody>
          <a:bodyPr wrap="square" lIns="0" tIns="0" rIns="0" bIns="0" anchor="t">
            <a:spAutoFit/>
          </a:bodyPr>
          <a:lstStyle/>
          <a:p>
            <a:pPr algn="ctr"/>
            <a:r>
              <a:rPr sz="1300" b="0">
                <a:solidFill>
                  <a:srgbClr val="FFFFFF"/>
                </a:solidFill>
                <a:latin typeface="Oswald"/>
              </a:rPr>
              <a:t>Machine Learning</a:t>
            </a:r>
          </a:p>
        </p:txBody>
      </p:sp>
      <p:sp>
        <p:nvSpPr>
          <p:cNvPr id="36" name="TextBox 35"/>
          <p:cNvSpPr txBox="1"/>
          <p:nvPr/>
        </p:nvSpPr>
        <p:spPr>
          <a:xfrm>
            <a:off x="6469380" y="206654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1959</a:t>
            </a:r>
          </a:p>
        </p:txBody>
      </p:sp>
      <p:sp>
        <p:nvSpPr>
          <p:cNvPr id="37" name="Rounded Rectangle 36"/>
          <p:cNvSpPr/>
          <p:nvPr/>
        </p:nvSpPr>
        <p:spPr>
          <a:xfrm>
            <a:off x="5783580" y="2788920"/>
            <a:ext cx="1600200" cy="548640"/>
          </a:xfrm>
          <a:prstGeom prst="roundRect">
            <a:avLst>
              <a:gd name="adj" fmla="val 18000"/>
            </a:avLst>
          </a:prstGeom>
          <a:solidFill>
            <a:srgbClr val="14293D"/>
          </a:solidFill>
          <a:ln w="1905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783580" y="2852927"/>
            <a:ext cx="1600200" cy="274320"/>
          </a:xfrm>
          <a:prstGeom prst="rect">
            <a:avLst/>
          </a:prstGeom>
          <a:noFill/>
        </p:spPr>
        <p:txBody>
          <a:bodyPr wrap="square" lIns="0" tIns="0" rIns="0" bIns="0" anchor="t">
            <a:spAutoFit/>
          </a:bodyPr>
          <a:lstStyle/>
          <a:p>
            <a:pPr algn="ctr"/>
            <a:r>
              <a:rPr sz="1300" b="0">
                <a:solidFill>
                  <a:srgbClr val="FFFFFF"/>
                </a:solidFill>
                <a:latin typeface="Oswald"/>
              </a:rPr>
              <a:t>Deep Learning</a:t>
            </a:r>
          </a:p>
        </p:txBody>
      </p:sp>
      <p:sp>
        <p:nvSpPr>
          <p:cNvPr id="39" name="TextBox 38"/>
          <p:cNvSpPr txBox="1"/>
          <p:nvPr/>
        </p:nvSpPr>
        <p:spPr>
          <a:xfrm>
            <a:off x="5783580" y="3118103"/>
            <a:ext cx="1600200" cy="182880"/>
          </a:xfrm>
          <a:prstGeom prst="rect">
            <a:avLst/>
          </a:prstGeom>
          <a:noFill/>
        </p:spPr>
        <p:txBody>
          <a:bodyPr wrap="square" lIns="0" tIns="0" rIns="0" bIns="0" anchor="t">
            <a:spAutoFit/>
          </a:bodyPr>
          <a:lstStyle/>
          <a:p>
            <a:pPr algn="ctr"/>
            <a:r>
              <a:rPr sz="850" b="0" spc="100">
                <a:solidFill>
                  <a:srgbClr val="1B9AAA"/>
                </a:solidFill>
                <a:latin typeface="JetBrains Mono"/>
              </a:rPr>
              <a:t>2012</a:t>
            </a:r>
          </a:p>
        </p:txBody>
      </p:sp>
      <p:sp>
        <p:nvSpPr>
          <p:cNvPr id="40" name="Rounded Rectangle 39"/>
          <p:cNvSpPr/>
          <p:nvPr/>
        </p:nvSpPr>
        <p:spPr>
          <a:xfrm>
            <a:off x="4914900" y="3840480"/>
            <a:ext cx="1600200" cy="548640"/>
          </a:xfrm>
          <a:prstGeom prst="roundRect">
            <a:avLst>
              <a:gd name="adj" fmla="val 18000"/>
            </a:avLst>
          </a:prstGeom>
          <a:solidFill>
            <a:srgbClr val="0D1B2A"/>
          </a:solidFill>
          <a:ln w="9525">
            <a:solidFill>
              <a:srgbClr val="8FA6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914900" y="3904488"/>
            <a:ext cx="1600200" cy="274320"/>
          </a:xfrm>
          <a:prstGeom prst="rect">
            <a:avLst/>
          </a:prstGeom>
          <a:noFill/>
        </p:spPr>
        <p:txBody>
          <a:bodyPr wrap="square" lIns="0" tIns="0" rIns="0" bIns="0" anchor="t">
            <a:spAutoFit/>
          </a:bodyPr>
          <a:lstStyle/>
          <a:p>
            <a:pPr algn="ctr"/>
            <a:r>
              <a:rPr sz="1300" b="0">
                <a:solidFill>
                  <a:srgbClr val="8FA6B2"/>
                </a:solidFill>
                <a:latin typeface="Oswald"/>
              </a:rPr>
              <a:t>Generative AI</a:t>
            </a:r>
          </a:p>
        </p:txBody>
      </p:sp>
      <p:sp>
        <p:nvSpPr>
          <p:cNvPr id="42" name="TextBox 41"/>
          <p:cNvSpPr txBox="1"/>
          <p:nvPr/>
        </p:nvSpPr>
        <p:spPr>
          <a:xfrm>
            <a:off x="4914900" y="4169664"/>
            <a:ext cx="1600200" cy="182880"/>
          </a:xfrm>
          <a:prstGeom prst="rect">
            <a:avLst/>
          </a:prstGeom>
          <a:noFill/>
        </p:spPr>
        <p:txBody>
          <a:bodyPr wrap="square" lIns="0" tIns="0" rIns="0" bIns="0" anchor="t">
            <a:spAutoFit/>
          </a:bodyPr>
          <a:lstStyle/>
          <a:p>
            <a:pPr algn="ctr"/>
            <a:r>
              <a:rPr sz="850" b="0" spc="100">
                <a:solidFill>
                  <a:srgbClr val="8FA6B2"/>
                </a:solidFill>
                <a:latin typeface="JetBrains Mono"/>
              </a:rPr>
              <a:t>2018</a:t>
            </a:r>
          </a:p>
        </p:txBody>
      </p:sp>
      <p:sp>
        <p:nvSpPr>
          <p:cNvPr id="43" name="Rounded Rectangle 42"/>
          <p:cNvSpPr/>
          <p:nvPr/>
        </p:nvSpPr>
        <p:spPr>
          <a:xfrm>
            <a:off x="6652260" y="3840480"/>
            <a:ext cx="1600200" cy="548640"/>
          </a:xfrm>
          <a:prstGeom prst="roundRect">
            <a:avLst>
              <a:gd name="adj" fmla="val 18000"/>
            </a:avLst>
          </a:prstGeom>
          <a:solidFill>
            <a:srgbClr val="06D6A0"/>
          </a:solidFill>
          <a:ln w="19050">
            <a:solidFill>
              <a:srgbClr val="06D6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652260" y="3904488"/>
            <a:ext cx="1600200" cy="274320"/>
          </a:xfrm>
          <a:prstGeom prst="rect">
            <a:avLst/>
          </a:prstGeom>
          <a:noFill/>
        </p:spPr>
        <p:txBody>
          <a:bodyPr wrap="square" lIns="0" tIns="0" rIns="0" bIns="0" anchor="t">
            <a:spAutoFit/>
          </a:bodyPr>
          <a:lstStyle/>
          <a:p>
            <a:pPr algn="ctr"/>
            <a:r>
              <a:rPr sz="1300" b="0">
                <a:solidFill>
                  <a:srgbClr val="0D1B2A"/>
                </a:solidFill>
                <a:latin typeface="Oswald"/>
              </a:rPr>
              <a:t>Agentic AI</a:t>
            </a:r>
          </a:p>
        </p:txBody>
      </p:sp>
      <p:sp>
        <p:nvSpPr>
          <p:cNvPr id="45" name="TextBox 44"/>
          <p:cNvSpPr txBox="1"/>
          <p:nvPr/>
        </p:nvSpPr>
        <p:spPr>
          <a:xfrm>
            <a:off x="6652260" y="4169664"/>
            <a:ext cx="1600200" cy="182880"/>
          </a:xfrm>
          <a:prstGeom prst="rect">
            <a:avLst/>
          </a:prstGeom>
          <a:noFill/>
        </p:spPr>
        <p:txBody>
          <a:bodyPr wrap="square" lIns="0" tIns="0" rIns="0" bIns="0" anchor="t">
            <a:spAutoFit/>
          </a:bodyPr>
          <a:lstStyle/>
          <a:p>
            <a:pPr algn="ctr"/>
            <a:r>
              <a:rPr sz="850" b="0" spc="100">
                <a:solidFill>
                  <a:srgbClr val="0D1B2A"/>
                </a:solidFill>
                <a:latin typeface="JetBrains Mono"/>
              </a:rPr>
              <a:t>2024</a:t>
            </a:r>
          </a:p>
        </p:txBody>
      </p:sp>
      <p:sp>
        <p:nvSpPr>
          <p:cNvPr id="46" name="TextBox 45"/>
          <p:cNvSpPr txBox="1"/>
          <p:nvPr/>
        </p:nvSpPr>
        <p:spPr>
          <a:xfrm>
            <a:off x="731520" y="960120"/>
            <a:ext cx="3657600" cy="274320"/>
          </a:xfrm>
          <a:prstGeom prst="rect">
            <a:avLst/>
          </a:prstGeom>
          <a:noFill/>
        </p:spPr>
        <p:txBody>
          <a:bodyPr wrap="square" lIns="0" tIns="0" rIns="0" bIns="0" anchor="t">
            <a:spAutoFit/>
          </a:bodyPr>
          <a:lstStyle/>
          <a:p>
            <a:pPr algn="l"/>
            <a:r>
              <a:rPr sz="1100" b="0" spc="300">
                <a:solidFill>
                  <a:srgbClr val="06D6A0"/>
                </a:solidFill>
                <a:latin typeface="JetBrains Mono"/>
              </a:rPr>
              <a:t>PART 5 OF 5 · SINCE 2024</a:t>
            </a:r>
          </a:p>
        </p:txBody>
      </p:sp>
      <p:sp>
        <p:nvSpPr>
          <p:cNvPr id="47" name="section-agentic"/>
          <p:cNvSpPr txBox="1"/>
          <p:nvPr/>
        </p:nvSpPr>
        <p:spPr>
          <a:xfrm>
            <a:off x="731520" y="1234440"/>
            <a:ext cx="3657600" cy="1554480"/>
          </a:xfrm>
          <a:prstGeom prst="rect">
            <a:avLst/>
          </a:prstGeom>
          <a:noFill/>
        </p:spPr>
        <p:txBody>
          <a:bodyPr wrap="square" lIns="0" tIns="0" rIns="0" bIns="0" anchor="t">
            <a:spAutoFit/>
          </a:bodyPr>
          <a:lstStyle/>
          <a:p>
            <a:pPr algn="l"/>
            <a:r>
              <a:rPr sz="4800" b="0">
                <a:solidFill>
                  <a:srgbClr val="FFFFFF"/>
                </a:solidFill>
                <a:latin typeface="Oswald"/>
              </a:rPr>
              <a:t>Agentic</a:t>
            </a:r>
          </a:p>
          <a:p>
            <a:pPr algn="l"/>
            <a:r>
              <a:rPr sz="4800" b="0">
                <a:solidFill>
                  <a:srgbClr val="FFFFFF"/>
                </a:solidFill>
                <a:latin typeface="Oswald"/>
              </a:rPr>
              <a:t>AI</a:t>
            </a:r>
          </a:p>
        </p:txBody>
      </p:sp>
      <p:sp>
        <p:nvSpPr>
          <p:cNvPr id="48" name="TextBox 47"/>
          <p:cNvSpPr txBox="1"/>
          <p:nvPr/>
        </p:nvSpPr>
        <p:spPr>
          <a:xfrm>
            <a:off x="731520" y="2834640"/>
            <a:ext cx="3566160" cy="502920"/>
          </a:xfrm>
          <a:prstGeom prst="rect">
            <a:avLst/>
          </a:prstGeom>
          <a:noFill/>
        </p:spPr>
        <p:txBody>
          <a:bodyPr wrap="square" lIns="0" tIns="0" rIns="0" bIns="0" anchor="t">
            <a:spAutoFit/>
          </a:bodyPr>
          <a:lstStyle/>
          <a:p>
            <a:pPr algn="l"/>
            <a:r>
              <a:rPr sz="1400" b="0">
                <a:solidFill>
                  <a:srgbClr val="AFC2CE"/>
                </a:solidFill>
                <a:latin typeface="Roboto"/>
              </a:rPr>
              <a:t>AI that doesn't just answer, but plans, uses tools and acts toward a goal.</a:t>
            </a:r>
          </a:p>
        </p:txBody>
      </p:sp>
      <p:sp>
        <p:nvSpPr>
          <p:cNvPr id="49" name="Rectangle 48"/>
          <p:cNvSpPr/>
          <p:nvPr/>
        </p:nvSpPr>
        <p:spPr>
          <a:xfrm>
            <a:off x="731520" y="3520440"/>
            <a:ext cx="822960" cy="41148"/>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1520" y="3675887"/>
            <a:ext cx="2743200" cy="228600"/>
          </a:xfrm>
          <a:prstGeom prst="rect">
            <a:avLst/>
          </a:prstGeom>
          <a:noFill/>
        </p:spPr>
        <p:txBody>
          <a:bodyPr wrap="square" lIns="0" tIns="0" rIns="0" bIns="0" anchor="t">
            <a:spAutoFit/>
          </a:bodyPr>
          <a:lstStyle/>
          <a:p>
            <a:pPr algn="l"/>
            <a:r>
              <a:rPr sz="900" b="0" spc="100">
                <a:solidFill>
                  <a:srgbClr val="8FA6B2"/>
                </a:solidFill>
                <a:latin typeface="JetBrains Mono"/>
              </a:rPr>
              <a:t>IN THIS PART</a:t>
            </a:r>
          </a:p>
        </p:txBody>
      </p:sp>
      <p:sp>
        <p:nvSpPr>
          <p:cNvPr id="51" name="TextBox 50"/>
          <p:cNvSpPr txBox="1"/>
          <p:nvPr/>
        </p:nvSpPr>
        <p:spPr>
          <a:xfrm>
            <a:off x="731520" y="3904487"/>
            <a:ext cx="3566160" cy="640080"/>
          </a:xfrm>
          <a:prstGeom prst="rect">
            <a:avLst/>
          </a:prstGeom>
          <a:noFill/>
        </p:spPr>
        <p:txBody>
          <a:bodyPr wrap="square" lIns="0" tIns="0" rIns="0" bIns="0" anchor="t">
            <a:spAutoFit/>
          </a:bodyPr>
          <a:lstStyle/>
          <a:p>
            <a:pPr algn="l"/>
            <a:r>
              <a:rPr sz="1100" b="0">
                <a:solidFill>
                  <a:srgbClr val="AFC2CE"/>
                </a:solidFill>
                <a:latin typeface="Roboto"/>
              </a:rPr>
              <a:t>Chatbot vs. agent · What an agent is made of · RAG · Tool use · MCP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3">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THE SHIFT</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Passive response, active problem-solving</a:t>
            </a:r>
            <a:endParaRPr lang="en-US" sz="3200" dirty="0"/>
          </a:p>
        </p:txBody>
      </p:sp>
      <p:sp>
        <p:nvSpPr>
          <p:cNvPr id="5" name="Text 3"/>
          <p:cNvSpPr/>
          <p:nvPr/>
        </p:nvSpPr>
        <p:spPr>
          <a:xfrm>
            <a:off x="566928" y="1371600"/>
            <a:ext cx="8138160" cy="292608"/>
          </a:xfrm>
          <a:prstGeom prst="rect">
            <a:avLst/>
          </a:prstGeom>
          <a:noFill/>
          <a:ln/>
        </p:spPr>
        <p:txBody>
          <a:bodyPr wrap="square" lIns="0" tIns="0" rIns="0" bIns="0" rtlCol="0" anchor="ctr"/>
          <a:lstStyle/>
          <a:p>
            <a:pPr marL="0" indent="0">
              <a:buNone/>
            </a:pPr>
            <a:r>
              <a:rPr lang="en-US" sz="1400" dirty="0">
                <a:solidFill>
                  <a:srgbClr val="14293D"/>
                </a:solidFill>
                <a:latin typeface="Roboto" pitchFamily="34" charset="0"/>
                <a:ea typeface="Roboto" pitchFamily="34" charset="-122"/>
                <a:cs typeface="Roboto" pitchFamily="34" charset="-120"/>
              </a:rPr>
              <a:t>LLMs generate text and answer queries. Agents add autonomy and goal-oriented action.</a:t>
            </a:r>
            <a:endParaRPr lang="en-US" sz="1400" dirty="0"/>
          </a:p>
        </p:txBody>
      </p:sp>
      <p:sp>
        <p:nvSpPr>
          <p:cNvPr id="6" name="Shape 4"/>
          <p:cNvSpPr/>
          <p:nvPr/>
        </p:nvSpPr>
        <p:spPr>
          <a:xfrm>
            <a:off x="566928" y="1828800"/>
            <a:ext cx="3931920" cy="420624"/>
          </a:xfrm>
          <a:prstGeom prst="rect">
            <a:avLst/>
          </a:prstGeom>
          <a:solidFill>
            <a:srgbClr val="14293D"/>
          </a:solidFill>
          <a:ln/>
        </p:spPr>
        <p:txBody>
          <a:bodyPr/>
          <a:lstStyle/>
          <a:p>
            <a:endParaRPr lang="en-US"/>
          </a:p>
        </p:txBody>
      </p:sp>
      <p:sp>
        <p:nvSpPr>
          <p:cNvPr id="7" name="Text 5"/>
          <p:cNvSpPr/>
          <p:nvPr/>
        </p:nvSpPr>
        <p:spPr>
          <a:xfrm>
            <a:off x="786384" y="1901952"/>
            <a:ext cx="3566160" cy="274320"/>
          </a:xfrm>
          <a:prstGeom prst="rect">
            <a:avLst/>
          </a:prstGeom>
          <a:noFill/>
          <a:ln/>
        </p:spPr>
        <p:txBody>
          <a:bodyPr wrap="square" lIns="0" tIns="0" rIns="0" bIns="0" rtlCol="0" anchor="ctr"/>
          <a:lstStyle/>
          <a:p>
            <a:pPr marL="0" indent="0">
              <a:buNone/>
            </a:pPr>
            <a:r>
              <a:rPr lang="en-US" sz="1500" dirty="0">
                <a:solidFill>
                  <a:srgbClr val="FFFFFF"/>
                </a:solidFill>
                <a:latin typeface="Oswald" pitchFamily="34" charset="0"/>
                <a:ea typeface="Oswald" pitchFamily="34" charset="-122"/>
                <a:cs typeface="Oswald" pitchFamily="34" charset="-120"/>
              </a:rPr>
              <a:t>Generative AI chatbot</a:t>
            </a:r>
            <a:endParaRPr lang="en-US" sz="1500" dirty="0"/>
          </a:p>
        </p:txBody>
      </p:sp>
      <p:sp>
        <p:nvSpPr>
          <p:cNvPr id="8" name="Text 6"/>
          <p:cNvSpPr/>
          <p:nvPr/>
        </p:nvSpPr>
        <p:spPr>
          <a:xfrm>
            <a:off x="868680" y="2377440"/>
            <a:ext cx="338328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Prompt  →</a:t>
            </a:r>
            <a:endParaRPr lang="en-US" sz="1100" dirty="0"/>
          </a:p>
        </p:txBody>
      </p:sp>
      <p:sp>
        <p:nvSpPr>
          <p:cNvPr id="9" name="Text 7"/>
          <p:cNvSpPr/>
          <p:nvPr/>
        </p:nvSpPr>
        <p:spPr>
          <a:xfrm>
            <a:off x="868680" y="2761488"/>
            <a:ext cx="3383280" cy="274320"/>
          </a:xfrm>
          <a:prstGeom prst="rect">
            <a:avLst/>
          </a:prstGeom>
          <a:noFill/>
          <a:ln/>
        </p:spPr>
        <p:txBody>
          <a:bodyPr wrap="square" lIns="0" tIns="0" rIns="0" bIns="0" rtlCol="0" anchor="ctr"/>
          <a:lstStyle/>
          <a:p>
            <a:pPr marL="0" indent="0">
              <a:buNone/>
            </a:pPr>
            <a:r>
              <a:rPr lang="en-US" sz="1100" dirty="0">
                <a:solidFill>
                  <a:srgbClr val="6B7B8C"/>
                </a:solidFill>
                <a:latin typeface="JetBrains Mono" pitchFamily="34" charset="0"/>
                <a:ea typeface="JetBrains Mono" pitchFamily="34" charset="-122"/>
                <a:cs typeface="JetBrains Mono" pitchFamily="34" charset="-120"/>
              </a:rPr>
              <a:t>Answer  ←</a:t>
            </a:r>
            <a:endParaRPr lang="en-US" sz="1100" dirty="0"/>
          </a:p>
        </p:txBody>
      </p:sp>
      <p:sp>
        <p:nvSpPr>
          <p:cNvPr id="10" name="Text 8"/>
          <p:cNvSpPr/>
          <p:nvPr/>
        </p:nvSpPr>
        <p:spPr>
          <a:xfrm>
            <a:off x="868680" y="3145536"/>
            <a:ext cx="338328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Prompt  →</a:t>
            </a:r>
            <a:endParaRPr lang="en-US" sz="1100" dirty="0"/>
          </a:p>
        </p:txBody>
      </p:sp>
      <p:sp>
        <p:nvSpPr>
          <p:cNvPr id="11" name="Text 9"/>
          <p:cNvSpPr/>
          <p:nvPr/>
        </p:nvSpPr>
        <p:spPr>
          <a:xfrm>
            <a:off x="868680" y="3529584"/>
            <a:ext cx="3383280" cy="274320"/>
          </a:xfrm>
          <a:prstGeom prst="rect">
            <a:avLst/>
          </a:prstGeom>
          <a:noFill/>
          <a:ln/>
        </p:spPr>
        <p:txBody>
          <a:bodyPr wrap="square" lIns="0" tIns="0" rIns="0" bIns="0" rtlCol="0" anchor="ctr"/>
          <a:lstStyle/>
          <a:p>
            <a:pPr marL="0" indent="0">
              <a:buNone/>
            </a:pPr>
            <a:r>
              <a:rPr lang="en-US" sz="1100" dirty="0">
                <a:solidFill>
                  <a:srgbClr val="6B7B8C"/>
                </a:solidFill>
                <a:latin typeface="JetBrains Mono" pitchFamily="34" charset="0"/>
                <a:ea typeface="JetBrains Mono" pitchFamily="34" charset="-122"/>
                <a:cs typeface="JetBrains Mono" pitchFamily="34" charset="-120"/>
              </a:rPr>
              <a:t>Answer  ←</a:t>
            </a:r>
            <a:endParaRPr lang="en-US" sz="1100" dirty="0"/>
          </a:p>
        </p:txBody>
      </p:sp>
      <p:sp>
        <p:nvSpPr>
          <p:cNvPr id="12" name="Shape 10"/>
          <p:cNvSpPr/>
          <p:nvPr/>
        </p:nvSpPr>
        <p:spPr>
          <a:xfrm>
            <a:off x="566928" y="4023360"/>
            <a:ext cx="3931920" cy="777240"/>
          </a:xfrm>
          <a:prstGeom prst="rect">
            <a:avLst/>
          </a:prstGeom>
          <a:solidFill>
            <a:srgbClr val="FFFFFF"/>
          </a:solidFill>
          <a:ln w="9525">
            <a:solidFill>
              <a:srgbClr val="DDE5E9"/>
            </a:solidFill>
            <a:prstDash val="solid"/>
          </a:ln>
        </p:spPr>
        <p:txBody>
          <a:bodyPr/>
          <a:lstStyle/>
          <a:p>
            <a:endParaRPr lang="en-US"/>
          </a:p>
        </p:txBody>
      </p:sp>
      <p:sp>
        <p:nvSpPr>
          <p:cNvPr id="13" name="Text 11"/>
          <p:cNvSpPr/>
          <p:nvPr/>
        </p:nvSpPr>
        <p:spPr>
          <a:xfrm>
            <a:off x="786384" y="4133088"/>
            <a:ext cx="3520440" cy="384048"/>
          </a:xfrm>
          <a:prstGeom prst="rect">
            <a:avLst/>
          </a:prstGeom>
          <a:noFill/>
          <a:ln/>
        </p:spPr>
        <p:txBody>
          <a:bodyPr wrap="square" lIns="0" tIns="0" rIns="0" bIns="0" rtlCol="0" anchor="ctr"/>
          <a:lstStyle/>
          <a:p>
            <a:pPr marL="0" indent="0">
              <a:buNone/>
            </a:pPr>
            <a:r>
              <a:rPr lang="en-US" sz="1100" dirty="0">
                <a:solidFill>
                  <a:srgbClr val="14293D"/>
                </a:solidFill>
                <a:latin typeface="Roboto" pitchFamily="34" charset="0"/>
                <a:ea typeface="Roboto" pitchFamily="34" charset="-122"/>
                <a:cs typeface="Roboto" pitchFamily="34" charset="-120"/>
              </a:rPr>
              <a:t>A structured exchange that needs a human for every decision and every action.</a:t>
            </a:r>
            <a:endParaRPr lang="en-US" sz="1100" dirty="0"/>
          </a:p>
        </p:txBody>
      </p:sp>
      <p:sp>
        <p:nvSpPr>
          <p:cNvPr id="14" name="Text 12"/>
          <p:cNvSpPr/>
          <p:nvPr/>
        </p:nvSpPr>
        <p:spPr>
          <a:xfrm>
            <a:off x="786384" y="4517136"/>
            <a:ext cx="3520440" cy="237744"/>
          </a:xfrm>
          <a:prstGeom prst="rect">
            <a:avLst/>
          </a:prstGeom>
          <a:noFill/>
          <a:ln/>
        </p:spPr>
        <p:txBody>
          <a:bodyPr wrap="square" lIns="0" tIns="0" rIns="0" bIns="0" rtlCol="0" anchor="ctr"/>
          <a:lstStyle/>
          <a:p>
            <a:pPr marL="0" indent="0">
              <a:buNone/>
            </a:pPr>
            <a:r>
              <a:rPr lang="en-US" sz="950" dirty="0">
                <a:solidFill>
                  <a:srgbClr val="1B9AAA"/>
                </a:solidFill>
                <a:latin typeface="JetBrains Mono" pitchFamily="34" charset="0"/>
                <a:ea typeface="JetBrains Mono" pitchFamily="34" charset="-122"/>
                <a:cs typeface="JetBrains Mono" pitchFamily="34" charset="-120"/>
              </a:rPr>
              <a:t>“Summarize these meeting notes.”</a:t>
            </a:r>
            <a:endParaRPr lang="en-US" sz="950" dirty="0"/>
          </a:p>
        </p:txBody>
      </p:sp>
      <p:sp>
        <p:nvSpPr>
          <p:cNvPr id="15" name="Shape 13"/>
          <p:cNvSpPr/>
          <p:nvPr/>
        </p:nvSpPr>
        <p:spPr>
          <a:xfrm>
            <a:off x="4754880" y="1828800"/>
            <a:ext cx="3931920" cy="420624"/>
          </a:xfrm>
          <a:prstGeom prst="rect">
            <a:avLst/>
          </a:prstGeom>
          <a:solidFill>
            <a:srgbClr val="0D1B2A"/>
          </a:solidFill>
          <a:ln/>
        </p:spPr>
        <p:txBody>
          <a:bodyPr/>
          <a:lstStyle/>
          <a:p>
            <a:endParaRPr lang="en-US"/>
          </a:p>
        </p:txBody>
      </p:sp>
      <p:sp>
        <p:nvSpPr>
          <p:cNvPr id="16" name="Text 14"/>
          <p:cNvSpPr/>
          <p:nvPr/>
        </p:nvSpPr>
        <p:spPr>
          <a:xfrm>
            <a:off x="4974336" y="1901952"/>
            <a:ext cx="3566160" cy="274320"/>
          </a:xfrm>
          <a:prstGeom prst="rect">
            <a:avLst/>
          </a:prstGeom>
          <a:noFill/>
          <a:ln/>
        </p:spPr>
        <p:txBody>
          <a:bodyPr wrap="square" lIns="0" tIns="0" rIns="0" bIns="0" rtlCol="0" anchor="ctr"/>
          <a:lstStyle/>
          <a:p>
            <a:pPr marL="0" indent="0">
              <a:buNone/>
            </a:pPr>
            <a:r>
              <a:rPr lang="en-US" sz="1500" dirty="0">
                <a:solidFill>
                  <a:srgbClr val="06D6A0"/>
                </a:solidFill>
                <a:latin typeface="Oswald" pitchFamily="34" charset="0"/>
                <a:ea typeface="Oswald" pitchFamily="34" charset="-122"/>
                <a:cs typeface="Oswald" pitchFamily="34" charset="-120"/>
              </a:rPr>
              <a:t>Agentic AI</a:t>
            </a:r>
            <a:endParaRPr lang="en-US" sz="1500" dirty="0"/>
          </a:p>
        </p:txBody>
      </p:sp>
      <p:sp>
        <p:nvSpPr>
          <p:cNvPr id="17" name="Text 15"/>
          <p:cNvSpPr/>
          <p:nvPr/>
        </p:nvSpPr>
        <p:spPr>
          <a:xfrm>
            <a:off x="5056632" y="2377440"/>
            <a:ext cx="34747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Prompt  →</a:t>
            </a:r>
            <a:endParaRPr lang="en-US" sz="1100" dirty="0"/>
          </a:p>
        </p:txBody>
      </p:sp>
      <p:sp>
        <p:nvSpPr>
          <p:cNvPr id="18" name="Text 16"/>
          <p:cNvSpPr/>
          <p:nvPr/>
        </p:nvSpPr>
        <p:spPr>
          <a:xfrm>
            <a:off x="5056632" y="2761488"/>
            <a:ext cx="3474720" cy="274320"/>
          </a:xfrm>
          <a:prstGeom prst="rect">
            <a:avLst/>
          </a:prstGeom>
          <a:noFill/>
          <a:ln/>
        </p:spPr>
        <p:txBody>
          <a:bodyPr wrap="square" lIns="0" tIns="0" rIns="0" bIns="0" rtlCol="0" anchor="ctr"/>
          <a:lstStyle/>
          <a:p>
            <a:pPr marL="0" indent="0">
              <a:buNone/>
            </a:pPr>
            <a:r>
              <a:rPr lang="en-US" sz="1100" dirty="0">
                <a:solidFill>
                  <a:srgbClr val="1B9AAA"/>
                </a:solidFill>
                <a:latin typeface="JetBrains Mono" pitchFamily="34" charset="0"/>
                <a:ea typeface="JetBrains Mono" pitchFamily="34" charset="-122"/>
                <a:cs typeface="JetBrains Mono" pitchFamily="34" charset="-120"/>
              </a:rPr>
              <a:t>Uses  ·  planning, memory, tools</a:t>
            </a:r>
            <a:endParaRPr lang="en-US" sz="1100" dirty="0"/>
          </a:p>
        </p:txBody>
      </p:sp>
      <p:sp>
        <p:nvSpPr>
          <p:cNvPr id="19" name="Text 17"/>
          <p:cNvSpPr/>
          <p:nvPr/>
        </p:nvSpPr>
        <p:spPr>
          <a:xfrm>
            <a:off x="5056632" y="3145536"/>
            <a:ext cx="3474720" cy="274320"/>
          </a:xfrm>
          <a:prstGeom prst="rect">
            <a:avLst/>
          </a:prstGeom>
          <a:noFill/>
          <a:ln/>
        </p:spPr>
        <p:txBody>
          <a:bodyPr wrap="square" lIns="0" tIns="0" rIns="0" bIns="0" rtlCol="0" anchor="ctr"/>
          <a:lstStyle/>
          <a:p>
            <a:pPr marL="0" indent="0">
              <a:buNone/>
            </a:pPr>
            <a:r>
              <a:rPr lang="en-US" sz="1100" dirty="0">
                <a:solidFill>
                  <a:srgbClr val="1B9AAA"/>
                </a:solidFill>
                <a:latin typeface="JetBrains Mono" pitchFamily="34" charset="0"/>
                <a:ea typeface="JetBrains Mono" pitchFamily="34" charset="-122"/>
                <a:cs typeface="JetBrains Mono" pitchFamily="34" charset="-120"/>
              </a:rPr>
              <a:t>Decides  ↻  observes, revises</a:t>
            </a:r>
            <a:endParaRPr lang="en-US" sz="1100" dirty="0"/>
          </a:p>
        </p:txBody>
      </p:sp>
      <p:sp>
        <p:nvSpPr>
          <p:cNvPr id="20" name="Text 18"/>
          <p:cNvSpPr/>
          <p:nvPr/>
        </p:nvSpPr>
        <p:spPr>
          <a:xfrm>
            <a:off x="5056632" y="3529584"/>
            <a:ext cx="34747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Answer  ←</a:t>
            </a:r>
            <a:endParaRPr lang="en-US" sz="1100" dirty="0"/>
          </a:p>
        </p:txBody>
      </p:sp>
      <p:sp>
        <p:nvSpPr>
          <p:cNvPr id="21" name="Shape 19"/>
          <p:cNvSpPr/>
          <p:nvPr/>
        </p:nvSpPr>
        <p:spPr>
          <a:xfrm>
            <a:off x="4754880" y="4023360"/>
            <a:ext cx="3931920" cy="777240"/>
          </a:xfrm>
          <a:prstGeom prst="rect">
            <a:avLst/>
          </a:prstGeom>
          <a:solidFill>
            <a:srgbClr val="0D1B2A"/>
          </a:solidFill>
          <a:ln/>
        </p:spPr>
        <p:txBody>
          <a:bodyPr/>
          <a:lstStyle/>
          <a:p>
            <a:endParaRPr lang="en-US"/>
          </a:p>
        </p:txBody>
      </p:sp>
      <p:sp>
        <p:nvSpPr>
          <p:cNvPr id="22" name="Text 20"/>
          <p:cNvSpPr/>
          <p:nvPr/>
        </p:nvSpPr>
        <p:spPr>
          <a:xfrm>
            <a:off x="4974336" y="4133088"/>
            <a:ext cx="3520440" cy="384048"/>
          </a:xfrm>
          <a:prstGeom prst="rect">
            <a:avLst/>
          </a:prstGeom>
          <a:noFill/>
          <a:ln/>
        </p:spPr>
        <p:txBody>
          <a:bodyPr wrap="square" lIns="0" tIns="0" rIns="0" bIns="0" rtlCol="0" anchor="ctr"/>
          <a:lstStyle/>
          <a:p>
            <a:pPr marL="0" indent="0">
              <a:buNone/>
            </a:pPr>
            <a:r>
              <a:rPr lang="en-US" sz="1100" dirty="0">
                <a:solidFill>
                  <a:srgbClr val="C9D9E1"/>
                </a:solidFill>
                <a:latin typeface="Roboto" pitchFamily="34" charset="0"/>
                <a:ea typeface="Roboto" pitchFamily="34" charset="-122"/>
                <a:cs typeface="Roboto" pitchFamily="34" charset="-120"/>
              </a:rPr>
              <a:t>An autonomous system making self-directed decisions and pursuing a goal iteratively.</a:t>
            </a:r>
            <a:endParaRPr lang="en-US" sz="1100" dirty="0"/>
          </a:p>
        </p:txBody>
      </p:sp>
      <p:sp>
        <p:nvSpPr>
          <p:cNvPr id="23" name="Text 21"/>
          <p:cNvSpPr/>
          <p:nvPr/>
        </p:nvSpPr>
        <p:spPr>
          <a:xfrm>
            <a:off x="4974336" y="4517136"/>
            <a:ext cx="3520440" cy="237744"/>
          </a:xfrm>
          <a:prstGeom prst="rect">
            <a:avLst/>
          </a:prstGeom>
          <a:noFill/>
          <a:ln/>
        </p:spPr>
        <p:txBody>
          <a:bodyPr wrap="square" lIns="0" tIns="0" rIns="0" bIns="0" rtlCol="0" anchor="ctr"/>
          <a:lstStyle/>
          <a:p>
            <a:pPr marL="0" indent="0">
              <a:buNone/>
            </a:pPr>
            <a:r>
              <a:rPr lang="en-US" sz="950" dirty="0">
                <a:solidFill>
                  <a:srgbClr val="06D6A0"/>
                </a:solidFill>
                <a:latin typeface="JetBrains Mono" pitchFamily="34" charset="0"/>
                <a:ea typeface="JetBrains Mono" pitchFamily="34" charset="-122"/>
                <a:cs typeface="JetBrains Mono" pitchFamily="34" charset="-120"/>
              </a:rPr>
              <a:t>“Create a new website landing page.”</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4">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ANATOMY</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What an agent is made of</a:t>
            </a:r>
            <a:endParaRPr lang="en-US" sz="3200" dirty="0"/>
          </a:p>
        </p:txBody>
      </p:sp>
      <p:sp>
        <p:nvSpPr>
          <p:cNvPr id="5" name="Text 3"/>
          <p:cNvSpPr/>
          <p:nvPr/>
        </p:nvSpPr>
        <p:spPr>
          <a:xfrm>
            <a:off x="566928" y="1417320"/>
            <a:ext cx="3246120" cy="457200"/>
          </a:xfrm>
          <a:prstGeom prst="rect">
            <a:avLst/>
          </a:prstGeom>
          <a:noFill/>
          <a:ln/>
        </p:spPr>
        <p:txBody>
          <a:bodyPr wrap="square" lIns="0" tIns="0" rIns="0" bIns="0" rtlCol="0" anchor="ctr"/>
          <a:lstStyle/>
          <a:p>
            <a:pPr marL="0" indent="0">
              <a:buNone/>
            </a:pPr>
            <a:r>
              <a:rPr lang="en-US" sz="3000" dirty="0">
                <a:solidFill>
                  <a:srgbClr val="0D1B2A"/>
                </a:solidFill>
                <a:latin typeface="Oswald" pitchFamily="34" charset="0"/>
                <a:ea typeface="Oswald" pitchFamily="34" charset="-122"/>
                <a:cs typeface="Oswald" pitchFamily="34" charset="-120"/>
              </a:rPr>
              <a:t>Agent  =</a:t>
            </a:r>
            <a:endParaRPr lang="en-US" sz="3000" dirty="0"/>
          </a:p>
        </p:txBody>
      </p:sp>
      <p:sp>
        <p:nvSpPr>
          <p:cNvPr id="6" name="Shape 4"/>
          <p:cNvSpPr/>
          <p:nvPr/>
        </p:nvSpPr>
        <p:spPr>
          <a:xfrm>
            <a:off x="566928" y="2011680"/>
            <a:ext cx="3246120" cy="2286000"/>
          </a:xfrm>
          <a:prstGeom prst="rect">
            <a:avLst/>
          </a:prstGeom>
          <a:solidFill>
            <a:srgbClr val="0D1B2A"/>
          </a:solidFill>
          <a:ln/>
        </p:spPr>
        <p:txBody>
          <a:bodyPr/>
          <a:lstStyle/>
          <a:p>
            <a:endParaRPr lang="en-US"/>
          </a:p>
        </p:txBody>
      </p:sp>
      <p:sp>
        <p:nvSpPr>
          <p:cNvPr id="7" name="Text 5"/>
          <p:cNvSpPr/>
          <p:nvPr/>
        </p:nvSpPr>
        <p:spPr>
          <a:xfrm>
            <a:off x="804672" y="2240280"/>
            <a:ext cx="2788920" cy="1828800"/>
          </a:xfrm>
          <a:prstGeom prst="rect">
            <a:avLst/>
          </a:prstGeom>
          <a:noFill/>
          <a:ln/>
        </p:spPr>
        <p:txBody>
          <a:bodyPr wrap="square" lIns="0" tIns="0" rIns="0" bIns="0" rtlCol="0" anchor="ctr"/>
          <a:lstStyle/>
          <a:p>
            <a:pPr marL="0" indent="0">
              <a:buNone/>
            </a:pPr>
            <a:r>
              <a:rPr lang="en-US" sz="1250" dirty="0">
                <a:solidFill>
                  <a:srgbClr val="D7E3E9"/>
                </a:solidFill>
                <a:latin typeface="Roboto" pitchFamily="34" charset="0"/>
                <a:ea typeface="Roboto" pitchFamily="34" charset="-122"/>
                <a:cs typeface="Roboto" pitchFamily="34" charset="-120"/>
              </a:rPr>
              <a:t>“An AI application consisting of a model equipped with instructions that guide its behavior, access to tools that extend its capabilities, encapsulated in a runtime with a dynamic lifecycle.”</a:t>
            </a:r>
            <a:endParaRPr lang="en-US" sz="1250" dirty="0"/>
          </a:p>
        </p:txBody>
      </p:sp>
      <p:sp>
        <p:nvSpPr>
          <p:cNvPr id="8" name="Text 6"/>
          <p:cNvSpPr/>
          <p:nvPr/>
        </p:nvSpPr>
        <p:spPr>
          <a:xfrm>
            <a:off x="566928" y="4434840"/>
            <a:ext cx="3246120" cy="274320"/>
          </a:xfrm>
          <a:prstGeom prst="rect">
            <a:avLst/>
          </a:prstGeom>
          <a:noFill/>
          <a:ln/>
        </p:spPr>
        <p:txBody>
          <a:bodyPr wrap="square" lIns="0" tIns="0" rIns="0" bIns="0" rtlCol="0" anchor="ctr"/>
          <a:lstStyle/>
          <a:p>
            <a:pPr marL="0" indent="0">
              <a:buNone/>
            </a:pPr>
            <a:r>
              <a:rPr lang="en-US" sz="900" dirty="0">
                <a:solidFill>
                  <a:srgbClr val="6B7B8C"/>
                </a:solidFill>
                <a:latin typeface="JetBrains Mono" pitchFamily="34" charset="0"/>
                <a:ea typeface="JetBrains Mono" pitchFamily="34" charset="-122"/>
                <a:cs typeface="JetBrains Mono" pitchFamily="34" charset="-120"/>
              </a:rPr>
              <a:t>Source: OpenAI definition</a:t>
            </a:r>
            <a:endParaRPr lang="en-US" sz="900" dirty="0"/>
          </a:p>
        </p:txBody>
      </p:sp>
      <p:sp>
        <p:nvSpPr>
          <p:cNvPr id="9" name="Shape 7"/>
          <p:cNvSpPr/>
          <p:nvPr/>
        </p:nvSpPr>
        <p:spPr>
          <a:xfrm>
            <a:off x="4114800" y="1463040"/>
            <a:ext cx="4572000" cy="731520"/>
          </a:xfrm>
          <a:prstGeom prst="rect">
            <a:avLst/>
          </a:prstGeom>
          <a:solidFill>
            <a:srgbClr val="FFFFFF"/>
          </a:solidFill>
          <a:ln w="9525">
            <a:solidFill>
              <a:srgbClr val="DDE5E9"/>
            </a:solidFill>
            <a:prstDash val="solid"/>
          </a:ln>
        </p:spPr>
        <p:txBody>
          <a:bodyPr/>
          <a:lstStyle/>
          <a:p>
            <a:endParaRPr lang="en-US"/>
          </a:p>
        </p:txBody>
      </p:sp>
      <p:sp>
        <p:nvSpPr>
          <p:cNvPr id="10" name="Shape 8"/>
          <p:cNvSpPr/>
          <p:nvPr/>
        </p:nvSpPr>
        <p:spPr>
          <a:xfrm>
            <a:off x="4114800" y="1463040"/>
            <a:ext cx="64008" cy="731520"/>
          </a:xfrm>
          <a:prstGeom prst="rect">
            <a:avLst/>
          </a:prstGeom>
          <a:solidFill>
            <a:srgbClr val="1B9AAA"/>
          </a:solidFill>
          <a:ln/>
        </p:spPr>
        <p:txBody>
          <a:bodyPr/>
          <a:lstStyle/>
          <a:p>
            <a:endParaRPr lang="en-US"/>
          </a:p>
        </p:txBody>
      </p:sp>
      <p:sp>
        <p:nvSpPr>
          <p:cNvPr id="11" name="Text 9"/>
          <p:cNvSpPr/>
          <p:nvPr/>
        </p:nvSpPr>
        <p:spPr>
          <a:xfrm>
            <a:off x="4279392" y="1591056"/>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12" name="Text 10"/>
          <p:cNvSpPr/>
          <p:nvPr/>
        </p:nvSpPr>
        <p:spPr>
          <a:xfrm>
            <a:off x="4572000" y="1581912"/>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Model</a:t>
            </a:r>
            <a:endParaRPr lang="en-US" sz="1700" dirty="0"/>
          </a:p>
        </p:txBody>
      </p:sp>
      <p:sp>
        <p:nvSpPr>
          <p:cNvPr id="13" name="Text 11"/>
          <p:cNvSpPr/>
          <p:nvPr/>
        </p:nvSpPr>
        <p:spPr>
          <a:xfrm>
            <a:off x="6035040" y="1572768"/>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Core capabilities: observing, understanding, planning, deciding.</a:t>
            </a:r>
            <a:endParaRPr lang="en-US" sz="950" dirty="0"/>
          </a:p>
        </p:txBody>
      </p:sp>
      <p:sp>
        <p:nvSpPr>
          <p:cNvPr id="14" name="Shape 12"/>
          <p:cNvSpPr/>
          <p:nvPr/>
        </p:nvSpPr>
        <p:spPr>
          <a:xfrm>
            <a:off x="4114800" y="2304288"/>
            <a:ext cx="4572000" cy="731520"/>
          </a:xfrm>
          <a:prstGeom prst="rect">
            <a:avLst/>
          </a:prstGeom>
          <a:solidFill>
            <a:srgbClr val="FFFFFF"/>
          </a:solidFill>
          <a:ln w="9525">
            <a:solidFill>
              <a:srgbClr val="DDE5E9"/>
            </a:solidFill>
            <a:prstDash val="solid"/>
          </a:ln>
        </p:spPr>
        <p:txBody>
          <a:bodyPr/>
          <a:lstStyle/>
          <a:p>
            <a:endParaRPr lang="en-US"/>
          </a:p>
        </p:txBody>
      </p:sp>
      <p:sp>
        <p:nvSpPr>
          <p:cNvPr id="15" name="Shape 13"/>
          <p:cNvSpPr/>
          <p:nvPr/>
        </p:nvSpPr>
        <p:spPr>
          <a:xfrm>
            <a:off x="4114800" y="2304288"/>
            <a:ext cx="64008" cy="731520"/>
          </a:xfrm>
          <a:prstGeom prst="rect">
            <a:avLst/>
          </a:prstGeom>
          <a:solidFill>
            <a:srgbClr val="1B9AAA"/>
          </a:solidFill>
          <a:ln/>
        </p:spPr>
        <p:txBody>
          <a:bodyPr/>
          <a:lstStyle/>
          <a:p>
            <a:endParaRPr lang="en-US"/>
          </a:p>
        </p:txBody>
      </p:sp>
      <p:sp>
        <p:nvSpPr>
          <p:cNvPr id="16" name="Text 14"/>
          <p:cNvSpPr/>
          <p:nvPr/>
        </p:nvSpPr>
        <p:spPr>
          <a:xfrm>
            <a:off x="4279392" y="2432304"/>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17" name="Text 15"/>
          <p:cNvSpPr/>
          <p:nvPr/>
        </p:nvSpPr>
        <p:spPr>
          <a:xfrm>
            <a:off x="4572000" y="2423160"/>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Instructions</a:t>
            </a:r>
            <a:endParaRPr lang="en-US" sz="1700" dirty="0"/>
          </a:p>
        </p:txBody>
      </p:sp>
      <p:sp>
        <p:nvSpPr>
          <p:cNvPr id="18" name="Text 16"/>
          <p:cNvSpPr/>
          <p:nvPr/>
        </p:nvSpPr>
        <p:spPr>
          <a:xfrm>
            <a:off x="6035040" y="2414016"/>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Define the goals and behavior that steer actions toward the intended outcome.</a:t>
            </a:r>
            <a:endParaRPr lang="en-US" sz="950" dirty="0"/>
          </a:p>
        </p:txBody>
      </p:sp>
      <p:sp>
        <p:nvSpPr>
          <p:cNvPr id="19" name="Shape 17"/>
          <p:cNvSpPr/>
          <p:nvPr/>
        </p:nvSpPr>
        <p:spPr>
          <a:xfrm>
            <a:off x="4114800" y="3145536"/>
            <a:ext cx="4572000" cy="731520"/>
          </a:xfrm>
          <a:prstGeom prst="rect">
            <a:avLst/>
          </a:prstGeom>
          <a:solidFill>
            <a:srgbClr val="FFFFFF"/>
          </a:solidFill>
          <a:ln w="9525">
            <a:solidFill>
              <a:srgbClr val="DDE5E9"/>
            </a:solidFill>
            <a:prstDash val="solid"/>
          </a:ln>
        </p:spPr>
        <p:txBody>
          <a:bodyPr/>
          <a:lstStyle/>
          <a:p>
            <a:endParaRPr lang="en-US"/>
          </a:p>
        </p:txBody>
      </p:sp>
      <p:sp>
        <p:nvSpPr>
          <p:cNvPr id="20" name="Shape 18"/>
          <p:cNvSpPr/>
          <p:nvPr/>
        </p:nvSpPr>
        <p:spPr>
          <a:xfrm>
            <a:off x="4114800" y="3145536"/>
            <a:ext cx="64008" cy="731520"/>
          </a:xfrm>
          <a:prstGeom prst="rect">
            <a:avLst/>
          </a:prstGeom>
          <a:solidFill>
            <a:srgbClr val="1B9AAA"/>
          </a:solidFill>
          <a:ln/>
        </p:spPr>
        <p:txBody>
          <a:bodyPr/>
          <a:lstStyle/>
          <a:p>
            <a:endParaRPr lang="en-US"/>
          </a:p>
        </p:txBody>
      </p:sp>
      <p:sp>
        <p:nvSpPr>
          <p:cNvPr id="21" name="Text 19"/>
          <p:cNvSpPr/>
          <p:nvPr/>
        </p:nvSpPr>
        <p:spPr>
          <a:xfrm>
            <a:off x="4279392" y="3273552"/>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22" name="Text 20"/>
          <p:cNvSpPr/>
          <p:nvPr/>
        </p:nvSpPr>
        <p:spPr>
          <a:xfrm>
            <a:off x="4572000" y="3264408"/>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Tools</a:t>
            </a:r>
            <a:endParaRPr lang="en-US" sz="1700" dirty="0"/>
          </a:p>
        </p:txBody>
      </p:sp>
      <p:sp>
        <p:nvSpPr>
          <p:cNvPr id="23" name="Text 21"/>
          <p:cNvSpPr/>
          <p:nvPr/>
        </p:nvSpPr>
        <p:spPr>
          <a:xfrm>
            <a:off x="6035040" y="3255264"/>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Extend capability beyond the model: browsing, calling APIs, operating software.</a:t>
            </a:r>
            <a:endParaRPr lang="en-US" sz="950" dirty="0"/>
          </a:p>
        </p:txBody>
      </p:sp>
      <p:sp>
        <p:nvSpPr>
          <p:cNvPr id="24" name="Shape 22"/>
          <p:cNvSpPr/>
          <p:nvPr/>
        </p:nvSpPr>
        <p:spPr>
          <a:xfrm>
            <a:off x="4114800" y="3986784"/>
            <a:ext cx="4572000" cy="731520"/>
          </a:xfrm>
          <a:prstGeom prst="rect">
            <a:avLst/>
          </a:prstGeom>
          <a:solidFill>
            <a:srgbClr val="FFFFFF"/>
          </a:solidFill>
          <a:ln w="9525">
            <a:solidFill>
              <a:srgbClr val="DDE5E9"/>
            </a:solidFill>
            <a:prstDash val="solid"/>
          </a:ln>
        </p:spPr>
        <p:txBody>
          <a:bodyPr/>
          <a:lstStyle/>
          <a:p>
            <a:endParaRPr lang="en-US"/>
          </a:p>
        </p:txBody>
      </p:sp>
      <p:sp>
        <p:nvSpPr>
          <p:cNvPr id="25" name="Shape 23"/>
          <p:cNvSpPr/>
          <p:nvPr/>
        </p:nvSpPr>
        <p:spPr>
          <a:xfrm>
            <a:off x="4114800" y="3986784"/>
            <a:ext cx="64008" cy="731520"/>
          </a:xfrm>
          <a:prstGeom prst="rect">
            <a:avLst/>
          </a:prstGeom>
          <a:solidFill>
            <a:srgbClr val="06D6A0"/>
          </a:solidFill>
          <a:ln/>
        </p:spPr>
        <p:txBody>
          <a:bodyPr/>
          <a:lstStyle/>
          <a:p>
            <a:endParaRPr lang="en-US"/>
          </a:p>
        </p:txBody>
      </p:sp>
      <p:sp>
        <p:nvSpPr>
          <p:cNvPr id="26" name="Text 24"/>
          <p:cNvSpPr/>
          <p:nvPr/>
        </p:nvSpPr>
        <p:spPr>
          <a:xfrm>
            <a:off x="4279392" y="4114800"/>
            <a:ext cx="274320" cy="310896"/>
          </a:xfrm>
          <a:prstGeom prst="rect">
            <a:avLst/>
          </a:prstGeom>
          <a:noFill/>
          <a:ln/>
        </p:spPr>
        <p:txBody>
          <a:bodyPr wrap="square" lIns="0" tIns="0" rIns="0" bIns="0" rtlCol="0" anchor="ctr"/>
          <a:lstStyle/>
          <a:p>
            <a:pPr marL="0" indent="0">
              <a:buNone/>
            </a:pPr>
            <a:r>
              <a:rPr lang="en-US" sz="2000" dirty="0">
                <a:solidFill>
                  <a:srgbClr val="1B9AAA"/>
                </a:solidFill>
                <a:latin typeface="Oswald" pitchFamily="34" charset="0"/>
                <a:ea typeface="Oswald" pitchFamily="34" charset="-122"/>
                <a:cs typeface="Oswald" pitchFamily="34" charset="-120"/>
              </a:rPr>
              <a:t>+</a:t>
            </a:r>
            <a:endParaRPr lang="en-US" sz="2000" dirty="0"/>
          </a:p>
        </p:txBody>
      </p:sp>
      <p:sp>
        <p:nvSpPr>
          <p:cNvPr id="27" name="Text 25"/>
          <p:cNvSpPr/>
          <p:nvPr/>
        </p:nvSpPr>
        <p:spPr>
          <a:xfrm>
            <a:off x="4572000" y="4105656"/>
            <a:ext cx="146304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Runtime</a:t>
            </a:r>
            <a:endParaRPr lang="en-US" sz="1700" dirty="0"/>
          </a:p>
        </p:txBody>
      </p:sp>
      <p:sp>
        <p:nvSpPr>
          <p:cNvPr id="28" name="Text 26"/>
          <p:cNvSpPr/>
          <p:nvPr/>
        </p:nvSpPr>
        <p:spPr>
          <a:xfrm>
            <a:off x="6035040" y="4096512"/>
            <a:ext cx="2514600" cy="548640"/>
          </a:xfrm>
          <a:prstGeom prst="rect">
            <a:avLst/>
          </a:prstGeom>
          <a:noFill/>
          <a:ln/>
        </p:spPr>
        <p:txBody>
          <a:bodyPr wrap="square" lIns="0" tIns="0" rIns="0" bIns="0" rtlCol="0" anchor="ctr"/>
          <a:lstStyle/>
          <a:p>
            <a:pPr marL="0" indent="0">
              <a:buNone/>
            </a:pPr>
            <a:r>
              <a:rPr lang="en-US" sz="950" dirty="0">
                <a:solidFill>
                  <a:srgbClr val="6B7B8C"/>
                </a:solidFill>
                <a:latin typeface="Roboto" pitchFamily="34" charset="0"/>
                <a:ea typeface="Roboto" pitchFamily="34" charset="-122"/>
                <a:cs typeface="Roboto" pitchFamily="34" charset="-120"/>
              </a:rPr>
              <a:t>Manages the execution loop — plan, act, observe, iterate toward the objective.</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5">
    <p:bg>
      <p:bgPr>
        <a:solidFill>
          <a:srgbClr val="14293D"/>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6D6A0"/>
          </a:solidFill>
          <a:ln/>
        </p:spPr>
        <p:txBody>
          <a:bodyPr/>
          <a:lstStyle/>
          <a:p>
            <a:endParaRPr lang="en-US"/>
          </a:p>
        </p:txBody>
      </p:sp>
      <p:sp>
        <p:nvSpPr>
          <p:cNvPr id="3" name="Text 1"/>
          <p:cNvSpPr/>
          <p:nvPr/>
        </p:nvSpPr>
        <p:spPr>
          <a:xfrm>
            <a:off x="822960" y="1234440"/>
            <a:ext cx="7315200" cy="274320"/>
          </a:xfrm>
          <a:prstGeom prst="rect">
            <a:avLst/>
          </a:prstGeom>
          <a:noFill/>
          <a:ln/>
        </p:spPr>
        <p:txBody>
          <a:bodyPr wrap="square" lIns="0" tIns="0" rIns="0" bIns="0" rtlCol="0" anchor="ctr"/>
          <a:lstStyle/>
          <a:p>
            <a:pPr marL="0" indent="0">
              <a:buNone/>
            </a:pPr>
            <a:r>
              <a:rPr lang="en-US" sz="1100" kern="0" spc="250" dirty="0">
                <a:solidFill>
                  <a:srgbClr val="06D6A0"/>
                </a:solidFill>
                <a:latin typeface="JetBrains Mono" pitchFamily="34" charset="0"/>
                <a:ea typeface="JetBrains Mono" pitchFamily="34" charset="-122"/>
                <a:cs typeface="JetBrains Mono" pitchFamily="34" charset="-120"/>
              </a:rPr>
              <a:t>FROM FOUNDATIONS TO MECHANICS</a:t>
            </a:r>
            <a:endParaRPr lang="en-US" sz="1100" dirty="0"/>
          </a:p>
        </p:txBody>
      </p:sp>
      <p:sp>
        <p:nvSpPr>
          <p:cNvPr id="4" name="Text 2"/>
          <p:cNvSpPr/>
          <p:nvPr/>
        </p:nvSpPr>
        <p:spPr>
          <a:xfrm>
            <a:off x="822960" y="1627632"/>
            <a:ext cx="7498080" cy="1188720"/>
          </a:xfrm>
          <a:prstGeom prst="rect">
            <a:avLst/>
          </a:prstGeom>
          <a:noFill/>
          <a:ln/>
        </p:spPr>
        <p:txBody>
          <a:bodyPr wrap="square" lIns="0" tIns="0" rIns="0" bIns="0" rtlCol="0" anchor="ctr"/>
          <a:lstStyle/>
          <a:p>
            <a:pPr marL="0" indent="0">
              <a:buNone/>
            </a:pPr>
            <a:r>
              <a:rPr lang="en-US" sz="3800" dirty="0">
                <a:solidFill>
                  <a:srgbClr val="FFFFFF"/>
                </a:solidFill>
                <a:latin typeface="Oswald" pitchFamily="34" charset="0"/>
                <a:ea typeface="Oswald" pitchFamily="34" charset="-122"/>
                <a:cs typeface="Oswald" pitchFamily="34" charset="-120"/>
              </a:rPr>
              <a:t>So how does a model</a:t>
            </a:r>
            <a:endParaRPr lang="en-US" sz="3800" dirty="0"/>
          </a:p>
          <a:p>
            <a:pPr marL="0" indent="0">
              <a:buNone/>
            </a:pPr>
            <a:r>
              <a:rPr lang="en-US" sz="3800" dirty="0">
                <a:solidFill>
                  <a:srgbClr val="FFFFFF"/>
                </a:solidFill>
                <a:latin typeface="Oswald" pitchFamily="34" charset="0"/>
                <a:ea typeface="Oswald" pitchFamily="34" charset="-122"/>
                <a:cs typeface="Oswald" pitchFamily="34" charset="-120"/>
              </a:rPr>
              <a:t>get hands and eyes?</a:t>
            </a:r>
            <a:endParaRPr lang="en-US" sz="3800" dirty="0"/>
          </a:p>
        </p:txBody>
      </p:sp>
      <p:sp>
        <p:nvSpPr>
          <p:cNvPr id="5" name="Text 3"/>
          <p:cNvSpPr/>
          <p:nvPr/>
        </p:nvSpPr>
        <p:spPr>
          <a:xfrm>
            <a:off x="841248" y="3017520"/>
            <a:ext cx="6766560" cy="822960"/>
          </a:xfrm>
          <a:prstGeom prst="rect">
            <a:avLst/>
          </a:prstGeom>
          <a:noFill/>
          <a:ln/>
        </p:spPr>
        <p:txBody>
          <a:bodyPr wrap="square" lIns="0" tIns="0" rIns="0" bIns="0" rtlCol="0" anchor="ctr"/>
          <a:lstStyle/>
          <a:p>
            <a:pPr marL="0" indent="0">
              <a:buNone/>
            </a:pPr>
            <a:r>
              <a:rPr lang="en-US" sz="1500" dirty="0">
                <a:solidFill>
                  <a:srgbClr val="AFC2CE"/>
                </a:solidFill>
                <a:latin typeface="Roboto" pitchFamily="34" charset="0"/>
                <a:ea typeface="Roboto" pitchFamily="34" charset="-122"/>
                <a:cs typeface="Roboto" pitchFamily="34" charset="-120"/>
              </a:rPr>
              <a:t>The definitions place agentic AI at the end of a seventy-year lineage. The rest of this deck is about the machinery that got it there — retrieval, tools, standards, and the loop that ties them together.</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6">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THE STARTING POINT</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A model alone can only talk</a:t>
            </a:r>
            <a:endParaRPr lang="en-US" sz="3200" dirty="0"/>
          </a:p>
        </p:txBody>
      </p:sp>
      <p:sp>
        <p:nvSpPr>
          <p:cNvPr id="5" name="Shape 3"/>
          <p:cNvSpPr/>
          <p:nvPr/>
        </p:nvSpPr>
        <p:spPr>
          <a:xfrm>
            <a:off x="566928" y="1481328"/>
            <a:ext cx="3840480" cy="1371600"/>
          </a:xfrm>
          <a:prstGeom prst="rect">
            <a:avLst/>
          </a:prstGeom>
          <a:solidFill>
            <a:srgbClr val="FFFFFF"/>
          </a:solidFill>
          <a:ln w="9525">
            <a:solidFill>
              <a:srgbClr val="DDE5E9"/>
            </a:solidFill>
            <a:prstDash val="solid"/>
          </a:ln>
        </p:spPr>
        <p:txBody>
          <a:bodyPr/>
          <a:lstStyle/>
          <a:p>
            <a:endParaRPr lang="en-US"/>
          </a:p>
        </p:txBody>
      </p:sp>
      <p:sp>
        <p:nvSpPr>
          <p:cNvPr id="6" name="Shape 4"/>
          <p:cNvSpPr/>
          <p:nvPr/>
        </p:nvSpPr>
        <p:spPr>
          <a:xfrm>
            <a:off x="566928" y="1481328"/>
            <a:ext cx="54864" cy="1371600"/>
          </a:xfrm>
          <a:prstGeom prst="rect">
            <a:avLst/>
          </a:prstGeom>
          <a:solidFill>
            <a:srgbClr val="1B9AAA"/>
          </a:solidFill>
          <a:ln/>
        </p:spPr>
        <p:txBody>
          <a:bodyPr/>
          <a:lstStyle/>
          <a:p>
            <a:endParaRPr lang="en-US"/>
          </a:p>
        </p:txBody>
      </p:sp>
      <p:sp>
        <p:nvSpPr>
          <p:cNvPr id="7" name="Text 5"/>
          <p:cNvSpPr/>
          <p:nvPr/>
        </p:nvSpPr>
        <p:spPr>
          <a:xfrm>
            <a:off x="822960" y="1645920"/>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are lossy</a:t>
            </a:r>
            <a:endParaRPr lang="en-US" sz="1600" dirty="0"/>
          </a:p>
        </p:txBody>
      </p:sp>
      <p:sp>
        <p:nvSpPr>
          <p:cNvPr id="8" name="Text 6"/>
          <p:cNvSpPr/>
          <p:nvPr/>
        </p:nvSpPr>
        <p:spPr>
          <a:xfrm>
            <a:off x="822960" y="2011680"/>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Facts stored parametrically are approximate and unattributable.</a:t>
            </a:r>
            <a:endParaRPr lang="en-US" sz="1250" dirty="0"/>
          </a:p>
        </p:txBody>
      </p:sp>
      <p:sp>
        <p:nvSpPr>
          <p:cNvPr id="9" name="Shape 7"/>
          <p:cNvSpPr/>
          <p:nvPr/>
        </p:nvSpPr>
        <p:spPr>
          <a:xfrm>
            <a:off x="4681728" y="1481328"/>
            <a:ext cx="3840480" cy="1371600"/>
          </a:xfrm>
          <a:prstGeom prst="rect">
            <a:avLst/>
          </a:prstGeom>
          <a:solidFill>
            <a:srgbClr val="FFFFFF"/>
          </a:solidFill>
          <a:ln w="9525">
            <a:solidFill>
              <a:srgbClr val="DDE5E9"/>
            </a:solidFill>
            <a:prstDash val="solid"/>
          </a:ln>
        </p:spPr>
        <p:txBody>
          <a:bodyPr/>
          <a:lstStyle/>
          <a:p>
            <a:endParaRPr lang="en-US"/>
          </a:p>
        </p:txBody>
      </p:sp>
      <p:sp>
        <p:nvSpPr>
          <p:cNvPr id="10" name="Shape 8"/>
          <p:cNvSpPr/>
          <p:nvPr/>
        </p:nvSpPr>
        <p:spPr>
          <a:xfrm>
            <a:off x="4681728" y="1481328"/>
            <a:ext cx="54864" cy="1371600"/>
          </a:xfrm>
          <a:prstGeom prst="rect">
            <a:avLst/>
          </a:prstGeom>
          <a:solidFill>
            <a:srgbClr val="1B9AAA"/>
          </a:solidFill>
          <a:ln/>
        </p:spPr>
        <p:txBody>
          <a:bodyPr/>
          <a:lstStyle/>
          <a:p>
            <a:endParaRPr lang="en-US"/>
          </a:p>
        </p:txBody>
      </p:sp>
      <p:sp>
        <p:nvSpPr>
          <p:cNvPr id="11" name="Text 9"/>
          <p:cNvSpPr/>
          <p:nvPr/>
        </p:nvSpPr>
        <p:spPr>
          <a:xfrm>
            <a:off x="4937760" y="1645920"/>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go stale</a:t>
            </a:r>
            <a:endParaRPr lang="en-US" sz="1600" dirty="0"/>
          </a:p>
        </p:txBody>
      </p:sp>
      <p:sp>
        <p:nvSpPr>
          <p:cNvPr id="12" name="Text 10"/>
          <p:cNvSpPr/>
          <p:nvPr/>
        </p:nvSpPr>
        <p:spPr>
          <a:xfrm>
            <a:off x="4937760" y="2011680"/>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Anything real-time or high-churn would need retraining.</a:t>
            </a:r>
            <a:endParaRPr lang="en-US" sz="1250" dirty="0"/>
          </a:p>
        </p:txBody>
      </p:sp>
      <p:sp>
        <p:nvSpPr>
          <p:cNvPr id="13" name="Shape 11"/>
          <p:cNvSpPr/>
          <p:nvPr/>
        </p:nvSpPr>
        <p:spPr>
          <a:xfrm>
            <a:off x="566928" y="3054096"/>
            <a:ext cx="3840480" cy="1371600"/>
          </a:xfrm>
          <a:prstGeom prst="rect">
            <a:avLst/>
          </a:prstGeom>
          <a:solidFill>
            <a:srgbClr val="FFFFFF"/>
          </a:solidFill>
          <a:ln w="9525">
            <a:solidFill>
              <a:srgbClr val="DDE5E9"/>
            </a:solidFill>
            <a:prstDash val="solid"/>
          </a:ln>
        </p:spPr>
        <p:txBody>
          <a:bodyPr/>
          <a:lstStyle/>
          <a:p>
            <a:endParaRPr lang="en-US"/>
          </a:p>
        </p:txBody>
      </p:sp>
      <p:sp>
        <p:nvSpPr>
          <p:cNvPr id="14" name="Shape 12"/>
          <p:cNvSpPr/>
          <p:nvPr/>
        </p:nvSpPr>
        <p:spPr>
          <a:xfrm>
            <a:off x="566928" y="3054096"/>
            <a:ext cx="54864" cy="1371600"/>
          </a:xfrm>
          <a:prstGeom prst="rect">
            <a:avLst/>
          </a:prstGeom>
          <a:solidFill>
            <a:srgbClr val="1B9AAA"/>
          </a:solidFill>
          <a:ln/>
        </p:spPr>
        <p:txBody>
          <a:bodyPr/>
          <a:lstStyle/>
          <a:p>
            <a:endParaRPr lang="en-US"/>
          </a:p>
        </p:txBody>
      </p:sp>
      <p:sp>
        <p:nvSpPr>
          <p:cNvPr id="15" name="Text 13"/>
          <p:cNvSpPr/>
          <p:nvPr/>
        </p:nvSpPr>
        <p:spPr>
          <a:xfrm>
            <a:off x="822960" y="3218688"/>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are public</a:t>
            </a:r>
            <a:endParaRPr lang="en-US" sz="1600" dirty="0"/>
          </a:p>
        </p:txBody>
      </p:sp>
      <p:sp>
        <p:nvSpPr>
          <p:cNvPr id="16" name="Text 14"/>
          <p:cNvSpPr/>
          <p:nvPr/>
        </p:nvSpPr>
        <p:spPr>
          <a:xfrm>
            <a:off x="822960" y="3584448"/>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Internal documents and systems of record were never in training data.</a:t>
            </a:r>
            <a:endParaRPr lang="en-US" sz="1250" dirty="0"/>
          </a:p>
        </p:txBody>
      </p:sp>
      <p:sp>
        <p:nvSpPr>
          <p:cNvPr id="17" name="Shape 15"/>
          <p:cNvSpPr/>
          <p:nvPr/>
        </p:nvSpPr>
        <p:spPr>
          <a:xfrm>
            <a:off x="4681728" y="3054096"/>
            <a:ext cx="3840480" cy="1371600"/>
          </a:xfrm>
          <a:prstGeom prst="rect">
            <a:avLst/>
          </a:prstGeom>
          <a:solidFill>
            <a:srgbClr val="FFFFFF"/>
          </a:solidFill>
          <a:ln w="9525">
            <a:solidFill>
              <a:srgbClr val="DDE5E9"/>
            </a:solidFill>
            <a:prstDash val="solid"/>
          </a:ln>
        </p:spPr>
        <p:txBody>
          <a:bodyPr/>
          <a:lstStyle/>
          <a:p>
            <a:endParaRPr lang="en-US"/>
          </a:p>
        </p:txBody>
      </p:sp>
      <p:sp>
        <p:nvSpPr>
          <p:cNvPr id="18" name="Shape 16"/>
          <p:cNvSpPr/>
          <p:nvPr/>
        </p:nvSpPr>
        <p:spPr>
          <a:xfrm>
            <a:off x="4681728" y="3054096"/>
            <a:ext cx="54864" cy="1371600"/>
          </a:xfrm>
          <a:prstGeom prst="rect">
            <a:avLst/>
          </a:prstGeom>
          <a:solidFill>
            <a:srgbClr val="1B9AAA"/>
          </a:solidFill>
          <a:ln/>
        </p:spPr>
        <p:txBody>
          <a:bodyPr/>
          <a:lstStyle/>
          <a:p>
            <a:endParaRPr lang="en-US"/>
          </a:p>
        </p:txBody>
      </p:sp>
      <p:sp>
        <p:nvSpPr>
          <p:cNvPr id="19" name="Text 17"/>
          <p:cNvSpPr/>
          <p:nvPr/>
        </p:nvSpPr>
        <p:spPr>
          <a:xfrm>
            <a:off x="4937760" y="3218688"/>
            <a:ext cx="3429000" cy="310896"/>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Weights cannot act</a:t>
            </a:r>
            <a:endParaRPr lang="en-US" sz="1600" dirty="0"/>
          </a:p>
        </p:txBody>
      </p:sp>
      <p:sp>
        <p:nvSpPr>
          <p:cNvPr id="20" name="Text 18"/>
          <p:cNvSpPr/>
          <p:nvPr/>
        </p:nvSpPr>
        <p:spPr>
          <a:xfrm>
            <a:off x="4937760" y="3584448"/>
            <a:ext cx="3429000" cy="73152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No amount of generation sends an email or writes to a database.</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7">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CHRONOLOGY</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Evolution of Agentic</a:t>
            </a:r>
            <a:endParaRPr lang="en-US" sz="3200" dirty="0"/>
          </a:p>
        </p:txBody>
      </p:sp>
      <p:sp>
        <p:nvSpPr>
          <p:cNvPr id="5" name="Shape 3"/>
          <p:cNvSpPr/>
          <p:nvPr/>
        </p:nvSpPr>
        <p:spPr>
          <a:xfrm>
            <a:off x="822960" y="2606040"/>
            <a:ext cx="7589520" cy="32004"/>
          </a:xfrm>
          <a:prstGeom prst="rect">
            <a:avLst/>
          </a:prstGeom>
          <a:solidFill>
            <a:srgbClr val="C9D6DC"/>
          </a:solidFill>
          <a:ln/>
        </p:spPr>
        <p:txBody>
          <a:bodyPr/>
          <a:lstStyle/>
          <a:p>
            <a:endParaRPr lang="en-US"/>
          </a:p>
        </p:txBody>
      </p:sp>
      <p:sp>
        <p:nvSpPr>
          <p:cNvPr id="6" name="Shape 4"/>
          <p:cNvSpPr/>
          <p:nvPr/>
        </p:nvSpPr>
        <p:spPr>
          <a:xfrm>
            <a:off x="1024128" y="2487168"/>
            <a:ext cx="237744" cy="237744"/>
          </a:xfrm>
          <a:prstGeom prst="ellipse">
            <a:avLst/>
          </a:prstGeom>
          <a:solidFill>
            <a:srgbClr val="1B9AAA"/>
          </a:solidFill>
          <a:ln/>
        </p:spPr>
        <p:txBody>
          <a:bodyPr/>
          <a:lstStyle/>
          <a:p>
            <a:endParaRPr lang="en-US"/>
          </a:p>
        </p:txBody>
      </p:sp>
      <p:sp>
        <p:nvSpPr>
          <p:cNvPr id="7" name="Text 5"/>
          <p:cNvSpPr/>
          <p:nvPr/>
        </p:nvSpPr>
        <p:spPr>
          <a:xfrm>
            <a:off x="45720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2020</a:t>
            </a:r>
            <a:endParaRPr lang="en-US" sz="1100" dirty="0"/>
          </a:p>
        </p:txBody>
      </p:sp>
      <p:sp>
        <p:nvSpPr>
          <p:cNvPr id="8" name="Text 6"/>
          <p:cNvSpPr/>
          <p:nvPr/>
        </p:nvSpPr>
        <p:spPr>
          <a:xfrm>
            <a:off x="32004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RAG</a:t>
            </a:r>
            <a:endParaRPr lang="en-US" sz="2000" dirty="0"/>
          </a:p>
        </p:txBody>
      </p:sp>
      <p:sp>
        <p:nvSpPr>
          <p:cNvPr id="9" name="Text 7"/>
          <p:cNvSpPr/>
          <p:nvPr/>
        </p:nvSpPr>
        <p:spPr>
          <a:xfrm>
            <a:off x="27432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REALM, Lewis et al.</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Retrieval as a fixed step</a:t>
            </a:r>
            <a:endParaRPr lang="en-US" sz="1150" dirty="0"/>
          </a:p>
        </p:txBody>
      </p:sp>
      <p:sp>
        <p:nvSpPr>
          <p:cNvPr id="10" name="Shape 8"/>
          <p:cNvSpPr/>
          <p:nvPr/>
        </p:nvSpPr>
        <p:spPr>
          <a:xfrm>
            <a:off x="3264408" y="2487168"/>
            <a:ext cx="237744" cy="237744"/>
          </a:xfrm>
          <a:prstGeom prst="ellipse">
            <a:avLst/>
          </a:prstGeom>
          <a:solidFill>
            <a:srgbClr val="1B9AAA"/>
          </a:solidFill>
          <a:ln/>
        </p:spPr>
        <p:txBody>
          <a:bodyPr/>
          <a:lstStyle/>
          <a:p>
            <a:endParaRPr lang="en-US"/>
          </a:p>
        </p:txBody>
      </p:sp>
      <p:sp>
        <p:nvSpPr>
          <p:cNvPr id="11" name="Text 9"/>
          <p:cNvSpPr/>
          <p:nvPr/>
        </p:nvSpPr>
        <p:spPr>
          <a:xfrm>
            <a:off x="269748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2021–23</a:t>
            </a:r>
            <a:endParaRPr lang="en-US" sz="1100" dirty="0"/>
          </a:p>
        </p:txBody>
      </p:sp>
      <p:sp>
        <p:nvSpPr>
          <p:cNvPr id="12" name="Text 10"/>
          <p:cNvSpPr/>
          <p:nvPr/>
        </p:nvSpPr>
        <p:spPr>
          <a:xfrm>
            <a:off x="256032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Tool use</a:t>
            </a:r>
            <a:endParaRPr lang="en-US" sz="2000" dirty="0"/>
          </a:p>
        </p:txBody>
      </p:sp>
      <p:sp>
        <p:nvSpPr>
          <p:cNvPr id="13" name="Text 11"/>
          <p:cNvSpPr/>
          <p:nvPr/>
        </p:nvSpPr>
        <p:spPr>
          <a:xfrm>
            <a:off x="251460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WebGPT, MRKL, ReAct,</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Toolformer, function calling</a:t>
            </a:r>
            <a:endParaRPr lang="en-US" sz="1150" dirty="0"/>
          </a:p>
        </p:txBody>
      </p:sp>
      <p:sp>
        <p:nvSpPr>
          <p:cNvPr id="14" name="Shape 12"/>
          <p:cNvSpPr/>
          <p:nvPr/>
        </p:nvSpPr>
        <p:spPr>
          <a:xfrm>
            <a:off x="5504688" y="2487168"/>
            <a:ext cx="237744" cy="237744"/>
          </a:xfrm>
          <a:prstGeom prst="ellipse">
            <a:avLst/>
          </a:prstGeom>
          <a:solidFill>
            <a:srgbClr val="1B9AAA"/>
          </a:solidFill>
          <a:ln/>
        </p:spPr>
        <p:txBody>
          <a:bodyPr/>
          <a:lstStyle/>
          <a:p>
            <a:endParaRPr lang="en-US"/>
          </a:p>
        </p:txBody>
      </p:sp>
      <p:sp>
        <p:nvSpPr>
          <p:cNvPr id="15" name="Text 13"/>
          <p:cNvSpPr/>
          <p:nvPr/>
        </p:nvSpPr>
        <p:spPr>
          <a:xfrm>
            <a:off x="493776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2023+</a:t>
            </a:r>
            <a:endParaRPr lang="en-US" sz="1100" dirty="0"/>
          </a:p>
        </p:txBody>
      </p:sp>
      <p:sp>
        <p:nvSpPr>
          <p:cNvPr id="16" name="Text 14"/>
          <p:cNvSpPr/>
          <p:nvPr/>
        </p:nvSpPr>
        <p:spPr>
          <a:xfrm>
            <a:off x="480060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Agents</a:t>
            </a:r>
            <a:endParaRPr lang="en-US" sz="2000" dirty="0"/>
          </a:p>
        </p:txBody>
      </p:sp>
      <p:sp>
        <p:nvSpPr>
          <p:cNvPr id="17" name="Text 15"/>
          <p:cNvSpPr/>
          <p:nvPr/>
        </p:nvSpPr>
        <p:spPr>
          <a:xfrm>
            <a:off x="475488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Planning, loops,</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memory, autonomy</a:t>
            </a:r>
            <a:endParaRPr lang="en-US" sz="1150" dirty="0"/>
          </a:p>
        </p:txBody>
      </p:sp>
      <p:sp>
        <p:nvSpPr>
          <p:cNvPr id="18" name="Shape 16"/>
          <p:cNvSpPr/>
          <p:nvPr/>
        </p:nvSpPr>
        <p:spPr>
          <a:xfrm>
            <a:off x="7744968" y="2487168"/>
            <a:ext cx="237744" cy="237744"/>
          </a:xfrm>
          <a:prstGeom prst="ellipse">
            <a:avLst/>
          </a:prstGeom>
          <a:solidFill>
            <a:srgbClr val="06D6A0"/>
          </a:solidFill>
          <a:ln/>
        </p:spPr>
        <p:txBody>
          <a:bodyPr/>
          <a:lstStyle/>
          <a:p>
            <a:endParaRPr lang="en-US"/>
          </a:p>
        </p:txBody>
      </p:sp>
      <p:sp>
        <p:nvSpPr>
          <p:cNvPr id="19" name="Text 17"/>
          <p:cNvSpPr/>
          <p:nvPr/>
        </p:nvSpPr>
        <p:spPr>
          <a:xfrm>
            <a:off x="7178040" y="2057400"/>
            <a:ext cx="1371600" cy="274320"/>
          </a:xfrm>
          <a:prstGeom prst="rect">
            <a:avLst/>
          </a:prstGeom>
          <a:noFill/>
          <a:ln/>
        </p:spPr>
        <p:txBody>
          <a:bodyPr wrap="square" lIns="0" tIns="0" rIns="0" bIns="0" rtlCol="0" anchor="ctr"/>
          <a:lstStyle/>
          <a:p>
            <a:pPr marL="0" indent="0" algn="ctr">
              <a:buNone/>
            </a:pPr>
            <a:r>
              <a:rPr lang="en-US" sz="1100" dirty="0">
                <a:solidFill>
                  <a:srgbClr val="6B7B8C"/>
                </a:solidFill>
                <a:latin typeface="JetBrains Mono" pitchFamily="34" charset="0"/>
                <a:ea typeface="JetBrains Mono" pitchFamily="34" charset="-122"/>
                <a:cs typeface="JetBrains Mono" pitchFamily="34" charset="-120"/>
              </a:rPr>
              <a:t>2024</a:t>
            </a:r>
            <a:endParaRPr lang="en-US" sz="1100" dirty="0"/>
          </a:p>
        </p:txBody>
      </p:sp>
      <p:sp>
        <p:nvSpPr>
          <p:cNvPr id="20" name="Text 18"/>
          <p:cNvSpPr/>
          <p:nvPr/>
        </p:nvSpPr>
        <p:spPr>
          <a:xfrm>
            <a:off x="7040880" y="2880360"/>
            <a:ext cx="2011680" cy="329184"/>
          </a:xfrm>
          <a:prstGeom prst="rect">
            <a:avLst/>
          </a:prstGeom>
          <a:noFill/>
          <a:ln/>
        </p:spPr>
        <p:txBody>
          <a:bodyPr wrap="square" lIns="0" tIns="0" rIns="0" bIns="0" rtlCol="0" anchor="ctr"/>
          <a:lstStyle/>
          <a:p>
            <a:pPr marL="0" indent="0" algn="ctr">
              <a:buNone/>
            </a:pPr>
            <a:r>
              <a:rPr lang="en-US" sz="2000" dirty="0">
                <a:solidFill>
                  <a:srgbClr val="0D1B2A"/>
                </a:solidFill>
                <a:latin typeface="Oswald" pitchFamily="34" charset="0"/>
                <a:ea typeface="Oswald" pitchFamily="34" charset="-122"/>
                <a:cs typeface="Oswald" pitchFamily="34" charset="-120"/>
              </a:rPr>
              <a:t>MCP</a:t>
            </a:r>
            <a:endParaRPr lang="en-US" sz="2000" dirty="0"/>
          </a:p>
        </p:txBody>
      </p:sp>
      <p:sp>
        <p:nvSpPr>
          <p:cNvPr id="21" name="Text 19"/>
          <p:cNvSpPr/>
          <p:nvPr/>
        </p:nvSpPr>
        <p:spPr>
          <a:xfrm>
            <a:off x="6995160" y="3273552"/>
            <a:ext cx="2103120" cy="822960"/>
          </a:xfrm>
          <a:prstGeom prst="rect">
            <a:avLst/>
          </a:prstGeom>
          <a:noFill/>
          <a:ln/>
        </p:spPr>
        <p:txBody>
          <a:bodyPr wrap="square" lIns="0" tIns="0" rIns="0" bIns="0" rtlCol="0" anchor="ctr"/>
          <a:lstStyle/>
          <a:p>
            <a:pPr marL="0" indent="0" algn="ctr">
              <a:buNone/>
            </a:pPr>
            <a:r>
              <a:rPr lang="en-US" sz="1150" dirty="0">
                <a:solidFill>
                  <a:srgbClr val="6B7B8C"/>
                </a:solidFill>
                <a:latin typeface="Roboto" pitchFamily="34" charset="0"/>
                <a:ea typeface="Roboto" pitchFamily="34" charset="-122"/>
                <a:cs typeface="Roboto" pitchFamily="34" charset="-120"/>
              </a:rPr>
              <a:t>One standard interface</a:t>
            </a:r>
            <a:endParaRPr lang="en-US" sz="1150" dirty="0"/>
          </a:p>
          <a:p>
            <a:pPr marL="0" indent="0" algn="ctr">
              <a:buNone/>
            </a:pPr>
            <a:r>
              <a:rPr lang="en-US" sz="1150" dirty="0">
                <a:solidFill>
                  <a:srgbClr val="6B7B8C"/>
                </a:solidFill>
                <a:latin typeface="Roboto" pitchFamily="34" charset="0"/>
                <a:ea typeface="Roboto" pitchFamily="34" charset="-122"/>
                <a:cs typeface="Roboto" pitchFamily="34" charset="-120"/>
              </a:rPr>
              <a:t>for tools and context</a:t>
            </a:r>
            <a:endParaRPr lang="en-US" sz="1150" dirty="0"/>
          </a:p>
        </p:txBody>
      </p:sp>
      <p:sp>
        <p:nvSpPr>
          <p:cNvPr id="22" name="Text 20"/>
          <p:cNvSpPr/>
          <p:nvPr/>
        </p:nvSpPr>
        <p:spPr>
          <a:xfrm>
            <a:off x="566928" y="1417320"/>
            <a:ext cx="8138160" cy="365760"/>
          </a:xfrm>
          <a:prstGeom prst="rect">
            <a:avLst/>
          </a:prstGeom>
          <a:noFill/>
          <a:ln/>
        </p:spPr>
        <p:txBody>
          <a:bodyPr wrap="square" lIns="0" tIns="0" rIns="0" bIns="0" rtlCol="0" anchor="ctr"/>
          <a:lstStyle/>
          <a:p>
            <a:pPr marL="0" indent="0">
              <a:buNone/>
            </a:pPr>
            <a:r>
              <a:rPr lang="en-US" sz="1400" i="1" dirty="0">
                <a:solidFill>
                  <a:srgbClr val="14293D"/>
                </a:solidFill>
                <a:latin typeface="Roboto" pitchFamily="34" charset="0"/>
                <a:ea typeface="Roboto" pitchFamily="34" charset="-122"/>
                <a:cs typeface="Roboto" pitchFamily="34" charset="-120"/>
              </a:rPr>
              <a:t>RAG was already established when tool use became a topic. It was the proof of concept for the whole idea.</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8">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2020 · RAG</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The first admission</a:t>
            </a:r>
            <a:endParaRPr lang="en-US" sz="3200" dirty="0"/>
          </a:p>
        </p:txBody>
      </p:sp>
      <p:sp>
        <p:nvSpPr>
          <p:cNvPr id="5" name="Shape 3"/>
          <p:cNvSpPr/>
          <p:nvPr/>
        </p:nvSpPr>
        <p:spPr>
          <a:xfrm>
            <a:off x="566928" y="1463040"/>
            <a:ext cx="3931920" cy="3108960"/>
          </a:xfrm>
          <a:prstGeom prst="rect">
            <a:avLst/>
          </a:prstGeom>
          <a:solidFill>
            <a:srgbClr val="FFFFFF"/>
          </a:solidFill>
          <a:ln w="9525">
            <a:solidFill>
              <a:srgbClr val="DDE5E9"/>
            </a:solidFill>
            <a:prstDash val="solid"/>
          </a:ln>
        </p:spPr>
        <p:txBody>
          <a:bodyPr/>
          <a:lstStyle/>
          <a:p>
            <a:endParaRPr lang="en-US"/>
          </a:p>
        </p:txBody>
      </p:sp>
      <p:sp>
        <p:nvSpPr>
          <p:cNvPr id="6" name="Text 4"/>
          <p:cNvSpPr/>
          <p:nvPr/>
        </p:nvSpPr>
        <p:spPr>
          <a:xfrm>
            <a:off x="822960" y="1691640"/>
            <a:ext cx="3474720" cy="292608"/>
          </a:xfrm>
          <a:prstGeom prst="rect">
            <a:avLst/>
          </a:prstGeom>
          <a:noFill/>
          <a:ln/>
        </p:spPr>
        <p:txBody>
          <a:bodyPr wrap="square" lIns="0" tIns="0" rIns="0" bIns="0" rtlCol="0" anchor="ctr"/>
          <a:lstStyle/>
          <a:p>
            <a:pPr marL="0" indent="0">
              <a:buNone/>
            </a:pPr>
            <a:r>
              <a:rPr lang="en-US" sz="1700" dirty="0">
                <a:solidFill>
                  <a:srgbClr val="0D1B2A"/>
                </a:solidFill>
                <a:latin typeface="Oswald" pitchFamily="34" charset="0"/>
                <a:ea typeface="Oswald" pitchFamily="34" charset="-122"/>
                <a:cs typeface="Oswald" pitchFamily="34" charset="-120"/>
              </a:rPr>
              <a:t>The problem it answered</a:t>
            </a:r>
            <a:endParaRPr lang="en-US" sz="1700" dirty="0"/>
          </a:p>
        </p:txBody>
      </p:sp>
      <p:sp>
        <p:nvSpPr>
          <p:cNvPr id="7" name="Text 5"/>
          <p:cNvSpPr/>
          <p:nvPr/>
        </p:nvSpPr>
        <p:spPr>
          <a:xfrm>
            <a:off x="822960" y="2103120"/>
            <a:ext cx="3474720" cy="2194560"/>
          </a:xfrm>
          <a:prstGeom prst="rect">
            <a:avLst/>
          </a:prstGeom>
          <a:noFill/>
          <a:ln/>
        </p:spPr>
        <p:txBody>
          <a:bodyPr wrap="square" rtlCol="0" anchor="ctr"/>
          <a:lstStyle/>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Knowledge, not action</a:t>
            </a:r>
            <a:endParaRPr lang="en-US" sz="1300" dirty="0"/>
          </a:p>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Parametric memory is lossy and hard to update</a:t>
            </a:r>
            <a:endParaRPr lang="en-US" sz="1300" dirty="0"/>
          </a:p>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Add non-parametric memory: a retrievable index</a:t>
            </a:r>
            <a:endParaRPr lang="en-US" sz="1300" dirty="0"/>
          </a:p>
          <a:p>
            <a:pPr marL="342900" indent="-342900">
              <a:spcAft>
                <a:spcPts val="800"/>
              </a:spcAft>
              <a:buSzPct val="100000"/>
              <a:buChar char="•"/>
            </a:pPr>
            <a:r>
              <a:rPr lang="en-US" sz="1300" dirty="0">
                <a:solidFill>
                  <a:srgbClr val="14293D"/>
                </a:solidFill>
                <a:latin typeface="Roboto" pitchFamily="34" charset="0"/>
                <a:ea typeface="Roboto" pitchFamily="34" charset="-122"/>
                <a:cs typeface="Roboto" pitchFamily="34" charset="-120"/>
              </a:rPr>
              <a:t>Answers become attributable</a:t>
            </a:r>
            <a:endParaRPr lang="en-US" sz="1300" dirty="0"/>
          </a:p>
        </p:txBody>
      </p:sp>
      <p:sp>
        <p:nvSpPr>
          <p:cNvPr id="8" name="Shape 6"/>
          <p:cNvSpPr/>
          <p:nvPr/>
        </p:nvSpPr>
        <p:spPr>
          <a:xfrm>
            <a:off x="4754880" y="1463040"/>
            <a:ext cx="3840480" cy="3108960"/>
          </a:xfrm>
          <a:prstGeom prst="rect">
            <a:avLst/>
          </a:prstGeom>
          <a:solidFill>
            <a:srgbClr val="0D1B2A"/>
          </a:solidFill>
          <a:ln/>
        </p:spPr>
        <p:txBody>
          <a:bodyPr/>
          <a:lstStyle/>
          <a:p>
            <a:endParaRPr lang="en-US"/>
          </a:p>
        </p:txBody>
      </p:sp>
      <p:sp>
        <p:nvSpPr>
          <p:cNvPr id="9" name="Text 7"/>
          <p:cNvSpPr/>
          <p:nvPr/>
        </p:nvSpPr>
        <p:spPr>
          <a:xfrm>
            <a:off x="5029200" y="1691640"/>
            <a:ext cx="3291840" cy="292608"/>
          </a:xfrm>
          <a:prstGeom prst="rect">
            <a:avLst/>
          </a:prstGeom>
          <a:noFill/>
          <a:ln/>
        </p:spPr>
        <p:txBody>
          <a:bodyPr wrap="square" lIns="0" tIns="0" rIns="0" bIns="0" rtlCol="0" anchor="ctr"/>
          <a:lstStyle/>
          <a:p>
            <a:pPr marL="0" indent="0">
              <a:buNone/>
            </a:pPr>
            <a:r>
              <a:rPr lang="en-US" sz="1700" dirty="0">
                <a:solidFill>
                  <a:srgbClr val="06D6A0"/>
                </a:solidFill>
                <a:latin typeface="Oswald" pitchFamily="34" charset="0"/>
                <a:ea typeface="Oswald" pitchFamily="34" charset="-122"/>
                <a:cs typeface="Oswald" pitchFamily="34" charset="-120"/>
              </a:rPr>
              <a:t>Classic pipeline</a:t>
            </a:r>
            <a:endParaRPr lang="en-US" sz="1700" dirty="0"/>
          </a:p>
        </p:txBody>
      </p:sp>
      <p:sp>
        <p:nvSpPr>
          <p:cNvPr id="10" name="Shape 8"/>
          <p:cNvSpPr/>
          <p:nvPr/>
        </p:nvSpPr>
        <p:spPr>
          <a:xfrm>
            <a:off x="5029200" y="2148840"/>
            <a:ext cx="3291840" cy="402336"/>
          </a:xfrm>
          <a:prstGeom prst="rect">
            <a:avLst/>
          </a:prstGeom>
          <a:solidFill>
            <a:srgbClr val="14293D"/>
          </a:solidFill>
          <a:ln/>
        </p:spPr>
        <p:txBody>
          <a:bodyPr/>
          <a:lstStyle/>
          <a:p>
            <a:endParaRPr lang="en-US"/>
          </a:p>
        </p:txBody>
      </p:sp>
      <p:sp>
        <p:nvSpPr>
          <p:cNvPr id="11" name="Text 9"/>
          <p:cNvSpPr/>
          <p:nvPr/>
        </p:nvSpPr>
        <p:spPr>
          <a:xfrm>
            <a:off x="5212080" y="221284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query</a:t>
            </a:r>
            <a:endParaRPr lang="en-US" sz="1200" dirty="0"/>
          </a:p>
        </p:txBody>
      </p:sp>
      <p:sp>
        <p:nvSpPr>
          <p:cNvPr id="12" name="Shape 10"/>
          <p:cNvSpPr/>
          <p:nvPr/>
        </p:nvSpPr>
        <p:spPr>
          <a:xfrm>
            <a:off x="5029200" y="2651760"/>
            <a:ext cx="3291840" cy="402336"/>
          </a:xfrm>
          <a:prstGeom prst="rect">
            <a:avLst/>
          </a:prstGeom>
          <a:solidFill>
            <a:srgbClr val="14293D"/>
          </a:solidFill>
          <a:ln/>
        </p:spPr>
        <p:txBody>
          <a:bodyPr/>
          <a:lstStyle/>
          <a:p>
            <a:endParaRPr lang="en-US"/>
          </a:p>
        </p:txBody>
      </p:sp>
      <p:sp>
        <p:nvSpPr>
          <p:cNvPr id="13" name="Text 11"/>
          <p:cNvSpPr/>
          <p:nvPr/>
        </p:nvSpPr>
        <p:spPr>
          <a:xfrm>
            <a:off x="5212080" y="271576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embed</a:t>
            </a:r>
            <a:endParaRPr lang="en-US" sz="1200" dirty="0"/>
          </a:p>
        </p:txBody>
      </p:sp>
      <p:sp>
        <p:nvSpPr>
          <p:cNvPr id="14" name="Shape 12"/>
          <p:cNvSpPr/>
          <p:nvPr/>
        </p:nvSpPr>
        <p:spPr>
          <a:xfrm>
            <a:off x="5029200" y="3154680"/>
            <a:ext cx="3291840" cy="402336"/>
          </a:xfrm>
          <a:prstGeom prst="rect">
            <a:avLst/>
          </a:prstGeom>
          <a:solidFill>
            <a:srgbClr val="14293D"/>
          </a:solidFill>
          <a:ln/>
        </p:spPr>
        <p:txBody>
          <a:bodyPr/>
          <a:lstStyle/>
          <a:p>
            <a:endParaRPr lang="en-US"/>
          </a:p>
        </p:txBody>
      </p:sp>
      <p:sp>
        <p:nvSpPr>
          <p:cNvPr id="15" name="Text 13"/>
          <p:cNvSpPr/>
          <p:nvPr/>
        </p:nvSpPr>
        <p:spPr>
          <a:xfrm>
            <a:off x="5212080" y="321868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top-k fetch</a:t>
            </a:r>
            <a:endParaRPr lang="en-US" sz="1200" dirty="0"/>
          </a:p>
        </p:txBody>
      </p:sp>
      <p:sp>
        <p:nvSpPr>
          <p:cNvPr id="16" name="Shape 14"/>
          <p:cNvSpPr/>
          <p:nvPr/>
        </p:nvSpPr>
        <p:spPr>
          <a:xfrm>
            <a:off x="5029200" y="3657600"/>
            <a:ext cx="3291840" cy="402336"/>
          </a:xfrm>
          <a:prstGeom prst="rect">
            <a:avLst/>
          </a:prstGeom>
          <a:solidFill>
            <a:srgbClr val="14293D"/>
          </a:solidFill>
          <a:ln/>
        </p:spPr>
        <p:txBody>
          <a:bodyPr/>
          <a:lstStyle/>
          <a:p>
            <a:endParaRPr lang="en-US"/>
          </a:p>
        </p:txBody>
      </p:sp>
      <p:sp>
        <p:nvSpPr>
          <p:cNvPr id="17" name="Text 15"/>
          <p:cNvSpPr/>
          <p:nvPr/>
        </p:nvSpPr>
        <p:spPr>
          <a:xfrm>
            <a:off x="5212080" y="3721608"/>
            <a:ext cx="2926080" cy="274320"/>
          </a:xfrm>
          <a:prstGeom prst="rect">
            <a:avLst/>
          </a:prstGeom>
          <a:noFill/>
          <a:ln/>
        </p:spPr>
        <p:txBody>
          <a:bodyPr wrap="square" lIns="0" tIns="0" rIns="0" bIns="0" rtlCol="0" anchor="ctr"/>
          <a:lstStyle/>
          <a:p>
            <a:pPr marL="0" indent="0">
              <a:buNone/>
            </a:pPr>
            <a:r>
              <a:rPr lang="en-US" sz="1200" dirty="0">
                <a:solidFill>
                  <a:srgbClr val="D7E3E9"/>
                </a:solidFill>
                <a:latin typeface="JetBrains Mono" pitchFamily="34" charset="0"/>
                <a:ea typeface="JetBrains Mono" pitchFamily="34" charset="-122"/>
                <a:cs typeface="JetBrains Mono" pitchFamily="34" charset="-120"/>
              </a:rPr>
              <a:t>generate</a:t>
            </a:r>
            <a:endParaRPr lang="en-US" sz="1200" dirty="0"/>
          </a:p>
        </p:txBody>
      </p:sp>
      <p:sp>
        <p:nvSpPr>
          <p:cNvPr id="18" name="Text 16"/>
          <p:cNvSpPr/>
          <p:nvPr/>
        </p:nvSpPr>
        <p:spPr>
          <a:xfrm>
            <a:off x="5029200" y="4160520"/>
            <a:ext cx="3291840" cy="384048"/>
          </a:xfrm>
          <a:prstGeom prst="rect">
            <a:avLst/>
          </a:prstGeom>
          <a:noFill/>
          <a:ln/>
        </p:spPr>
        <p:txBody>
          <a:bodyPr wrap="square" lIns="0" tIns="0" rIns="0" bIns="0" rtlCol="0" anchor="ctr"/>
          <a:lstStyle/>
          <a:p>
            <a:pPr marL="0" indent="0">
              <a:buNone/>
            </a:pPr>
            <a:r>
              <a:rPr lang="en-US" sz="1050" i="1" dirty="0">
                <a:solidFill>
                  <a:srgbClr val="1B9AAA"/>
                </a:solidFill>
                <a:latin typeface="Roboto" pitchFamily="34" charset="0"/>
                <a:ea typeface="Roboto" pitchFamily="34" charset="-122"/>
                <a:cs typeface="Roboto" pitchFamily="34" charset="-120"/>
              </a:rPr>
              <a:t>Unconditional. The engineer decides when to retrieve.</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9">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2021–2023 · TOOL USE</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From knowledge to capability</a:t>
            </a:r>
            <a:endParaRPr lang="en-US" sz="3200" dirty="0"/>
          </a:p>
        </p:txBody>
      </p:sp>
      <p:sp>
        <p:nvSpPr>
          <p:cNvPr id="5" name="Text 3"/>
          <p:cNvSpPr/>
          <p:nvPr/>
        </p:nvSpPr>
        <p:spPr>
          <a:xfrm>
            <a:off x="566928" y="1389888"/>
            <a:ext cx="8138160" cy="457200"/>
          </a:xfrm>
          <a:prstGeom prst="rect">
            <a:avLst/>
          </a:prstGeom>
          <a:noFill/>
          <a:ln/>
        </p:spPr>
        <p:txBody>
          <a:bodyPr wrap="square" lIns="0" tIns="0" rIns="0" bIns="0" rtlCol="0" anchor="ctr"/>
          <a:lstStyle/>
          <a:p>
            <a:pPr marL="0" indent="0">
              <a:buNone/>
            </a:pPr>
            <a:r>
              <a:rPr lang="en-US" sz="1400" dirty="0">
                <a:solidFill>
                  <a:srgbClr val="14293D"/>
                </a:solidFill>
                <a:latin typeface="Roboto" pitchFamily="34" charset="0"/>
                <a:ea typeface="Roboto" pitchFamily="34" charset="-122"/>
                <a:cs typeface="Roboto" pitchFamily="34" charset="-120"/>
              </a:rPr>
              <a:t>A control-flow answer to an action problem: let the model decide when to reach outside itself — and let it reach for anything, not just documents.</a:t>
            </a:r>
            <a:endParaRPr lang="en-US" sz="1400" dirty="0"/>
          </a:p>
        </p:txBody>
      </p:sp>
      <p:sp>
        <p:nvSpPr>
          <p:cNvPr id="6" name="Shape 4"/>
          <p:cNvSpPr/>
          <p:nvPr/>
        </p:nvSpPr>
        <p:spPr>
          <a:xfrm>
            <a:off x="566928" y="2011680"/>
            <a:ext cx="3931920" cy="2514600"/>
          </a:xfrm>
          <a:prstGeom prst="rect">
            <a:avLst/>
          </a:prstGeom>
          <a:solidFill>
            <a:srgbClr val="FFFFFF"/>
          </a:solidFill>
          <a:ln w="9525">
            <a:solidFill>
              <a:srgbClr val="DDE5E9"/>
            </a:solidFill>
            <a:prstDash val="solid"/>
          </a:ln>
        </p:spPr>
        <p:txBody>
          <a:bodyPr/>
          <a:lstStyle/>
          <a:p>
            <a:endParaRPr lang="en-US"/>
          </a:p>
        </p:txBody>
      </p:sp>
      <p:sp>
        <p:nvSpPr>
          <p:cNvPr id="7" name="Text 5"/>
          <p:cNvSpPr/>
          <p:nvPr/>
        </p:nvSpPr>
        <p:spPr>
          <a:xfrm>
            <a:off x="822960" y="2212848"/>
            <a:ext cx="3474720" cy="274320"/>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What it unlocks</a:t>
            </a:r>
            <a:endParaRPr lang="en-US" sz="1600" dirty="0"/>
          </a:p>
        </p:txBody>
      </p:sp>
      <p:sp>
        <p:nvSpPr>
          <p:cNvPr id="8" name="Text 6"/>
          <p:cNvSpPr/>
          <p:nvPr/>
        </p:nvSpPr>
        <p:spPr>
          <a:xfrm>
            <a:off x="822960" y="2578608"/>
            <a:ext cx="3474720" cy="1783080"/>
          </a:xfrm>
          <a:prstGeom prst="rect">
            <a:avLst/>
          </a:prstGeom>
          <a:noFill/>
          <a:ln/>
        </p:spPr>
        <p:txBody>
          <a:bodyPr wrap="square" rtlCol="0" anchor="ctr"/>
          <a:lstStyle/>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Deterministic computation, done deterministically</a:t>
            </a:r>
            <a:endParaRPr lang="en-US" sz="1250" dirty="0"/>
          </a:p>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Reads from systems of record</a:t>
            </a:r>
            <a:endParaRPr lang="en-US" sz="1250" dirty="0"/>
          </a:p>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Side effects — writes, sends, bookings</a:t>
            </a:r>
            <a:endParaRPr lang="en-US" sz="1250" dirty="0"/>
          </a:p>
          <a:p>
            <a:pPr marL="342900" indent="-342900">
              <a:spcAft>
                <a:spcPts val="700"/>
              </a:spcAft>
              <a:buSzPct val="100000"/>
              <a:buChar char="•"/>
            </a:pPr>
            <a:r>
              <a:rPr lang="en-US" sz="1250" dirty="0">
                <a:solidFill>
                  <a:srgbClr val="14293D"/>
                </a:solidFill>
                <a:latin typeface="Roboto" pitchFamily="34" charset="0"/>
                <a:ea typeface="Roboto" pitchFamily="34" charset="-122"/>
                <a:cs typeface="Roboto" pitchFamily="34" charset="-120"/>
              </a:rPr>
              <a:t>Loggable, permissioned, auditable actions</a:t>
            </a:r>
            <a:endParaRPr lang="en-US" sz="1250" dirty="0"/>
          </a:p>
        </p:txBody>
      </p:sp>
      <p:sp>
        <p:nvSpPr>
          <p:cNvPr id="9" name="Shape 7"/>
          <p:cNvSpPr/>
          <p:nvPr/>
        </p:nvSpPr>
        <p:spPr>
          <a:xfrm>
            <a:off x="4754880" y="2011680"/>
            <a:ext cx="3840480" cy="2514600"/>
          </a:xfrm>
          <a:prstGeom prst="rect">
            <a:avLst/>
          </a:prstGeom>
          <a:solidFill>
            <a:srgbClr val="FFFFFF"/>
          </a:solidFill>
          <a:ln w="9525">
            <a:solidFill>
              <a:srgbClr val="DDE5E9"/>
            </a:solidFill>
            <a:prstDash val="solid"/>
          </a:ln>
        </p:spPr>
        <p:txBody>
          <a:bodyPr/>
          <a:lstStyle/>
          <a:p>
            <a:endParaRPr lang="en-US"/>
          </a:p>
        </p:txBody>
      </p:sp>
      <p:sp>
        <p:nvSpPr>
          <p:cNvPr id="10" name="Text 8"/>
          <p:cNvSpPr/>
          <p:nvPr/>
        </p:nvSpPr>
        <p:spPr>
          <a:xfrm>
            <a:off x="5010912" y="2212848"/>
            <a:ext cx="3383280" cy="274320"/>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Naming it</a:t>
            </a:r>
            <a:endParaRPr lang="en-US" sz="1600" dirty="0"/>
          </a:p>
        </p:txBody>
      </p:sp>
      <p:sp>
        <p:nvSpPr>
          <p:cNvPr id="11" name="Text 9"/>
          <p:cNvSpPr/>
          <p:nvPr/>
        </p:nvSpPr>
        <p:spPr>
          <a:xfrm>
            <a:off x="5010912" y="2606040"/>
            <a:ext cx="1874520" cy="274320"/>
          </a:xfrm>
          <a:prstGeom prst="rect">
            <a:avLst/>
          </a:prstGeom>
          <a:noFill/>
          <a:ln/>
        </p:spPr>
        <p:txBody>
          <a:bodyPr wrap="square" lIns="0" tIns="0" rIns="0" bIns="0" rtlCol="0" anchor="ctr"/>
          <a:lstStyle/>
          <a:p>
            <a:pPr marL="0" indent="0">
              <a:buNone/>
            </a:pPr>
            <a:r>
              <a:rPr lang="en-US" sz="1100" dirty="0">
                <a:solidFill>
                  <a:srgbClr val="1B9AAA"/>
                </a:solidFill>
                <a:latin typeface="JetBrains Mono" pitchFamily="34" charset="0"/>
                <a:ea typeface="JetBrains Mono" pitchFamily="34" charset="-122"/>
                <a:cs typeface="JetBrains Mono" pitchFamily="34" charset="-120"/>
              </a:rPr>
              <a:t>tool use / tool calling</a:t>
            </a:r>
            <a:endParaRPr lang="en-US" sz="1100" dirty="0"/>
          </a:p>
        </p:txBody>
      </p:sp>
      <p:sp>
        <p:nvSpPr>
          <p:cNvPr id="12" name="Text 10"/>
          <p:cNvSpPr/>
          <p:nvPr/>
        </p:nvSpPr>
        <p:spPr>
          <a:xfrm>
            <a:off x="6903720" y="26060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the category term — use this</a:t>
            </a:r>
            <a:endParaRPr lang="en-US" sz="1050" dirty="0"/>
          </a:p>
        </p:txBody>
      </p:sp>
      <p:sp>
        <p:nvSpPr>
          <p:cNvPr id="13" name="Text 11"/>
          <p:cNvSpPr/>
          <p:nvPr/>
        </p:nvSpPr>
        <p:spPr>
          <a:xfrm>
            <a:off x="5010912" y="3063240"/>
            <a:ext cx="18745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function calling</a:t>
            </a:r>
            <a:endParaRPr lang="en-US" sz="1100" dirty="0"/>
          </a:p>
        </p:txBody>
      </p:sp>
      <p:sp>
        <p:nvSpPr>
          <p:cNvPr id="14" name="Text 12"/>
          <p:cNvSpPr/>
          <p:nvPr/>
        </p:nvSpPr>
        <p:spPr>
          <a:xfrm>
            <a:off x="6903720" y="30632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the concrete API mechanism</a:t>
            </a:r>
            <a:endParaRPr lang="en-US" sz="1050" dirty="0"/>
          </a:p>
        </p:txBody>
      </p:sp>
      <p:sp>
        <p:nvSpPr>
          <p:cNvPr id="15" name="Text 13"/>
          <p:cNvSpPr/>
          <p:nvPr/>
        </p:nvSpPr>
        <p:spPr>
          <a:xfrm>
            <a:off x="5010912" y="3520440"/>
            <a:ext cx="18745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tool-augmented LLMs</a:t>
            </a:r>
            <a:endParaRPr lang="en-US" sz="1100" dirty="0"/>
          </a:p>
        </p:txBody>
      </p:sp>
      <p:sp>
        <p:nvSpPr>
          <p:cNvPr id="16" name="Text 14"/>
          <p:cNvSpPr/>
          <p:nvPr/>
        </p:nvSpPr>
        <p:spPr>
          <a:xfrm>
            <a:off x="6903720" y="35204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the academic register</a:t>
            </a:r>
            <a:endParaRPr lang="en-US" sz="1050" dirty="0"/>
          </a:p>
        </p:txBody>
      </p:sp>
      <p:sp>
        <p:nvSpPr>
          <p:cNvPr id="17" name="Text 15"/>
          <p:cNvSpPr/>
          <p:nvPr/>
        </p:nvSpPr>
        <p:spPr>
          <a:xfrm>
            <a:off x="5010912" y="3977640"/>
            <a:ext cx="1874520" cy="274320"/>
          </a:xfrm>
          <a:prstGeom prst="rect">
            <a:avLst/>
          </a:prstGeom>
          <a:noFill/>
          <a:ln/>
        </p:spPr>
        <p:txBody>
          <a:bodyPr wrap="square" lIns="0" tIns="0" rIns="0" bIns="0" rtlCol="0" anchor="ctr"/>
          <a:lstStyle/>
          <a:p>
            <a:pPr marL="0" indent="0">
              <a:buNone/>
            </a:pPr>
            <a:r>
              <a:rPr lang="en-US" sz="1100" dirty="0">
                <a:solidFill>
                  <a:srgbClr val="0D1B2A"/>
                </a:solidFill>
                <a:latin typeface="JetBrains Mono" pitchFamily="34" charset="0"/>
                <a:ea typeface="JetBrains Mono" pitchFamily="34" charset="-122"/>
                <a:cs typeface="JetBrains Mono" pitchFamily="34" charset="-120"/>
              </a:rPr>
              <a:t>grounding</a:t>
            </a:r>
            <a:endParaRPr lang="en-US" sz="1100" dirty="0"/>
          </a:p>
        </p:txBody>
      </p:sp>
      <p:sp>
        <p:nvSpPr>
          <p:cNvPr id="18" name="Text 16"/>
          <p:cNvSpPr/>
          <p:nvPr/>
        </p:nvSpPr>
        <p:spPr>
          <a:xfrm>
            <a:off x="6903720" y="3977640"/>
            <a:ext cx="1600200" cy="384048"/>
          </a:xfrm>
          <a:prstGeom prst="rect">
            <a:avLst/>
          </a:prstGeom>
          <a:noFill/>
          <a:ln/>
        </p:spPr>
        <p:txBody>
          <a:bodyPr wrap="square" lIns="0" tIns="0" rIns="0" bIns="0" rtlCol="0" anchor="ctr"/>
          <a:lstStyle/>
          <a:p>
            <a:pPr marL="0" indent="0">
              <a:buNone/>
            </a:pPr>
            <a:r>
              <a:rPr lang="en-US" sz="1050" dirty="0">
                <a:solidFill>
                  <a:srgbClr val="6B7B8C"/>
                </a:solidFill>
                <a:latin typeface="Roboto" pitchFamily="34" charset="0"/>
                <a:ea typeface="Roboto" pitchFamily="34" charset="-122"/>
                <a:cs typeface="Roboto" pitchFamily="34" charset="-120"/>
              </a:rPr>
              <a:t>tying output to external state</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2024 · MCP</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An integration problem, not a model one</a:t>
            </a:r>
            <a:endParaRPr lang="en-US" sz="3200" dirty="0"/>
          </a:p>
        </p:txBody>
      </p:sp>
      <p:sp>
        <p:nvSpPr>
          <p:cNvPr id="5" name="Shape 3"/>
          <p:cNvSpPr/>
          <p:nvPr/>
        </p:nvSpPr>
        <p:spPr>
          <a:xfrm>
            <a:off x="566928" y="1463040"/>
            <a:ext cx="8046720" cy="960120"/>
          </a:xfrm>
          <a:prstGeom prst="rect">
            <a:avLst/>
          </a:prstGeom>
          <a:solidFill>
            <a:srgbClr val="0D1B2A"/>
          </a:solidFill>
          <a:ln/>
        </p:spPr>
        <p:txBody>
          <a:bodyPr/>
          <a:lstStyle/>
          <a:p>
            <a:endParaRPr lang="en-US"/>
          </a:p>
        </p:txBody>
      </p:sp>
      <p:sp>
        <p:nvSpPr>
          <p:cNvPr id="6" name="Text 4"/>
          <p:cNvSpPr/>
          <p:nvPr/>
        </p:nvSpPr>
        <p:spPr>
          <a:xfrm>
            <a:off x="868680" y="1691640"/>
            <a:ext cx="7498080" cy="457200"/>
          </a:xfrm>
          <a:prstGeom prst="rect">
            <a:avLst/>
          </a:prstGeom>
          <a:noFill/>
          <a:ln/>
        </p:spPr>
        <p:txBody>
          <a:bodyPr wrap="square" lIns="0" tIns="0" rIns="0" bIns="0" rtlCol="0" anchor="ctr"/>
          <a:lstStyle/>
          <a:p>
            <a:pPr marL="0" indent="0">
              <a:buNone/>
            </a:pPr>
            <a:r>
              <a:rPr lang="en-US" sz="2400" dirty="0">
                <a:solidFill>
                  <a:srgbClr val="FFFFFF"/>
                </a:solidFill>
                <a:latin typeface="Oswald" pitchFamily="34" charset="0"/>
                <a:ea typeface="Oswald" pitchFamily="34" charset="-122"/>
                <a:cs typeface="Oswald" pitchFamily="34" charset="-120"/>
              </a:rPr>
              <a:t>M models × N systems = M×N bespoke connectors</a:t>
            </a:r>
            <a:endParaRPr lang="en-US" sz="2400" dirty="0"/>
          </a:p>
        </p:txBody>
      </p:sp>
      <p:sp>
        <p:nvSpPr>
          <p:cNvPr id="7" name="Text 5"/>
          <p:cNvSpPr/>
          <p:nvPr/>
        </p:nvSpPr>
        <p:spPr>
          <a:xfrm>
            <a:off x="566928" y="2651760"/>
            <a:ext cx="4846320" cy="1280160"/>
          </a:xfrm>
          <a:prstGeom prst="rect">
            <a:avLst/>
          </a:prstGeom>
          <a:noFill/>
          <a:ln/>
        </p:spPr>
        <p:txBody>
          <a:bodyPr wrap="square" lIns="0" tIns="0" rIns="0" bIns="0" rtlCol="0" anchor="ctr"/>
          <a:lstStyle/>
          <a:p>
            <a:pPr marL="0" indent="0">
              <a:buNone/>
            </a:pPr>
            <a:r>
              <a:rPr lang="en-US" sz="1400" dirty="0">
                <a:solidFill>
                  <a:srgbClr val="14293D"/>
                </a:solidFill>
                <a:latin typeface="Roboto" pitchFamily="34" charset="0"/>
                <a:ea typeface="Roboto" pitchFamily="34" charset="-122"/>
                <a:cs typeface="Roboto" pitchFamily="34" charset="-120"/>
              </a:rPr>
              <a:t>Every vendor had its own incompatible tool format. MCP is a standard description and transport layer — build a tool once, use it with any compliant client. Closer in spirit to LSP for code editors than to anything about model architecture.</a:t>
            </a:r>
            <a:endParaRPr lang="en-US" sz="1400" dirty="0"/>
          </a:p>
        </p:txBody>
      </p:sp>
      <p:sp>
        <p:nvSpPr>
          <p:cNvPr id="8" name="Shape 6"/>
          <p:cNvSpPr/>
          <p:nvPr/>
        </p:nvSpPr>
        <p:spPr>
          <a:xfrm>
            <a:off x="5715000" y="2606040"/>
            <a:ext cx="2898648" cy="1600200"/>
          </a:xfrm>
          <a:prstGeom prst="rect">
            <a:avLst/>
          </a:prstGeom>
          <a:solidFill>
            <a:srgbClr val="FFFFFF"/>
          </a:solidFill>
          <a:ln w="15875">
            <a:solidFill>
              <a:srgbClr val="06D6A0"/>
            </a:solidFill>
            <a:prstDash val="solid"/>
          </a:ln>
        </p:spPr>
        <p:txBody>
          <a:bodyPr/>
          <a:lstStyle/>
          <a:p>
            <a:endParaRPr lang="en-US"/>
          </a:p>
        </p:txBody>
      </p:sp>
      <p:sp>
        <p:nvSpPr>
          <p:cNvPr id="9" name="Text 7"/>
          <p:cNvSpPr/>
          <p:nvPr/>
        </p:nvSpPr>
        <p:spPr>
          <a:xfrm>
            <a:off x="5943600" y="2834640"/>
            <a:ext cx="2468880" cy="548640"/>
          </a:xfrm>
          <a:prstGeom prst="rect">
            <a:avLst/>
          </a:prstGeom>
          <a:noFill/>
          <a:ln/>
        </p:spPr>
        <p:txBody>
          <a:bodyPr wrap="square" lIns="0" tIns="0" rIns="0" bIns="0" rtlCol="0" anchor="ctr"/>
          <a:lstStyle/>
          <a:p>
            <a:pPr marL="0" indent="0">
              <a:buNone/>
            </a:pPr>
            <a:r>
              <a:rPr lang="en-US" sz="1600" dirty="0">
                <a:solidFill>
                  <a:srgbClr val="0D1B2A"/>
                </a:solidFill>
                <a:latin typeface="Oswald" pitchFamily="34" charset="0"/>
                <a:ea typeface="Oswald" pitchFamily="34" charset="-122"/>
                <a:cs typeface="Oswald" pitchFamily="34" charset="-120"/>
              </a:rPr>
              <a:t>No model semantics of its own</a:t>
            </a:r>
            <a:endParaRPr lang="en-US" sz="1600" dirty="0"/>
          </a:p>
        </p:txBody>
      </p:sp>
      <p:sp>
        <p:nvSpPr>
          <p:cNvPr id="10" name="Text 8"/>
          <p:cNvSpPr/>
          <p:nvPr/>
        </p:nvSpPr>
        <p:spPr>
          <a:xfrm>
            <a:off x="5943600" y="3401568"/>
            <a:ext cx="2468880" cy="640080"/>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It standardises how a capability is described — not whether or when to use it.</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1">
    <p:bg>
      <p:bgPr>
        <a:solidFill>
          <a:srgbClr val="F4F7F8"/>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THE STACK</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Four layers, one direction of travel</a:t>
            </a:r>
            <a:endParaRPr lang="en-US" sz="3200" dirty="0"/>
          </a:p>
        </p:txBody>
      </p:sp>
      <p:sp>
        <p:nvSpPr>
          <p:cNvPr id="5" name="Shape 3"/>
          <p:cNvSpPr/>
          <p:nvPr/>
        </p:nvSpPr>
        <p:spPr>
          <a:xfrm>
            <a:off x="566928" y="1463040"/>
            <a:ext cx="8046720" cy="658368"/>
          </a:xfrm>
          <a:prstGeom prst="rect">
            <a:avLst/>
          </a:prstGeom>
          <a:solidFill>
            <a:srgbClr val="0D1B2A"/>
          </a:solidFill>
          <a:ln w="9525">
            <a:solidFill>
              <a:srgbClr val="0D1B2A"/>
            </a:solidFill>
            <a:prstDash val="solid"/>
          </a:ln>
        </p:spPr>
        <p:txBody>
          <a:bodyPr/>
          <a:lstStyle/>
          <a:p>
            <a:endParaRPr lang="en-US"/>
          </a:p>
        </p:txBody>
      </p:sp>
      <p:sp>
        <p:nvSpPr>
          <p:cNvPr id="6" name="Shape 4"/>
          <p:cNvSpPr/>
          <p:nvPr/>
        </p:nvSpPr>
        <p:spPr>
          <a:xfrm>
            <a:off x="566928" y="1463040"/>
            <a:ext cx="82296" cy="658368"/>
          </a:xfrm>
          <a:prstGeom prst="rect">
            <a:avLst/>
          </a:prstGeom>
          <a:solidFill>
            <a:srgbClr val="06D6A0"/>
          </a:solidFill>
          <a:ln/>
        </p:spPr>
        <p:txBody>
          <a:bodyPr/>
          <a:lstStyle/>
          <a:p>
            <a:endParaRPr lang="en-US"/>
          </a:p>
        </p:txBody>
      </p:sp>
      <p:sp>
        <p:nvSpPr>
          <p:cNvPr id="7" name="Text 5"/>
          <p:cNvSpPr/>
          <p:nvPr/>
        </p:nvSpPr>
        <p:spPr>
          <a:xfrm>
            <a:off x="868680" y="1545336"/>
            <a:ext cx="2651760" cy="274320"/>
          </a:xfrm>
          <a:prstGeom prst="rect">
            <a:avLst/>
          </a:prstGeom>
          <a:noFill/>
          <a:ln/>
        </p:spPr>
        <p:txBody>
          <a:bodyPr wrap="square" lIns="0" tIns="0" rIns="0" bIns="0" rtlCol="0" anchor="ctr"/>
          <a:lstStyle/>
          <a:p>
            <a:pPr marL="0" indent="0">
              <a:buNone/>
            </a:pPr>
            <a:r>
              <a:rPr lang="en-US" sz="1800" dirty="0">
                <a:solidFill>
                  <a:srgbClr val="FFFFFF"/>
                </a:solidFill>
                <a:latin typeface="Oswald" pitchFamily="34" charset="0"/>
                <a:ea typeface="Oswald" pitchFamily="34" charset="-122"/>
                <a:cs typeface="Oswald" pitchFamily="34" charset="-120"/>
              </a:rPr>
              <a:t>Agentic system</a:t>
            </a:r>
            <a:endParaRPr lang="en-US" sz="1800" dirty="0"/>
          </a:p>
        </p:txBody>
      </p:sp>
      <p:sp>
        <p:nvSpPr>
          <p:cNvPr id="8" name="Text 6"/>
          <p:cNvSpPr/>
          <p:nvPr/>
        </p:nvSpPr>
        <p:spPr>
          <a:xfrm>
            <a:off x="3566160" y="1600200"/>
            <a:ext cx="3566160" cy="365760"/>
          </a:xfrm>
          <a:prstGeom prst="rect">
            <a:avLst/>
          </a:prstGeom>
          <a:noFill/>
          <a:ln/>
        </p:spPr>
        <p:txBody>
          <a:bodyPr wrap="square" lIns="0" tIns="0" rIns="0" bIns="0" rtlCol="0" anchor="ctr"/>
          <a:lstStyle/>
          <a:p>
            <a:pPr marL="0" indent="0">
              <a:buNone/>
            </a:pPr>
            <a:r>
              <a:rPr lang="en-US" sz="1250" dirty="0">
                <a:solidFill>
                  <a:srgbClr val="AFC2CE"/>
                </a:solidFill>
                <a:latin typeface="Roboto" pitchFamily="34" charset="0"/>
                <a:ea typeface="Roboto" pitchFamily="34" charset="-122"/>
                <a:cs typeface="Roboto" pitchFamily="34" charset="-120"/>
              </a:rPr>
              <a:t>planning · loop · memory · autonomy</a:t>
            </a:r>
            <a:endParaRPr lang="en-US" sz="1250" dirty="0"/>
          </a:p>
        </p:txBody>
      </p:sp>
      <p:sp>
        <p:nvSpPr>
          <p:cNvPr id="9" name="Text 7"/>
          <p:cNvSpPr/>
          <p:nvPr/>
        </p:nvSpPr>
        <p:spPr>
          <a:xfrm>
            <a:off x="7223760" y="1627632"/>
            <a:ext cx="1234440" cy="274320"/>
          </a:xfrm>
          <a:prstGeom prst="rect">
            <a:avLst/>
          </a:prstGeom>
          <a:noFill/>
          <a:ln/>
        </p:spPr>
        <p:txBody>
          <a:bodyPr wrap="square" lIns="0" tIns="0" rIns="0" bIns="0" rtlCol="0" anchor="ctr"/>
          <a:lstStyle/>
          <a:p>
            <a:pPr marL="0" indent="0" algn="r">
              <a:buNone/>
            </a:pPr>
            <a:r>
              <a:rPr lang="en-US" sz="1000" kern="0" spc="150" dirty="0">
                <a:solidFill>
                  <a:srgbClr val="06D6A0"/>
                </a:solidFill>
                <a:latin typeface="JetBrains Mono" pitchFamily="34" charset="0"/>
                <a:ea typeface="JetBrains Mono" pitchFamily="34" charset="-122"/>
                <a:cs typeface="JetBrains Mono" pitchFamily="34" charset="-120"/>
              </a:rPr>
              <a:t>CONTROL</a:t>
            </a:r>
            <a:endParaRPr lang="en-US" sz="1000" dirty="0"/>
          </a:p>
        </p:txBody>
      </p:sp>
      <p:sp>
        <p:nvSpPr>
          <p:cNvPr id="10" name="Shape 8"/>
          <p:cNvSpPr/>
          <p:nvPr/>
        </p:nvSpPr>
        <p:spPr>
          <a:xfrm>
            <a:off x="566928" y="2240280"/>
            <a:ext cx="8046720" cy="658368"/>
          </a:xfrm>
          <a:prstGeom prst="rect">
            <a:avLst/>
          </a:prstGeom>
          <a:solidFill>
            <a:srgbClr val="FFFFFF"/>
          </a:solidFill>
          <a:ln w="9525">
            <a:solidFill>
              <a:srgbClr val="DDE5E9"/>
            </a:solidFill>
            <a:prstDash val="solid"/>
          </a:ln>
        </p:spPr>
        <p:txBody>
          <a:bodyPr/>
          <a:lstStyle/>
          <a:p>
            <a:endParaRPr lang="en-US"/>
          </a:p>
        </p:txBody>
      </p:sp>
      <p:sp>
        <p:nvSpPr>
          <p:cNvPr id="11" name="Shape 9"/>
          <p:cNvSpPr/>
          <p:nvPr/>
        </p:nvSpPr>
        <p:spPr>
          <a:xfrm>
            <a:off x="566928" y="2240280"/>
            <a:ext cx="82296" cy="658368"/>
          </a:xfrm>
          <a:prstGeom prst="rect">
            <a:avLst/>
          </a:prstGeom>
          <a:solidFill>
            <a:srgbClr val="1B9AAA"/>
          </a:solidFill>
          <a:ln/>
        </p:spPr>
        <p:txBody>
          <a:bodyPr/>
          <a:lstStyle/>
          <a:p>
            <a:endParaRPr lang="en-US"/>
          </a:p>
        </p:txBody>
      </p:sp>
      <p:sp>
        <p:nvSpPr>
          <p:cNvPr id="12" name="Text 10"/>
          <p:cNvSpPr/>
          <p:nvPr/>
        </p:nvSpPr>
        <p:spPr>
          <a:xfrm>
            <a:off x="868680" y="2322576"/>
            <a:ext cx="2651760" cy="274320"/>
          </a:xfrm>
          <a:prstGeom prst="rect">
            <a:avLst/>
          </a:prstGeom>
          <a:noFill/>
          <a:ln/>
        </p:spPr>
        <p:txBody>
          <a:bodyPr wrap="square" lIns="0" tIns="0" rIns="0" bIns="0" rtlCol="0" anchor="ctr"/>
          <a:lstStyle/>
          <a:p>
            <a:pPr marL="0" indent="0">
              <a:buNone/>
            </a:pPr>
            <a:r>
              <a:rPr lang="en-US" sz="1800" dirty="0">
                <a:solidFill>
                  <a:srgbClr val="0D1B2A"/>
                </a:solidFill>
                <a:latin typeface="Oswald" pitchFamily="34" charset="0"/>
                <a:ea typeface="Oswald" pitchFamily="34" charset="-122"/>
                <a:cs typeface="Oswald" pitchFamily="34" charset="-120"/>
              </a:rPr>
              <a:t>Tool use / RAG</a:t>
            </a:r>
            <a:endParaRPr lang="en-US" sz="1800" dirty="0"/>
          </a:p>
        </p:txBody>
      </p:sp>
      <p:sp>
        <p:nvSpPr>
          <p:cNvPr id="13" name="Text 11"/>
          <p:cNvSpPr/>
          <p:nvPr/>
        </p:nvSpPr>
        <p:spPr>
          <a:xfrm>
            <a:off x="3566160" y="2377440"/>
            <a:ext cx="3566160" cy="36576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perception and actuation</a:t>
            </a:r>
            <a:endParaRPr lang="en-US" sz="1250" dirty="0"/>
          </a:p>
        </p:txBody>
      </p:sp>
      <p:sp>
        <p:nvSpPr>
          <p:cNvPr id="14" name="Text 12"/>
          <p:cNvSpPr/>
          <p:nvPr/>
        </p:nvSpPr>
        <p:spPr>
          <a:xfrm>
            <a:off x="7223760" y="2404872"/>
            <a:ext cx="1234440" cy="274320"/>
          </a:xfrm>
          <a:prstGeom prst="rect">
            <a:avLst/>
          </a:prstGeom>
          <a:noFill/>
          <a:ln/>
        </p:spPr>
        <p:txBody>
          <a:bodyPr wrap="square" lIns="0" tIns="0" rIns="0" bIns="0" rtlCol="0" anchor="ctr"/>
          <a:lstStyle/>
          <a:p>
            <a:pPr marL="0" indent="0" algn="r">
              <a:buNone/>
            </a:pPr>
            <a:r>
              <a:rPr lang="en-US" sz="1000" kern="0" spc="150" dirty="0">
                <a:solidFill>
                  <a:srgbClr val="1B9AAA"/>
                </a:solidFill>
                <a:latin typeface="JetBrains Mono" pitchFamily="34" charset="0"/>
                <a:ea typeface="JetBrains Mono" pitchFamily="34" charset="-122"/>
                <a:cs typeface="JetBrains Mono" pitchFamily="34" charset="-120"/>
              </a:rPr>
              <a:t>CAPABILITY</a:t>
            </a:r>
            <a:endParaRPr lang="en-US" sz="1000" dirty="0"/>
          </a:p>
        </p:txBody>
      </p:sp>
      <p:sp>
        <p:nvSpPr>
          <p:cNvPr id="15" name="Shape 13"/>
          <p:cNvSpPr/>
          <p:nvPr/>
        </p:nvSpPr>
        <p:spPr>
          <a:xfrm>
            <a:off x="566928" y="3017520"/>
            <a:ext cx="8046720" cy="658368"/>
          </a:xfrm>
          <a:prstGeom prst="rect">
            <a:avLst/>
          </a:prstGeom>
          <a:solidFill>
            <a:srgbClr val="FFFFFF"/>
          </a:solidFill>
          <a:ln w="9525">
            <a:solidFill>
              <a:srgbClr val="DDE5E9"/>
            </a:solidFill>
            <a:prstDash val="solid"/>
          </a:ln>
        </p:spPr>
        <p:txBody>
          <a:bodyPr/>
          <a:lstStyle/>
          <a:p>
            <a:endParaRPr lang="en-US"/>
          </a:p>
        </p:txBody>
      </p:sp>
      <p:sp>
        <p:nvSpPr>
          <p:cNvPr id="16" name="Shape 14"/>
          <p:cNvSpPr/>
          <p:nvPr/>
        </p:nvSpPr>
        <p:spPr>
          <a:xfrm>
            <a:off x="566928" y="3017520"/>
            <a:ext cx="82296" cy="658368"/>
          </a:xfrm>
          <a:prstGeom prst="rect">
            <a:avLst/>
          </a:prstGeom>
          <a:solidFill>
            <a:srgbClr val="4E7C8C"/>
          </a:solidFill>
          <a:ln/>
        </p:spPr>
        <p:txBody>
          <a:bodyPr/>
          <a:lstStyle/>
          <a:p>
            <a:endParaRPr lang="en-US"/>
          </a:p>
        </p:txBody>
      </p:sp>
      <p:sp>
        <p:nvSpPr>
          <p:cNvPr id="17" name="Text 15"/>
          <p:cNvSpPr/>
          <p:nvPr/>
        </p:nvSpPr>
        <p:spPr>
          <a:xfrm>
            <a:off x="868680" y="3099816"/>
            <a:ext cx="2651760" cy="274320"/>
          </a:xfrm>
          <a:prstGeom prst="rect">
            <a:avLst/>
          </a:prstGeom>
          <a:noFill/>
          <a:ln/>
        </p:spPr>
        <p:txBody>
          <a:bodyPr wrap="square" lIns="0" tIns="0" rIns="0" bIns="0" rtlCol="0" anchor="ctr"/>
          <a:lstStyle/>
          <a:p>
            <a:pPr marL="0" indent="0">
              <a:buNone/>
            </a:pPr>
            <a:r>
              <a:rPr lang="en-US" sz="1800" dirty="0">
                <a:solidFill>
                  <a:srgbClr val="0D1B2A"/>
                </a:solidFill>
                <a:latin typeface="Oswald" pitchFamily="34" charset="0"/>
                <a:ea typeface="Oswald" pitchFamily="34" charset="-122"/>
                <a:cs typeface="Oswald" pitchFamily="34" charset="-120"/>
              </a:rPr>
              <a:t>MCP</a:t>
            </a:r>
            <a:endParaRPr lang="en-US" sz="1800" dirty="0"/>
          </a:p>
        </p:txBody>
      </p:sp>
      <p:sp>
        <p:nvSpPr>
          <p:cNvPr id="18" name="Text 16"/>
          <p:cNvSpPr/>
          <p:nvPr/>
        </p:nvSpPr>
        <p:spPr>
          <a:xfrm>
            <a:off x="3566160" y="3154680"/>
            <a:ext cx="3566160" cy="36576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standardised interface to tools</a:t>
            </a:r>
            <a:endParaRPr lang="en-US" sz="1250" dirty="0"/>
          </a:p>
        </p:txBody>
      </p:sp>
      <p:sp>
        <p:nvSpPr>
          <p:cNvPr id="19" name="Text 17"/>
          <p:cNvSpPr/>
          <p:nvPr/>
        </p:nvSpPr>
        <p:spPr>
          <a:xfrm>
            <a:off x="7223760" y="3182112"/>
            <a:ext cx="1234440" cy="274320"/>
          </a:xfrm>
          <a:prstGeom prst="rect">
            <a:avLst/>
          </a:prstGeom>
          <a:noFill/>
          <a:ln/>
        </p:spPr>
        <p:txBody>
          <a:bodyPr wrap="square" lIns="0" tIns="0" rIns="0" bIns="0" rtlCol="0" anchor="ctr"/>
          <a:lstStyle/>
          <a:p>
            <a:pPr marL="0" indent="0" algn="r">
              <a:buNone/>
            </a:pPr>
            <a:r>
              <a:rPr lang="en-US" sz="1000" kern="0" spc="150" dirty="0">
                <a:solidFill>
                  <a:srgbClr val="4E7C8C"/>
                </a:solidFill>
                <a:latin typeface="JetBrains Mono" pitchFamily="34" charset="0"/>
                <a:ea typeface="JetBrains Mono" pitchFamily="34" charset="-122"/>
                <a:cs typeface="JetBrains Mono" pitchFamily="34" charset="-120"/>
              </a:rPr>
              <a:t>PLUMBING</a:t>
            </a:r>
            <a:endParaRPr lang="en-US" sz="1000" dirty="0"/>
          </a:p>
        </p:txBody>
      </p:sp>
      <p:sp>
        <p:nvSpPr>
          <p:cNvPr id="20" name="Shape 18"/>
          <p:cNvSpPr/>
          <p:nvPr/>
        </p:nvSpPr>
        <p:spPr>
          <a:xfrm>
            <a:off x="566928" y="3794760"/>
            <a:ext cx="8046720" cy="658368"/>
          </a:xfrm>
          <a:prstGeom prst="rect">
            <a:avLst/>
          </a:prstGeom>
          <a:solidFill>
            <a:srgbClr val="FFFFFF"/>
          </a:solidFill>
          <a:ln w="9525">
            <a:solidFill>
              <a:srgbClr val="DDE5E9"/>
            </a:solidFill>
            <a:prstDash val="solid"/>
          </a:ln>
        </p:spPr>
        <p:txBody>
          <a:bodyPr/>
          <a:lstStyle/>
          <a:p>
            <a:endParaRPr lang="en-US"/>
          </a:p>
        </p:txBody>
      </p:sp>
      <p:sp>
        <p:nvSpPr>
          <p:cNvPr id="21" name="Shape 19"/>
          <p:cNvSpPr/>
          <p:nvPr/>
        </p:nvSpPr>
        <p:spPr>
          <a:xfrm>
            <a:off x="566928" y="3794760"/>
            <a:ext cx="82296" cy="658368"/>
          </a:xfrm>
          <a:prstGeom prst="rect">
            <a:avLst/>
          </a:prstGeom>
          <a:solidFill>
            <a:srgbClr val="8FA6B2"/>
          </a:solidFill>
          <a:ln/>
        </p:spPr>
        <p:txBody>
          <a:bodyPr/>
          <a:lstStyle/>
          <a:p>
            <a:endParaRPr lang="en-US"/>
          </a:p>
        </p:txBody>
      </p:sp>
      <p:sp>
        <p:nvSpPr>
          <p:cNvPr id="22" name="Text 20"/>
          <p:cNvSpPr/>
          <p:nvPr/>
        </p:nvSpPr>
        <p:spPr>
          <a:xfrm>
            <a:off x="868680" y="3877056"/>
            <a:ext cx="2651760" cy="274320"/>
          </a:xfrm>
          <a:prstGeom prst="rect">
            <a:avLst/>
          </a:prstGeom>
          <a:noFill/>
          <a:ln/>
        </p:spPr>
        <p:txBody>
          <a:bodyPr wrap="square" lIns="0" tIns="0" rIns="0" bIns="0" rtlCol="0" anchor="ctr"/>
          <a:lstStyle/>
          <a:p>
            <a:pPr marL="0" indent="0">
              <a:buNone/>
            </a:pPr>
            <a:r>
              <a:rPr lang="en-US" sz="1800" dirty="0">
                <a:solidFill>
                  <a:srgbClr val="0D1B2A"/>
                </a:solidFill>
                <a:latin typeface="Oswald" pitchFamily="34" charset="0"/>
                <a:ea typeface="Oswald" pitchFamily="34" charset="-122"/>
                <a:cs typeface="Oswald" pitchFamily="34" charset="-120"/>
              </a:rPr>
              <a:t>Foundation model</a:t>
            </a:r>
            <a:endParaRPr lang="en-US" sz="1800" dirty="0"/>
          </a:p>
        </p:txBody>
      </p:sp>
      <p:sp>
        <p:nvSpPr>
          <p:cNvPr id="23" name="Text 21"/>
          <p:cNvSpPr/>
          <p:nvPr/>
        </p:nvSpPr>
        <p:spPr>
          <a:xfrm>
            <a:off x="3566160" y="3931920"/>
            <a:ext cx="3566160" cy="365760"/>
          </a:xfrm>
          <a:prstGeom prst="rect">
            <a:avLst/>
          </a:prstGeom>
          <a:noFill/>
          <a:ln/>
        </p:spPr>
        <p:txBody>
          <a:bodyPr wrap="square" lIns="0" tIns="0" rIns="0" bIns="0" rtlCol="0" anchor="ctr"/>
          <a:lstStyle/>
          <a:p>
            <a:pPr marL="0" indent="0">
              <a:buNone/>
            </a:pPr>
            <a:r>
              <a:rPr lang="en-US" sz="1250" dirty="0">
                <a:solidFill>
                  <a:srgbClr val="6B7B8C"/>
                </a:solidFill>
                <a:latin typeface="Roboto" pitchFamily="34" charset="0"/>
                <a:ea typeface="Roboto" pitchFamily="34" charset="-122"/>
                <a:cs typeface="Roboto" pitchFamily="34" charset="-120"/>
              </a:rPr>
              <a:t>language, reasoning, orchestration</a:t>
            </a:r>
            <a:endParaRPr lang="en-US" sz="1250" dirty="0"/>
          </a:p>
        </p:txBody>
      </p:sp>
      <p:sp>
        <p:nvSpPr>
          <p:cNvPr id="24" name="Text 22"/>
          <p:cNvSpPr/>
          <p:nvPr/>
        </p:nvSpPr>
        <p:spPr>
          <a:xfrm>
            <a:off x="7223760" y="3959352"/>
            <a:ext cx="1234440" cy="274320"/>
          </a:xfrm>
          <a:prstGeom prst="rect">
            <a:avLst/>
          </a:prstGeom>
          <a:noFill/>
          <a:ln/>
        </p:spPr>
        <p:txBody>
          <a:bodyPr wrap="square" lIns="0" tIns="0" rIns="0" bIns="0" rtlCol="0" anchor="ctr"/>
          <a:lstStyle/>
          <a:p>
            <a:pPr marL="0" indent="0" algn="r">
              <a:buNone/>
            </a:pPr>
            <a:r>
              <a:rPr lang="en-US" sz="1000" kern="0" spc="150" dirty="0">
                <a:solidFill>
                  <a:srgbClr val="8FA6B2"/>
                </a:solidFill>
                <a:latin typeface="JetBrains Mono" pitchFamily="34" charset="0"/>
                <a:ea typeface="JetBrains Mono" pitchFamily="34" charset="-122"/>
                <a:cs typeface="JetBrains Mono" pitchFamily="34" charset="-120"/>
              </a:rPr>
              <a:t>SUBSTRATE</a:t>
            </a:r>
            <a:endParaRPr lang="en-US" sz="1000" dirty="0"/>
          </a:p>
        </p:txBody>
      </p:sp>
      <p:sp>
        <p:nvSpPr>
          <p:cNvPr id="25" name="Text 23"/>
          <p:cNvSpPr/>
          <p:nvPr/>
        </p:nvSpPr>
        <p:spPr>
          <a:xfrm>
            <a:off x="566928" y="4617720"/>
            <a:ext cx="8046720" cy="274320"/>
          </a:xfrm>
          <a:prstGeom prst="rect">
            <a:avLst/>
          </a:prstGeom>
          <a:noFill/>
          <a:ln/>
        </p:spPr>
        <p:txBody>
          <a:bodyPr wrap="square" lIns="0" tIns="0" rIns="0" bIns="0" rtlCol="0" anchor="ctr"/>
          <a:lstStyle/>
          <a:p>
            <a:pPr marL="0" indent="0">
              <a:buNone/>
            </a:pPr>
            <a:r>
              <a:rPr lang="en-US" sz="1250" i="1" dirty="0">
                <a:solidFill>
                  <a:srgbClr val="14293D"/>
                </a:solidFill>
                <a:latin typeface="Roboto" pitchFamily="34" charset="0"/>
                <a:ea typeface="Roboto" pitchFamily="34" charset="-122"/>
                <a:cs typeface="Roboto" pitchFamily="34" charset="-120"/>
              </a:rPr>
              <a:t>Hands and eyes are the capability layer. Agency lives one level up.</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92024" cy="5143500"/>
          </a:xfrm>
          <a:prstGeom prst="rect">
            <a:avLst/>
          </a:prstGeom>
          <a:solidFill>
            <a:srgbClr val="0D1B2A"/>
          </a:solidFill>
          <a:ln w="12700">
            <a:solidFill>
              <a:srgbClr val="0D1B2A"/>
            </a:solidFill>
            <a:prstDash val="solid"/>
          </a:ln>
        </p:spPr>
        <p:txBody>
          <a:bodyPr/>
          <a:lstStyle/>
          <a:p>
            <a:endParaRPr lang="en-US" sz="1350"/>
          </a:p>
        </p:txBody>
      </p:sp>
      <p:sp>
        <p:nvSpPr>
          <p:cNvPr id="3" name="Text 1"/>
          <p:cNvSpPr txBox="1"/>
          <p:nvPr/>
        </p:nvSpPr>
        <p:spPr>
          <a:xfrm>
            <a:off x="562356" y="288036"/>
            <a:ext cx="4114800" cy="205740"/>
          </a:xfrm>
          <a:prstGeom prst="rect">
            <a:avLst/>
          </a:prstGeom>
          <a:noFill/>
          <a:ln/>
        </p:spPr>
        <p:txBody>
          <a:bodyPr wrap="square" lIns="0" tIns="0" rIns="0" bIns="0" rtlCol="0" anchor="ctr"/>
          <a:lstStyle/>
          <a:p>
            <a:r>
              <a:rPr lang="en-US" sz="900" b="1" kern="0" spc="225" dirty="0">
                <a:solidFill>
                  <a:srgbClr val="0E9B86"/>
                </a:solidFill>
                <a:latin typeface="Courier New" pitchFamily="34" charset="0"/>
                <a:ea typeface="Courier New" pitchFamily="34" charset="-122"/>
                <a:cs typeface="Courier New" pitchFamily="34" charset="-120"/>
              </a:rPr>
              <a:t>MCP · ARCHITECTURE</a:t>
            </a:r>
            <a:endParaRPr lang="en-US" sz="900" dirty="0"/>
          </a:p>
        </p:txBody>
      </p:sp>
      <p:sp>
        <p:nvSpPr>
          <p:cNvPr id="4" name="Text 2"/>
          <p:cNvSpPr txBox="1"/>
          <p:nvPr/>
        </p:nvSpPr>
        <p:spPr>
          <a:xfrm>
            <a:off x="562356" y="521208"/>
            <a:ext cx="8078724" cy="514350"/>
          </a:xfrm>
          <a:prstGeom prst="rect">
            <a:avLst/>
          </a:prstGeom>
          <a:noFill/>
          <a:ln/>
        </p:spPr>
        <p:txBody>
          <a:bodyPr wrap="square" lIns="0" tIns="0" rIns="0" bIns="0" rtlCol="0" anchor="ctr"/>
          <a:lstStyle/>
          <a:p>
            <a:r>
              <a:rPr lang="en-US" sz="3000" b="1" dirty="0">
                <a:solidFill>
                  <a:srgbClr val="0D1B2A"/>
                </a:solidFill>
                <a:latin typeface="Arial" pitchFamily="34" charset="0"/>
                <a:ea typeface="Arial" pitchFamily="34" charset="-122"/>
                <a:cs typeface="Arial" pitchFamily="34" charset="-120"/>
              </a:rPr>
              <a:t>One host, many capabilities</a:t>
            </a:r>
            <a:endParaRPr lang="en-US" sz="3000" dirty="0"/>
          </a:p>
        </p:txBody>
      </p:sp>
      <p:sp>
        <p:nvSpPr>
          <p:cNvPr id="5" name="Text 3"/>
          <p:cNvSpPr txBox="1"/>
          <p:nvPr/>
        </p:nvSpPr>
        <p:spPr>
          <a:xfrm>
            <a:off x="562356" y="1110996"/>
            <a:ext cx="8078724" cy="246888"/>
          </a:xfrm>
          <a:prstGeom prst="rect">
            <a:avLst/>
          </a:prstGeom>
          <a:noFill/>
          <a:ln/>
        </p:spPr>
        <p:txBody>
          <a:bodyPr wrap="square" lIns="0" tIns="0" rIns="0" bIns="0" rtlCol="0" anchor="ctr"/>
          <a:lstStyle/>
          <a:p>
            <a:r>
              <a:rPr lang="en-US" sz="1088" dirty="0">
                <a:solidFill>
                  <a:srgbClr val="3C4A52"/>
                </a:solidFill>
                <a:latin typeface="Arial" pitchFamily="34" charset="0"/>
                <a:ea typeface="Arial" pitchFamily="34" charset="-122"/>
                <a:cs typeface="Arial" pitchFamily="34" charset="-120"/>
              </a:rPr>
              <a:t>MCP separates the application that hosts the model from the servers that expose context and actions.</a:t>
            </a:r>
            <a:endParaRPr lang="en-US" sz="1088" dirty="0"/>
          </a:p>
        </p:txBody>
      </p:sp>
      <p:sp>
        <p:nvSpPr>
          <p:cNvPr id="6" name="Shape 4"/>
          <p:cNvSpPr/>
          <p:nvPr/>
        </p:nvSpPr>
        <p:spPr>
          <a:xfrm>
            <a:off x="562356" y="1543050"/>
            <a:ext cx="2350008" cy="1748790"/>
          </a:xfrm>
          <a:prstGeom prst="rect">
            <a:avLst/>
          </a:prstGeom>
          <a:solidFill>
            <a:srgbClr val="0D1B2A"/>
          </a:solidFill>
          <a:ln w="15875">
            <a:solidFill>
              <a:srgbClr val="0D1B2A"/>
            </a:solidFill>
            <a:prstDash val="solid"/>
          </a:ln>
        </p:spPr>
        <p:txBody>
          <a:bodyPr/>
          <a:lstStyle/>
          <a:p>
            <a:endParaRPr lang="en-US" sz="1350"/>
          </a:p>
        </p:txBody>
      </p:sp>
      <p:sp>
        <p:nvSpPr>
          <p:cNvPr id="7" name="Text 5"/>
          <p:cNvSpPr txBox="1"/>
          <p:nvPr/>
        </p:nvSpPr>
        <p:spPr>
          <a:xfrm>
            <a:off x="768096" y="1721358"/>
            <a:ext cx="1938528" cy="178308"/>
          </a:xfrm>
          <a:prstGeom prst="rect">
            <a:avLst/>
          </a:prstGeom>
          <a:noFill/>
          <a:ln/>
        </p:spPr>
        <p:txBody>
          <a:bodyPr wrap="square" lIns="0" tIns="0" rIns="0" bIns="0" rtlCol="0" anchor="ctr"/>
          <a:lstStyle/>
          <a:p>
            <a:r>
              <a:rPr lang="en-US" sz="863" b="1" kern="0" spc="225" dirty="0">
                <a:solidFill>
                  <a:srgbClr val="12E29B"/>
                </a:solidFill>
                <a:latin typeface="Courier New" pitchFamily="34" charset="0"/>
                <a:ea typeface="Courier New" pitchFamily="34" charset="-122"/>
                <a:cs typeface="Courier New" pitchFamily="34" charset="-120"/>
              </a:rPr>
              <a:t>HOST</a:t>
            </a:r>
            <a:endParaRPr lang="en-US" sz="863" dirty="0"/>
          </a:p>
        </p:txBody>
      </p:sp>
      <p:sp>
        <p:nvSpPr>
          <p:cNvPr id="8" name="Text 6"/>
          <p:cNvSpPr txBox="1"/>
          <p:nvPr/>
        </p:nvSpPr>
        <p:spPr>
          <a:xfrm>
            <a:off x="768096" y="1954530"/>
            <a:ext cx="1938528" cy="534924"/>
          </a:xfrm>
          <a:prstGeom prst="rect">
            <a:avLst/>
          </a:prstGeom>
          <a:noFill/>
          <a:ln/>
        </p:spPr>
        <p:txBody>
          <a:bodyPr wrap="square" lIns="0" tIns="0" rIns="0" bIns="0" rtlCol="0" anchor="t"/>
          <a:lstStyle/>
          <a:p>
            <a:r>
              <a:rPr lang="en-US" sz="1575" b="1" dirty="0">
                <a:solidFill>
                  <a:srgbClr val="FFFFFF"/>
                </a:solidFill>
                <a:latin typeface="Arial" pitchFamily="34" charset="0"/>
                <a:ea typeface="Arial" pitchFamily="34" charset="-122"/>
                <a:cs typeface="Arial" pitchFamily="34" charset="-120"/>
              </a:rPr>
              <a:t>The AI application</a:t>
            </a:r>
            <a:endParaRPr lang="en-US" sz="1575" dirty="0"/>
          </a:p>
        </p:txBody>
      </p:sp>
      <p:sp>
        <p:nvSpPr>
          <p:cNvPr id="9" name="Text 7"/>
          <p:cNvSpPr txBox="1"/>
          <p:nvPr/>
        </p:nvSpPr>
        <p:spPr>
          <a:xfrm>
            <a:off x="768096" y="2537460"/>
            <a:ext cx="1938528" cy="651510"/>
          </a:xfrm>
          <a:prstGeom prst="rect">
            <a:avLst/>
          </a:prstGeom>
          <a:noFill/>
          <a:ln/>
        </p:spPr>
        <p:txBody>
          <a:bodyPr wrap="square" lIns="0" tIns="0" rIns="0" bIns="0" rtlCol="0" anchor="t"/>
          <a:lstStyle/>
          <a:p>
            <a:pPr>
              <a:lnSpc>
                <a:spcPct val="118000"/>
              </a:lnSpc>
            </a:pPr>
            <a:r>
              <a:rPr lang="en-US" sz="938" dirty="0">
                <a:solidFill>
                  <a:srgbClr val="D6DFE4"/>
                </a:solidFill>
                <a:latin typeface="Arial" pitchFamily="34" charset="0"/>
                <a:ea typeface="Arial" pitchFamily="34" charset="-122"/>
                <a:cs typeface="Arial" pitchFamily="34" charset="-120"/>
              </a:rPr>
              <a:t>Owns the user experience, model, permissions and orchestration. It can manage multiple MCP clients.</a:t>
            </a:r>
            <a:endParaRPr lang="en-US" sz="938" dirty="0"/>
          </a:p>
        </p:txBody>
      </p:sp>
      <p:sp>
        <p:nvSpPr>
          <p:cNvPr id="10" name="Shape 8"/>
          <p:cNvSpPr/>
          <p:nvPr/>
        </p:nvSpPr>
        <p:spPr>
          <a:xfrm>
            <a:off x="3426714" y="1543050"/>
            <a:ext cx="2350008" cy="1748790"/>
          </a:xfrm>
          <a:prstGeom prst="rect">
            <a:avLst/>
          </a:prstGeom>
          <a:solidFill>
            <a:srgbClr val="FFFFFF"/>
          </a:solidFill>
          <a:ln w="15875">
            <a:solidFill>
              <a:srgbClr val="12E29B"/>
            </a:solidFill>
            <a:prstDash val="solid"/>
          </a:ln>
        </p:spPr>
        <p:txBody>
          <a:bodyPr/>
          <a:lstStyle/>
          <a:p>
            <a:endParaRPr lang="en-US" sz="1350"/>
          </a:p>
        </p:txBody>
      </p:sp>
      <p:sp>
        <p:nvSpPr>
          <p:cNvPr id="11" name="Text 9"/>
          <p:cNvSpPr txBox="1"/>
          <p:nvPr/>
        </p:nvSpPr>
        <p:spPr>
          <a:xfrm>
            <a:off x="3632454" y="1721358"/>
            <a:ext cx="1938528" cy="178308"/>
          </a:xfrm>
          <a:prstGeom prst="rect">
            <a:avLst/>
          </a:prstGeom>
          <a:noFill/>
          <a:ln/>
        </p:spPr>
        <p:txBody>
          <a:bodyPr wrap="square" lIns="0" tIns="0" rIns="0" bIns="0" rtlCol="0" anchor="ctr"/>
          <a:lstStyle/>
          <a:p>
            <a:r>
              <a:rPr lang="en-US" sz="863" b="1" kern="0" spc="225" dirty="0">
                <a:solidFill>
                  <a:srgbClr val="0E9B86"/>
                </a:solidFill>
                <a:latin typeface="Courier New" pitchFamily="34" charset="0"/>
                <a:ea typeface="Courier New" pitchFamily="34" charset="-122"/>
                <a:cs typeface="Courier New" pitchFamily="34" charset="-120"/>
              </a:rPr>
              <a:t>CLIENT</a:t>
            </a:r>
            <a:endParaRPr lang="en-US" sz="863" dirty="0"/>
          </a:p>
        </p:txBody>
      </p:sp>
      <p:sp>
        <p:nvSpPr>
          <p:cNvPr id="12" name="Text 10"/>
          <p:cNvSpPr txBox="1"/>
          <p:nvPr/>
        </p:nvSpPr>
        <p:spPr>
          <a:xfrm>
            <a:off x="3632454" y="1954530"/>
            <a:ext cx="1938528" cy="534924"/>
          </a:xfrm>
          <a:prstGeom prst="rect">
            <a:avLst/>
          </a:prstGeom>
          <a:noFill/>
          <a:ln/>
        </p:spPr>
        <p:txBody>
          <a:bodyPr wrap="square" lIns="0" tIns="0" rIns="0" bIns="0" rtlCol="0" anchor="t"/>
          <a:lstStyle/>
          <a:p>
            <a:r>
              <a:rPr lang="en-US" sz="1575" b="1" dirty="0">
                <a:solidFill>
                  <a:srgbClr val="0D1B2A"/>
                </a:solidFill>
                <a:latin typeface="Arial" pitchFamily="34" charset="0"/>
                <a:ea typeface="Arial" pitchFamily="34" charset="-122"/>
                <a:cs typeface="Arial" pitchFamily="34" charset="-120"/>
              </a:rPr>
              <a:t>One connection per server</a:t>
            </a:r>
            <a:endParaRPr lang="en-US" sz="1575" dirty="0"/>
          </a:p>
        </p:txBody>
      </p:sp>
      <p:sp>
        <p:nvSpPr>
          <p:cNvPr id="13" name="Text 11"/>
          <p:cNvSpPr txBox="1"/>
          <p:nvPr/>
        </p:nvSpPr>
        <p:spPr>
          <a:xfrm>
            <a:off x="3632454" y="2537460"/>
            <a:ext cx="1938528" cy="651510"/>
          </a:xfrm>
          <a:prstGeom prst="rect">
            <a:avLst/>
          </a:prstGeom>
          <a:noFill/>
          <a:ln/>
        </p:spPr>
        <p:txBody>
          <a:bodyPr wrap="square" lIns="0" tIns="0" rIns="0" bIns="0" rtlCol="0" anchor="t"/>
          <a:lstStyle/>
          <a:p>
            <a:pPr>
              <a:lnSpc>
                <a:spcPct val="118000"/>
              </a:lnSpc>
            </a:pPr>
            <a:r>
              <a:rPr lang="en-US" sz="938" dirty="0">
                <a:solidFill>
                  <a:srgbClr val="3C4A52"/>
                </a:solidFill>
                <a:latin typeface="Arial" pitchFamily="34" charset="0"/>
                <a:ea typeface="Arial" pitchFamily="34" charset="-122"/>
                <a:cs typeface="Arial" pitchFamily="34" charset="-120"/>
              </a:rPr>
              <a:t>Maintains the MCP session and translates between host requests and the server protocol.</a:t>
            </a:r>
            <a:endParaRPr lang="en-US" sz="938" dirty="0"/>
          </a:p>
        </p:txBody>
      </p:sp>
      <p:sp>
        <p:nvSpPr>
          <p:cNvPr id="14" name="Shape 12"/>
          <p:cNvSpPr/>
          <p:nvPr/>
        </p:nvSpPr>
        <p:spPr>
          <a:xfrm>
            <a:off x="6291072" y="1543050"/>
            <a:ext cx="2350008" cy="1748790"/>
          </a:xfrm>
          <a:prstGeom prst="rect">
            <a:avLst/>
          </a:prstGeom>
          <a:solidFill>
            <a:srgbClr val="0D1B2A"/>
          </a:solidFill>
          <a:ln w="15875">
            <a:solidFill>
              <a:srgbClr val="0D1B2A"/>
            </a:solidFill>
            <a:prstDash val="solid"/>
          </a:ln>
        </p:spPr>
        <p:txBody>
          <a:bodyPr/>
          <a:lstStyle/>
          <a:p>
            <a:endParaRPr lang="en-US" sz="1350"/>
          </a:p>
        </p:txBody>
      </p:sp>
      <p:sp>
        <p:nvSpPr>
          <p:cNvPr id="15" name="Text 13"/>
          <p:cNvSpPr txBox="1"/>
          <p:nvPr/>
        </p:nvSpPr>
        <p:spPr>
          <a:xfrm>
            <a:off x="6496812" y="1721358"/>
            <a:ext cx="1938528" cy="178308"/>
          </a:xfrm>
          <a:prstGeom prst="rect">
            <a:avLst/>
          </a:prstGeom>
          <a:noFill/>
          <a:ln/>
        </p:spPr>
        <p:txBody>
          <a:bodyPr wrap="square" lIns="0" tIns="0" rIns="0" bIns="0" rtlCol="0" anchor="ctr"/>
          <a:lstStyle/>
          <a:p>
            <a:r>
              <a:rPr lang="en-US" sz="863" b="1" kern="0" spc="225" dirty="0">
                <a:solidFill>
                  <a:srgbClr val="12E29B"/>
                </a:solidFill>
                <a:latin typeface="Courier New" pitchFamily="34" charset="0"/>
                <a:ea typeface="Courier New" pitchFamily="34" charset="-122"/>
                <a:cs typeface="Courier New" pitchFamily="34" charset="-120"/>
              </a:rPr>
              <a:t>SERVER</a:t>
            </a:r>
            <a:endParaRPr lang="en-US" sz="863" dirty="0"/>
          </a:p>
        </p:txBody>
      </p:sp>
      <p:sp>
        <p:nvSpPr>
          <p:cNvPr id="16" name="Text 14"/>
          <p:cNvSpPr txBox="1"/>
          <p:nvPr/>
        </p:nvSpPr>
        <p:spPr>
          <a:xfrm>
            <a:off x="6496812" y="1954530"/>
            <a:ext cx="1938528" cy="534924"/>
          </a:xfrm>
          <a:prstGeom prst="rect">
            <a:avLst/>
          </a:prstGeom>
          <a:noFill/>
          <a:ln/>
        </p:spPr>
        <p:txBody>
          <a:bodyPr wrap="square" lIns="0" tIns="0" rIns="0" bIns="0" rtlCol="0" anchor="t"/>
          <a:lstStyle/>
          <a:p>
            <a:r>
              <a:rPr lang="en-US" sz="1575" b="1" dirty="0">
                <a:solidFill>
                  <a:srgbClr val="FFFFFF"/>
                </a:solidFill>
                <a:latin typeface="Arial" pitchFamily="34" charset="0"/>
                <a:ea typeface="Arial" pitchFamily="34" charset="-122"/>
                <a:cs typeface="Arial" pitchFamily="34" charset="-120"/>
              </a:rPr>
              <a:t>A focused capability</a:t>
            </a:r>
            <a:endParaRPr lang="en-US" sz="1575" dirty="0"/>
          </a:p>
        </p:txBody>
      </p:sp>
      <p:sp>
        <p:nvSpPr>
          <p:cNvPr id="17" name="Text 15"/>
          <p:cNvSpPr txBox="1"/>
          <p:nvPr/>
        </p:nvSpPr>
        <p:spPr>
          <a:xfrm>
            <a:off x="6496812" y="2537460"/>
            <a:ext cx="1938528" cy="651510"/>
          </a:xfrm>
          <a:prstGeom prst="rect">
            <a:avLst/>
          </a:prstGeom>
          <a:noFill/>
          <a:ln/>
        </p:spPr>
        <p:txBody>
          <a:bodyPr wrap="square" lIns="0" tIns="0" rIns="0" bIns="0" rtlCol="0" anchor="t"/>
          <a:lstStyle/>
          <a:p>
            <a:pPr>
              <a:lnSpc>
                <a:spcPct val="118000"/>
              </a:lnSpc>
            </a:pPr>
            <a:r>
              <a:rPr lang="en-US" sz="938" dirty="0">
                <a:solidFill>
                  <a:srgbClr val="D6DFE4"/>
                </a:solidFill>
                <a:latin typeface="Arial" pitchFamily="34" charset="0"/>
                <a:ea typeface="Arial" pitchFamily="34" charset="-122"/>
                <a:cs typeface="Arial" pitchFamily="34" charset="-120"/>
              </a:rPr>
              <a:t>Exposes tools, resources and prompts through a standard interface — close to the data or system it represents.</a:t>
            </a:r>
            <a:endParaRPr lang="en-US" sz="938" dirty="0"/>
          </a:p>
        </p:txBody>
      </p:sp>
      <p:sp>
        <p:nvSpPr>
          <p:cNvPr id="18" name="Shape 16"/>
          <p:cNvSpPr/>
          <p:nvPr/>
        </p:nvSpPr>
        <p:spPr>
          <a:xfrm>
            <a:off x="3052953" y="2125980"/>
            <a:ext cx="233172" cy="0"/>
          </a:xfrm>
          <a:prstGeom prst="line">
            <a:avLst/>
          </a:prstGeom>
          <a:noFill/>
          <a:ln w="25400">
            <a:solidFill>
              <a:srgbClr val="12E29B"/>
            </a:solidFill>
            <a:prstDash val="solid"/>
            <a:tailEnd type="triangle"/>
          </a:ln>
        </p:spPr>
        <p:txBody>
          <a:bodyPr/>
          <a:lstStyle/>
          <a:p>
            <a:endParaRPr lang="en-US" sz="1350"/>
          </a:p>
        </p:txBody>
      </p:sp>
      <p:sp>
        <p:nvSpPr>
          <p:cNvPr id="19" name="Text 17"/>
          <p:cNvSpPr txBox="1"/>
          <p:nvPr/>
        </p:nvSpPr>
        <p:spPr>
          <a:xfrm rot="16200000">
            <a:off x="2758059" y="2606040"/>
            <a:ext cx="822960" cy="178308"/>
          </a:xfrm>
          <a:prstGeom prst="rect">
            <a:avLst/>
          </a:prstGeom>
          <a:noFill/>
          <a:ln/>
        </p:spPr>
        <p:txBody>
          <a:bodyPr wrap="square" lIns="0" tIns="0" rIns="0" bIns="0" rtlCol="0" anchor="ctr"/>
          <a:lstStyle/>
          <a:p>
            <a:pPr algn="ctr"/>
            <a:r>
              <a:rPr lang="en-US" sz="713" dirty="0">
                <a:solidFill>
                  <a:srgbClr val="0E9B86"/>
                </a:solidFill>
                <a:latin typeface="Courier New" pitchFamily="34" charset="0"/>
                <a:ea typeface="Courier New" pitchFamily="34" charset="-122"/>
                <a:cs typeface="Courier New" pitchFamily="34" charset="-120"/>
              </a:rPr>
              <a:t>MCP protocol</a:t>
            </a:r>
            <a:endParaRPr lang="en-US" sz="713" dirty="0"/>
          </a:p>
        </p:txBody>
      </p:sp>
      <p:sp>
        <p:nvSpPr>
          <p:cNvPr id="20" name="Shape 18"/>
          <p:cNvSpPr/>
          <p:nvPr/>
        </p:nvSpPr>
        <p:spPr>
          <a:xfrm>
            <a:off x="5917311" y="2125980"/>
            <a:ext cx="233172" cy="0"/>
          </a:xfrm>
          <a:prstGeom prst="line">
            <a:avLst/>
          </a:prstGeom>
          <a:noFill/>
          <a:ln w="25400">
            <a:solidFill>
              <a:srgbClr val="12E29B"/>
            </a:solidFill>
            <a:prstDash val="solid"/>
            <a:tailEnd type="triangle"/>
          </a:ln>
        </p:spPr>
        <p:txBody>
          <a:bodyPr/>
          <a:lstStyle/>
          <a:p>
            <a:endParaRPr lang="en-US" sz="1350"/>
          </a:p>
        </p:txBody>
      </p:sp>
      <p:sp>
        <p:nvSpPr>
          <p:cNvPr id="21" name="Text 19"/>
          <p:cNvSpPr txBox="1"/>
          <p:nvPr/>
        </p:nvSpPr>
        <p:spPr>
          <a:xfrm rot="16200000">
            <a:off x="5622417" y="2606040"/>
            <a:ext cx="822960" cy="178308"/>
          </a:xfrm>
          <a:prstGeom prst="rect">
            <a:avLst/>
          </a:prstGeom>
          <a:noFill/>
          <a:ln/>
        </p:spPr>
        <p:txBody>
          <a:bodyPr wrap="square" lIns="0" tIns="0" rIns="0" bIns="0" rtlCol="0" anchor="ctr"/>
          <a:lstStyle/>
          <a:p>
            <a:pPr algn="ctr"/>
            <a:r>
              <a:rPr lang="en-US" sz="713" dirty="0">
                <a:solidFill>
                  <a:srgbClr val="0E9B86"/>
                </a:solidFill>
                <a:latin typeface="Courier New" pitchFamily="34" charset="0"/>
                <a:ea typeface="Courier New" pitchFamily="34" charset="-122"/>
                <a:cs typeface="Courier New" pitchFamily="34" charset="-120"/>
              </a:rPr>
              <a:t>MCP protocol</a:t>
            </a:r>
            <a:endParaRPr lang="en-US" sz="713" dirty="0"/>
          </a:p>
        </p:txBody>
      </p:sp>
      <p:sp>
        <p:nvSpPr>
          <p:cNvPr id="22" name="Text 20"/>
          <p:cNvSpPr txBox="1"/>
          <p:nvPr/>
        </p:nvSpPr>
        <p:spPr>
          <a:xfrm>
            <a:off x="562356" y="3511296"/>
            <a:ext cx="4114800" cy="192024"/>
          </a:xfrm>
          <a:prstGeom prst="rect">
            <a:avLst/>
          </a:prstGeom>
          <a:noFill/>
          <a:ln/>
        </p:spPr>
        <p:txBody>
          <a:bodyPr wrap="square" lIns="0" tIns="0" rIns="0" bIns="0" rtlCol="0" anchor="ctr"/>
          <a:lstStyle/>
          <a:p>
            <a:r>
              <a:rPr lang="en-US" sz="863" b="1" kern="0" spc="225" dirty="0">
                <a:solidFill>
                  <a:srgbClr val="0E9B86"/>
                </a:solidFill>
                <a:latin typeface="Courier New" pitchFamily="34" charset="0"/>
                <a:ea typeface="Courier New" pitchFamily="34" charset="-122"/>
                <a:cs typeface="Courier New" pitchFamily="34" charset="-120"/>
              </a:rPr>
              <a:t>SERVER PRIMITIVES</a:t>
            </a:r>
            <a:endParaRPr lang="en-US" sz="863" dirty="0"/>
          </a:p>
        </p:txBody>
      </p:sp>
      <p:sp>
        <p:nvSpPr>
          <p:cNvPr id="23" name="Shape 21"/>
          <p:cNvSpPr/>
          <p:nvPr/>
        </p:nvSpPr>
        <p:spPr>
          <a:xfrm>
            <a:off x="562356" y="3806190"/>
            <a:ext cx="2350008" cy="905256"/>
          </a:xfrm>
          <a:prstGeom prst="rect">
            <a:avLst/>
          </a:prstGeom>
          <a:solidFill>
            <a:srgbClr val="12E29B"/>
          </a:solidFill>
          <a:ln w="12700">
            <a:solidFill>
              <a:srgbClr val="12E29B"/>
            </a:solidFill>
            <a:prstDash val="solid"/>
          </a:ln>
        </p:spPr>
        <p:txBody>
          <a:bodyPr/>
          <a:lstStyle/>
          <a:p>
            <a:endParaRPr lang="en-US" sz="1350"/>
          </a:p>
        </p:txBody>
      </p:sp>
      <p:sp>
        <p:nvSpPr>
          <p:cNvPr id="24" name="Text 22"/>
          <p:cNvSpPr txBox="1"/>
          <p:nvPr/>
        </p:nvSpPr>
        <p:spPr>
          <a:xfrm>
            <a:off x="768096" y="3984498"/>
            <a:ext cx="1938528" cy="233172"/>
          </a:xfrm>
          <a:prstGeom prst="rect">
            <a:avLst/>
          </a:prstGeom>
          <a:noFill/>
          <a:ln/>
        </p:spPr>
        <p:txBody>
          <a:bodyPr wrap="square" lIns="0" tIns="0" rIns="0" bIns="0" rtlCol="0" anchor="ctr"/>
          <a:lstStyle/>
          <a:p>
            <a:r>
              <a:rPr lang="en-US" sz="1200" b="1" dirty="0">
                <a:solidFill>
                  <a:srgbClr val="0D1B2A"/>
                </a:solidFill>
                <a:latin typeface="Arial" pitchFamily="34" charset="0"/>
                <a:ea typeface="Arial" pitchFamily="34" charset="-122"/>
                <a:cs typeface="Arial" pitchFamily="34" charset="-120"/>
              </a:rPr>
              <a:t>TOOLS</a:t>
            </a:r>
            <a:endParaRPr lang="en-US" sz="1200" dirty="0"/>
          </a:p>
        </p:txBody>
      </p:sp>
      <p:sp>
        <p:nvSpPr>
          <p:cNvPr id="25" name="Text 23"/>
          <p:cNvSpPr txBox="1"/>
          <p:nvPr/>
        </p:nvSpPr>
        <p:spPr>
          <a:xfrm>
            <a:off x="768096" y="4299966"/>
            <a:ext cx="1938528" cy="205740"/>
          </a:xfrm>
          <a:prstGeom prst="rect">
            <a:avLst/>
          </a:prstGeom>
          <a:noFill/>
          <a:ln/>
        </p:spPr>
        <p:txBody>
          <a:bodyPr wrap="square" lIns="0" tIns="0" rIns="0" bIns="0" rtlCol="0" anchor="ctr"/>
          <a:lstStyle/>
          <a:p>
            <a:r>
              <a:rPr lang="en-US" sz="788" dirty="0">
                <a:solidFill>
                  <a:srgbClr val="0D1B2A"/>
                </a:solidFill>
                <a:latin typeface="Courier New" pitchFamily="34" charset="0"/>
                <a:ea typeface="Courier New" pitchFamily="34" charset="-122"/>
                <a:cs typeface="Courier New" pitchFamily="34" charset="-120"/>
              </a:rPr>
              <a:t>list_tools  ·  call_tool</a:t>
            </a:r>
            <a:endParaRPr lang="en-US" sz="788" dirty="0"/>
          </a:p>
        </p:txBody>
      </p:sp>
      <p:sp>
        <p:nvSpPr>
          <p:cNvPr id="26" name="Shape 24"/>
          <p:cNvSpPr/>
          <p:nvPr/>
        </p:nvSpPr>
        <p:spPr>
          <a:xfrm>
            <a:off x="3426714" y="3806190"/>
            <a:ext cx="2350008" cy="905256"/>
          </a:xfrm>
          <a:prstGeom prst="rect">
            <a:avLst/>
          </a:prstGeom>
          <a:solidFill>
            <a:srgbClr val="FFFFFF"/>
          </a:solidFill>
          <a:ln w="12700">
            <a:solidFill>
              <a:srgbClr val="D5DEE0"/>
            </a:solidFill>
            <a:prstDash val="solid"/>
          </a:ln>
        </p:spPr>
        <p:txBody>
          <a:bodyPr/>
          <a:lstStyle/>
          <a:p>
            <a:endParaRPr lang="en-US" sz="1350"/>
          </a:p>
        </p:txBody>
      </p:sp>
      <p:sp>
        <p:nvSpPr>
          <p:cNvPr id="27" name="Text 25"/>
          <p:cNvSpPr txBox="1"/>
          <p:nvPr/>
        </p:nvSpPr>
        <p:spPr>
          <a:xfrm>
            <a:off x="3632454" y="3984498"/>
            <a:ext cx="1938528" cy="233172"/>
          </a:xfrm>
          <a:prstGeom prst="rect">
            <a:avLst/>
          </a:prstGeom>
          <a:noFill/>
          <a:ln/>
        </p:spPr>
        <p:txBody>
          <a:bodyPr wrap="square" lIns="0" tIns="0" rIns="0" bIns="0" rtlCol="0" anchor="ctr"/>
          <a:lstStyle/>
          <a:p>
            <a:r>
              <a:rPr lang="en-US" sz="1200" b="1" dirty="0">
                <a:solidFill>
                  <a:srgbClr val="0D1B2A"/>
                </a:solidFill>
                <a:latin typeface="Arial" pitchFamily="34" charset="0"/>
                <a:ea typeface="Arial" pitchFamily="34" charset="-122"/>
                <a:cs typeface="Arial" pitchFamily="34" charset="-120"/>
              </a:rPr>
              <a:t>RESOURCES</a:t>
            </a:r>
            <a:endParaRPr lang="en-US" sz="1200" dirty="0"/>
          </a:p>
        </p:txBody>
      </p:sp>
      <p:sp>
        <p:nvSpPr>
          <p:cNvPr id="28" name="Text 26"/>
          <p:cNvSpPr txBox="1"/>
          <p:nvPr/>
        </p:nvSpPr>
        <p:spPr>
          <a:xfrm>
            <a:off x="3632454" y="4299966"/>
            <a:ext cx="1938528" cy="205740"/>
          </a:xfrm>
          <a:prstGeom prst="rect">
            <a:avLst/>
          </a:prstGeom>
          <a:noFill/>
          <a:ln/>
        </p:spPr>
        <p:txBody>
          <a:bodyPr wrap="square" lIns="0" tIns="0" rIns="0" bIns="0" rtlCol="0" anchor="ctr"/>
          <a:lstStyle/>
          <a:p>
            <a:r>
              <a:rPr lang="en-US" sz="788" dirty="0">
                <a:solidFill>
                  <a:srgbClr val="0E9B86"/>
                </a:solidFill>
                <a:latin typeface="Courier New" pitchFamily="34" charset="0"/>
                <a:ea typeface="Courier New" pitchFamily="34" charset="-122"/>
                <a:cs typeface="Courier New" pitchFamily="34" charset="-120"/>
              </a:rPr>
              <a:t>list_resources  ·  read_resource</a:t>
            </a:r>
            <a:endParaRPr lang="en-US" sz="788" dirty="0"/>
          </a:p>
        </p:txBody>
      </p:sp>
      <p:sp>
        <p:nvSpPr>
          <p:cNvPr id="29" name="Shape 27"/>
          <p:cNvSpPr/>
          <p:nvPr/>
        </p:nvSpPr>
        <p:spPr>
          <a:xfrm>
            <a:off x="6291072" y="3806190"/>
            <a:ext cx="2350008" cy="905256"/>
          </a:xfrm>
          <a:prstGeom prst="rect">
            <a:avLst/>
          </a:prstGeom>
          <a:solidFill>
            <a:srgbClr val="FFFFFF"/>
          </a:solidFill>
          <a:ln w="12700">
            <a:solidFill>
              <a:srgbClr val="D5DEE0"/>
            </a:solidFill>
            <a:prstDash val="solid"/>
          </a:ln>
        </p:spPr>
        <p:txBody>
          <a:bodyPr/>
          <a:lstStyle/>
          <a:p>
            <a:endParaRPr lang="en-US" sz="1350"/>
          </a:p>
        </p:txBody>
      </p:sp>
      <p:sp>
        <p:nvSpPr>
          <p:cNvPr id="30" name="Text 28"/>
          <p:cNvSpPr txBox="1"/>
          <p:nvPr/>
        </p:nvSpPr>
        <p:spPr>
          <a:xfrm>
            <a:off x="6496812" y="3984498"/>
            <a:ext cx="1938528" cy="233172"/>
          </a:xfrm>
          <a:prstGeom prst="rect">
            <a:avLst/>
          </a:prstGeom>
          <a:noFill/>
          <a:ln/>
        </p:spPr>
        <p:txBody>
          <a:bodyPr wrap="square" lIns="0" tIns="0" rIns="0" bIns="0" rtlCol="0" anchor="ctr"/>
          <a:lstStyle/>
          <a:p>
            <a:r>
              <a:rPr lang="en-US" sz="1200" b="1" dirty="0">
                <a:solidFill>
                  <a:srgbClr val="0D1B2A"/>
                </a:solidFill>
                <a:latin typeface="Arial" pitchFamily="34" charset="0"/>
                <a:ea typeface="Arial" pitchFamily="34" charset="-122"/>
                <a:cs typeface="Arial" pitchFamily="34" charset="-120"/>
              </a:rPr>
              <a:t>PROMPTS</a:t>
            </a:r>
            <a:endParaRPr lang="en-US" sz="1200" dirty="0"/>
          </a:p>
        </p:txBody>
      </p:sp>
      <p:sp>
        <p:nvSpPr>
          <p:cNvPr id="31" name="Text 29"/>
          <p:cNvSpPr txBox="1"/>
          <p:nvPr/>
        </p:nvSpPr>
        <p:spPr>
          <a:xfrm>
            <a:off x="6496812" y="4299966"/>
            <a:ext cx="1938528" cy="205740"/>
          </a:xfrm>
          <a:prstGeom prst="rect">
            <a:avLst/>
          </a:prstGeom>
          <a:noFill/>
          <a:ln/>
        </p:spPr>
        <p:txBody>
          <a:bodyPr wrap="square" lIns="0" tIns="0" rIns="0" bIns="0" rtlCol="0" anchor="ctr"/>
          <a:lstStyle/>
          <a:p>
            <a:r>
              <a:rPr lang="en-US" sz="788" dirty="0">
                <a:solidFill>
                  <a:srgbClr val="0E9B86"/>
                </a:solidFill>
                <a:latin typeface="Courier New" pitchFamily="34" charset="0"/>
                <a:ea typeface="Courier New" pitchFamily="34" charset="-122"/>
                <a:cs typeface="Courier New" pitchFamily="34" charset="-120"/>
              </a:rPr>
              <a:t>list_prompts  ·  get_prompt</a:t>
            </a:r>
            <a:endParaRPr lang="en-US" sz="788"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4">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1828800" y="2377440"/>
            <a:ext cx="4754880" cy="4754880"/>
          </a:xfrm>
          <a:prstGeom prst="ellipse">
            <a:avLst/>
          </a:prstGeom>
          <a:solidFill>
            <a:srgbClr val="1B9AAA">
              <a:alpha val="15000"/>
            </a:srgbClr>
          </a:solidFill>
          <a:ln w="9525">
            <a:solidFill>
              <a:srgbClr val="1B9AAA"/>
            </a:solidFill>
            <a:prstDash val="solid"/>
          </a:ln>
        </p:spPr>
        <p:txBody>
          <a:bodyPr/>
          <a:lstStyle/>
          <a:p>
            <a:endParaRPr lang="en-US"/>
          </a:p>
        </p:txBody>
      </p:sp>
      <p:sp>
        <p:nvSpPr>
          <p:cNvPr id="3" name="Text 1"/>
          <p:cNvSpPr/>
          <p:nvPr/>
        </p:nvSpPr>
        <p:spPr>
          <a:xfrm>
            <a:off x="822960" y="960120"/>
            <a:ext cx="7315200" cy="274320"/>
          </a:xfrm>
          <a:prstGeom prst="rect">
            <a:avLst/>
          </a:prstGeom>
          <a:noFill/>
          <a:ln/>
        </p:spPr>
        <p:txBody>
          <a:bodyPr wrap="square" lIns="0" tIns="0" rIns="0" bIns="0" rtlCol="0" anchor="ctr"/>
          <a:lstStyle/>
          <a:p>
            <a:pPr marL="0" indent="0">
              <a:buNone/>
            </a:pPr>
            <a:r>
              <a:rPr lang="en-US" sz="1100" kern="0" spc="250" dirty="0">
                <a:solidFill>
                  <a:srgbClr val="06D6A0"/>
                </a:solidFill>
                <a:latin typeface="JetBrains Mono" pitchFamily="34" charset="0"/>
                <a:ea typeface="JetBrains Mono" pitchFamily="34" charset="-122"/>
                <a:cs typeface="JetBrains Mono" pitchFamily="34" charset="-120"/>
              </a:rPr>
              <a:t>THE PART THAT IS ACTUALLY HARD</a:t>
            </a:r>
            <a:endParaRPr lang="en-US" sz="1100" dirty="0"/>
          </a:p>
        </p:txBody>
      </p:sp>
      <p:sp>
        <p:nvSpPr>
          <p:cNvPr id="4" name="Text 2"/>
          <p:cNvSpPr/>
          <p:nvPr/>
        </p:nvSpPr>
        <p:spPr>
          <a:xfrm>
            <a:off x="822960" y="1371600"/>
            <a:ext cx="7498080" cy="1234440"/>
          </a:xfrm>
          <a:prstGeom prst="rect">
            <a:avLst/>
          </a:prstGeom>
          <a:noFill/>
          <a:ln/>
        </p:spPr>
        <p:txBody>
          <a:bodyPr wrap="square" lIns="0" tIns="0" rIns="0" bIns="0" rtlCol="0" anchor="ctr"/>
          <a:lstStyle/>
          <a:p>
            <a:pPr marL="0" indent="0">
              <a:buNone/>
            </a:pPr>
            <a:r>
              <a:rPr lang="en-US" sz="3800" dirty="0">
                <a:solidFill>
                  <a:srgbClr val="FFFFFF"/>
                </a:solidFill>
                <a:latin typeface="Oswald" pitchFamily="34" charset="0"/>
                <a:ea typeface="Oswald" pitchFamily="34" charset="-122"/>
                <a:cs typeface="Oswald" pitchFamily="34" charset="-120"/>
              </a:rPr>
              <a:t>Wiring a tool is easy.</a:t>
            </a:r>
            <a:endParaRPr lang="en-US" sz="3800" dirty="0"/>
          </a:p>
          <a:p>
            <a:pPr marL="0" indent="0">
              <a:buNone/>
            </a:pPr>
            <a:r>
              <a:rPr lang="en-US" sz="3800" dirty="0">
                <a:solidFill>
                  <a:srgbClr val="FFFFFF"/>
                </a:solidFill>
                <a:latin typeface="Oswald" pitchFamily="34" charset="0"/>
                <a:ea typeface="Oswald" pitchFamily="34" charset="-122"/>
                <a:cs typeface="Oswald" pitchFamily="34" charset="-120"/>
              </a:rPr>
              <a:t>Constraining a loop is not.</a:t>
            </a:r>
            <a:endParaRPr lang="en-US" sz="3800" dirty="0"/>
          </a:p>
        </p:txBody>
      </p:sp>
      <p:sp>
        <p:nvSpPr>
          <p:cNvPr id="5" name="Text 3"/>
          <p:cNvSpPr/>
          <p:nvPr/>
        </p:nvSpPr>
        <p:spPr>
          <a:xfrm>
            <a:off x="841248" y="2788920"/>
            <a:ext cx="6949440" cy="1005840"/>
          </a:xfrm>
          <a:prstGeom prst="rect">
            <a:avLst/>
          </a:prstGeom>
          <a:noFill/>
          <a:ln/>
        </p:spPr>
        <p:txBody>
          <a:bodyPr wrap="square" lIns="0" tIns="0" rIns="0" bIns="0" rtlCol="0" anchor="ctr"/>
          <a:lstStyle/>
          <a:p>
            <a:pPr marL="0" indent="0">
              <a:buNone/>
            </a:pPr>
            <a:r>
              <a:rPr lang="en-US" sz="1500" dirty="0">
                <a:solidFill>
                  <a:srgbClr val="AFC2CE"/>
                </a:solidFill>
                <a:latin typeface="Roboto" pitchFamily="34" charset="0"/>
                <a:ea typeface="Roboto" pitchFamily="34" charset="-122"/>
                <a:cs typeface="Roboto" pitchFamily="34" charset="-120"/>
              </a:rPr>
              <a:t>Reliable termination · graceful handling of failed calls · no irreversible action without approval · a trail that can be audited. Difficulty scales with the control layer, not the capability layer — and in a regulated environment, so does the governance work.</a:t>
            </a:r>
            <a:endParaRPr lang="en-US" sz="1500" dirty="0"/>
          </a:p>
        </p:txBody>
      </p:sp>
      <p:sp>
        <p:nvSpPr>
          <p:cNvPr id="6" name="Shape 4"/>
          <p:cNvSpPr/>
          <p:nvPr/>
        </p:nvSpPr>
        <p:spPr>
          <a:xfrm>
            <a:off x="841248" y="3977640"/>
            <a:ext cx="822960" cy="41148"/>
          </a:xfrm>
          <a:prstGeom prst="rect">
            <a:avLst/>
          </a:prstGeom>
          <a:solidFill>
            <a:srgbClr val="06D6A0"/>
          </a:solidFill>
          <a:ln/>
        </p:spPr>
        <p:txBody>
          <a:bodyPr/>
          <a:lstStyle/>
          <a:p>
            <a:endParaRPr lang="en-US"/>
          </a:p>
        </p:txBody>
      </p:sp>
      <p:sp>
        <p:nvSpPr>
          <p:cNvPr id="7" name="Text 5"/>
          <p:cNvSpPr/>
          <p:nvPr/>
        </p:nvSpPr>
        <p:spPr>
          <a:xfrm>
            <a:off x="841248" y="4224528"/>
            <a:ext cx="7315200" cy="274320"/>
          </a:xfrm>
          <a:prstGeom prst="rect">
            <a:avLst/>
          </a:prstGeom>
          <a:noFill/>
          <a:ln/>
        </p:spPr>
        <p:txBody>
          <a:bodyPr wrap="square" lIns="0" tIns="0" rIns="0" bIns="0" rtlCol="0" anchor="ctr"/>
          <a:lstStyle/>
          <a:p>
            <a:pPr marL="0" indent="0">
              <a:buNone/>
            </a:pPr>
            <a:r>
              <a:rPr lang="en-US" sz="950" dirty="0">
                <a:solidFill>
                  <a:srgbClr val="6B7B8C"/>
                </a:solidFill>
                <a:latin typeface="JetBrains Mono" pitchFamily="34" charset="0"/>
                <a:ea typeface="JetBrains Mono" pitchFamily="34" charset="-122"/>
                <a:cs typeface="JetBrains Mono" pitchFamily="34" charset="-120"/>
              </a:rPr>
              <a:t>Knowledge cutoff applies — verify current MCP and framework specifics before relying on them.</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1B2A"/>
          </a:solidFill>
          <a:ln/>
        </p:spPr>
        <p:txBody>
          <a:bodyPr/>
          <a:lstStyle/>
          <a:p>
            <a:endParaRPr lang="en-US"/>
          </a:p>
        </p:txBody>
      </p:sp>
      <p:sp>
        <p:nvSpPr>
          <p:cNvPr id="3" name="Text 1"/>
          <p:cNvSpPr/>
          <p:nvPr/>
        </p:nvSpPr>
        <p:spPr>
          <a:xfrm>
            <a:off x="566928" y="329184"/>
            <a:ext cx="8138160" cy="256032"/>
          </a:xfrm>
          <a:prstGeom prst="rect">
            <a:avLst/>
          </a:prstGeom>
          <a:noFill/>
          <a:ln/>
        </p:spPr>
        <p:txBody>
          <a:bodyPr wrap="square" lIns="0" tIns="0" rIns="0" bIns="0" rtlCol="0" anchor="ctr"/>
          <a:lstStyle/>
          <a:p>
            <a:pPr marL="0" indent="0">
              <a:buNone/>
            </a:pPr>
            <a:r>
              <a:rPr lang="en-US" sz="1050" kern="0" spc="200" dirty="0">
                <a:solidFill>
                  <a:srgbClr val="1B9AAA"/>
                </a:solidFill>
                <a:latin typeface="JetBrains Mono" pitchFamily="34" charset="0"/>
                <a:ea typeface="JetBrains Mono" pitchFamily="34" charset="-122"/>
                <a:cs typeface="JetBrains Mono" pitchFamily="34" charset="-120"/>
              </a:rPr>
              <a:t>SOURCES</a:t>
            </a:r>
            <a:endParaRPr lang="en-US" sz="1050" dirty="0"/>
          </a:p>
        </p:txBody>
      </p:sp>
      <p:sp>
        <p:nvSpPr>
          <p:cNvPr id="4" name="Text 2"/>
          <p:cNvSpPr/>
          <p:nvPr/>
        </p:nvSpPr>
        <p:spPr>
          <a:xfrm>
            <a:off x="566928" y="603504"/>
            <a:ext cx="8138160" cy="658368"/>
          </a:xfrm>
          <a:prstGeom prst="rect">
            <a:avLst/>
          </a:prstGeom>
          <a:noFill/>
          <a:ln/>
        </p:spPr>
        <p:txBody>
          <a:bodyPr wrap="square" lIns="0" tIns="0" rIns="0" bIns="0" rtlCol="0" anchor="ctr"/>
          <a:lstStyle/>
          <a:p>
            <a:pPr marL="0" indent="0">
              <a:buNone/>
            </a:pPr>
            <a:r>
              <a:rPr lang="en-US" sz="3200" dirty="0">
                <a:solidFill>
                  <a:srgbClr val="0D1B2A"/>
                </a:solidFill>
                <a:latin typeface="Oswald" pitchFamily="34" charset="0"/>
                <a:ea typeface="Oswald" pitchFamily="34" charset="-122"/>
                <a:cs typeface="Oswald" pitchFamily="34" charset="-120"/>
              </a:rPr>
              <a:t>Continue the conversation</a:t>
            </a:r>
            <a:endParaRPr lang="en-US" sz="3200" dirty="0"/>
          </a:p>
        </p:txBody>
      </p:sp>
      <p:sp>
        <p:nvSpPr>
          <p:cNvPr id="6" name="Shape 4"/>
          <p:cNvSpPr/>
          <p:nvPr/>
        </p:nvSpPr>
        <p:spPr>
          <a:xfrm>
            <a:off x="566928" y="1719072"/>
            <a:ext cx="8046720" cy="749808"/>
          </a:xfrm>
          <a:prstGeom prst="rect">
            <a:avLst/>
          </a:prstGeom>
          <a:noFill/>
          <a:ln w="9525">
            <a:solidFill>
              <a:srgbClr val="0D1B2A"/>
            </a:solidFill>
            <a:prstDash val="solid"/>
          </a:ln>
        </p:spPr>
        <p:txBody>
          <a:bodyPr/>
          <a:lstStyle/>
          <a:p>
            <a:endParaRPr lang="en-US"/>
          </a:p>
        </p:txBody>
      </p:sp>
      <p:sp>
        <p:nvSpPr>
          <p:cNvPr id="7" name="Shape 5"/>
          <p:cNvSpPr/>
          <p:nvPr/>
        </p:nvSpPr>
        <p:spPr>
          <a:xfrm>
            <a:off x="566928" y="1719072"/>
            <a:ext cx="82296" cy="749808"/>
          </a:xfrm>
          <a:prstGeom prst="rect">
            <a:avLst/>
          </a:prstGeom>
          <a:solidFill>
            <a:srgbClr val="1B9AAA"/>
          </a:solidFill>
          <a:ln/>
        </p:spPr>
        <p:txBody>
          <a:bodyPr/>
          <a:lstStyle/>
          <a:p>
            <a:endParaRPr lang="en-US"/>
          </a:p>
        </p:txBody>
      </p:sp>
      <p:sp>
        <p:nvSpPr>
          <p:cNvPr id="8" name="Text 6">
            <a:hlinkClick r:id="rId3"/>
          </p:cNvPr>
          <p:cNvSpPr/>
          <p:nvPr/>
        </p:nvSpPr>
        <p:spPr>
          <a:xfrm>
            <a:off x="896112" y="1828800"/>
            <a:ext cx="3657600" cy="228600"/>
          </a:xfrm>
          <a:prstGeom prst="rect">
            <a:avLst/>
          </a:prstGeom>
          <a:noFill/>
          <a:ln/>
        </p:spPr>
        <p:txBody>
          <a:bodyPr wrap="square" lIns="0" tIns="0" rIns="0" bIns="0" rtlCol="0" anchor="ctr"/>
          <a:lstStyle/>
          <a:p>
            <a:pPr marL="0" indent="0">
              <a:buNone/>
            </a:pPr>
            <a:r>
              <a:rPr lang="en-US" sz="1800" u="sng" dirty="0">
                <a:latin typeface="Oswald" pitchFamily="34" charset="0"/>
                <a:ea typeface="Oswald" pitchFamily="34" charset="-122"/>
                <a:cs typeface="Oswald" pitchFamily="34" charset="-120"/>
                <a:hlinkClick r:id="rId3">
                  <a:extLst>
                    <a:ext uri="{A12FA001-AC4F-418D-AE19-62706E023703}">
                      <ahyp:hlinkClr xmlns:ahyp="http://schemas.microsoft.com/office/drawing/2018/hyperlinkcolor" val="tx"/>
                    </a:ext>
                  </a:extLst>
                </a:hlinkClick>
              </a:rPr>
              <a:t>AI Glossary for LE Teams · Q4 2024</a:t>
            </a:r>
            <a:endParaRPr lang="en-US" sz="1800" dirty="0"/>
          </a:p>
        </p:txBody>
      </p:sp>
      <p:sp>
        <p:nvSpPr>
          <p:cNvPr id="9" name="Text 7"/>
          <p:cNvSpPr/>
          <p:nvPr/>
        </p:nvSpPr>
        <p:spPr>
          <a:xfrm>
            <a:off x="896112" y="2148840"/>
            <a:ext cx="4114800" cy="201168"/>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Legal &amp; Compliance knowledge base · terminology and definitions</a:t>
            </a:r>
          </a:p>
        </p:txBody>
      </p:sp>
      <p:sp>
        <p:nvSpPr>
          <p:cNvPr id="10" name="Text 8">
            <a:hlinkClick r:id="rId3"/>
          </p:cNvPr>
          <p:cNvSpPr/>
          <p:nvPr/>
        </p:nvSpPr>
        <p:spPr>
          <a:xfrm>
            <a:off x="4937760" y="1865376"/>
            <a:ext cx="3291840" cy="384048"/>
          </a:xfrm>
          <a:prstGeom prst="rect">
            <a:avLst/>
          </a:prstGeom>
          <a:noFill/>
          <a:ln/>
        </p:spPr>
        <p:txBody>
          <a:bodyPr wrap="square" lIns="0" tIns="0" rIns="0" bIns="0" rtlCol="0" anchor="ctr">
            <a:normAutofit/>
          </a:bodyPr>
          <a:lstStyle/>
          <a:p>
            <a:r>
              <a:rPr lang="en-US" sz="740" u="sng" dirty="0">
                <a:solidFill>
                  <a:srgbClr val="1B9AAA"/>
                </a:solidFill>
                <a:latin typeface="JetBrains Mono" pitchFamily="34" charset="0"/>
                <a:ea typeface="JetBrains Mono" pitchFamily="34" charset="-122"/>
                <a:hlinkClick r:id="rId3">
                  <a:extLst>
                    <a:ext uri="{A12FA001-AC4F-418D-AE19-62706E023703}">
                      <ahyp:hlinkClr xmlns:ahyp="http://schemas.microsoft.com/office/drawing/2018/hyperlinkcolor" val="tx"/>
                    </a:ext>
                  </a:extLst>
                </a:hlinkClick>
              </a:rPr>
              <a:t>https://evarooms.merckgroup.com/Organization/Legal-Compliance/PublishingImages/le-knowledge-base/le-expert-groups/digital-data-economy/AI%20Glossary%20for%20LE%20Teams%20Q4%2024.pdf</a:t>
            </a:r>
            <a:endParaRPr lang="en-US" sz="740" u="sng" dirty="0">
              <a:solidFill>
                <a:srgbClr val="1B9AAA"/>
              </a:solidFill>
              <a:latin typeface="JetBrains Mono" pitchFamily="34" charset="0"/>
              <a:ea typeface="JetBrains Mono" pitchFamily="34" charset="-122"/>
            </a:endParaRPr>
          </a:p>
        </p:txBody>
      </p:sp>
      <p:sp>
        <p:nvSpPr>
          <p:cNvPr id="11" name="Shape 9"/>
          <p:cNvSpPr/>
          <p:nvPr/>
        </p:nvSpPr>
        <p:spPr>
          <a:xfrm>
            <a:off x="566928" y="2615184"/>
            <a:ext cx="8046720" cy="749808"/>
          </a:xfrm>
          <a:prstGeom prst="rect">
            <a:avLst/>
          </a:prstGeom>
          <a:solidFill>
            <a:srgbClr val="FFFFFF"/>
          </a:solidFill>
          <a:ln w="9525">
            <a:solidFill>
              <a:srgbClr val="DDE5E9"/>
            </a:solidFill>
            <a:prstDash val="solid"/>
          </a:ln>
        </p:spPr>
        <p:txBody>
          <a:bodyPr/>
          <a:lstStyle/>
          <a:p>
            <a:endParaRPr lang="en-US"/>
          </a:p>
        </p:txBody>
      </p:sp>
      <p:sp>
        <p:nvSpPr>
          <p:cNvPr id="12" name="Shape 10"/>
          <p:cNvSpPr/>
          <p:nvPr/>
        </p:nvSpPr>
        <p:spPr>
          <a:xfrm>
            <a:off x="566928" y="2615184"/>
            <a:ext cx="82296" cy="749808"/>
          </a:xfrm>
          <a:prstGeom prst="rect">
            <a:avLst/>
          </a:prstGeom>
          <a:solidFill>
            <a:srgbClr val="1B9AAA"/>
          </a:solidFill>
          <a:ln/>
        </p:spPr>
        <p:txBody>
          <a:bodyPr/>
          <a:lstStyle/>
          <a:p>
            <a:endParaRPr lang="en-US"/>
          </a:p>
        </p:txBody>
      </p:sp>
      <p:sp>
        <p:nvSpPr>
          <p:cNvPr id="13" name="Text 11">
            <a:hlinkClick r:id="rId4"/>
          </p:cNvPr>
          <p:cNvSpPr/>
          <p:nvPr/>
        </p:nvSpPr>
        <p:spPr>
          <a:xfrm>
            <a:off x="896112" y="2724912"/>
            <a:ext cx="3657600" cy="228600"/>
          </a:xfrm>
          <a:prstGeom prst="rect">
            <a:avLst/>
          </a:prstGeom>
          <a:noFill/>
          <a:ln/>
        </p:spPr>
        <p:txBody>
          <a:bodyPr wrap="square" lIns="0" tIns="0" rIns="0" bIns="0" rtlCol="0" anchor="ctr"/>
          <a:lstStyle/>
          <a:p>
            <a:pPr marL="0" indent="0">
              <a:buNone/>
            </a:pPr>
            <a:r>
              <a:rPr lang="en-US" sz="1800" u="sng" dirty="0">
                <a:solidFill>
                  <a:srgbClr val="0D1B2A"/>
                </a:solidFill>
                <a:latin typeface="Oswald" pitchFamily="34" charset="0"/>
                <a:ea typeface="Oswald" pitchFamily="34" charset="-122"/>
                <a:cs typeface="Oswald" pitchFamily="34" charset="-120"/>
                <a:hlinkClick r:id="rId4">
                  <a:extLst>
                    <a:ext uri="{A12FA001-AC4F-418D-AE19-62706E023703}">
                      <ahyp:hlinkClr xmlns:ahyp="http://schemas.microsoft.com/office/drawing/2018/hyperlinkcolor" val="tx"/>
                    </a:ext>
                  </a:extLst>
                </a:hlinkClick>
              </a:rPr>
              <a:t>AI Microlesson Series</a:t>
            </a:r>
            <a:endParaRPr lang="en-US" sz="1800" dirty="0"/>
          </a:p>
        </p:txBody>
      </p:sp>
      <p:sp>
        <p:nvSpPr>
          <p:cNvPr id="14" name="Text 12"/>
          <p:cNvSpPr/>
          <p:nvPr/>
        </p:nvSpPr>
        <p:spPr>
          <a:xfrm>
            <a:off x="896112" y="3044952"/>
            <a:ext cx="4114800" cy="201168"/>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MGF Data · learning and development · practical AI concepts</a:t>
            </a:r>
            <a:endParaRPr lang="en-US" sz="1150" dirty="0"/>
          </a:p>
        </p:txBody>
      </p:sp>
      <p:sp>
        <p:nvSpPr>
          <p:cNvPr id="15" name="Text 13">
            <a:hlinkClick r:id="rId4"/>
          </p:cNvPr>
          <p:cNvSpPr/>
          <p:nvPr/>
        </p:nvSpPr>
        <p:spPr>
          <a:xfrm>
            <a:off x="4937760" y="2761488"/>
            <a:ext cx="3291840" cy="384048"/>
          </a:xfrm>
          <a:prstGeom prst="rect">
            <a:avLst/>
          </a:prstGeom>
          <a:noFill/>
          <a:ln/>
        </p:spPr>
        <p:txBody>
          <a:bodyPr wrap="square" lIns="0" tIns="0" rIns="0" bIns="0" rtlCol="0" anchor="ctr">
            <a:normAutofit/>
          </a:bodyPr>
          <a:lstStyle/>
          <a:p>
            <a:pPr marL="0" indent="0">
              <a:buNone/>
            </a:pPr>
            <a:r>
              <a:rPr lang="en-US" sz="740" u="sng" dirty="0">
                <a:solidFill>
                  <a:srgbClr val="1B9AAA"/>
                </a:solidFill>
                <a:latin typeface="JetBrains Mono" pitchFamily="34" charset="0"/>
                <a:ea typeface="JetBrains Mono" pitchFamily="34" charset="-122"/>
                <a:cs typeface="JetBrains Mono" pitchFamily="34" charset="-120"/>
                <a:hlinkClick r:id="rId4">
                  <a:extLst>
                    <a:ext uri="{A12FA001-AC4F-418D-AE19-62706E023703}">
                      <ahyp:hlinkClr xmlns:ahyp="http://schemas.microsoft.com/office/drawing/2018/hyperlinkcolor" val="tx"/>
                    </a:ext>
                  </a:extLst>
                </a:hlinkClick>
              </a:rPr>
              <a:t>https://evarooms.merckgroup.com/Topic/MGF-Data/learning-development/ai-microlesson-series</a:t>
            </a:r>
            <a:endParaRPr lang="en-US" sz="740" dirty="0"/>
          </a:p>
        </p:txBody>
      </p:sp>
      <p:sp>
        <p:nvSpPr>
          <p:cNvPr id="16" name="Shape 14"/>
          <p:cNvSpPr/>
          <p:nvPr/>
        </p:nvSpPr>
        <p:spPr>
          <a:xfrm>
            <a:off x="566928" y="3511296"/>
            <a:ext cx="8046720" cy="749808"/>
          </a:xfrm>
          <a:prstGeom prst="rect">
            <a:avLst/>
          </a:prstGeom>
          <a:solidFill>
            <a:srgbClr val="FFFFFF"/>
          </a:solidFill>
          <a:ln w="9525">
            <a:solidFill>
              <a:srgbClr val="DDE5E9"/>
            </a:solidFill>
            <a:prstDash val="solid"/>
          </a:ln>
        </p:spPr>
        <p:txBody>
          <a:bodyPr/>
          <a:lstStyle/>
          <a:p>
            <a:endParaRPr lang="en-US"/>
          </a:p>
        </p:txBody>
      </p:sp>
      <p:sp>
        <p:nvSpPr>
          <p:cNvPr id="17" name="Shape 15"/>
          <p:cNvSpPr/>
          <p:nvPr/>
        </p:nvSpPr>
        <p:spPr>
          <a:xfrm>
            <a:off x="566928" y="3511296"/>
            <a:ext cx="82296" cy="749808"/>
          </a:xfrm>
          <a:prstGeom prst="rect">
            <a:avLst/>
          </a:prstGeom>
          <a:solidFill>
            <a:srgbClr val="1B9AAA"/>
          </a:solidFill>
          <a:ln/>
        </p:spPr>
        <p:txBody>
          <a:bodyPr/>
          <a:lstStyle/>
          <a:p>
            <a:endParaRPr lang="en-US"/>
          </a:p>
        </p:txBody>
      </p:sp>
      <p:sp>
        <p:nvSpPr>
          <p:cNvPr id="18" name="Text 16">
            <a:hlinkClick r:id="rId5"/>
          </p:cNvPr>
          <p:cNvSpPr/>
          <p:nvPr/>
        </p:nvSpPr>
        <p:spPr>
          <a:xfrm>
            <a:off x="896112" y="3621024"/>
            <a:ext cx="3657600" cy="228600"/>
          </a:xfrm>
          <a:prstGeom prst="rect">
            <a:avLst/>
          </a:prstGeom>
          <a:noFill/>
          <a:ln/>
        </p:spPr>
        <p:txBody>
          <a:bodyPr wrap="square" lIns="0" tIns="0" rIns="0" bIns="0" rtlCol="0" anchor="ctr"/>
          <a:lstStyle/>
          <a:p>
            <a:pPr marL="0" indent="0">
              <a:buNone/>
            </a:pPr>
            <a:r>
              <a:rPr lang="en-US" sz="1800" u="sng" dirty="0">
                <a:solidFill>
                  <a:srgbClr val="0D1B2A"/>
                </a:solidFill>
                <a:latin typeface="Oswald" pitchFamily="34" charset="0"/>
                <a:ea typeface="Oswald" pitchFamily="34" charset="-122"/>
                <a:cs typeface="Oswald" pitchFamily="34" charset="-120"/>
              </a:rPr>
              <a:t>Merck Data and AI –Learning Hub</a:t>
            </a:r>
            <a:endParaRPr lang="en-US" sz="1800" dirty="0"/>
          </a:p>
        </p:txBody>
      </p:sp>
      <p:sp>
        <p:nvSpPr>
          <p:cNvPr id="19" name="Text 17"/>
          <p:cNvSpPr/>
          <p:nvPr/>
        </p:nvSpPr>
        <p:spPr>
          <a:xfrm>
            <a:off x="896112" y="3941064"/>
            <a:ext cx="4114800" cy="201168"/>
          </a:xfrm>
          <a:prstGeom prst="rect">
            <a:avLst/>
          </a:prstGeom>
          <a:noFill/>
          <a:ln/>
        </p:spPr>
        <p:txBody>
          <a:bodyPr wrap="square" lIns="0" tIns="0" rIns="0" bIns="0" rtlCol="0" anchor="ctr"/>
          <a:lstStyle/>
          <a:p>
            <a:pPr marL="0" indent="0">
              <a:buNone/>
            </a:pPr>
            <a:r>
              <a:rPr lang="en-US" sz="1150" dirty="0">
                <a:solidFill>
                  <a:srgbClr val="6B7B8C"/>
                </a:solidFill>
                <a:latin typeface="Roboto" pitchFamily="34" charset="0"/>
                <a:ea typeface="Roboto" pitchFamily="34" charset="-122"/>
                <a:cs typeface="Roboto" pitchFamily="34" charset="-120"/>
              </a:rPr>
              <a:t>Merck Data · learning resource</a:t>
            </a:r>
            <a:endParaRPr lang="en-US" sz="1150" dirty="0"/>
          </a:p>
        </p:txBody>
      </p:sp>
      <p:sp>
        <p:nvSpPr>
          <p:cNvPr id="20" name="Text 18">
            <a:hlinkClick r:id="rId5"/>
          </p:cNvPr>
          <p:cNvSpPr/>
          <p:nvPr/>
        </p:nvSpPr>
        <p:spPr>
          <a:xfrm>
            <a:off x="4937760" y="3657600"/>
            <a:ext cx="3291840" cy="384048"/>
          </a:xfrm>
          <a:prstGeom prst="rect">
            <a:avLst/>
          </a:prstGeom>
          <a:noFill/>
          <a:ln/>
        </p:spPr>
        <p:txBody>
          <a:bodyPr wrap="square" lIns="0" tIns="0" rIns="0" bIns="0" rtlCol="0" anchor="ctr">
            <a:normAutofit/>
          </a:bodyPr>
          <a:lstStyle/>
          <a:p>
            <a:pPr marL="0" indent="0">
              <a:buNone/>
            </a:pPr>
            <a:r>
              <a:rPr lang="en-US" sz="740" u="sng" dirty="0">
                <a:solidFill>
                  <a:srgbClr val="1B9AAA"/>
                </a:solidFill>
                <a:latin typeface="JetBrains Mono" pitchFamily="34" charset="0"/>
                <a:ea typeface="JetBrains Mono" pitchFamily="34" charset="-122"/>
                <a:cs typeface="JetBrains Mono" pitchFamily="34" charset="-120"/>
                <a:hlinkClick r:id="rId5">
                  <a:extLst>
                    <a:ext uri="{A12FA001-AC4F-418D-AE19-62706E023703}">
                      <ahyp:hlinkClr xmlns:ahyp="http://schemas.microsoft.com/office/drawing/2018/hyperlinkcolor" val="tx"/>
                    </a:ext>
                  </a:extLst>
                </a:hlinkClick>
              </a:rPr>
              <a:t>https://evarooms.merckgroup.com/Topic/MerckData/learn</a:t>
            </a:r>
            <a:endParaRPr lang="en-US" sz="7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3483</Words>
  <Application>Microsoft Macintosh PowerPoint</Application>
  <PresentationFormat>Bildschirmpräsentation (16:9)</PresentationFormat>
  <Paragraphs>650</Paragraphs>
  <Slides>34</Slides>
  <Notes>15</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34</vt:i4>
      </vt:variant>
    </vt:vector>
  </HeadingPairs>
  <TitlesOfParts>
    <vt:vector size="42" baseType="lpstr">
      <vt:lpstr>Arial</vt:lpstr>
      <vt:lpstr>Bahnschrift Condensed</vt:lpstr>
      <vt:lpstr>Consolas</vt:lpstr>
      <vt:lpstr>Courier New</vt:lpstr>
      <vt:lpstr>JetBrains Mono</vt:lpstr>
      <vt:lpstr>Oswald</vt:lpstr>
      <vt:lpstr>Roboto</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decides?</dc:title>
  <dc:subject>PptxGenJS Presentation</dc:subject>
  <dc:creator>myGPT Suite</dc:creator>
  <cp:lastModifiedBy>Lukas Rödl</cp:lastModifiedBy>
  <cp:revision>19</cp:revision>
  <dcterms:created xsi:type="dcterms:W3CDTF">2026-09-14T09:26:33Z</dcterms:created>
  <dcterms:modified xsi:type="dcterms:W3CDTF">2026-09-23T11:25:09Z</dcterms:modified>
</cp:coreProperties>
</file>