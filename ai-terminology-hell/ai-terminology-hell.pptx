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336" r:id="rId3"/>
    <p:sldId id="437" r:id="rId4"/>
    <p:sldId id="421" r:id="rId5"/>
    <p:sldId id="422" r:id="rId6"/>
    <p:sldId id="355" r:id="rId7"/>
    <p:sldId id="423" r:id="rId8"/>
    <p:sldId id="359" r:id="rId9"/>
    <p:sldId id="383" r:id="rId10"/>
    <p:sldId id="424" r:id="rId11"/>
    <p:sldId id="387" r:id="rId12"/>
    <p:sldId id="425" r:id="rId13"/>
    <p:sldId id="385" r:id="rId14"/>
    <p:sldId id="388" r:id="rId15"/>
    <p:sldId id="395" r:id="rId16"/>
    <p:sldId id="397" r:id="rId17"/>
    <p:sldId id="398" r:id="rId18"/>
    <p:sldId id="392" r:id="rId19"/>
    <p:sldId id="399" r:id="rId20"/>
    <p:sldId id="400" r:id="rId21"/>
    <p:sldId id="403" r:id="rId22"/>
    <p:sldId id="404" r:id="rId23"/>
    <p:sldId id="426" r:id="rId24"/>
    <p:sldId id="442" r:id="rId25"/>
    <p:sldId id="431" r:id="rId26"/>
    <p:sldId id="438" r:id="rId27"/>
    <p:sldId id="430" r:id="rId28"/>
    <p:sldId id="441" r:id="rId29"/>
    <p:sldId id="432" r:id="rId30"/>
    <p:sldId id="427" r:id="rId31"/>
    <p:sldId id="433" r:id="rId32"/>
    <p:sldId id="416" r:id="rId33"/>
    <p:sldId id="435" r:id="rId34"/>
    <p:sldId id="440" r:id="rId35"/>
    <p:sldId id="419" r:id="rId36"/>
    <p:sldId id="434" r:id="rId37"/>
    <p:sldId id="429" r:id="rId3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D1CC"/>
    <a:srgbClr val="0B2B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40" autoAdjust="0"/>
    <p:restoredTop sz="95934"/>
  </p:normalViewPr>
  <p:slideViewPr>
    <p:cSldViewPr snapToGrid="0" snapToObjects="1">
      <p:cViewPr varScale="1">
        <p:scale>
          <a:sx n="147" d="100"/>
          <a:sy n="147" d="100"/>
        </p:scale>
        <p:origin x="320"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3270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every step in this story moves one decision from the engineer to the model.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78DF0F-DD56-4C3E-2B48-35E3EF2B7E7F}"/>
              </a:ext>
            </a:extLst>
          </p:cNvPr>
          <p:cNvSpPr>
            <a:spLocks noGrp="1"/>
          </p:cNvSpPr>
          <p:nvPr>
            <p:ph type="dt" sz="half" idx="10"/>
          </p:nvPr>
        </p:nvSpPr>
        <p:spPr/>
        <p:txBody>
          <a:bodyPr/>
          <a:lstStyle/>
          <a:p>
            <a:fld id="{990A80E8-06B7-46C8-9730-7088A7D38457}" type="datetimeFigureOut">
              <a:rPr lang="en-US" smtClean="0"/>
              <a:t>9/25/26</a:t>
            </a:fld>
            <a:endParaRPr lang="en-US"/>
          </a:p>
        </p:txBody>
      </p:sp>
      <p:sp>
        <p:nvSpPr>
          <p:cNvPr id="3" name="Footer Placeholder 2">
            <a:extLst>
              <a:ext uri="{FF2B5EF4-FFF2-40B4-BE49-F238E27FC236}">
                <a16:creationId xmlns:a16="http://schemas.microsoft.com/office/drawing/2014/main" id="{589D5061-057E-E425-09A7-7A1D3F9C98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851C34-4DBC-B32C-EBC9-8A717994991F}"/>
              </a:ext>
            </a:extLst>
          </p:cNvPr>
          <p:cNvSpPr>
            <a:spLocks noGrp="1"/>
          </p:cNvSpPr>
          <p:nvPr>
            <p:ph type="sldNum" sz="quarter" idx="12"/>
          </p:nvPr>
        </p:nvSpPr>
        <p:spPr/>
        <p:txBody>
          <a:bodyPr/>
          <a:lstStyle/>
          <a:p>
            <a:fld id="{97B361D9-8D1E-49E3-A856-CA9B3D3BB66A}" type="slidenum">
              <a:rPr lang="en-US" smtClean="0"/>
              <a:t>‹Nr.›</a:t>
            </a:fld>
            <a:endParaRPr lang="en-US"/>
          </a:p>
        </p:txBody>
      </p:sp>
    </p:spTree>
    <p:extLst>
      <p:ext uri="{BB962C8B-B14F-4D97-AF65-F5344CB8AC3E}">
        <p14:creationId xmlns:p14="http://schemas.microsoft.com/office/powerpoint/2010/main" val="4127124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MAIN">
    <p:bg>
      <p:bgPr>
        <a:solidFill>
          <a:srgbClr val="F1F5F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5219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hyperlink" Target="https://evarooms.merckgroup.com/Topic/MGF-Data/learning-development/ai-microlesson-series" TargetMode="External"/><Relationship Id="rId2" Type="http://schemas.openxmlformats.org/officeDocument/2006/relationships/hyperlink" Target="https://evarooms.merckgroup.com/Organization/Legal-Compliance/PublishingImages/le-knowledge-base/le-expert-groups/digital-data-economy/AI%20Glossary%20for%20LE%20Teams%20Q4%2024.pdf" TargetMode="External"/><Relationship Id="rId1" Type="http://schemas.openxmlformats.org/officeDocument/2006/relationships/slideLayout" Target="../slideLayouts/slideLayout1.xml"/><Relationship Id="rId4" Type="http://schemas.openxmlformats.org/officeDocument/2006/relationships/hyperlink" Target="https://evarooms.merckgroup.com/Topic/MerckData/lear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852160" y="-1371600"/>
            <a:ext cx="5120640" cy="5120640"/>
          </a:xfrm>
          <a:prstGeom prst="ellipse">
            <a:avLst/>
          </a:prstGeom>
          <a:solidFill>
            <a:srgbClr val="1B9AAA">
              <a:alpha val="18000"/>
            </a:srgbClr>
          </a:solidFill>
          <a:ln w="9525">
            <a:solidFill>
              <a:srgbClr val="1B9AAA"/>
            </a:solidFill>
            <a:prstDash val="solid"/>
          </a:ln>
        </p:spPr>
        <p:txBody>
          <a:bodyPr/>
          <a:lstStyle/>
          <a:p>
            <a:endParaRPr lang="en-US"/>
          </a:p>
        </p:txBody>
      </p:sp>
      <p:sp>
        <p:nvSpPr>
          <p:cNvPr id="3" name="Shape 1"/>
          <p:cNvSpPr/>
          <p:nvPr/>
        </p:nvSpPr>
        <p:spPr>
          <a:xfrm>
            <a:off x="6949440" y="2011680"/>
            <a:ext cx="3108960" cy="3108960"/>
          </a:xfrm>
          <a:prstGeom prst="ellipse">
            <a:avLst/>
          </a:prstGeom>
          <a:solidFill>
            <a:srgbClr val="06D6A0">
              <a:alpha val="12000"/>
            </a:srgbClr>
          </a:solidFill>
          <a:ln w="9525">
            <a:solidFill>
              <a:srgbClr val="06D6A0"/>
            </a:solidFill>
            <a:prstDash val="solid"/>
          </a:ln>
        </p:spPr>
        <p:txBody>
          <a:bodyPr/>
          <a:lstStyle/>
          <a:p>
            <a:endParaRPr lang="en-US"/>
          </a:p>
        </p:txBody>
      </p:sp>
      <p:sp>
        <p:nvSpPr>
          <p:cNvPr id="4" name="Text 2"/>
          <p:cNvSpPr/>
          <p:nvPr/>
        </p:nvSpPr>
        <p:spPr>
          <a:xfrm>
            <a:off x="731520" y="1234440"/>
            <a:ext cx="6400800" cy="274320"/>
          </a:xfrm>
          <a:prstGeom prst="rect">
            <a:avLst/>
          </a:prstGeom>
          <a:noFill/>
          <a:ln/>
        </p:spPr>
        <p:txBody>
          <a:bodyPr wrap="square" lIns="0" tIns="0" rIns="0" bIns="0" rtlCol="0" anchor="ctr"/>
          <a:lstStyle/>
          <a:p>
            <a:pPr marL="0" indent="0">
              <a:buNone/>
            </a:pPr>
            <a:r>
              <a:rPr lang="en-US" sz="1100" kern="0" spc="300" dirty="0">
                <a:solidFill>
                  <a:srgbClr val="06D6A0"/>
                </a:solidFill>
                <a:latin typeface="JetBrains Mono" pitchFamily="34" charset="0"/>
                <a:ea typeface="JetBrains Mono" pitchFamily="34" charset="-122"/>
                <a:cs typeface="JetBrains Mono" pitchFamily="34" charset="-120"/>
              </a:rPr>
              <a:t>A SHORT HISTORY OF AI</a:t>
            </a:r>
            <a:endParaRPr lang="en-US" sz="1100" dirty="0"/>
          </a:p>
        </p:txBody>
      </p:sp>
      <p:sp>
        <p:nvSpPr>
          <p:cNvPr id="5" name="Text 3"/>
          <p:cNvSpPr/>
          <p:nvPr/>
        </p:nvSpPr>
        <p:spPr>
          <a:xfrm>
            <a:off x="731520" y="1600200"/>
            <a:ext cx="6766560" cy="914400"/>
          </a:xfrm>
          <a:prstGeom prst="rect">
            <a:avLst/>
          </a:prstGeom>
          <a:noFill/>
          <a:ln/>
        </p:spPr>
        <p:txBody>
          <a:bodyPr wrap="square" lIns="0" tIns="0" rIns="0" bIns="0" rtlCol="0" anchor="ctr"/>
          <a:lstStyle/>
          <a:p>
            <a:pPr marL="0" indent="0">
              <a:buNone/>
            </a:pPr>
            <a:r>
              <a:rPr lang="en-US" sz="4400" dirty="0">
                <a:solidFill>
                  <a:srgbClr val="FFFFFF"/>
                </a:solidFill>
                <a:latin typeface="Oswald" pitchFamily="34" charset="0"/>
                <a:ea typeface="Oswald" pitchFamily="34" charset="-122"/>
                <a:cs typeface="Oswald" pitchFamily="34" charset="-120"/>
              </a:rPr>
              <a:t>From Generative AI to Agentic AI</a:t>
            </a:r>
            <a:endParaRPr lang="en-US" sz="4400" dirty="0"/>
          </a:p>
        </p:txBody>
      </p:sp>
      <p:sp>
        <p:nvSpPr>
          <p:cNvPr id="6" name="Text 4"/>
          <p:cNvSpPr/>
          <p:nvPr/>
        </p:nvSpPr>
        <p:spPr>
          <a:xfrm>
            <a:off x="749808" y="2606040"/>
            <a:ext cx="6035040" cy="731520"/>
          </a:xfrm>
          <a:prstGeom prst="rect">
            <a:avLst/>
          </a:prstGeom>
          <a:noFill/>
          <a:ln/>
        </p:spPr>
        <p:txBody>
          <a:bodyPr wrap="square" lIns="0" tIns="0" rIns="0" bIns="0" rtlCol="0" anchor="ctr"/>
          <a:lstStyle/>
          <a:p>
            <a:pPr marL="0" indent="0">
              <a:buNone/>
            </a:pPr>
            <a:r>
              <a:rPr lang="en-US" sz="1600" dirty="0">
                <a:solidFill>
                  <a:srgbClr val="AFC2CE"/>
                </a:solidFill>
                <a:latin typeface="Roboto" pitchFamily="34" charset="0"/>
                <a:ea typeface="Roboto" pitchFamily="34" charset="-122"/>
                <a:cs typeface="Roboto" pitchFamily="34" charset="-120"/>
              </a:rPr>
              <a:t>Welcome to terminology hell </a:t>
            </a:r>
            <a:r>
              <a:rPr lang="en-US" sz="1600" dirty="0">
                <a:solidFill>
                  <a:srgbClr val="AFC2CE"/>
                </a:solidFill>
                <a:latin typeface="Roboto" pitchFamily="34" charset="0"/>
                <a:ea typeface="Roboto" pitchFamily="34" charset="-122"/>
                <a:cs typeface="Roboto" pitchFamily="34" charset="-120"/>
                <a:sym typeface="Wingdings" panose="05000000000000000000" pitchFamily="2" charset="2"/>
              </a:rPr>
              <a:t> </a:t>
            </a:r>
            <a:endParaRPr lang="en-US" sz="1600" dirty="0"/>
          </a:p>
        </p:txBody>
      </p:sp>
      <p:sp>
        <p:nvSpPr>
          <p:cNvPr id="7" name="Shape 5"/>
          <p:cNvSpPr/>
          <p:nvPr/>
        </p:nvSpPr>
        <p:spPr>
          <a:xfrm>
            <a:off x="749808" y="3611880"/>
            <a:ext cx="822960" cy="41148"/>
          </a:xfrm>
          <a:prstGeom prst="rect">
            <a:avLst/>
          </a:prstGeom>
          <a:solidFill>
            <a:srgbClr val="06D6A0"/>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160520" y="91439"/>
            <a:ext cx="4937760" cy="4937760"/>
          </a:xfrm>
          <a:prstGeom prst="ellipse">
            <a:avLst/>
          </a:prstGeom>
          <a:solidFill>
            <a:srgbClr val="1B9AAA">
              <a:alpha val="18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589520" y="3566160"/>
            <a:ext cx="2743200" cy="2743200"/>
          </a:xfrm>
          <a:prstGeom prst="ellipse">
            <a:avLst/>
          </a:prstGeom>
          <a:solidFill>
            <a:srgbClr val="06D6A0">
              <a:alpha val="12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34440"/>
            <a:ext cx="3108960" cy="274320"/>
          </a:xfrm>
          <a:prstGeom prst="rect">
            <a:avLst/>
          </a:prstGeom>
          <a:noFill/>
        </p:spPr>
        <p:txBody>
          <a:bodyPr wrap="square" lIns="0" tIns="0" rIns="0" bIns="0" anchor="t">
            <a:spAutoFit/>
          </a:bodyPr>
          <a:lstStyle/>
          <a:p>
            <a:pPr algn="l"/>
            <a:r>
              <a:rPr sz="1100" b="0" spc="300">
                <a:solidFill>
                  <a:srgbClr val="06D6A0"/>
                </a:solidFill>
                <a:latin typeface="JetBrains Mono"/>
              </a:rPr>
              <a:t>BEFORE WE START</a:t>
            </a:r>
          </a:p>
        </p:txBody>
      </p:sp>
      <p:sp>
        <p:nvSpPr>
          <p:cNvPr id="5" name="terminology-hell-title"/>
          <p:cNvSpPr txBox="1"/>
          <p:nvPr/>
        </p:nvSpPr>
        <p:spPr>
          <a:xfrm>
            <a:off x="731520" y="1554480"/>
            <a:ext cx="3108960" cy="1645920"/>
          </a:xfrm>
          <a:prstGeom prst="rect">
            <a:avLst/>
          </a:prstGeom>
          <a:noFill/>
        </p:spPr>
        <p:txBody>
          <a:bodyPr wrap="square" lIns="0" tIns="0" rIns="0" bIns="0" anchor="t">
            <a:spAutoFit/>
          </a:bodyPr>
          <a:lstStyle/>
          <a:p>
            <a:pPr algn="l"/>
            <a:r>
              <a:rPr sz="4800" b="0">
                <a:solidFill>
                  <a:srgbClr val="FFFFFF"/>
                </a:solidFill>
                <a:latin typeface="Oswald"/>
              </a:rPr>
              <a:t>Terminology</a:t>
            </a:r>
          </a:p>
          <a:p>
            <a:pPr algn="l"/>
            <a:r>
              <a:rPr sz="4800" b="0">
                <a:solidFill>
                  <a:srgbClr val="FFFFFF"/>
                </a:solidFill>
                <a:latin typeface="Oswald"/>
              </a:rPr>
              <a:t>hell</a:t>
            </a:r>
          </a:p>
        </p:txBody>
      </p:sp>
      <p:sp>
        <p:nvSpPr>
          <p:cNvPr id="6" name="TextBox 5"/>
          <p:cNvSpPr txBox="1"/>
          <p:nvPr/>
        </p:nvSpPr>
        <p:spPr>
          <a:xfrm>
            <a:off x="731520" y="3246120"/>
            <a:ext cx="3017520" cy="822960"/>
          </a:xfrm>
          <a:prstGeom prst="rect">
            <a:avLst/>
          </a:prstGeom>
          <a:noFill/>
        </p:spPr>
        <p:txBody>
          <a:bodyPr wrap="square" lIns="0" tIns="0" rIns="0" bIns="0" anchor="t">
            <a:spAutoFit/>
          </a:bodyPr>
          <a:lstStyle/>
          <a:p>
            <a:pPr algn="l"/>
            <a:r>
              <a:rPr sz="1400" b="0">
                <a:solidFill>
                  <a:srgbClr val="AFC2CE"/>
                </a:solidFill>
                <a:latin typeface="Roboto"/>
              </a:rPr>
              <a:t>All of these terms show up in this talk. By the end, each one will have its place in the story.</a:t>
            </a:r>
          </a:p>
        </p:txBody>
      </p:sp>
      <p:sp>
        <p:nvSpPr>
          <p:cNvPr id="7" name="Rectangle 6"/>
          <p:cNvSpPr/>
          <p:nvPr/>
        </p:nvSpPr>
        <p:spPr>
          <a:xfrm>
            <a:off x="731520" y="42062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rot="21360000">
            <a:off x="5486400" y="548640"/>
            <a:ext cx="609600" cy="711200"/>
          </a:xfrm>
          <a:prstGeom prst="rect">
            <a:avLst/>
          </a:prstGeom>
          <a:noFill/>
        </p:spPr>
        <p:txBody>
          <a:bodyPr wrap="none" lIns="0" tIns="0" rIns="0" bIns="0" anchor="t">
            <a:spAutoFit/>
          </a:bodyPr>
          <a:lstStyle/>
          <a:p>
            <a:pPr algn="l"/>
            <a:r>
              <a:rPr sz="4000" b="0">
                <a:solidFill>
                  <a:srgbClr val="1B9AAA"/>
                </a:solidFill>
                <a:latin typeface="Oswald"/>
              </a:rPr>
              <a:t>LLM</a:t>
            </a:r>
          </a:p>
        </p:txBody>
      </p:sp>
      <p:sp>
        <p:nvSpPr>
          <p:cNvPr id="9" name="TextBox 8"/>
          <p:cNvSpPr txBox="1"/>
          <p:nvPr/>
        </p:nvSpPr>
        <p:spPr>
          <a:xfrm>
            <a:off x="6355080" y="804672"/>
            <a:ext cx="419100" cy="213359"/>
          </a:xfrm>
          <a:prstGeom prst="rect">
            <a:avLst/>
          </a:prstGeom>
          <a:noFill/>
        </p:spPr>
        <p:txBody>
          <a:bodyPr wrap="none" lIns="0" tIns="0" rIns="0" bIns="0" anchor="t">
            <a:spAutoFit/>
          </a:bodyPr>
          <a:lstStyle/>
          <a:p>
            <a:pPr algn="l"/>
            <a:r>
              <a:rPr sz="1200" b="0">
                <a:solidFill>
                  <a:srgbClr val="8FA6B2"/>
                </a:solidFill>
                <a:latin typeface="JetBrains Mono"/>
              </a:rPr>
              <a:t>Token</a:t>
            </a:r>
          </a:p>
        </p:txBody>
      </p:sp>
      <p:sp>
        <p:nvSpPr>
          <p:cNvPr id="10" name="TextBox 9"/>
          <p:cNvSpPr txBox="1"/>
          <p:nvPr/>
        </p:nvSpPr>
        <p:spPr>
          <a:xfrm rot="240000">
            <a:off x="7040880" y="530352"/>
            <a:ext cx="518160" cy="604520"/>
          </a:xfrm>
          <a:prstGeom prst="rect">
            <a:avLst/>
          </a:prstGeom>
          <a:noFill/>
        </p:spPr>
        <p:txBody>
          <a:bodyPr wrap="none" lIns="0" tIns="0" rIns="0" bIns="0" anchor="t">
            <a:spAutoFit/>
          </a:bodyPr>
          <a:lstStyle/>
          <a:p>
            <a:pPr algn="l"/>
            <a:r>
              <a:rPr sz="3400" b="0">
                <a:solidFill>
                  <a:srgbClr val="FFFFFF"/>
                </a:solidFill>
                <a:latin typeface="Oswald"/>
              </a:rPr>
              <a:t>MCP</a:t>
            </a:r>
          </a:p>
        </p:txBody>
      </p:sp>
      <p:sp>
        <p:nvSpPr>
          <p:cNvPr id="11" name="TextBox 10"/>
          <p:cNvSpPr txBox="1"/>
          <p:nvPr/>
        </p:nvSpPr>
        <p:spPr>
          <a:xfrm rot="21120000">
            <a:off x="4572000" y="1417320"/>
            <a:ext cx="544830" cy="231140"/>
          </a:xfrm>
          <a:prstGeom prst="rect">
            <a:avLst/>
          </a:prstGeom>
          <a:noFill/>
        </p:spPr>
        <p:txBody>
          <a:bodyPr wrap="none" lIns="0" tIns="0" rIns="0" bIns="0" anchor="t">
            <a:spAutoFit/>
          </a:bodyPr>
          <a:lstStyle/>
          <a:p>
            <a:pPr algn="l"/>
            <a:r>
              <a:rPr sz="1300" b="0">
                <a:solidFill>
                  <a:srgbClr val="06D6A0"/>
                </a:solidFill>
                <a:latin typeface="JetBrains Mono"/>
              </a:rPr>
              <a:t>Prompt</a:t>
            </a:r>
          </a:p>
        </p:txBody>
      </p:sp>
      <p:sp>
        <p:nvSpPr>
          <p:cNvPr id="12" name="TextBox 11"/>
          <p:cNvSpPr txBox="1"/>
          <p:nvPr/>
        </p:nvSpPr>
        <p:spPr>
          <a:xfrm>
            <a:off x="5440680" y="1051560"/>
            <a:ext cx="609600" cy="1066800"/>
          </a:xfrm>
          <a:prstGeom prst="rect">
            <a:avLst/>
          </a:prstGeom>
          <a:noFill/>
        </p:spPr>
        <p:txBody>
          <a:bodyPr wrap="none" lIns="0" tIns="0" rIns="0" bIns="0" anchor="t">
            <a:spAutoFit/>
          </a:bodyPr>
          <a:lstStyle/>
          <a:p>
            <a:pPr algn="l"/>
            <a:r>
              <a:rPr sz="6000" b="0">
                <a:solidFill>
                  <a:srgbClr val="FFFFFF"/>
                </a:solidFill>
                <a:latin typeface="Oswald"/>
              </a:rPr>
              <a:t>AI</a:t>
            </a:r>
          </a:p>
        </p:txBody>
      </p:sp>
      <p:sp>
        <p:nvSpPr>
          <p:cNvPr id="13" name="TextBox 12"/>
          <p:cNvSpPr txBox="1"/>
          <p:nvPr/>
        </p:nvSpPr>
        <p:spPr>
          <a:xfrm>
            <a:off x="6583680" y="1143000"/>
            <a:ext cx="1452880" cy="391160"/>
          </a:xfrm>
          <a:prstGeom prst="rect">
            <a:avLst/>
          </a:prstGeom>
          <a:noFill/>
        </p:spPr>
        <p:txBody>
          <a:bodyPr wrap="none" lIns="0" tIns="0" rIns="0" bIns="0" anchor="t">
            <a:spAutoFit/>
          </a:bodyPr>
          <a:lstStyle/>
          <a:p>
            <a:pPr algn="l"/>
            <a:r>
              <a:rPr sz="2200" b="0">
                <a:solidFill>
                  <a:srgbClr val="AFC2CE"/>
                </a:solidFill>
                <a:latin typeface="Oswald"/>
              </a:rPr>
              <a:t>Deep Learning</a:t>
            </a:r>
          </a:p>
        </p:txBody>
      </p:sp>
      <p:sp>
        <p:nvSpPr>
          <p:cNvPr id="14" name="TextBox 13"/>
          <p:cNvSpPr txBox="1"/>
          <p:nvPr/>
        </p:nvSpPr>
        <p:spPr>
          <a:xfrm>
            <a:off x="6400800" y="1691640"/>
            <a:ext cx="1337056" cy="284479"/>
          </a:xfrm>
          <a:prstGeom prst="rect">
            <a:avLst/>
          </a:prstGeom>
          <a:noFill/>
        </p:spPr>
        <p:txBody>
          <a:bodyPr wrap="none" lIns="0" tIns="0" rIns="0" bIns="0" anchor="t">
            <a:spAutoFit/>
          </a:bodyPr>
          <a:lstStyle/>
          <a:p>
            <a:pPr algn="l"/>
            <a:r>
              <a:rPr sz="1600" b="0">
                <a:solidFill>
                  <a:srgbClr val="AFC2CE"/>
                </a:solidFill>
                <a:latin typeface="Roboto"/>
              </a:rPr>
              <a:t>Neural Network</a:t>
            </a:r>
          </a:p>
        </p:txBody>
      </p:sp>
      <p:sp>
        <p:nvSpPr>
          <p:cNvPr id="15" name="TextBox 14"/>
          <p:cNvSpPr txBox="1"/>
          <p:nvPr/>
        </p:nvSpPr>
        <p:spPr>
          <a:xfrm rot="180000">
            <a:off x="7909560" y="1554480"/>
            <a:ext cx="457200" cy="533400"/>
          </a:xfrm>
          <a:prstGeom prst="rect">
            <a:avLst/>
          </a:prstGeom>
          <a:noFill/>
        </p:spPr>
        <p:txBody>
          <a:bodyPr wrap="none" lIns="0" tIns="0" rIns="0" bIns="0" anchor="t">
            <a:spAutoFit/>
          </a:bodyPr>
          <a:lstStyle/>
          <a:p>
            <a:pPr algn="l"/>
            <a:r>
              <a:rPr sz="3000" b="0">
                <a:solidFill>
                  <a:srgbClr val="1B9AAA"/>
                </a:solidFill>
                <a:latin typeface="Oswald"/>
              </a:rPr>
              <a:t>GPT</a:t>
            </a:r>
          </a:p>
        </p:txBody>
      </p:sp>
      <p:sp>
        <p:nvSpPr>
          <p:cNvPr id="16" name="TextBox 15"/>
          <p:cNvSpPr txBox="1"/>
          <p:nvPr/>
        </p:nvSpPr>
        <p:spPr>
          <a:xfrm>
            <a:off x="4434840" y="1874519"/>
            <a:ext cx="922020" cy="195580"/>
          </a:xfrm>
          <a:prstGeom prst="rect">
            <a:avLst/>
          </a:prstGeom>
          <a:noFill/>
        </p:spPr>
        <p:txBody>
          <a:bodyPr wrap="none" lIns="0" tIns="0" rIns="0" bIns="0" anchor="t">
            <a:spAutoFit/>
          </a:bodyPr>
          <a:lstStyle/>
          <a:p>
            <a:pPr algn="l"/>
            <a:r>
              <a:rPr sz="1100" b="0">
                <a:solidFill>
                  <a:srgbClr val="06D6A0"/>
                </a:solidFill>
                <a:latin typeface="JetBrains Mono"/>
              </a:rPr>
              <a:t>Pre-training</a:t>
            </a:r>
          </a:p>
        </p:txBody>
      </p:sp>
      <p:sp>
        <p:nvSpPr>
          <p:cNvPr id="17" name="TextBox 16"/>
          <p:cNvSpPr txBox="1"/>
          <p:nvPr/>
        </p:nvSpPr>
        <p:spPr>
          <a:xfrm>
            <a:off x="4389120" y="2240280"/>
            <a:ext cx="691515" cy="195580"/>
          </a:xfrm>
          <a:prstGeom prst="rect">
            <a:avLst/>
          </a:prstGeom>
          <a:noFill/>
        </p:spPr>
        <p:txBody>
          <a:bodyPr wrap="none" lIns="0" tIns="0" rIns="0" bIns="0" anchor="t">
            <a:spAutoFit/>
          </a:bodyPr>
          <a:lstStyle/>
          <a:p>
            <a:pPr algn="l"/>
            <a:r>
              <a:rPr sz="1100" b="0">
                <a:solidFill>
                  <a:srgbClr val="8FA6B2"/>
                </a:solidFill>
                <a:latin typeface="JetBrains Mono"/>
              </a:rPr>
              <a:t>Embedding</a:t>
            </a:r>
          </a:p>
        </p:txBody>
      </p:sp>
      <p:sp>
        <p:nvSpPr>
          <p:cNvPr id="18" name="TextBox 17"/>
          <p:cNvSpPr txBox="1"/>
          <p:nvPr/>
        </p:nvSpPr>
        <p:spPr>
          <a:xfrm>
            <a:off x="5669280" y="2148840"/>
            <a:ext cx="1625600" cy="355600"/>
          </a:xfrm>
          <a:prstGeom prst="rect">
            <a:avLst/>
          </a:prstGeom>
          <a:noFill/>
        </p:spPr>
        <p:txBody>
          <a:bodyPr wrap="none" lIns="0" tIns="0" rIns="0" bIns="0" anchor="t">
            <a:spAutoFit/>
          </a:bodyPr>
          <a:lstStyle/>
          <a:p>
            <a:pPr algn="l"/>
            <a:r>
              <a:rPr sz="2000" b="0">
                <a:solidFill>
                  <a:srgbClr val="FFFFFF"/>
                </a:solidFill>
                <a:latin typeface="Oswald"/>
              </a:rPr>
              <a:t>Machine Learning</a:t>
            </a:r>
          </a:p>
        </p:txBody>
      </p:sp>
      <p:sp>
        <p:nvSpPr>
          <p:cNvPr id="19" name="TextBox 18"/>
          <p:cNvSpPr txBox="1"/>
          <p:nvPr/>
        </p:nvSpPr>
        <p:spPr>
          <a:xfrm>
            <a:off x="7406640" y="2176272"/>
            <a:ext cx="1117600" cy="355600"/>
          </a:xfrm>
          <a:prstGeom prst="rect">
            <a:avLst/>
          </a:prstGeom>
          <a:noFill/>
        </p:spPr>
        <p:txBody>
          <a:bodyPr wrap="none" lIns="0" tIns="0" rIns="0" bIns="0" anchor="t">
            <a:spAutoFit/>
          </a:bodyPr>
          <a:lstStyle/>
          <a:p>
            <a:pPr algn="l"/>
            <a:r>
              <a:rPr sz="2000" b="0">
                <a:solidFill>
                  <a:srgbClr val="AFC2CE"/>
                </a:solidFill>
                <a:latin typeface="Oswald"/>
              </a:rPr>
              <a:t>Transformer</a:t>
            </a:r>
          </a:p>
        </p:txBody>
      </p:sp>
      <p:sp>
        <p:nvSpPr>
          <p:cNvPr id="20" name="TextBox 19"/>
          <p:cNvSpPr txBox="1"/>
          <p:nvPr/>
        </p:nvSpPr>
        <p:spPr>
          <a:xfrm>
            <a:off x="4434840" y="2697480"/>
            <a:ext cx="1551939" cy="231140"/>
          </a:xfrm>
          <a:prstGeom prst="rect">
            <a:avLst/>
          </a:prstGeom>
          <a:noFill/>
        </p:spPr>
        <p:txBody>
          <a:bodyPr wrap="none" lIns="0" tIns="0" rIns="0" bIns="0" anchor="t">
            <a:spAutoFit/>
          </a:bodyPr>
          <a:lstStyle/>
          <a:p>
            <a:pPr algn="l"/>
            <a:r>
              <a:rPr sz="1300" b="0">
                <a:solidFill>
                  <a:srgbClr val="AFC2CE"/>
                </a:solidFill>
                <a:latin typeface="Roboto"/>
              </a:rPr>
              <a:t>Next-word prediction</a:t>
            </a:r>
          </a:p>
        </p:txBody>
      </p:sp>
      <p:sp>
        <p:nvSpPr>
          <p:cNvPr id="21" name="TextBox 20"/>
          <p:cNvSpPr txBox="1"/>
          <p:nvPr/>
        </p:nvSpPr>
        <p:spPr>
          <a:xfrm>
            <a:off x="6172200" y="2606040"/>
            <a:ext cx="812800" cy="568959"/>
          </a:xfrm>
          <a:prstGeom prst="rect">
            <a:avLst/>
          </a:prstGeom>
          <a:noFill/>
        </p:spPr>
        <p:txBody>
          <a:bodyPr wrap="none" lIns="0" tIns="0" rIns="0" bIns="0" anchor="t">
            <a:spAutoFit/>
          </a:bodyPr>
          <a:lstStyle/>
          <a:p>
            <a:pPr algn="l"/>
            <a:r>
              <a:rPr sz="3200" b="0">
                <a:solidFill>
                  <a:srgbClr val="1B9AAA"/>
                </a:solidFill>
                <a:latin typeface="Oswald"/>
              </a:rPr>
              <a:t>GenAI</a:t>
            </a:r>
          </a:p>
        </p:txBody>
      </p:sp>
      <p:sp>
        <p:nvSpPr>
          <p:cNvPr id="22" name="TextBox 21"/>
          <p:cNvSpPr txBox="1"/>
          <p:nvPr/>
        </p:nvSpPr>
        <p:spPr>
          <a:xfrm rot="300000">
            <a:off x="7498079" y="2606040"/>
            <a:ext cx="548640" cy="640080"/>
          </a:xfrm>
          <a:prstGeom prst="rect">
            <a:avLst/>
          </a:prstGeom>
          <a:noFill/>
        </p:spPr>
        <p:txBody>
          <a:bodyPr wrap="none" lIns="0" tIns="0" rIns="0" bIns="0" anchor="t">
            <a:spAutoFit/>
          </a:bodyPr>
          <a:lstStyle/>
          <a:p>
            <a:pPr algn="l"/>
            <a:r>
              <a:rPr sz="3600" b="0">
                <a:solidFill>
                  <a:srgbClr val="06D6A0"/>
                </a:solidFill>
                <a:latin typeface="Oswald"/>
              </a:rPr>
              <a:t>RAG</a:t>
            </a:r>
          </a:p>
        </p:txBody>
      </p:sp>
      <p:sp>
        <p:nvSpPr>
          <p:cNvPr id="23" name="TextBox 22"/>
          <p:cNvSpPr txBox="1"/>
          <p:nvPr/>
        </p:nvSpPr>
        <p:spPr>
          <a:xfrm>
            <a:off x="4663440" y="3246120"/>
            <a:ext cx="812800" cy="355600"/>
          </a:xfrm>
          <a:prstGeom prst="rect">
            <a:avLst/>
          </a:prstGeom>
          <a:noFill/>
        </p:spPr>
        <p:txBody>
          <a:bodyPr wrap="none" lIns="0" tIns="0" rIns="0" bIns="0" anchor="t">
            <a:spAutoFit/>
          </a:bodyPr>
          <a:lstStyle/>
          <a:p>
            <a:pPr algn="l"/>
            <a:r>
              <a:rPr sz="2000" b="0">
                <a:solidFill>
                  <a:srgbClr val="FFFFFF"/>
                </a:solidFill>
                <a:latin typeface="Oswald"/>
              </a:rPr>
              <a:t>Tool use</a:t>
            </a:r>
          </a:p>
        </p:txBody>
      </p:sp>
      <p:sp>
        <p:nvSpPr>
          <p:cNvPr id="24" name="TextBox 23"/>
          <p:cNvSpPr txBox="1"/>
          <p:nvPr/>
        </p:nvSpPr>
        <p:spPr>
          <a:xfrm>
            <a:off x="5760720" y="3246120"/>
            <a:ext cx="894080" cy="391160"/>
          </a:xfrm>
          <a:prstGeom prst="rect">
            <a:avLst/>
          </a:prstGeom>
          <a:noFill/>
        </p:spPr>
        <p:txBody>
          <a:bodyPr wrap="none" lIns="0" tIns="0" rIns="0" bIns="0" anchor="t">
            <a:spAutoFit/>
          </a:bodyPr>
          <a:lstStyle/>
          <a:p>
            <a:pPr algn="l"/>
            <a:r>
              <a:rPr sz="2200" b="0">
                <a:solidFill>
                  <a:srgbClr val="1B9AAA"/>
                </a:solidFill>
                <a:latin typeface="Oswald"/>
              </a:rPr>
              <a:t>AI Agent</a:t>
            </a:r>
          </a:p>
        </p:txBody>
      </p:sp>
      <p:sp>
        <p:nvSpPr>
          <p:cNvPr id="25" name="TextBox 24"/>
          <p:cNvSpPr txBox="1"/>
          <p:nvPr/>
        </p:nvSpPr>
        <p:spPr>
          <a:xfrm rot="21420000">
            <a:off x="6949440" y="3337560"/>
            <a:ext cx="775969" cy="231140"/>
          </a:xfrm>
          <a:prstGeom prst="rect">
            <a:avLst/>
          </a:prstGeom>
          <a:noFill/>
        </p:spPr>
        <p:txBody>
          <a:bodyPr wrap="none" lIns="0" tIns="0" rIns="0" bIns="0" anchor="t">
            <a:spAutoFit/>
          </a:bodyPr>
          <a:lstStyle/>
          <a:p>
            <a:pPr algn="l"/>
            <a:r>
              <a:rPr sz="1300" b="0">
                <a:solidFill>
                  <a:srgbClr val="AFC2CE"/>
                </a:solidFill>
                <a:latin typeface="Roboto"/>
              </a:rPr>
              <a:t>MCP Server</a:t>
            </a:r>
          </a:p>
        </p:txBody>
      </p:sp>
      <p:sp>
        <p:nvSpPr>
          <p:cNvPr id="26" name="TextBox 25"/>
          <p:cNvSpPr txBox="1"/>
          <p:nvPr/>
        </p:nvSpPr>
        <p:spPr>
          <a:xfrm rot="21360000">
            <a:off x="5029200" y="3840480"/>
            <a:ext cx="1163954" cy="266700"/>
          </a:xfrm>
          <a:prstGeom prst="rect">
            <a:avLst/>
          </a:prstGeom>
          <a:noFill/>
        </p:spPr>
        <p:txBody>
          <a:bodyPr wrap="none" lIns="0" tIns="0" rIns="0" bIns="0" anchor="t">
            <a:spAutoFit/>
          </a:bodyPr>
          <a:lstStyle/>
          <a:p>
            <a:pPr algn="l"/>
            <a:r>
              <a:rPr sz="1500" b="0">
                <a:solidFill>
                  <a:srgbClr val="06D6A0"/>
                </a:solidFill>
                <a:latin typeface="Roboto"/>
              </a:rPr>
              <a:t>Hallucination</a:t>
            </a:r>
          </a:p>
        </p:txBody>
      </p:sp>
      <p:sp>
        <p:nvSpPr>
          <p:cNvPr id="27" name="TextBox 26"/>
          <p:cNvSpPr txBox="1"/>
          <p:nvPr/>
        </p:nvSpPr>
        <p:spPr>
          <a:xfrm rot="21420000">
            <a:off x="6263640" y="3749039"/>
            <a:ext cx="1422400" cy="497839"/>
          </a:xfrm>
          <a:prstGeom prst="rect">
            <a:avLst/>
          </a:prstGeom>
          <a:noFill/>
        </p:spPr>
        <p:txBody>
          <a:bodyPr wrap="none" lIns="0" tIns="0" rIns="0" bIns="0" anchor="t">
            <a:spAutoFit/>
          </a:bodyPr>
          <a:lstStyle/>
          <a:p>
            <a:pPr algn="l"/>
            <a:r>
              <a:rPr sz="2800" b="0">
                <a:solidFill>
                  <a:srgbClr val="FFFFFF"/>
                </a:solidFill>
                <a:latin typeface="Oswald"/>
              </a:rPr>
              <a:t>Agentic AI</a:t>
            </a:r>
          </a:p>
        </p:txBody>
      </p:sp>
      <p:sp>
        <p:nvSpPr>
          <p:cNvPr id="28" name="TextBox 27"/>
          <p:cNvSpPr txBox="1"/>
          <p:nvPr/>
        </p:nvSpPr>
        <p:spPr>
          <a:xfrm>
            <a:off x="5394960" y="4343400"/>
            <a:ext cx="1173480" cy="213359"/>
          </a:xfrm>
          <a:prstGeom prst="rect">
            <a:avLst/>
          </a:prstGeom>
          <a:noFill/>
        </p:spPr>
        <p:txBody>
          <a:bodyPr wrap="none" lIns="0" tIns="0" rIns="0" bIns="0" anchor="t">
            <a:spAutoFit/>
          </a:bodyPr>
          <a:lstStyle/>
          <a:p>
            <a:pPr algn="l"/>
            <a:r>
              <a:rPr sz="1200" b="0">
                <a:solidFill>
                  <a:srgbClr val="AFC2CE"/>
                </a:solidFill>
                <a:latin typeface="JetBrains Mono"/>
              </a:rPr>
              <a:t>Context window</a:t>
            </a:r>
          </a:p>
        </p:txBody>
      </p:sp>
      <p:sp>
        <p:nvSpPr>
          <p:cNvPr id="29" name="TextBox 28"/>
          <p:cNvSpPr txBox="1"/>
          <p:nvPr/>
        </p:nvSpPr>
        <p:spPr>
          <a:xfrm>
            <a:off x="6675120" y="4315968"/>
            <a:ext cx="998855" cy="195580"/>
          </a:xfrm>
          <a:prstGeom prst="rect">
            <a:avLst/>
          </a:prstGeom>
          <a:noFill/>
        </p:spPr>
        <p:txBody>
          <a:bodyPr wrap="none" lIns="0" tIns="0" rIns="0" bIns="0" anchor="t">
            <a:spAutoFit/>
          </a:bodyPr>
          <a:lstStyle/>
          <a:p>
            <a:pPr algn="l"/>
            <a:r>
              <a:rPr sz="1100" b="0">
                <a:solidFill>
                  <a:srgbClr val="8FA6B2"/>
                </a:solidFill>
                <a:latin typeface="JetBrains Mono"/>
              </a:rPr>
              <a:t>Rule-based AI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FOUNDATIONS · 1955–2024</a:t>
            </a:r>
          </a:p>
        </p:txBody>
      </p:sp>
      <p:sp>
        <p:nvSpPr>
          <p:cNvPr id="4" name="slide-foundations"/>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Five nested ideas, seventy years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Each idea is a part of the one around it, not a replacement for it.</a:t>
            </a:r>
          </a:p>
        </p:txBody>
      </p:sp>
      <p:sp>
        <p:nvSpPr>
          <p:cNvPr id="6" name="Oval 5"/>
          <p:cNvSpPr/>
          <p:nvPr/>
        </p:nvSpPr>
        <p:spPr>
          <a:xfrm>
            <a:off x="571500" y="1783080"/>
            <a:ext cx="2697480" cy="2697480"/>
          </a:xfrm>
          <a:prstGeom prst="ellipse">
            <a:avLst/>
          </a:prstGeom>
          <a:solidFill>
            <a:srgbClr val="1B9AAA">
              <a:alpha val="8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65960"/>
            <a:ext cx="1828800" cy="201168"/>
          </a:xfrm>
          <a:prstGeom prst="rect">
            <a:avLst/>
          </a:prstGeom>
          <a:noFill/>
        </p:spPr>
        <p:txBody>
          <a:bodyPr wrap="square" lIns="0" tIns="0" rIns="0" bIns="0" anchor="t">
            <a:spAutoFit/>
          </a:bodyPr>
          <a:lstStyle/>
          <a:p>
            <a:pPr algn="ctr"/>
            <a:r>
              <a:rPr sz="1100" b="0">
                <a:solidFill>
                  <a:srgbClr val="0D1B2A"/>
                </a:solidFill>
                <a:latin typeface="Oswald"/>
              </a:rPr>
              <a:t>Artificial Intelligence</a:t>
            </a:r>
          </a:p>
        </p:txBody>
      </p:sp>
      <p:sp>
        <p:nvSpPr>
          <p:cNvPr id="8" name="Oval 7"/>
          <p:cNvSpPr/>
          <p:nvPr/>
        </p:nvSpPr>
        <p:spPr>
          <a:xfrm>
            <a:off x="845820" y="2331720"/>
            <a:ext cx="2148840" cy="2148840"/>
          </a:xfrm>
          <a:prstGeom prst="ellipse">
            <a:avLst/>
          </a:prstGeom>
          <a:solidFill>
            <a:srgbClr val="1B9AAA">
              <a:alpha val="12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514600"/>
            <a:ext cx="1828800" cy="201168"/>
          </a:xfrm>
          <a:prstGeom prst="rect">
            <a:avLst/>
          </a:prstGeom>
          <a:noFill/>
        </p:spPr>
        <p:txBody>
          <a:bodyPr wrap="square" lIns="0" tIns="0" rIns="0" bIns="0" anchor="t">
            <a:spAutoFit/>
          </a:bodyPr>
          <a:lstStyle/>
          <a:p>
            <a:pPr algn="ctr"/>
            <a:r>
              <a:rPr sz="1100" b="0">
                <a:solidFill>
                  <a:srgbClr val="0D1B2A"/>
                </a:solidFill>
                <a:latin typeface="Oswald"/>
              </a:rPr>
              <a:t>Machine Learning</a:t>
            </a:r>
          </a:p>
        </p:txBody>
      </p:sp>
      <p:sp>
        <p:nvSpPr>
          <p:cNvPr id="10" name="Oval 9"/>
          <p:cNvSpPr/>
          <p:nvPr/>
        </p:nvSpPr>
        <p:spPr>
          <a:xfrm>
            <a:off x="1120140" y="2880360"/>
            <a:ext cx="1600200" cy="1600200"/>
          </a:xfrm>
          <a:prstGeom prst="ellipse">
            <a:avLst/>
          </a:prstGeom>
          <a:solidFill>
            <a:srgbClr val="1B9AAA">
              <a:alpha val="16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3063240"/>
            <a:ext cx="1828800" cy="201168"/>
          </a:xfrm>
          <a:prstGeom prst="rect">
            <a:avLst/>
          </a:prstGeom>
          <a:noFill/>
        </p:spPr>
        <p:txBody>
          <a:bodyPr wrap="square" lIns="0" tIns="0" rIns="0" bIns="0" anchor="t">
            <a:spAutoFit/>
          </a:bodyPr>
          <a:lstStyle/>
          <a:p>
            <a:pPr algn="ctr"/>
            <a:r>
              <a:rPr sz="1100" b="0">
                <a:solidFill>
                  <a:srgbClr val="0D1B2A"/>
                </a:solidFill>
                <a:latin typeface="Oswald"/>
              </a:rPr>
              <a:t>Deep Learning</a:t>
            </a:r>
          </a:p>
        </p:txBody>
      </p:sp>
      <p:sp>
        <p:nvSpPr>
          <p:cNvPr id="12" name="Oval 11"/>
          <p:cNvSpPr/>
          <p:nvPr/>
        </p:nvSpPr>
        <p:spPr>
          <a:xfrm>
            <a:off x="1271016" y="3506724"/>
            <a:ext cx="676656" cy="676656"/>
          </a:xfrm>
          <a:prstGeom prst="ellipse">
            <a:avLst/>
          </a:prstGeom>
          <a:solidFill>
            <a:srgbClr val="1B9AAA">
              <a:alpha val="35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71016" y="3506724"/>
            <a:ext cx="676656" cy="676656"/>
          </a:xfrm>
          <a:prstGeom prst="rect">
            <a:avLst/>
          </a:prstGeom>
          <a:noFill/>
        </p:spPr>
        <p:txBody>
          <a:bodyPr wrap="square" lIns="0" tIns="0" rIns="0" bIns="0" anchor="ctr">
            <a:spAutoFit/>
          </a:bodyPr>
          <a:lstStyle/>
          <a:p>
            <a:pPr algn="ctr"/>
            <a:r>
              <a:rPr sz="900" b="0">
                <a:solidFill>
                  <a:srgbClr val="0D1B2A"/>
                </a:solidFill>
                <a:latin typeface="Oswald"/>
              </a:rPr>
              <a:t>Generative</a:t>
            </a:r>
          </a:p>
          <a:p>
            <a:pPr algn="ctr"/>
            <a:r>
              <a:rPr sz="900" b="0">
                <a:solidFill>
                  <a:srgbClr val="0D1B2A"/>
                </a:solidFill>
                <a:latin typeface="Oswald"/>
              </a:rPr>
              <a:t>AI</a:t>
            </a:r>
          </a:p>
        </p:txBody>
      </p:sp>
      <p:sp>
        <p:nvSpPr>
          <p:cNvPr id="14" name="Oval 13"/>
          <p:cNvSpPr/>
          <p:nvPr/>
        </p:nvSpPr>
        <p:spPr>
          <a:xfrm>
            <a:off x="1892807" y="3506724"/>
            <a:ext cx="676656" cy="676656"/>
          </a:xfrm>
          <a:prstGeom prst="ellipse">
            <a:avLst/>
          </a:prstGeom>
          <a:solidFill>
            <a:srgbClr val="06D6A0">
              <a:alpha val="40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92807" y="3506724"/>
            <a:ext cx="676656" cy="676656"/>
          </a:xfrm>
          <a:prstGeom prst="rect">
            <a:avLst/>
          </a:prstGeom>
          <a:noFill/>
        </p:spPr>
        <p:txBody>
          <a:bodyPr wrap="square" lIns="0" tIns="0" rIns="0" bIns="0" anchor="ctr">
            <a:spAutoFit/>
          </a:bodyPr>
          <a:lstStyle/>
          <a:p>
            <a:pPr algn="ctr"/>
            <a:r>
              <a:rPr sz="900" b="0">
                <a:solidFill>
                  <a:srgbClr val="0D1B2A"/>
                </a:solidFill>
                <a:latin typeface="Oswald"/>
              </a:rPr>
              <a:t>Agentic</a:t>
            </a:r>
          </a:p>
          <a:p>
            <a:pPr algn="ctr"/>
            <a:r>
              <a:rPr sz="900" b="0">
                <a:solidFill>
                  <a:srgbClr val="0D1B2A"/>
                </a:solidFill>
                <a:latin typeface="Oswald"/>
              </a:rPr>
              <a:t>AI</a:t>
            </a:r>
          </a:p>
        </p:txBody>
      </p:sp>
      <p:cxnSp>
        <p:nvCxnSpPr>
          <p:cNvPr id="16" name="Connector 15"/>
          <p:cNvCxnSpPr/>
          <p:nvPr/>
        </p:nvCxnSpPr>
        <p:spPr>
          <a:xfrm>
            <a:off x="3931920" y="1965960"/>
            <a:ext cx="0" cy="2194560"/>
          </a:xfrm>
          <a:prstGeom prst="line">
            <a:avLst/>
          </a:prstGeom>
          <a:ln w="19050">
            <a:solidFill>
              <a:srgbClr val="DDE5E9"/>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867911" y="1901952"/>
            <a:ext cx="128016" cy="12801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60520" y="1801368"/>
            <a:ext cx="1508760" cy="146304"/>
          </a:xfrm>
          <a:prstGeom prst="rect">
            <a:avLst/>
          </a:prstGeom>
          <a:noFill/>
        </p:spPr>
        <p:txBody>
          <a:bodyPr wrap="none" lIns="0" tIns="0" rIns="0" bIns="0">
            <a:spAutoFit/>
          </a:bodyPr>
          <a:lstStyle/>
          <a:p>
            <a:pPr algn="l"/>
            <a:r>
              <a:rPr sz="800" spc="100">
                <a:solidFill>
                  <a:srgbClr val="1B9AAA"/>
                </a:solidFill>
                <a:latin typeface="JetBrains Mono"/>
              </a:rPr>
              <a:t>1955</a:t>
            </a:r>
            <a:r>
              <a:rPr sz="800" spc="100">
                <a:solidFill>
                  <a:srgbClr val="6B7B8C"/>
                </a:solidFill>
                <a:latin typeface="JetBrains Mono"/>
              </a:rPr>
              <a:t>  ·  TERM COINED</a:t>
            </a:r>
          </a:p>
        </p:txBody>
      </p:sp>
      <p:sp>
        <p:nvSpPr>
          <p:cNvPr id="19" name="TextBox 18"/>
          <p:cNvSpPr txBox="1"/>
          <p:nvPr/>
        </p:nvSpPr>
        <p:spPr>
          <a:xfrm>
            <a:off x="4160520" y="1965960"/>
            <a:ext cx="1463040" cy="274320"/>
          </a:xfrm>
          <a:prstGeom prst="rect">
            <a:avLst/>
          </a:prstGeom>
          <a:noFill/>
        </p:spPr>
        <p:txBody>
          <a:bodyPr wrap="square" lIns="0" tIns="0" rIns="0" bIns="0" anchor="t">
            <a:spAutoFit/>
          </a:bodyPr>
          <a:lstStyle/>
          <a:p>
            <a:pPr algn="l"/>
            <a:r>
              <a:rPr sz="1300" b="0">
                <a:solidFill>
                  <a:srgbClr val="0D1B2A"/>
                </a:solidFill>
                <a:latin typeface="Oswald"/>
              </a:rPr>
              <a:t>Artificial Intelligence</a:t>
            </a:r>
          </a:p>
        </p:txBody>
      </p:sp>
      <p:sp>
        <p:nvSpPr>
          <p:cNvPr id="20" name="TextBox 19"/>
          <p:cNvSpPr txBox="1"/>
          <p:nvPr/>
        </p:nvSpPr>
        <p:spPr>
          <a:xfrm>
            <a:off x="5669280" y="1810512"/>
            <a:ext cx="3035808" cy="502920"/>
          </a:xfrm>
          <a:prstGeom prst="rect">
            <a:avLst/>
          </a:prstGeom>
          <a:noFill/>
        </p:spPr>
        <p:txBody>
          <a:bodyPr wrap="square" lIns="0" tIns="0" rIns="0" bIns="0" anchor="t">
            <a:spAutoFit/>
          </a:bodyPr>
          <a:lstStyle/>
          <a:p>
            <a:pPr algn="l"/>
            <a:r>
              <a:rPr sz="900" b="0">
                <a:solidFill>
                  <a:srgbClr val="6B7B8C"/>
                </a:solidFill>
                <a:latin typeface="Roboto"/>
              </a:rPr>
              <a:t>The overarching field: machines performing tasks that require human-like intelligence.</a:t>
            </a:r>
          </a:p>
        </p:txBody>
      </p:sp>
      <p:sp>
        <p:nvSpPr>
          <p:cNvPr id="21" name="Oval 20"/>
          <p:cNvSpPr/>
          <p:nvPr/>
        </p:nvSpPr>
        <p:spPr>
          <a:xfrm>
            <a:off x="3867911" y="2450591"/>
            <a:ext cx="128016" cy="12801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60520" y="2350008"/>
            <a:ext cx="1508760" cy="146304"/>
          </a:xfrm>
          <a:prstGeom prst="rect">
            <a:avLst/>
          </a:prstGeom>
          <a:noFill/>
        </p:spPr>
        <p:txBody>
          <a:bodyPr wrap="none" lIns="0" tIns="0" rIns="0" bIns="0">
            <a:spAutoFit/>
          </a:bodyPr>
          <a:lstStyle/>
          <a:p>
            <a:pPr algn="l"/>
            <a:r>
              <a:rPr sz="800" spc="100">
                <a:solidFill>
                  <a:srgbClr val="1B9AAA"/>
                </a:solidFill>
                <a:latin typeface="JetBrains Mono"/>
              </a:rPr>
              <a:t>1959</a:t>
            </a:r>
            <a:r>
              <a:rPr sz="800" spc="100">
                <a:solidFill>
                  <a:srgbClr val="6B7B8C"/>
                </a:solidFill>
                <a:latin typeface="JetBrains Mono"/>
              </a:rPr>
              <a:t>  ·  ARTHUR SAMUEL</a:t>
            </a:r>
          </a:p>
        </p:txBody>
      </p:sp>
      <p:sp>
        <p:nvSpPr>
          <p:cNvPr id="23" name="TextBox 22"/>
          <p:cNvSpPr txBox="1"/>
          <p:nvPr/>
        </p:nvSpPr>
        <p:spPr>
          <a:xfrm>
            <a:off x="4160520" y="2514600"/>
            <a:ext cx="1463040" cy="274320"/>
          </a:xfrm>
          <a:prstGeom prst="rect">
            <a:avLst/>
          </a:prstGeom>
          <a:noFill/>
        </p:spPr>
        <p:txBody>
          <a:bodyPr wrap="square" lIns="0" tIns="0" rIns="0" bIns="0" anchor="t">
            <a:spAutoFit/>
          </a:bodyPr>
          <a:lstStyle/>
          <a:p>
            <a:pPr algn="l"/>
            <a:r>
              <a:rPr sz="1300" b="0">
                <a:solidFill>
                  <a:srgbClr val="0D1B2A"/>
                </a:solidFill>
                <a:latin typeface="Oswald"/>
              </a:rPr>
              <a:t>Machine Learning</a:t>
            </a:r>
          </a:p>
        </p:txBody>
      </p:sp>
      <p:sp>
        <p:nvSpPr>
          <p:cNvPr id="24" name="TextBox 23"/>
          <p:cNvSpPr txBox="1"/>
          <p:nvPr/>
        </p:nvSpPr>
        <p:spPr>
          <a:xfrm>
            <a:off x="5669280" y="2359151"/>
            <a:ext cx="3035808" cy="502920"/>
          </a:xfrm>
          <a:prstGeom prst="rect">
            <a:avLst/>
          </a:prstGeom>
          <a:noFill/>
        </p:spPr>
        <p:txBody>
          <a:bodyPr wrap="square" lIns="0" tIns="0" rIns="0" bIns="0" anchor="t">
            <a:spAutoFit/>
          </a:bodyPr>
          <a:lstStyle/>
          <a:p>
            <a:pPr algn="l"/>
            <a:r>
              <a:rPr sz="900" b="0">
                <a:solidFill>
                  <a:srgbClr val="6B7B8C"/>
                </a:solidFill>
                <a:latin typeface="Roboto"/>
              </a:rPr>
              <a:t>A subset of AI: learning from data instead of explicit programming, to predict, classify or detect patterns.</a:t>
            </a:r>
          </a:p>
        </p:txBody>
      </p:sp>
      <p:sp>
        <p:nvSpPr>
          <p:cNvPr id="25" name="Oval 24"/>
          <p:cNvSpPr/>
          <p:nvPr/>
        </p:nvSpPr>
        <p:spPr>
          <a:xfrm>
            <a:off x="3867911" y="2999232"/>
            <a:ext cx="128016" cy="12801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60520" y="2898648"/>
            <a:ext cx="1508760" cy="146304"/>
          </a:xfrm>
          <a:prstGeom prst="rect">
            <a:avLst/>
          </a:prstGeom>
          <a:noFill/>
        </p:spPr>
        <p:txBody>
          <a:bodyPr wrap="none" lIns="0" tIns="0" rIns="0" bIns="0">
            <a:spAutoFit/>
          </a:bodyPr>
          <a:lstStyle/>
          <a:p>
            <a:pPr algn="l"/>
            <a:r>
              <a:rPr sz="800" spc="100">
                <a:solidFill>
                  <a:srgbClr val="1B9AAA"/>
                </a:solidFill>
                <a:latin typeface="JetBrains Mono"/>
              </a:rPr>
              <a:t>2012</a:t>
            </a:r>
            <a:r>
              <a:rPr sz="800" spc="100">
                <a:solidFill>
                  <a:srgbClr val="6B7B8C"/>
                </a:solidFill>
                <a:latin typeface="JetBrains Mono"/>
              </a:rPr>
              <a:t>  ·  ALEXNET</a:t>
            </a:r>
          </a:p>
        </p:txBody>
      </p:sp>
      <p:sp>
        <p:nvSpPr>
          <p:cNvPr id="27" name="TextBox 26"/>
          <p:cNvSpPr txBox="1"/>
          <p:nvPr/>
        </p:nvSpPr>
        <p:spPr>
          <a:xfrm>
            <a:off x="4160520" y="3063240"/>
            <a:ext cx="1463040" cy="274320"/>
          </a:xfrm>
          <a:prstGeom prst="rect">
            <a:avLst/>
          </a:prstGeom>
          <a:noFill/>
        </p:spPr>
        <p:txBody>
          <a:bodyPr wrap="square" lIns="0" tIns="0" rIns="0" bIns="0" anchor="t">
            <a:spAutoFit/>
          </a:bodyPr>
          <a:lstStyle/>
          <a:p>
            <a:pPr algn="l"/>
            <a:r>
              <a:rPr sz="1300" b="0">
                <a:solidFill>
                  <a:srgbClr val="0D1B2A"/>
                </a:solidFill>
                <a:latin typeface="Oswald"/>
              </a:rPr>
              <a:t>Deep Learning</a:t>
            </a:r>
          </a:p>
        </p:txBody>
      </p:sp>
      <p:sp>
        <p:nvSpPr>
          <p:cNvPr id="28" name="TextBox 27"/>
          <p:cNvSpPr txBox="1"/>
          <p:nvPr/>
        </p:nvSpPr>
        <p:spPr>
          <a:xfrm>
            <a:off x="5669280" y="2907791"/>
            <a:ext cx="3035808" cy="502920"/>
          </a:xfrm>
          <a:prstGeom prst="rect">
            <a:avLst/>
          </a:prstGeom>
          <a:noFill/>
        </p:spPr>
        <p:txBody>
          <a:bodyPr wrap="square" lIns="0" tIns="0" rIns="0" bIns="0" anchor="t">
            <a:spAutoFit/>
          </a:bodyPr>
          <a:lstStyle/>
          <a:p>
            <a:pPr algn="l"/>
            <a:r>
              <a:rPr sz="900" b="0">
                <a:solidFill>
                  <a:srgbClr val="6B7B8C"/>
                </a:solidFill>
                <a:latin typeface="Roboto"/>
              </a:rPr>
              <a:t>A subset of ML using many-layered neural networks to find complex patterns in large, unstructured data — text, images, audio, video.</a:t>
            </a:r>
          </a:p>
        </p:txBody>
      </p:sp>
      <p:sp>
        <p:nvSpPr>
          <p:cNvPr id="29" name="Oval 28"/>
          <p:cNvSpPr/>
          <p:nvPr/>
        </p:nvSpPr>
        <p:spPr>
          <a:xfrm>
            <a:off x="3867911" y="3547872"/>
            <a:ext cx="128016" cy="12801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60520" y="3447288"/>
            <a:ext cx="1508760" cy="146304"/>
          </a:xfrm>
          <a:prstGeom prst="rect">
            <a:avLst/>
          </a:prstGeom>
          <a:noFill/>
        </p:spPr>
        <p:txBody>
          <a:bodyPr wrap="none" lIns="0" tIns="0" rIns="0" bIns="0">
            <a:spAutoFit/>
          </a:bodyPr>
          <a:lstStyle/>
          <a:p>
            <a:pPr algn="l"/>
            <a:r>
              <a:rPr sz="800" spc="100">
                <a:solidFill>
                  <a:srgbClr val="1B9AAA"/>
                </a:solidFill>
                <a:latin typeface="JetBrains Mono"/>
              </a:rPr>
              <a:t>2018</a:t>
            </a:r>
            <a:r>
              <a:rPr sz="800" spc="100">
                <a:solidFill>
                  <a:srgbClr val="6B7B8C"/>
                </a:solidFill>
                <a:latin typeface="JetBrains Mono"/>
              </a:rPr>
              <a:t>  ·  THE FIRST GPT</a:t>
            </a:r>
          </a:p>
        </p:txBody>
      </p:sp>
      <p:sp>
        <p:nvSpPr>
          <p:cNvPr id="31" name="TextBox 30"/>
          <p:cNvSpPr txBox="1"/>
          <p:nvPr/>
        </p:nvSpPr>
        <p:spPr>
          <a:xfrm>
            <a:off x="4160520" y="3611880"/>
            <a:ext cx="1463040" cy="274320"/>
          </a:xfrm>
          <a:prstGeom prst="rect">
            <a:avLst/>
          </a:prstGeom>
          <a:noFill/>
        </p:spPr>
        <p:txBody>
          <a:bodyPr wrap="square" lIns="0" tIns="0" rIns="0" bIns="0" anchor="t">
            <a:spAutoFit/>
          </a:bodyPr>
          <a:lstStyle/>
          <a:p>
            <a:pPr algn="l"/>
            <a:r>
              <a:rPr sz="1300" b="0">
                <a:solidFill>
                  <a:srgbClr val="0D1B2A"/>
                </a:solidFill>
                <a:latin typeface="Oswald"/>
              </a:rPr>
              <a:t>Generative AI</a:t>
            </a:r>
          </a:p>
        </p:txBody>
      </p:sp>
      <p:sp>
        <p:nvSpPr>
          <p:cNvPr id="32" name="TextBox 31"/>
          <p:cNvSpPr txBox="1"/>
          <p:nvPr/>
        </p:nvSpPr>
        <p:spPr>
          <a:xfrm>
            <a:off x="5669280" y="3456432"/>
            <a:ext cx="3035808" cy="502920"/>
          </a:xfrm>
          <a:prstGeom prst="rect">
            <a:avLst/>
          </a:prstGeom>
          <a:noFill/>
        </p:spPr>
        <p:txBody>
          <a:bodyPr wrap="square" lIns="0" tIns="0" rIns="0" bIns="0" anchor="t">
            <a:spAutoFit/>
          </a:bodyPr>
          <a:lstStyle/>
          <a:p>
            <a:pPr algn="l"/>
            <a:r>
              <a:rPr sz="900" b="0">
                <a:solidFill>
                  <a:srgbClr val="6B7B8C"/>
                </a:solidFill>
                <a:latin typeface="Roboto"/>
              </a:rPr>
              <a:t>A branch of AI that creates new content — text, images, video, audio, code — by learning patterns from massive datasets.</a:t>
            </a:r>
          </a:p>
        </p:txBody>
      </p:sp>
      <p:sp>
        <p:nvSpPr>
          <p:cNvPr id="33" name="Oval 32"/>
          <p:cNvSpPr/>
          <p:nvPr/>
        </p:nvSpPr>
        <p:spPr>
          <a:xfrm>
            <a:off x="3867911" y="4096511"/>
            <a:ext cx="128016" cy="128016"/>
          </a:xfrm>
          <a:prstGeom prst="ellipse">
            <a:avLst/>
          </a:prstGeom>
          <a:solidFill>
            <a:srgbClr val="06D6A0">
              <a:alpha val="100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160520" y="3995927"/>
            <a:ext cx="1508760" cy="146304"/>
          </a:xfrm>
          <a:prstGeom prst="rect">
            <a:avLst/>
          </a:prstGeom>
          <a:noFill/>
        </p:spPr>
        <p:txBody>
          <a:bodyPr wrap="none" lIns="0" tIns="0" rIns="0" bIns="0">
            <a:spAutoFit/>
          </a:bodyPr>
          <a:lstStyle/>
          <a:p>
            <a:pPr algn="l"/>
            <a:r>
              <a:rPr sz="800" spc="100">
                <a:solidFill>
                  <a:srgbClr val="06D6A0"/>
                </a:solidFill>
                <a:latin typeface="JetBrains Mono"/>
              </a:rPr>
              <a:t>2024</a:t>
            </a:r>
            <a:r>
              <a:rPr sz="800" spc="100">
                <a:solidFill>
                  <a:srgbClr val="6B7B8C"/>
                </a:solidFill>
                <a:latin typeface="JetBrains Mono"/>
              </a:rPr>
              <a:t>  ·  AGENTS TAKE OFF</a:t>
            </a:r>
          </a:p>
        </p:txBody>
      </p:sp>
      <p:sp>
        <p:nvSpPr>
          <p:cNvPr id="35" name="TextBox 34"/>
          <p:cNvSpPr txBox="1"/>
          <p:nvPr/>
        </p:nvSpPr>
        <p:spPr>
          <a:xfrm>
            <a:off x="4160520" y="4160520"/>
            <a:ext cx="1463040" cy="274320"/>
          </a:xfrm>
          <a:prstGeom prst="rect">
            <a:avLst/>
          </a:prstGeom>
          <a:noFill/>
        </p:spPr>
        <p:txBody>
          <a:bodyPr wrap="square" lIns="0" tIns="0" rIns="0" bIns="0" anchor="t">
            <a:spAutoFit/>
          </a:bodyPr>
          <a:lstStyle/>
          <a:p>
            <a:pPr algn="l"/>
            <a:r>
              <a:rPr sz="1300" b="0">
                <a:solidFill>
                  <a:srgbClr val="0D1B2A"/>
                </a:solidFill>
                <a:latin typeface="Oswald"/>
              </a:rPr>
              <a:t>Agentic AI</a:t>
            </a:r>
          </a:p>
        </p:txBody>
      </p:sp>
      <p:sp>
        <p:nvSpPr>
          <p:cNvPr id="36" name="TextBox 35"/>
          <p:cNvSpPr txBox="1"/>
          <p:nvPr/>
        </p:nvSpPr>
        <p:spPr>
          <a:xfrm>
            <a:off x="5669280" y="4005072"/>
            <a:ext cx="3035808" cy="502920"/>
          </a:xfrm>
          <a:prstGeom prst="rect">
            <a:avLst/>
          </a:prstGeom>
          <a:noFill/>
        </p:spPr>
        <p:txBody>
          <a:bodyPr wrap="square" lIns="0" tIns="0" rIns="0" bIns="0" anchor="t">
            <a:spAutoFit/>
          </a:bodyPr>
          <a:lstStyle/>
          <a:p>
            <a:pPr algn="l"/>
            <a:r>
              <a:rPr sz="900" b="0">
                <a:solidFill>
                  <a:srgbClr val="6B7B8C"/>
                </a:solidFill>
                <a:latin typeface="Roboto"/>
              </a:rPr>
              <a:t>Builds on generative models by adding tool/API use, memory and planning in a closed loop, enabling autonomous goal pursuit beyond content creation.</a:t>
            </a:r>
          </a:p>
        </p:txBody>
      </p:sp>
      <p:sp>
        <p:nvSpPr>
          <p:cNvPr id="37" name="Rectangle 36"/>
          <p:cNvSpPr/>
          <p:nvPr/>
        </p:nvSpPr>
        <p:spPr>
          <a:xfrm>
            <a:off x="566928" y="4608575"/>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3232" y="4590288"/>
            <a:ext cx="7991856" cy="274320"/>
          </a:xfrm>
          <a:prstGeom prst="rect">
            <a:avLst/>
          </a:prstGeom>
          <a:noFill/>
        </p:spPr>
        <p:txBody>
          <a:bodyPr wrap="square" lIns="0" tIns="0" rIns="0" bIns="0" anchor="t">
            <a:spAutoFit/>
          </a:bodyPr>
          <a:lstStyle/>
          <a:p>
            <a:pPr algn="l"/>
            <a:r>
              <a:rPr sz="1200" b="0">
                <a:solidFill>
                  <a:srgbClr val="0D1B2A"/>
                </a:solidFill>
                <a:latin typeface="Roboto"/>
              </a:rPr>
              <a:t>Deep learning is a method within machine learning, not a synonym for all of AI.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0D1B2A"/>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8FA6B2"/>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THE BIG PICTURE · SINCE 1955</a:t>
            </a:r>
          </a:p>
        </p:txBody>
      </p:sp>
      <p:sp>
        <p:nvSpPr>
          <p:cNvPr id="47" name="section-ai"/>
          <p:cNvSpPr txBox="1"/>
          <p:nvPr/>
        </p:nvSpPr>
        <p:spPr>
          <a:xfrm>
            <a:off x="731520" y="1234440"/>
            <a:ext cx="3657600" cy="1554480"/>
          </a:xfrm>
          <a:prstGeom prst="rect">
            <a:avLst/>
          </a:prstGeom>
          <a:noFill/>
        </p:spPr>
        <p:txBody>
          <a:bodyPr wrap="square" lIns="0" tIns="0" rIns="0" bIns="0" anchor="t">
            <a:spAutoFit/>
          </a:bodyPr>
          <a:lstStyle/>
          <a:p>
            <a:pPr algn="l"/>
            <a:r>
              <a:rPr sz="4800" b="0">
                <a:solidFill>
                  <a:srgbClr val="FFFFFF"/>
                </a:solidFill>
                <a:latin typeface="Oswald"/>
              </a:rPr>
              <a:t>Artificial</a:t>
            </a:r>
          </a:p>
          <a:p>
            <a:pPr algn="l"/>
            <a:r>
              <a:rPr sz="4800" b="0">
                <a:solidFill>
                  <a:srgbClr val="FFFFFF"/>
                </a:solidFill>
                <a:latin typeface="Oswald"/>
              </a:rPr>
              <a:t>Intelligence</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The big umbrella: machines doing tasks that normally need human intelligence.</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THE FAMILY TREE</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Each part of this talk is one branch of AI. The highlighted box shows where we 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FFFFFF"/>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0D1B2A"/>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8FA6B2"/>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PART 1 OF 5 · SINCE THE 1950S</a:t>
            </a:r>
          </a:p>
        </p:txBody>
      </p:sp>
      <p:sp>
        <p:nvSpPr>
          <p:cNvPr id="47" name="section-rulebased"/>
          <p:cNvSpPr txBox="1"/>
          <p:nvPr/>
        </p:nvSpPr>
        <p:spPr>
          <a:xfrm>
            <a:off x="731520" y="1234440"/>
            <a:ext cx="3657600" cy="740664"/>
          </a:xfrm>
          <a:prstGeom prst="rect">
            <a:avLst/>
          </a:prstGeom>
          <a:noFill/>
        </p:spPr>
        <p:txBody>
          <a:bodyPr wrap="square" lIns="0" tIns="0" rIns="0" bIns="0" anchor="t">
            <a:spAutoFit/>
          </a:bodyPr>
          <a:lstStyle/>
          <a:p>
            <a:pPr algn="l"/>
            <a:r>
              <a:rPr sz="4800" b="0">
                <a:solidFill>
                  <a:srgbClr val="FFFFFF"/>
                </a:solidFill>
                <a:latin typeface="Oswald"/>
              </a:rPr>
              <a:t>Rule-based AI</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People write down their knowledge as rules, and the computer follows them.</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IN THIS PART</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Early AI: humans write the rules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FOUNDATIONS · STREAM 1 · 1950S–1980S</a:t>
            </a:r>
          </a:p>
        </p:txBody>
      </p:sp>
      <p:sp>
        <p:nvSpPr>
          <p:cNvPr id="4" name="slide-explicit-programming"/>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Early AI: humans write the rules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Rule-based AI (also called symbolic AI) captures knowledge in hand-written IF–THEN rules.</a:t>
            </a:r>
          </a:p>
        </p:txBody>
      </p:sp>
      <p:sp>
        <p:nvSpPr>
          <p:cNvPr id="6" name="Rectangle 5"/>
          <p:cNvSpPr/>
          <p:nvPr/>
        </p:nvSpPr>
        <p:spPr>
          <a:xfrm>
            <a:off x="566928" y="1783080"/>
            <a:ext cx="5029200"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a:xfrm>
            <a:off x="566928" y="17830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01952"/>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EXAMPLE · IS THIS EMAIL SPAM?</a:t>
            </a:r>
          </a:p>
        </p:txBody>
      </p:sp>
      <p:sp>
        <p:nvSpPr>
          <p:cNvPr id="9" name="Rounded Rectangle 8"/>
          <p:cNvSpPr/>
          <p:nvPr/>
        </p:nvSpPr>
        <p:spPr>
          <a:xfrm>
            <a:off x="777240" y="2514599"/>
            <a:ext cx="2359151" cy="1481328"/>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549946"/>
            <a:ext cx="932681" cy="215444"/>
          </a:xfrm>
          <a:prstGeom prst="rect">
            <a:avLst/>
          </a:prstGeom>
          <a:noFill/>
        </p:spPr>
        <p:txBody>
          <a:bodyPr wrap="square" lIns="0" tIns="0" rIns="0" bIns="0" anchor="t">
            <a:spAutoFit/>
          </a:bodyPr>
          <a:lstStyle/>
          <a:p>
            <a:pPr algn="l"/>
            <a:r>
              <a:rPr sz="700" b="0" spc="100" dirty="0">
                <a:solidFill>
                  <a:srgbClr val="1B9AAA"/>
                </a:solidFill>
                <a:latin typeface="JetBrains Mono"/>
              </a:rPr>
              <a:t>RULES</a:t>
            </a:r>
            <a:r>
              <a:rPr lang="de-DE" sz="700" b="0" spc="100" dirty="0">
                <a:solidFill>
                  <a:srgbClr val="1B9AAA"/>
                </a:solidFill>
                <a:latin typeface="JetBrains Mono"/>
              </a:rPr>
              <a:t> </a:t>
            </a:r>
            <a:r>
              <a:rPr sz="700" b="0" spc="100" dirty="0">
                <a:solidFill>
                  <a:srgbClr val="1B9AAA"/>
                </a:solidFill>
                <a:latin typeface="JetBrains Mono"/>
              </a:rPr>
              <a:t>WRITTEN BY HAND</a:t>
            </a:r>
          </a:p>
        </p:txBody>
      </p:sp>
      <p:sp>
        <p:nvSpPr>
          <p:cNvPr id="11" name="Rounded Rectangle 10"/>
          <p:cNvSpPr/>
          <p:nvPr/>
        </p:nvSpPr>
        <p:spPr>
          <a:xfrm>
            <a:off x="914400" y="2084832"/>
            <a:ext cx="1920240" cy="34747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JetBrains Mono"/>
              </a:rPr>
              <a:t>New email</a:t>
            </a:r>
          </a:p>
        </p:txBody>
      </p:sp>
      <p:cxnSp>
        <p:nvCxnSpPr>
          <p:cNvPr id="12" name="Connector 11"/>
          <p:cNvCxnSpPr>
            <a:cxnSpLocks/>
            <a:endCxn id="13" idx="0"/>
          </p:cNvCxnSpPr>
          <p:nvPr/>
        </p:nvCxnSpPr>
        <p:spPr>
          <a:xfrm>
            <a:off x="1874520" y="2432304"/>
            <a:ext cx="0" cy="358041"/>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2790345"/>
            <a:ext cx="1920240" cy="347472"/>
          </a:xfrm>
          <a:prstGeom prst="roundRect">
            <a:avLst>
              <a:gd name="adj" fmla="val 18000"/>
            </a:avLst>
          </a:prstGeom>
          <a:solidFill>
            <a:srgbClr val="FFFFFF"/>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dirty="0">
                <a:solidFill>
                  <a:srgbClr val="1B9AAA"/>
                </a:solidFill>
                <a:latin typeface="JetBrains Mono"/>
              </a:rPr>
              <a:t>IF </a:t>
            </a:r>
            <a:r>
              <a:rPr sz="900" b="1" dirty="0">
                <a:solidFill>
                  <a:srgbClr val="1B9AAA"/>
                </a:solidFill>
                <a:latin typeface="JetBrains Mono"/>
              </a:rPr>
              <a:t> </a:t>
            </a:r>
            <a:r>
              <a:rPr sz="1000" b="0" dirty="0">
                <a:solidFill>
                  <a:srgbClr val="0D1B2A"/>
                </a:solidFill>
                <a:latin typeface="Roboto"/>
              </a:rPr>
              <a:t>it says “free money”</a:t>
            </a:r>
            <a:endParaRPr sz="1050" b="0" dirty="0">
              <a:solidFill>
                <a:srgbClr val="0D1B2A"/>
              </a:solidFill>
              <a:latin typeface="Roboto"/>
            </a:endParaRPr>
          </a:p>
        </p:txBody>
      </p:sp>
      <p:sp>
        <p:nvSpPr>
          <p:cNvPr id="14" name="Rounded Rectangle 13"/>
          <p:cNvSpPr/>
          <p:nvPr/>
        </p:nvSpPr>
        <p:spPr>
          <a:xfrm>
            <a:off x="914400" y="3419856"/>
            <a:ext cx="1920240" cy="347472"/>
          </a:xfrm>
          <a:prstGeom prst="roundRect">
            <a:avLst>
              <a:gd name="adj" fmla="val 18000"/>
            </a:avLst>
          </a:prstGeom>
          <a:solidFill>
            <a:srgbClr val="FFFFFF"/>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dirty="0">
                <a:solidFill>
                  <a:srgbClr val="1B9AAA"/>
                </a:solidFill>
                <a:latin typeface="JetBrains Mono"/>
              </a:rPr>
              <a:t>ELSE IF  </a:t>
            </a:r>
            <a:r>
              <a:rPr sz="1000" b="0" dirty="0">
                <a:solidFill>
                  <a:srgbClr val="0D1B2A"/>
                </a:solidFill>
                <a:latin typeface="Roboto"/>
              </a:rPr>
              <a:t>unknown sender + link</a:t>
            </a:r>
            <a:endParaRPr sz="1050" b="0" dirty="0">
              <a:solidFill>
                <a:srgbClr val="0D1B2A"/>
              </a:solidFill>
              <a:latin typeface="Roboto"/>
            </a:endParaRPr>
          </a:p>
        </p:txBody>
      </p:sp>
      <p:cxnSp>
        <p:nvCxnSpPr>
          <p:cNvPr id="15" name="Connector 14"/>
          <p:cNvCxnSpPr>
            <a:cxnSpLocks/>
            <a:stCxn id="13" idx="3"/>
            <a:endCxn id="17" idx="1"/>
          </p:cNvCxnSpPr>
          <p:nvPr/>
        </p:nvCxnSpPr>
        <p:spPr>
          <a:xfrm>
            <a:off x="2834640" y="2964081"/>
            <a:ext cx="571500" cy="5621"/>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907791" y="2786571"/>
            <a:ext cx="365760" cy="182880"/>
          </a:xfrm>
          <a:prstGeom prst="rect">
            <a:avLst/>
          </a:prstGeom>
          <a:noFill/>
        </p:spPr>
        <p:txBody>
          <a:bodyPr wrap="square" lIns="0" tIns="0" rIns="0" bIns="0" anchor="t">
            <a:spAutoFit/>
          </a:bodyPr>
          <a:lstStyle/>
          <a:p>
            <a:pPr algn="l"/>
            <a:r>
              <a:rPr sz="900" b="0" dirty="0">
                <a:solidFill>
                  <a:srgbClr val="1B9AAA"/>
                </a:solidFill>
                <a:latin typeface="JetBrains Mono"/>
              </a:rPr>
              <a:t>yes</a:t>
            </a:r>
          </a:p>
        </p:txBody>
      </p:sp>
      <p:sp>
        <p:nvSpPr>
          <p:cNvPr id="17" name="Rounded Rectangle 16"/>
          <p:cNvSpPr/>
          <p:nvPr/>
        </p:nvSpPr>
        <p:spPr>
          <a:xfrm>
            <a:off x="3406140" y="2795966"/>
            <a:ext cx="1920240" cy="34747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6D6A0"/>
                </a:solidFill>
                <a:latin typeface="JetBrains Mono"/>
              </a:rPr>
              <a:t>SPAM</a:t>
            </a:r>
          </a:p>
        </p:txBody>
      </p:sp>
      <p:cxnSp>
        <p:nvCxnSpPr>
          <p:cNvPr id="18" name="Connector 17"/>
          <p:cNvCxnSpPr>
            <a:cxnSpLocks/>
            <a:stCxn id="14" idx="3"/>
            <a:endCxn id="20" idx="1"/>
          </p:cNvCxnSpPr>
          <p:nvPr/>
        </p:nvCxnSpPr>
        <p:spPr>
          <a:xfrm>
            <a:off x="2834640" y="3593592"/>
            <a:ext cx="571500" cy="0"/>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907791" y="3396996"/>
            <a:ext cx="365760" cy="182880"/>
          </a:xfrm>
          <a:prstGeom prst="rect">
            <a:avLst/>
          </a:prstGeom>
          <a:noFill/>
        </p:spPr>
        <p:txBody>
          <a:bodyPr wrap="square" lIns="0" tIns="0" rIns="0" bIns="0" anchor="t">
            <a:spAutoFit/>
          </a:bodyPr>
          <a:lstStyle/>
          <a:p>
            <a:pPr algn="l"/>
            <a:r>
              <a:rPr sz="900" b="0" dirty="0">
                <a:solidFill>
                  <a:srgbClr val="1B9AAA"/>
                </a:solidFill>
                <a:latin typeface="JetBrains Mono"/>
              </a:rPr>
              <a:t>yes</a:t>
            </a:r>
          </a:p>
        </p:txBody>
      </p:sp>
      <p:sp>
        <p:nvSpPr>
          <p:cNvPr id="20" name="Rounded Rectangle 19"/>
          <p:cNvSpPr/>
          <p:nvPr/>
        </p:nvSpPr>
        <p:spPr>
          <a:xfrm>
            <a:off x="3406140" y="3419856"/>
            <a:ext cx="1920240" cy="34747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6D6A0"/>
                </a:solidFill>
                <a:latin typeface="JetBrains Mono"/>
              </a:rPr>
              <a:t>SPAM</a:t>
            </a:r>
          </a:p>
        </p:txBody>
      </p:sp>
      <p:cxnSp>
        <p:nvCxnSpPr>
          <p:cNvPr id="21" name="Connector 20"/>
          <p:cNvCxnSpPr>
            <a:cxnSpLocks/>
            <a:stCxn id="13" idx="2"/>
            <a:endCxn id="14" idx="0"/>
          </p:cNvCxnSpPr>
          <p:nvPr/>
        </p:nvCxnSpPr>
        <p:spPr>
          <a:xfrm>
            <a:off x="1874520" y="3137817"/>
            <a:ext cx="0" cy="282039"/>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a:cxnSpLocks/>
          </p:cNvCxnSpPr>
          <p:nvPr/>
        </p:nvCxnSpPr>
        <p:spPr>
          <a:xfrm>
            <a:off x="1874520" y="3767328"/>
            <a:ext cx="0" cy="365759"/>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933957" y="3187396"/>
            <a:ext cx="365760" cy="182880"/>
          </a:xfrm>
          <a:prstGeom prst="rect">
            <a:avLst/>
          </a:prstGeom>
          <a:noFill/>
        </p:spPr>
        <p:txBody>
          <a:bodyPr wrap="square" lIns="0" tIns="0" rIns="0" bIns="0" anchor="t">
            <a:spAutoFit/>
          </a:bodyPr>
          <a:lstStyle/>
          <a:p>
            <a:pPr algn="l"/>
            <a:r>
              <a:rPr sz="900" b="0" dirty="0">
                <a:solidFill>
                  <a:srgbClr val="1B9AAA"/>
                </a:solidFill>
                <a:latin typeface="JetBrains Mono"/>
              </a:rPr>
              <a:t>no</a:t>
            </a:r>
          </a:p>
        </p:txBody>
      </p:sp>
      <p:sp>
        <p:nvSpPr>
          <p:cNvPr id="24" name="TextBox 23"/>
          <p:cNvSpPr txBox="1"/>
          <p:nvPr/>
        </p:nvSpPr>
        <p:spPr>
          <a:xfrm>
            <a:off x="1933957" y="3783139"/>
            <a:ext cx="365760" cy="182880"/>
          </a:xfrm>
          <a:prstGeom prst="rect">
            <a:avLst/>
          </a:prstGeom>
          <a:noFill/>
        </p:spPr>
        <p:txBody>
          <a:bodyPr wrap="square" lIns="0" tIns="0" rIns="0" bIns="0" anchor="t">
            <a:spAutoFit/>
          </a:bodyPr>
          <a:lstStyle/>
          <a:p>
            <a:pPr algn="l"/>
            <a:r>
              <a:rPr sz="900" b="0" dirty="0">
                <a:solidFill>
                  <a:srgbClr val="1B9AAA"/>
                </a:solidFill>
                <a:latin typeface="JetBrains Mono"/>
              </a:rPr>
              <a:t>no</a:t>
            </a:r>
          </a:p>
        </p:txBody>
      </p:sp>
      <p:sp>
        <p:nvSpPr>
          <p:cNvPr id="25" name="Rounded Rectangle 24"/>
          <p:cNvSpPr/>
          <p:nvPr/>
        </p:nvSpPr>
        <p:spPr>
          <a:xfrm>
            <a:off x="914399" y="4133087"/>
            <a:ext cx="1920240" cy="34747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NOT SPAM</a:t>
            </a:r>
          </a:p>
        </p:txBody>
      </p:sp>
      <p:sp>
        <p:nvSpPr>
          <p:cNvPr id="26" name="Rectangle 25"/>
          <p:cNvSpPr/>
          <p:nvPr/>
        </p:nvSpPr>
        <p:spPr>
          <a:xfrm>
            <a:off x="5760720" y="1783080"/>
            <a:ext cx="2944368"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760720" y="1783080"/>
            <a:ext cx="54864" cy="1298448"/>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71032" y="1901952"/>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WHERE IT BREAKS</a:t>
            </a:r>
          </a:p>
        </p:txBody>
      </p:sp>
      <p:sp>
        <p:nvSpPr>
          <p:cNvPr id="29" name="Rounded Rectangle 28"/>
          <p:cNvSpPr/>
          <p:nvPr/>
        </p:nvSpPr>
        <p:spPr>
          <a:xfrm>
            <a:off x="5971032" y="2157984"/>
            <a:ext cx="1965960" cy="292608"/>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Roboto"/>
              </a:rPr>
              <a:t>“Claim your prize today!”</a:t>
            </a:r>
          </a:p>
        </p:txBody>
      </p:sp>
      <p:sp>
        <p:nvSpPr>
          <p:cNvPr id="30" name="TextBox 29"/>
          <p:cNvSpPr txBox="1"/>
          <p:nvPr/>
        </p:nvSpPr>
        <p:spPr>
          <a:xfrm>
            <a:off x="8001000" y="2157984"/>
            <a:ext cx="228600" cy="292608"/>
          </a:xfrm>
          <a:prstGeom prst="rect">
            <a:avLst/>
          </a:prstGeom>
          <a:noFill/>
        </p:spPr>
        <p:txBody>
          <a:bodyPr wrap="square" lIns="0" tIns="0" rIns="0" bIns="0" anchor="ctr">
            <a:spAutoFit/>
          </a:bodyPr>
          <a:lstStyle/>
          <a:p>
            <a:pPr algn="l"/>
            <a:r>
              <a:rPr sz="1300" b="0">
                <a:solidFill>
                  <a:srgbClr val="6B7B8C"/>
                </a:solidFill>
                <a:latin typeface="Roboto"/>
              </a:rPr>
              <a:t>✗</a:t>
            </a:r>
          </a:p>
        </p:txBody>
      </p:sp>
      <p:sp>
        <p:nvSpPr>
          <p:cNvPr id="31" name="TextBox 30"/>
          <p:cNvSpPr txBox="1"/>
          <p:nvPr/>
        </p:nvSpPr>
        <p:spPr>
          <a:xfrm>
            <a:off x="5971032" y="2542032"/>
            <a:ext cx="2578608" cy="457200"/>
          </a:xfrm>
          <a:prstGeom prst="rect">
            <a:avLst/>
          </a:prstGeom>
          <a:noFill/>
        </p:spPr>
        <p:txBody>
          <a:bodyPr wrap="square" lIns="0" tIns="0" rIns="0" bIns="0" anchor="t">
            <a:spAutoFit/>
          </a:bodyPr>
          <a:lstStyle/>
          <a:p>
            <a:pPr algn="l"/>
            <a:r>
              <a:rPr sz="1000" b="0">
                <a:solidFill>
                  <a:srgbClr val="14293D"/>
                </a:solidFill>
                <a:latin typeface="Roboto"/>
              </a:rPr>
              <a:t>No rule matches, so it lands in the inbox. Every new trick needs a new rule.</a:t>
            </a:r>
          </a:p>
        </p:txBody>
      </p:sp>
      <p:sp>
        <p:nvSpPr>
          <p:cNvPr id="32" name="Rectangle 31"/>
          <p:cNvSpPr/>
          <p:nvPr/>
        </p:nvSpPr>
        <p:spPr>
          <a:xfrm>
            <a:off x="5760720" y="3227832"/>
            <a:ext cx="2944368"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760720" y="3227832"/>
            <a:ext cx="54864" cy="12984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71032" y="3346704"/>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FAMOUS EXAMPLES</a:t>
            </a:r>
          </a:p>
        </p:txBody>
      </p:sp>
      <p:sp>
        <p:nvSpPr>
          <p:cNvPr id="35" name="TextBox 34"/>
          <p:cNvSpPr txBox="1"/>
          <p:nvPr/>
        </p:nvSpPr>
        <p:spPr>
          <a:xfrm>
            <a:off x="5971032" y="3602736"/>
            <a:ext cx="731520" cy="274320"/>
          </a:xfrm>
          <a:prstGeom prst="rect">
            <a:avLst/>
          </a:prstGeom>
          <a:noFill/>
        </p:spPr>
        <p:txBody>
          <a:bodyPr wrap="square" lIns="0" tIns="0" rIns="0" bIns="0" anchor="t">
            <a:spAutoFit/>
          </a:bodyPr>
          <a:lstStyle/>
          <a:p>
            <a:pPr algn="l"/>
            <a:r>
              <a:rPr sz="900" b="0">
                <a:solidFill>
                  <a:srgbClr val="1B9AAA"/>
                </a:solidFill>
                <a:latin typeface="JetBrains Mono"/>
              </a:rPr>
              <a:t>1956</a:t>
            </a:r>
          </a:p>
        </p:txBody>
      </p:sp>
      <p:sp>
        <p:nvSpPr>
          <p:cNvPr id="36" name="TextBox 35"/>
          <p:cNvSpPr txBox="1"/>
          <p:nvPr/>
        </p:nvSpPr>
        <p:spPr>
          <a:xfrm>
            <a:off x="6675120" y="3584448"/>
            <a:ext cx="1938527" cy="274320"/>
          </a:xfrm>
          <a:prstGeom prst="rect">
            <a:avLst/>
          </a:prstGeom>
          <a:noFill/>
        </p:spPr>
        <p:txBody>
          <a:bodyPr wrap="square" lIns="0" tIns="0" rIns="0" bIns="0" anchor="t">
            <a:spAutoFit/>
          </a:bodyPr>
          <a:lstStyle/>
          <a:p>
            <a:pPr algn="l"/>
            <a:r>
              <a:rPr sz="1000" b="0">
                <a:solidFill>
                  <a:srgbClr val="14293D"/>
                </a:solidFill>
                <a:latin typeface="Roboto"/>
              </a:rPr>
              <a:t>Logic Theorist proves theorems</a:t>
            </a:r>
          </a:p>
        </p:txBody>
      </p:sp>
      <p:sp>
        <p:nvSpPr>
          <p:cNvPr id="37" name="TextBox 36"/>
          <p:cNvSpPr txBox="1"/>
          <p:nvPr/>
        </p:nvSpPr>
        <p:spPr>
          <a:xfrm>
            <a:off x="5971032" y="3895344"/>
            <a:ext cx="731520" cy="274320"/>
          </a:xfrm>
          <a:prstGeom prst="rect">
            <a:avLst/>
          </a:prstGeom>
          <a:noFill/>
        </p:spPr>
        <p:txBody>
          <a:bodyPr wrap="square" lIns="0" tIns="0" rIns="0" bIns="0" anchor="t">
            <a:spAutoFit/>
          </a:bodyPr>
          <a:lstStyle/>
          <a:p>
            <a:pPr algn="l"/>
            <a:r>
              <a:rPr sz="900" b="0">
                <a:solidFill>
                  <a:srgbClr val="1B9AAA"/>
                </a:solidFill>
                <a:latin typeface="JetBrains Mono"/>
              </a:rPr>
              <a:t>1966</a:t>
            </a:r>
          </a:p>
        </p:txBody>
      </p:sp>
      <p:sp>
        <p:nvSpPr>
          <p:cNvPr id="38" name="TextBox 37"/>
          <p:cNvSpPr txBox="1"/>
          <p:nvPr/>
        </p:nvSpPr>
        <p:spPr>
          <a:xfrm>
            <a:off x="6675120" y="3877056"/>
            <a:ext cx="1938527" cy="274320"/>
          </a:xfrm>
          <a:prstGeom prst="rect">
            <a:avLst/>
          </a:prstGeom>
          <a:noFill/>
        </p:spPr>
        <p:txBody>
          <a:bodyPr wrap="square" lIns="0" tIns="0" rIns="0" bIns="0" anchor="t">
            <a:spAutoFit/>
          </a:bodyPr>
          <a:lstStyle/>
          <a:p>
            <a:pPr algn="l"/>
            <a:r>
              <a:rPr sz="1000" b="0">
                <a:solidFill>
                  <a:srgbClr val="14293D"/>
                </a:solidFill>
                <a:latin typeface="Roboto"/>
              </a:rPr>
              <a:t>ELIZA, a scripted chatbot</a:t>
            </a:r>
          </a:p>
        </p:txBody>
      </p:sp>
      <p:sp>
        <p:nvSpPr>
          <p:cNvPr id="39" name="TextBox 38"/>
          <p:cNvSpPr txBox="1"/>
          <p:nvPr/>
        </p:nvSpPr>
        <p:spPr>
          <a:xfrm>
            <a:off x="5971032" y="4187952"/>
            <a:ext cx="731520" cy="274320"/>
          </a:xfrm>
          <a:prstGeom prst="rect">
            <a:avLst/>
          </a:prstGeom>
          <a:noFill/>
        </p:spPr>
        <p:txBody>
          <a:bodyPr wrap="square" lIns="0" tIns="0" rIns="0" bIns="0" anchor="t">
            <a:spAutoFit/>
          </a:bodyPr>
          <a:lstStyle/>
          <a:p>
            <a:pPr algn="l"/>
            <a:r>
              <a:rPr sz="900" b="0">
                <a:solidFill>
                  <a:srgbClr val="1B9AAA"/>
                </a:solidFill>
                <a:latin typeface="JetBrains Mono"/>
              </a:rPr>
              <a:t>1970s–80s</a:t>
            </a:r>
          </a:p>
        </p:txBody>
      </p:sp>
      <p:sp>
        <p:nvSpPr>
          <p:cNvPr id="40" name="TextBox 39"/>
          <p:cNvSpPr txBox="1"/>
          <p:nvPr/>
        </p:nvSpPr>
        <p:spPr>
          <a:xfrm>
            <a:off x="6675120" y="4169664"/>
            <a:ext cx="1938527" cy="274320"/>
          </a:xfrm>
          <a:prstGeom prst="rect">
            <a:avLst/>
          </a:prstGeom>
          <a:noFill/>
        </p:spPr>
        <p:txBody>
          <a:bodyPr wrap="square" lIns="0" tIns="0" rIns="0" bIns="0" anchor="t">
            <a:spAutoFit/>
          </a:bodyPr>
          <a:lstStyle/>
          <a:p>
            <a:pPr algn="l"/>
            <a:r>
              <a:rPr sz="1000" b="0">
                <a:solidFill>
                  <a:srgbClr val="14293D"/>
                </a:solidFill>
                <a:latin typeface="Roboto"/>
              </a:rPr>
              <a:t>Expert systems, e.g. MYCIN</a:t>
            </a:r>
          </a:p>
        </p:txBody>
      </p:sp>
      <p:sp>
        <p:nvSpPr>
          <p:cNvPr id="41" name="Rectangle 40"/>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Rules + data → answers. Works for clear-cut problems, breaks on messy reality.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FFFFFF"/>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0D1B2A"/>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8FA6B2"/>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PART 2 OF 5 · SINCE 1959</a:t>
            </a:r>
          </a:p>
        </p:txBody>
      </p:sp>
      <p:sp>
        <p:nvSpPr>
          <p:cNvPr id="47" name="section-ml"/>
          <p:cNvSpPr txBox="1"/>
          <p:nvPr/>
        </p:nvSpPr>
        <p:spPr>
          <a:xfrm>
            <a:off x="731520" y="1234440"/>
            <a:ext cx="3657600" cy="1554480"/>
          </a:xfrm>
          <a:prstGeom prst="rect">
            <a:avLst/>
          </a:prstGeom>
          <a:noFill/>
        </p:spPr>
        <p:txBody>
          <a:bodyPr wrap="square" lIns="0" tIns="0" rIns="0" bIns="0" anchor="t">
            <a:spAutoFit/>
          </a:bodyPr>
          <a:lstStyle/>
          <a:p>
            <a:pPr algn="l"/>
            <a:r>
              <a:rPr sz="4800" b="0">
                <a:solidFill>
                  <a:srgbClr val="FFFFFF"/>
                </a:solidFill>
                <a:latin typeface="Oswald"/>
              </a:rPr>
              <a:t>Machine</a:t>
            </a:r>
          </a:p>
          <a:p>
            <a:pPr algn="l"/>
            <a:r>
              <a:rPr sz="4800" b="0">
                <a:solidFill>
                  <a:srgbClr val="FFFFFF"/>
                </a:solidFill>
                <a:latin typeface="Oswald"/>
              </a:rPr>
              <a:t>Learning</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Instead of following hand-written rules, the computer learns from examples.</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IN THIS PART</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The computer finds the rules itself · Why learning pulled ahead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FOUNDATIONS · STREAM 2 · SINCE 1959</a:t>
            </a:r>
          </a:p>
        </p:txBody>
      </p:sp>
      <p:sp>
        <p:nvSpPr>
          <p:cNvPr id="4" name="slide-machine-learning"/>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Machine learning: the computer finds the rules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Instead of writing rules, show the computer many examples together with the right answer.</a:t>
            </a:r>
          </a:p>
        </p:txBody>
      </p:sp>
      <p:sp>
        <p:nvSpPr>
          <p:cNvPr id="6" name="Rectangle 5"/>
          <p:cNvSpPr/>
          <p:nvPr/>
        </p:nvSpPr>
        <p:spPr>
          <a:xfrm>
            <a:off x="566928" y="1783080"/>
            <a:ext cx="8138160" cy="210312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1031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856231"/>
            <a:ext cx="2194560" cy="1956816"/>
          </a:xfrm>
          <a:prstGeom prst="roundRect">
            <a:avLst>
              <a:gd name="adj" fmla="val 3738"/>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090672" y="1856231"/>
            <a:ext cx="1463040" cy="1956816"/>
          </a:xfrm>
          <a:prstGeom prst="roundRect">
            <a:avLst>
              <a:gd name="adj" fmla="val 5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754880" y="1856231"/>
            <a:ext cx="2011680" cy="1956816"/>
          </a:xfrm>
          <a:prstGeom prst="roundRect">
            <a:avLst>
              <a:gd name="adj" fmla="val 3738"/>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967728" y="1856231"/>
            <a:ext cx="1655064" cy="1956816"/>
          </a:xfrm>
          <a:prstGeom prst="roundRect">
            <a:avLst>
              <a:gd name="adj" fmla="val 4419"/>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2880360" y="2834640"/>
            <a:ext cx="192024" cy="0"/>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553712" y="2834640"/>
            <a:ext cx="182880" cy="0"/>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66560" y="2834640"/>
            <a:ext cx="182880" cy="0"/>
          </a:xfrm>
          <a:prstGeom prst="line">
            <a:avLst/>
          </a:prstGeom>
          <a:ln w="1905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95528" y="1920240"/>
            <a:ext cx="2103120" cy="228600"/>
          </a:xfrm>
          <a:prstGeom prst="rect">
            <a:avLst/>
          </a:prstGeom>
          <a:noFill/>
        </p:spPr>
        <p:txBody>
          <a:bodyPr wrap="square" lIns="0" tIns="0" rIns="0" bIns="0" anchor="t">
            <a:spAutoFit/>
          </a:bodyPr>
          <a:lstStyle/>
          <a:p>
            <a:pPr algn="l"/>
            <a:r>
              <a:rPr sz="850" b="0" spc="100">
                <a:solidFill>
                  <a:srgbClr val="1B9AAA"/>
                </a:solidFill>
                <a:latin typeface="JetBrains Mono"/>
              </a:rPr>
              <a:t>STEP 1: LABELLED EXAMPLES</a:t>
            </a:r>
          </a:p>
        </p:txBody>
      </p:sp>
      <p:sp>
        <p:nvSpPr>
          <p:cNvPr id="16" name="Rounded Rectangle 15"/>
          <p:cNvSpPr/>
          <p:nvPr/>
        </p:nvSpPr>
        <p:spPr>
          <a:xfrm>
            <a:off x="795528" y="2212848"/>
            <a:ext cx="14630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Free money now!</a:t>
            </a:r>
          </a:p>
        </p:txBody>
      </p:sp>
      <p:sp>
        <p:nvSpPr>
          <p:cNvPr id="17" name="Rounded Rectangle 16"/>
          <p:cNvSpPr/>
          <p:nvPr/>
        </p:nvSpPr>
        <p:spPr>
          <a:xfrm>
            <a:off x="2304288" y="2212848"/>
            <a:ext cx="502920"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6D6A0"/>
                </a:solidFill>
                <a:latin typeface="JetBrains Mono"/>
              </a:rPr>
              <a:t>SPAM</a:t>
            </a:r>
          </a:p>
        </p:txBody>
      </p:sp>
      <p:sp>
        <p:nvSpPr>
          <p:cNvPr id="18" name="Rounded Rectangle 17"/>
          <p:cNvSpPr/>
          <p:nvPr/>
        </p:nvSpPr>
        <p:spPr>
          <a:xfrm>
            <a:off x="795528" y="2542032"/>
            <a:ext cx="14630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Meeting at 3 pm</a:t>
            </a:r>
          </a:p>
        </p:txBody>
      </p:sp>
      <p:sp>
        <p:nvSpPr>
          <p:cNvPr id="19" name="Rounded Rectangle 18"/>
          <p:cNvSpPr/>
          <p:nvPr/>
        </p:nvSpPr>
        <p:spPr>
          <a:xfrm>
            <a:off x="2304288" y="2542032"/>
            <a:ext cx="50292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JetBrains Mono"/>
              </a:rPr>
              <a:t>OK</a:t>
            </a:r>
          </a:p>
        </p:txBody>
      </p:sp>
      <p:sp>
        <p:nvSpPr>
          <p:cNvPr id="20" name="Rounded Rectangle 19"/>
          <p:cNvSpPr/>
          <p:nvPr/>
        </p:nvSpPr>
        <p:spPr>
          <a:xfrm>
            <a:off x="795528" y="2871215"/>
            <a:ext cx="14630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You won a prize!</a:t>
            </a:r>
          </a:p>
        </p:txBody>
      </p:sp>
      <p:sp>
        <p:nvSpPr>
          <p:cNvPr id="21" name="Rounded Rectangle 20"/>
          <p:cNvSpPr/>
          <p:nvPr/>
        </p:nvSpPr>
        <p:spPr>
          <a:xfrm>
            <a:off x="2304288" y="2871215"/>
            <a:ext cx="502920"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6D6A0"/>
                </a:solidFill>
                <a:latin typeface="JetBrains Mono"/>
              </a:rPr>
              <a:t>SPAM</a:t>
            </a:r>
          </a:p>
        </p:txBody>
      </p:sp>
      <p:sp>
        <p:nvSpPr>
          <p:cNvPr id="22" name="Rounded Rectangle 21"/>
          <p:cNvSpPr/>
          <p:nvPr/>
        </p:nvSpPr>
        <p:spPr>
          <a:xfrm>
            <a:off x="795528" y="3200400"/>
            <a:ext cx="14630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Minutes from Monday</a:t>
            </a:r>
          </a:p>
        </p:txBody>
      </p:sp>
      <p:sp>
        <p:nvSpPr>
          <p:cNvPr id="23" name="Rounded Rectangle 22"/>
          <p:cNvSpPr/>
          <p:nvPr/>
        </p:nvSpPr>
        <p:spPr>
          <a:xfrm>
            <a:off x="2304288" y="3200400"/>
            <a:ext cx="50292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JetBrains Mono"/>
              </a:rPr>
              <a:t>OK</a:t>
            </a:r>
          </a:p>
        </p:txBody>
      </p:sp>
      <p:sp>
        <p:nvSpPr>
          <p:cNvPr id="24" name="TextBox 23"/>
          <p:cNvSpPr txBox="1"/>
          <p:nvPr/>
        </p:nvSpPr>
        <p:spPr>
          <a:xfrm>
            <a:off x="795528" y="3529584"/>
            <a:ext cx="2011680" cy="228600"/>
          </a:xfrm>
          <a:prstGeom prst="rect">
            <a:avLst/>
          </a:prstGeom>
          <a:noFill/>
        </p:spPr>
        <p:txBody>
          <a:bodyPr wrap="square" lIns="0" tIns="0" rIns="0" bIns="0" anchor="t">
            <a:spAutoFit/>
          </a:bodyPr>
          <a:lstStyle/>
          <a:p>
            <a:pPr algn="l"/>
            <a:r>
              <a:rPr sz="950" b="0">
                <a:solidFill>
                  <a:srgbClr val="6B7B8C"/>
                </a:solidFill>
                <a:latin typeface="Roboto"/>
              </a:rPr>
              <a:t>… plus thousands more</a:t>
            </a:r>
          </a:p>
        </p:txBody>
      </p:sp>
      <p:sp>
        <p:nvSpPr>
          <p:cNvPr id="25" name="TextBox 24"/>
          <p:cNvSpPr txBox="1"/>
          <p:nvPr/>
        </p:nvSpPr>
        <p:spPr>
          <a:xfrm>
            <a:off x="3200400" y="1920240"/>
            <a:ext cx="1371600" cy="228600"/>
          </a:xfrm>
          <a:prstGeom prst="rect">
            <a:avLst/>
          </a:prstGeom>
          <a:noFill/>
        </p:spPr>
        <p:txBody>
          <a:bodyPr wrap="square" lIns="0" tIns="0" rIns="0" bIns="0" anchor="t">
            <a:spAutoFit/>
          </a:bodyPr>
          <a:lstStyle/>
          <a:p>
            <a:pPr algn="l"/>
            <a:r>
              <a:rPr sz="850" b="0" spc="100">
                <a:solidFill>
                  <a:srgbClr val="1B9AAA"/>
                </a:solidFill>
                <a:latin typeface="JetBrains Mono"/>
              </a:rPr>
              <a:t>STEP 2: TRAINING</a:t>
            </a:r>
          </a:p>
        </p:txBody>
      </p:sp>
      <p:sp>
        <p:nvSpPr>
          <p:cNvPr id="26" name="Oval 25"/>
          <p:cNvSpPr/>
          <p:nvPr/>
        </p:nvSpPr>
        <p:spPr>
          <a:xfrm>
            <a:off x="3364991" y="2377440"/>
            <a:ext cx="914400" cy="914400"/>
          </a:xfrm>
          <a:prstGeom prst="ellipse">
            <a:avLst/>
          </a:prstGeom>
          <a:solidFill>
            <a:srgbClr val="1B9AAA">
              <a:alpha val="18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64991" y="2679192"/>
            <a:ext cx="914400" cy="320040"/>
          </a:xfrm>
          <a:prstGeom prst="rect">
            <a:avLst/>
          </a:prstGeom>
          <a:noFill/>
        </p:spPr>
        <p:txBody>
          <a:bodyPr wrap="square" lIns="0" tIns="0" rIns="0" bIns="0" anchor="t">
            <a:spAutoFit/>
          </a:bodyPr>
          <a:lstStyle/>
          <a:p>
            <a:pPr algn="ctr"/>
            <a:r>
              <a:rPr sz="1500" b="0">
                <a:solidFill>
                  <a:srgbClr val="0D1B2A"/>
                </a:solidFill>
                <a:latin typeface="Oswald"/>
              </a:rPr>
              <a:t>Learn</a:t>
            </a:r>
          </a:p>
        </p:txBody>
      </p:sp>
      <p:sp>
        <p:nvSpPr>
          <p:cNvPr id="28" name="TextBox 27"/>
          <p:cNvSpPr txBox="1"/>
          <p:nvPr/>
        </p:nvSpPr>
        <p:spPr>
          <a:xfrm>
            <a:off x="4846320" y="1920240"/>
            <a:ext cx="2011680" cy="228600"/>
          </a:xfrm>
          <a:prstGeom prst="rect">
            <a:avLst/>
          </a:prstGeom>
          <a:noFill/>
        </p:spPr>
        <p:txBody>
          <a:bodyPr wrap="square" lIns="0" tIns="0" rIns="0" bIns="0" anchor="t">
            <a:spAutoFit/>
          </a:bodyPr>
          <a:lstStyle/>
          <a:p>
            <a:pPr algn="l"/>
            <a:r>
              <a:rPr sz="850" b="0" spc="100">
                <a:solidFill>
                  <a:srgbClr val="1B9AAA"/>
                </a:solidFill>
                <a:latin typeface="JetBrains Mono"/>
              </a:rPr>
              <a:t>STEP 3: LEARNED PATTERNS</a:t>
            </a:r>
          </a:p>
        </p:txBody>
      </p:sp>
      <p:sp>
        <p:nvSpPr>
          <p:cNvPr id="29" name="Rounded Rectangle 28"/>
          <p:cNvSpPr/>
          <p:nvPr/>
        </p:nvSpPr>
        <p:spPr>
          <a:xfrm>
            <a:off x="4864608" y="2176272"/>
            <a:ext cx="566928" cy="219456"/>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a:solidFill>
                  <a:srgbClr val="0D1B2A"/>
                </a:solidFill>
                <a:latin typeface="JetBrains Mono"/>
              </a:rPr>
              <a:t>◄ OK</a:t>
            </a:r>
          </a:p>
        </p:txBody>
      </p:sp>
      <p:sp>
        <p:nvSpPr>
          <p:cNvPr id="30" name="Rounded Rectangle 29"/>
          <p:cNvSpPr/>
          <p:nvPr/>
        </p:nvSpPr>
        <p:spPr>
          <a:xfrm>
            <a:off x="6089904" y="2176272"/>
            <a:ext cx="566928" cy="219456"/>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a:solidFill>
                  <a:srgbClr val="06D6A0"/>
                </a:solidFill>
                <a:latin typeface="JetBrains Mono"/>
              </a:rPr>
              <a:t>SPAM ►</a:t>
            </a:r>
          </a:p>
        </p:txBody>
      </p:sp>
      <p:cxnSp>
        <p:nvCxnSpPr>
          <p:cNvPr id="31" name="Connector 30"/>
          <p:cNvCxnSpPr/>
          <p:nvPr/>
        </p:nvCxnSpPr>
        <p:spPr>
          <a:xfrm>
            <a:off x="5760720" y="2432304"/>
            <a:ext cx="0" cy="1097280"/>
          </a:xfrm>
          <a:prstGeom prst="line">
            <a:avLst/>
          </a:prstGeom>
          <a:ln w="12700">
            <a:solidFill>
              <a:srgbClr val="8FA6B2"/>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760720" y="2487168"/>
            <a:ext cx="781812" cy="128016"/>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956048" y="2450592"/>
            <a:ext cx="731520" cy="201168"/>
          </a:xfrm>
          <a:prstGeom prst="rect">
            <a:avLst/>
          </a:prstGeom>
          <a:noFill/>
        </p:spPr>
        <p:txBody>
          <a:bodyPr wrap="square" lIns="0" tIns="0" rIns="0" bIns="0" anchor="t">
            <a:spAutoFit/>
          </a:bodyPr>
          <a:lstStyle/>
          <a:p>
            <a:pPr algn="r"/>
            <a:r>
              <a:rPr sz="900" b="0">
                <a:solidFill>
                  <a:srgbClr val="0D1B2A"/>
                </a:solidFill>
                <a:latin typeface="JetBrains Mono"/>
              </a:rPr>
              <a:t>prize</a:t>
            </a:r>
          </a:p>
        </p:txBody>
      </p:sp>
      <p:sp>
        <p:nvSpPr>
          <p:cNvPr id="34" name="Rectangle 33"/>
          <p:cNvSpPr/>
          <p:nvPr/>
        </p:nvSpPr>
        <p:spPr>
          <a:xfrm>
            <a:off x="5760720" y="2706624"/>
            <a:ext cx="699516" cy="128016"/>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56048" y="2670048"/>
            <a:ext cx="731520" cy="201168"/>
          </a:xfrm>
          <a:prstGeom prst="rect">
            <a:avLst/>
          </a:prstGeom>
          <a:noFill/>
        </p:spPr>
        <p:txBody>
          <a:bodyPr wrap="square" lIns="0" tIns="0" rIns="0" bIns="0" anchor="t">
            <a:spAutoFit/>
          </a:bodyPr>
          <a:lstStyle/>
          <a:p>
            <a:pPr algn="r"/>
            <a:r>
              <a:rPr sz="900" b="0">
                <a:solidFill>
                  <a:srgbClr val="0D1B2A"/>
                </a:solidFill>
                <a:latin typeface="JetBrains Mono"/>
              </a:rPr>
              <a:t>free</a:t>
            </a:r>
          </a:p>
        </p:txBody>
      </p:sp>
      <p:sp>
        <p:nvSpPr>
          <p:cNvPr id="36" name="Rectangle 35"/>
          <p:cNvSpPr/>
          <p:nvPr/>
        </p:nvSpPr>
        <p:spPr>
          <a:xfrm>
            <a:off x="5760720" y="2926080"/>
            <a:ext cx="493776" cy="128016"/>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56048" y="2889504"/>
            <a:ext cx="731520" cy="201168"/>
          </a:xfrm>
          <a:prstGeom prst="rect">
            <a:avLst/>
          </a:prstGeom>
          <a:noFill/>
        </p:spPr>
        <p:txBody>
          <a:bodyPr wrap="square" lIns="0" tIns="0" rIns="0" bIns="0" anchor="t">
            <a:spAutoFit/>
          </a:bodyPr>
          <a:lstStyle/>
          <a:p>
            <a:pPr algn="r"/>
            <a:r>
              <a:rPr sz="900" b="0">
                <a:solidFill>
                  <a:srgbClr val="0D1B2A"/>
                </a:solidFill>
                <a:latin typeface="JetBrains Mono"/>
              </a:rPr>
              <a:t>claim</a:t>
            </a:r>
          </a:p>
        </p:txBody>
      </p:sp>
      <p:sp>
        <p:nvSpPr>
          <p:cNvPr id="38" name="Rectangle 37"/>
          <p:cNvSpPr/>
          <p:nvPr/>
        </p:nvSpPr>
        <p:spPr>
          <a:xfrm>
            <a:off x="5143500" y="3145536"/>
            <a:ext cx="617220" cy="12801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833872" y="3108960"/>
            <a:ext cx="731520" cy="201168"/>
          </a:xfrm>
          <a:prstGeom prst="rect">
            <a:avLst/>
          </a:prstGeom>
          <a:noFill/>
        </p:spPr>
        <p:txBody>
          <a:bodyPr wrap="square" lIns="0" tIns="0" rIns="0" bIns="0" anchor="t">
            <a:spAutoFit/>
          </a:bodyPr>
          <a:lstStyle/>
          <a:p>
            <a:pPr algn="l"/>
            <a:r>
              <a:rPr sz="900" b="0">
                <a:solidFill>
                  <a:srgbClr val="0D1B2A"/>
                </a:solidFill>
                <a:latin typeface="JetBrains Mono"/>
              </a:rPr>
              <a:t>meeting</a:t>
            </a:r>
          </a:p>
        </p:txBody>
      </p:sp>
      <p:sp>
        <p:nvSpPr>
          <p:cNvPr id="40" name="Rectangle 39"/>
          <p:cNvSpPr/>
          <p:nvPr/>
        </p:nvSpPr>
        <p:spPr>
          <a:xfrm>
            <a:off x="5266944" y="3364992"/>
            <a:ext cx="493776" cy="12801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33872" y="3328416"/>
            <a:ext cx="731520" cy="201168"/>
          </a:xfrm>
          <a:prstGeom prst="rect">
            <a:avLst/>
          </a:prstGeom>
          <a:noFill/>
        </p:spPr>
        <p:txBody>
          <a:bodyPr wrap="square" lIns="0" tIns="0" rIns="0" bIns="0" anchor="t">
            <a:spAutoFit/>
          </a:bodyPr>
          <a:lstStyle/>
          <a:p>
            <a:pPr algn="l"/>
            <a:r>
              <a:rPr sz="900" b="0">
                <a:solidFill>
                  <a:srgbClr val="0D1B2A"/>
                </a:solidFill>
                <a:latin typeface="JetBrains Mono"/>
              </a:rPr>
              <a:t>minutes</a:t>
            </a:r>
          </a:p>
        </p:txBody>
      </p:sp>
      <p:sp>
        <p:nvSpPr>
          <p:cNvPr id="42" name="TextBox 41"/>
          <p:cNvSpPr txBox="1"/>
          <p:nvPr/>
        </p:nvSpPr>
        <p:spPr>
          <a:xfrm>
            <a:off x="7059168" y="1920240"/>
            <a:ext cx="1554480" cy="228600"/>
          </a:xfrm>
          <a:prstGeom prst="rect">
            <a:avLst/>
          </a:prstGeom>
          <a:noFill/>
        </p:spPr>
        <p:txBody>
          <a:bodyPr wrap="square" lIns="0" tIns="0" rIns="0" bIns="0" anchor="t">
            <a:spAutoFit/>
          </a:bodyPr>
          <a:lstStyle/>
          <a:p>
            <a:pPr algn="l"/>
            <a:r>
              <a:rPr sz="850" b="0" spc="100">
                <a:solidFill>
                  <a:srgbClr val="1B9AAA"/>
                </a:solidFill>
                <a:latin typeface="JetBrains Mono"/>
              </a:rPr>
              <a:t>STEP 4: CLASSIFICATION</a:t>
            </a:r>
          </a:p>
        </p:txBody>
      </p:sp>
      <p:sp>
        <p:nvSpPr>
          <p:cNvPr id="43" name="Rounded Rectangle 42"/>
          <p:cNvSpPr/>
          <p:nvPr/>
        </p:nvSpPr>
        <p:spPr>
          <a:xfrm>
            <a:off x="7059168" y="2395728"/>
            <a:ext cx="1472184" cy="42062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“Claim your prize today!”</a:t>
            </a:r>
          </a:p>
        </p:txBody>
      </p:sp>
      <p:cxnSp>
        <p:nvCxnSpPr>
          <p:cNvPr id="44" name="Connector 43"/>
          <p:cNvCxnSpPr/>
          <p:nvPr/>
        </p:nvCxnSpPr>
        <p:spPr>
          <a:xfrm>
            <a:off x="7795260" y="2852928"/>
            <a:ext cx="0" cy="237744"/>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7059168" y="3127248"/>
            <a:ext cx="1472184" cy="329184"/>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6D6A0"/>
                </a:solidFill>
                <a:latin typeface="JetBrains Mono"/>
              </a:rPr>
              <a:t>SPAM · 94%</a:t>
            </a:r>
          </a:p>
        </p:txBody>
      </p:sp>
      <p:sp>
        <p:nvSpPr>
          <p:cNvPr id="46" name="TextBox 45"/>
          <p:cNvSpPr txBox="1"/>
          <p:nvPr/>
        </p:nvSpPr>
        <p:spPr>
          <a:xfrm>
            <a:off x="7059168" y="3529584"/>
            <a:ext cx="1563624" cy="228600"/>
          </a:xfrm>
          <a:prstGeom prst="rect">
            <a:avLst/>
          </a:prstGeom>
          <a:noFill/>
        </p:spPr>
        <p:txBody>
          <a:bodyPr wrap="square" lIns="0" tIns="0" rIns="0" bIns="0" anchor="t">
            <a:spAutoFit/>
          </a:bodyPr>
          <a:lstStyle/>
          <a:p>
            <a:pPr algn="l"/>
            <a:r>
              <a:rPr sz="950" b="0">
                <a:solidFill>
                  <a:srgbClr val="1B9AAA"/>
                </a:solidFill>
                <a:latin typeface="Roboto"/>
              </a:rPr>
              <a:t>Caught, with no new rule</a:t>
            </a:r>
          </a:p>
        </p:txBody>
      </p:sp>
      <p:sp>
        <p:nvSpPr>
          <p:cNvPr id="47" name="Rectangle 46"/>
          <p:cNvSpPr/>
          <p:nvPr/>
        </p:nvSpPr>
        <p:spPr>
          <a:xfrm>
            <a:off x="566928" y="4005072"/>
            <a:ext cx="8138160" cy="47548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66928" y="4005072"/>
            <a:ext cx="54864" cy="47548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7240" y="4133087"/>
            <a:ext cx="7818120" cy="274320"/>
          </a:xfrm>
          <a:prstGeom prst="rect">
            <a:avLst/>
          </a:prstGeom>
          <a:noFill/>
        </p:spPr>
        <p:txBody>
          <a:bodyPr wrap="square" lIns="0" tIns="0" rIns="0" bIns="0" anchor="t">
            <a:spAutoFit/>
          </a:bodyPr>
          <a:lstStyle/>
          <a:p>
            <a:pPr algn="l"/>
            <a:r>
              <a:rPr sz="1050" b="0">
                <a:solidFill>
                  <a:srgbClr val="14293D"/>
                </a:solidFill>
                <a:latin typeface="Roboto"/>
              </a:rPr>
              <a:t>1959: Arthur Samuel's checkers program learns by playing against itself and gives “machine learning” its name.</a:t>
            </a:r>
          </a:p>
        </p:txBody>
      </p:sp>
      <p:sp>
        <p:nvSpPr>
          <p:cNvPr id="50" name="Rectangle 49"/>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Data + answers → rules. The more good examples, the better the learned rules.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309360" y="2514600"/>
            <a:ext cx="3474720" cy="3474720"/>
          </a:xfrm>
          <a:prstGeom prst="ellipse">
            <a:avLst/>
          </a:prstGeom>
          <a:solidFill>
            <a:srgbClr val="1B9AAA">
              <a:alpha val="12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772400" y="1737360"/>
            <a:ext cx="2194560" cy="2194560"/>
          </a:xfrm>
          <a:prstGeom prst="ellipse">
            <a:avLst/>
          </a:prstGeom>
          <a:solidFill>
            <a:srgbClr val="06D6A0">
              <a:alpha val="10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160020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lide-ml-outperforms"/>
          <p:cNvSpPr txBox="1"/>
          <p:nvPr/>
        </p:nvSpPr>
        <p:spPr>
          <a:xfrm>
            <a:off x="822960" y="1783080"/>
            <a:ext cx="6035040" cy="1828800"/>
          </a:xfrm>
          <a:prstGeom prst="rect">
            <a:avLst/>
          </a:prstGeom>
          <a:noFill/>
        </p:spPr>
        <p:txBody>
          <a:bodyPr wrap="square" lIns="0" tIns="0" rIns="0" bIns="0" anchor="t">
            <a:spAutoFit/>
          </a:bodyPr>
          <a:lstStyle/>
          <a:p>
            <a:pPr algn="l"/>
            <a:r>
              <a:rPr sz="3600" b="0">
                <a:solidFill>
                  <a:srgbClr val="0D1B2A"/>
                </a:solidFill>
                <a:latin typeface="Oswald"/>
              </a:rPr>
              <a:t>Both streams ran side by side. Machine Learning took the lead from the 1990s, as data and computing power grew.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FFFFFF"/>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FFFFFF"/>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0D1B2A"/>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PART 3 OF 5 · SINCE 2012</a:t>
            </a:r>
          </a:p>
        </p:txBody>
      </p:sp>
      <p:sp>
        <p:nvSpPr>
          <p:cNvPr id="47" name="section-dl"/>
          <p:cNvSpPr txBox="1"/>
          <p:nvPr/>
        </p:nvSpPr>
        <p:spPr>
          <a:xfrm>
            <a:off x="731520" y="1234440"/>
            <a:ext cx="3657600" cy="1554480"/>
          </a:xfrm>
          <a:prstGeom prst="rect">
            <a:avLst/>
          </a:prstGeom>
          <a:noFill/>
        </p:spPr>
        <p:txBody>
          <a:bodyPr wrap="square" lIns="0" tIns="0" rIns="0" bIns="0" anchor="t">
            <a:spAutoFit/>
          </a:bodyPr>
          <a:lstStyle/>
          <a:p>
            <a:pPr algn="l"/>
            <a:r>
              <a:rPr sz="4800" b="0">
                <a:solidFill>
                  <a:srgbClr val="FFFFFF"/>
                </a:solidFill>
                <a:latin typeface="Oswald"/>
              </a:rPr>
              <a:t>Deep</a:t>
            </a:r>
          </a:p>
          <a:p>
            <a:pPr algn="l"/>
            <a:r>
              <a:rPr sz="4800" b="0">
                <a:solidFill>
                  <a:srgbClr val="FFFFFF"/>
                </a:solidFill>
                <a:latin typeface="Oswald"/>
              </a:rPr>
              <a:t>Learning</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Machine learning with many-layered neural networks that spot complex patterns.</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IN THIS PART</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Neural networks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PART 3 · DEEP LEARNING</a:t>
            </a:r>
          </a:p>
        </p:txBody>
      </p:sp>
      <p:sp>
        <p:nvSpPr>
          <p:cNvPr id="4" name="slide-neural-network"/>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Neural networks: many layers, many adjustable weights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Deep learning uses neural networks with many layers to learn complex patterns.</a:t>
            </a:r>
          </a:p>
        </p:txBody>
      </p:sp>
      <p:sp>
        <p:nvSpPr>
          <p:cNvPr id="6" name="Rectangle 5"/>
          <p:cNvSpPr/>
          <p:nvPr/>
        </p:nvSpPr>
        <p:spPr>
          <a:xfrm>
            <a:off x="566928" y="1783080"/>
            <a:ext cx="5285232"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a:off x="1572768" y="2788920"/>
            <a:ext cx="786384" cy="27432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572768" y="2788920"/>
            <a:ext cx="786384" cy="68580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72768" y="2788920"/>
            <a:ext cx="786384" cy="10972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572768" y="3063240"/>
            <a:ext cx="786384" cy="1828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72768" y="3246120"/>
            <a:ext cx="786384" cy="22860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72768" y="3246120"/>
            <a:ext cx="786384" cy="6400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572768" y="3063240"/>
            <a:ext cx="786384" cy="6400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572768" y="3474720"/>
            <a:ext cx="786384" cy="22860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572768" y="3703320"/>
            <a:ext cx="786384" cy="1828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572768" y="2651760"/>
            <a:ext cx="786384" cy="137160"/>
          </a:xfrm>
          <a:prstGeom prst="line">
            <a:avLst/>
          </a:prstGeom>
          <a:ln w="9525">
            <a:solidFill>
              <a:srgbClr val="06D6A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rot="20988000">
            <a:off x="1833372" y="2587752"/>
            <a:ext cx="329184" cy="146304"/>
          </a:xfrm>
          <a:prstGeom prst="rect">
            <a:avLst/>
          </a:prstGeom>
          <a:noFill/>
        </p:spPr>
        <p:txBody>
          <a:bodyPr wrap="square" lIns="0" tIns="0" rIns="0" bIns="0" anchor="t">
            <a:spAutoFit/>
          </a:bodyPr>
          <a:lstStyle/>
          <a:p>
            <a:pPr algn="ctr"/>
            <a:r>
              <a:rPr sz="700" b="0">
                <a:solidFill>
                  <a:srgbClr val="06D6A0"/>
                </a:solidFill>
                <a:latin typeface="JetBrains Mono"/>
              </a:rPr>
              <a:t>0.50</a:t>
            </a:r>
          </a:p>
        </p:txBody>
      </p:sp>
      <p:cxnSp>
        <p:nvCxnSpPr>
          <p:cNvPr id="19" name="Connector 18"/>
          <p:cNvCxnSpPr/>
          <p:nvPr/>
        </p:nvCxnSpPr>
        <p:spPr>
          <a:xfrm flipV="1">
            <a:off x="1572768" y="2651760"/>
            <a:ext cx="786384" cy="594360"/>
          </a:xfrm>
          <a:prstGeom prst="line">
            <a:avLst/>
          </a:prstGeom>
          <a:ln w="9525">
            <a:solidFill>
              <a:srgbClr val="06D6A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rot="19398000">
            <a:off x="1834286" y="2779776"/>
            <a:ext cx="329184" cy="146304"/>
          </a:xfrm>
          <a:prstGeom prst="rect">
            <a:avLst/>
          </a:prstGeom>
          <a:noFill/>
        </p:spPr>
        <p:txBody>
          <a:bodyPr wrap="square" lIns="0" tIns="0" rIns="0" bIns="0" anchor="t">
            <a:spAutoFit/>
          </a:bodyPr>
          <a:lstStyle/>
          <a:p>
            <a:pPr algn="ctr"/>
            <a:r>
              <a:rPr sz="700" b="0">
                <a:solidFill>
                  <a:srgbClr val="06D6A0"/>
                </a:solidFill>
                <a:latin typeface="JetBrains Mono"/>
              </a:rPr>
              <a:t>−0.40</a:t>
            </a:r>
          </a:p>
        </p:txBody>
      </p:sp>
      <p:cxnSp>
        <p:nvCxnSpPr>
          <p:cNvPr id="21" name="Connector 20"/>
          <p:cNvCxnSpPr/>
          <p:nvPr/>
        </p:nvCxnSpPr>
        <p:spPr>
          <a:xfrm flipV="1">
            <a:off x="1572768" y="2651760"/>
            <a:ext cx="786384" cy="1051560"/>
          </a:xfrm>
          <a:prstGeom prst="line">
            <a:avLst/>
          </a:prstGeom>
          <a:ln w="9525">
            <a:solidFill>
              <a:srgbClr val="06D6A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rot="18570000">
            <a:off x="1842516" y="2991916"/>
            <a:ext cx="329184" cy="146304"/>
          </a:xfrm>
          <a:prstGeom prst="rect">
            <a:avLst/>
          </a:prstGeom>
          <a:noFill/>
        </p:spPr>
        <p:txBody>
          <a:bodyPr wrap="square" lIns="0" tIns="0" rIns="0" bIns="0" anchor="t">
            <a:spAutoFit/>
          </a:bodyPr>
          <a:lstStyle/>
          <a:p>
            <a:pPr algn="ctr"/>
            <a:r>
              <a:rPr sz="700" b="0">
                <a:solidFill>
                  <a:srgbClr val="06D6A0"/>
                </a:solidFill>
                <a:latin typeface="JetBrains Mono"/>
              </a:rPr>
              <a:t>0.80</a:t>
            </a:r>
          </a:p>
        </p:txBody>
      </p:sp>
      <p:cxnSp>
        <p:nvCxnSpPr>
          <p:cNvPr id="23" name="Connector 22"/>
          <p:cNvCxnSpPr/>
          <p:nvPr/>
        </p:nvCxnSpPr>
        <p:spPr>
          <a:xfrm>
            <a:off x="2670048" y="2651760"/>
            <a:ext cx="786384"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70048" y="265176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670048" y="2651760"/>
            <a:ext cx="786384" cy="8229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670048" y="2651760"/>
            <a:ext cx="786384" cy="123444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670048" y="265176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670048" y="3063240"/>
            <a:ext cx="786384"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670048" y="306324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670048" y="3063240"/>
            <a:ext cx="786384" cy="8229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670048" y="2651760"/>
            <a:ext cx="786384" cy="8229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670048" y="306324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670048" y="3474720"/>
            <a:ext cx="786384"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670048" y="347472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670048" y="2651760"/>
            <a:ext cx="786384" cy="123444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670048" y="3063240"/>
            <a:ext cx="786384" cy="8229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670048" y="347472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670048" y="3886200"/>
            <a:ext cx="786384"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767328" y="265176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767328" y="2651760"/>
            <a:ext cx="786384" cy="8686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767328" y="3063240"/>
            <a:ext cx="786384"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767328" y="3063240"/>
            <a:ext cx="786384" cy="45720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767328" y="3063240"/>
            <a:ext cx="786384" cy="41148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767328" y="3474720"/>
            <a:ext cx="786384" cy="4572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767328" y="3063240"/>
            <a:ext cx="786384" cy="8229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767328" y="3520440"/>
            <a:ext cx="786384" cy="36576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1261872" y="2633472"/>
            <a:ext cx="310896" cy="31089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261872" y="272491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0.90</a:t>
            </a:r>
          </a:p>
        </p:txBody>
      </p:sp>
      <p:sp>
        <p:nvSpPr>
          <p:cNvPr id="49" name="Oval 48"/>
          <p:cNvSpPr/>
          <p:nvPr/>
        </p:nvSpPr>
        <p:spPr>
          <a:xfrm>
            <a:off x="1261872" y="3090672"/>
            <a:ext cx="310896" cy="31089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261872" y="318211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0.30</a:t>
            </a:r>
          </a:p>
        </p:txBody>
      </p:sp>
      <p:sp>
        <p:nvSpPr>
          <p:cNvPr id="51" name="Oval 50"/>
          <p:cNvSpPr/>
          <p:nvPr/>
        </p:nvSpPr>
        <p:spPr>
          <a:xfrm>
            <a:off x="1261872" y="3547872"/>
            <a:ext cx="310896" cy="31089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261872" y="363931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0.60</a:t>
            </a:r>
          </a:p>
        </p:txBody>
      </p:sp>
      <p:sp>
        <p:nvSpPr>
          <p:cNvPr id="53" name="Oval 52"/>
          <p:cNvSpPr/>
          <p:nvPr/>
        </p:nvSpPr>
        <p:spPr>
          <a:xfrm>
            <a:off x="2359152" y="249631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359152" y="258775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0.81</a:t>
            </a:r>
          </a:p>
        </p:txBody>
      </p:sp>
      <p:sp>
        <p:nvSpPr>
          <p:cNvPr id="55" name="Oval 54"/>
          <p:cNvSpPr/>
          <p:nvPr/>
        </p:nvSpPr>
        <p:spPr>
          <a:xfrm>
            <a:off x="2359152" y="290779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359152" y="299923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0.24</a:t>
            </a:r>
          </a:p>
        </p:txBody>
      </p:sp>
      <p:sp>
        <p:nvSpPr>
          <p:cNvPr id="57" name="Oval 56"/>
          <p:cNvSpPr/>
          <p:nvPr/>
        </p:nvSpPr>
        <p:spPr>
          <a:xfrm>
            <a:off x="2359152" y="331927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359152" y="341071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0.76</a:t>
            </a:r>
          </a:p>
        </p:txBody>
      </p:sp>
      <p:sp>
        <p:nvSpPr>
          <p:cNvPr id="59" name="Oval 58"/>
          <p:cNvSpPr/>
          <p:nvPr/>
        </p:nvSpPr>
        <p:spPr>
          <a:xfrm>
            <a:off x="2359152" y="373075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359152" y="3822191"/>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0.38</a:t>
            </a:r>
          </a:p>
        </p:txBody>
      </p:sp>
      <p:sp>
        <p:nvSpPr>
          <p:cNvPr id="61" name="Oval 60"/>
          <p:cNvSpPr/>
          <p:nvPr/>
        </p:nvSpPr>
        <p:spPr>
          <a:xfrm>
            <a:off x="3456432" y="249631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456432" y="258775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0.52</a:t>
            </a:r>
          </a:p>
        </p:txBody>
      </p:sp>
      <p:sp>
        <p:nvSpPr>
          <p:cNvPr id="63" name="Oval 62"/>
          <p:cNvSpPr/>
          <p:nvPr/>
        </p:nvSpPr>
        <p:spPr>
          <a:xfrm>
            <a:off x="3456432" y="290779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456432" y="299923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0.91</a:t>
            </a:r>
          </a:p>
        </p:txBody>
      </p:sp>
      <p:sp>
        <p:nvSpPr>
          <p:cNvPr id="65" name="Oval 64"/>
          <p:cNvSpPr/>
          <p:nvPr/>
        </p:nvSpPr>
        <p:spPr>
          <a:xfrm>
            <a:off x="3456432" y="331927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456432" y="341071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0.14</a:t>
            </a:r>
          </a:p>
        </p:txBody>
      </p:sp>
      <p:sp>
        <p:nvSpPr>
          <p:cNvPr id="67" name="Oval 66"/>
          <p:cNvSpPr/>
          <p:nvPr/>
        </p:nvSpPr>
        <p:spPr>
          <a:xfrm>
            <a:off x="3456432" y="3730752"/>
            <a:ext cx="310896" cy="31089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456432" y="3822191"/>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0.63</a:t>
            </a:r>
          </a:p>
        </p:txBody>
      </p:sp>
      <p:sp>
        <p:nvSpPr>
          <p:cNvPr id="69" name="Oval 68"/>
          <p:cNvSpPr/>
          <p:nvPr/>
        </p:nvSpPr>
        <p:spPr>
          <a:xfrm>
            <a:off x="4553712" y="2907792"/>
            <a:ext cx="310896" cy="31089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553712" y="299923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0.45</a:t>
            </a:r>
          </a:p>
        </p:txBody>
      </p:sp>
      <p:sp>
        <p:nvSpPr>
          <p:cNvPr id="71" name="Oval 70"/>
          <p:cNvSpPr/>
          <p:nvPr/>
        </p:nvSpPr>
        <p:spPr>
          <a:xfrm>
            <a:off x="4553712" y="3364992"/>
            <a:ext cx="310896" cy="31089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553712" y="3456432"/>
            <a:ext cx="310896" cy="146304"/>
          </a:xfrm>
          <a:prstGeom prst="rect">
            <a:avLst/>
          </a:prstGeom>
          <a:noFill/>
        </p:spPr>
        <p:txBody>
          <a:bodyPr wrap="square" lIns="0" tIns="0" rIns="0" bIns="0" anchor="t">
            <a:spAutoFit/>
          </a:bodyPr>
          <a:lstStyle/>
          <a:p>
            <a:pPr algn="ctr"/>
            <a:r>
              <a:rPr sz="700" b="0">
                <a:solidFill>
                  <a:srgbClr val="FFFFFF"/>
                </a:solidFill>
                <a:latin typeface="JetBrains Mono"/>
              </a:rPr>
              <a:t>0.18</a:t>
            </a:r>
          </a:p>
        </p:txBody>
      </p:sp>
      <p:sp>
        <p:nvSpPr>
          <p:cNvPr id="73" name="TextBox 72"/>
          <p:cNvSpPr txBox="1"/>
          <p:nvPr/>
        </p:nvSpPr>
        <p:spPr>
          <a:xfrm>
            <a:off x="777240" y="1874519"/>
            <a:ext cx="3291840" cy="201168"/>
          </a:xfrm>
          <a:prstGeom prst="rect">
            <a:avLst/>
          </a:prstGeom>
          <a:noFill/>
        </p:spPr>
        <p:txBody>
          <a:bodyPr wrap="none" lIns="0" tIns="0" rIns="0" bIns="0">
            <a:spAutoFit/>
          </a:bodyPr>
          <a:lstStyle/>
          <a:p>
            <a:pPr algn="l"/>
            <a:r>
              <a:rPr sz="800">
                <a:solidFill>
                  <a:srgbClr val="0D1B2A"/>
                </a:solidFill>
                <a:latin typeface="JetBrains Mono"/>
              </a:rPr>
              <a:t>0.90 × </a:t>
            </a:r>
            <a:r>
              <a:rPr sz="800">
                <a:solidFill>
                  <a:srgbClr val="06D6A0"/>
                </a:solidFill>
                <a:latin typeface="JetBrains Mono"/>
              </a:rPr>
              <a:t>0.50</a:t>
            </a:r>
            <a:r>
              <a:rPr sz="800">
                <a:solidFill>
                  <a:srgbClr val="0D1B2A"/>
                </a:solidFill>
                <a:latin typeface="JetBrains Mono"/>
              </a:rPr>
              <a:t>  +  0.30 × (</a:t>
            </a:r>
            <a:r>
              <a:rPr sz="800">
                <a:solidFill>
                  <a:srgbClr val="06D6A0"/>
                </a:solidFill>
                <a:latin typeface="JetBrains Mono"/>
              </a:rPr>
              <a:t>−0.40</a:t>
            </a:r>
            <a:r>
              <a:rPr sz="800">
                <a:solidFill>
                  <a:srgbClr val="0D1B2A"/>
                </a:solidFill>
                <a:latin typeface="JetBrains Mono"/>
              </a:rPr>
              <a:t>)  +  0.60 × </a:t>
            </a:r>
            <a:r>
              <a:rPr sz="800">
                <a:solidFill>
                  <a:srgbClr val="06D6A0"/>
                </a:solidFill>
                <a:latin typeface="JetBrains Mono"/>
              </a:rPr>
              <a:t>0.80</a:t>
            </a:r>
            <a:r>
              <a:rPr sz="800">
                <a:solidFill>
                  <a:srgbClr val="0D1B2A"/>
                </a:solidFill>
                <a:latin typeface="JetBrains Mono"/>
              </a:rPr>
              <a:t>  =  0.81</a:t>
            </a:r>
          </a:p>
        </p:txBody>
      </p:sp>
      <p:sp>
        <p:nvSpPr>
          <p:cNvPr id="74" name="Rounded Rectangle 73"/>
          <p:cNvSpPr/>
          <p:nvPr/>
        </p:nvSpPr>
        <p:spPr>
          <a:xfrm>
            <a:off x="3392424" y="2432304"/>
            <a:ext cx="438912" cy="1682496"/>
          </a:xfrm>
          <a:prstGeom prst="roundRect">
            <a:avLst>
              <a:gd name="adj" fmla="val 12500"/>
            </a:avLst>
          </a:prstGeom>
          <a:no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023360" y="2112264"/>
            <a:ext cx="548640" cy="155448"/>
          </a:xfrm>
          <a:prstGeom prst="rect">
            <a:avLst/>
          </a:prstGeom>
          <a:noFill/>
        </p:spPr>
        <p:txBody>
          <a:bodyPr wrap="square" lIns="0" tIns="0" rIns="0" bIns="0" anchor="t">
            <a:spAutoFit/>
          </a:bodyPr>
          <a:lstStyle/>
          <a:p>
            <a:pPr algn="l"/>
            <a:r>
              <a:rPr sz="1000" b="0">
                <a:solidFill>
                  <a:srgbClr val="1B9AAA"/>
                </a:solidFill>
                <a:latin typeface="Roboto"/>
              </a:rPr>
              <a:t>Layer</a:t>
            </a:r>
          </a:p>
        </p:txBody>
      </p:sp>
      <p:cxnSp>
        <p:nvCxnSpPr>
          <p:cNvPr id="76" name="Connector 75"/>
          <p:cNvCxnSpPr/>
          <p:nvPr/>
        </p:nvCxnSpPr>
        <p:spPr>
          <a:xfrm flipH="1">
            <a:off x="3895344" y="2304288"/>
            <a:ext cx="173736" cy="228600"/>
          </a:xfrm>
          <a:prstGeom prst="line">
            <a:avLst/>
          </a:prstGeom>
          <a:ln w="1270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1417320" y="2112264"/>
            <a:ext cx="548640" cy="155448"/>
          </a:xfrm>
          <a:prstGeom prst="rect">
            <a:avLst/>
          </a:prstGeom>
          <a:noFill/>
        </p:spPr>
        <p:txBody>
          <a:bodyPr wrap="square" lIns="0" tIns="0" rIns="0" bIns="0" anchor="t">
            <a:spAutoFit/>
          </a:bodyPr>
          <a:lstStyle/>
          <a:p>
            <a:pPr algn="l"/>
            <a:r>
              <a:rPr sz="1000" b="0">
                <a:solidFill>
                  <a:srgbClr val="06D6A0"/>
                </a:solidFill>
                <a:latin typeface="Roboto"/>
              </a:rPr>
              <a:t>Weights</a:t>
            </a:r>
          </a:p>
        </p:txBody>
      </p:sp>
      <p:cxnSp>
        <p:nvCxnSpPr>
          <p:cNvPr id="78" name="Connector 77"/>
          <p:cNvCxnSpPr/>
          <p:nvPr/>
        </p:nvCxnSpPr>
        <p:spPr>
          <a:xfrm>
            <a:off x="1792224" y="2340864"/>
            <a:ext cx="146304" cy="231343"/>
          </a:xfrm>
          <a:prstGeom prst="line">
            <a:avLst/>
          </a:prstGeom>
          <a:ln w="12700">
            <a:solidFill>
              <a:srgbClr val="06D6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2761488" y="2112264"/>
            <a:ext cx="438912" cy="155448"/>
          </a:xfrm>
          <a:prstGeom prst="rect">
            <a:avLst/>
          </a:prstGeom>
          <a:noFill/>
        </p:spPr>
        <p:txBody>
          <a:bodyPr wrap="square" lIns="0" tIns="0" rIns="0" bIns="0" anchor="t">
            <a:spAutoFit/>
          </a:bodyPr>
          <a:lstStyle/>
          <a:p>
            <a:pPr algn="l"/>
            <a:r>
              <a:rPr sz="1000" b="0">
                <a:solidFill>
                  <a:srgbClr val="1B9AAA"/>
                </a:solidFill>
                <a:latin typeface="Roboto"/>
              </a:rPr>
              <a:t>Neuron</a:t>
            </a:r>
          </a:p>
        </p:txBody>
      </p:sp>
      <p:cxnSp>
        <p:nvCxnSpPr>
          <p:cNvPr id="80" name="Connector 79"/>
          <p:cNvCxnSpPr/>
          <p:nvPr/>
        </p:nvCxnSpPr>
        <p:spPr>
          <a:xfrm flipH="1">
            <a:off x="2633472" y="2304288"/>
            <a:ext cx="155448" cy="210312"/>
          </a:xfrm>
          <a:prstGeom prst="line">
            <a:avLst/>
          </a:prstGeom>
          <a:ln w="1270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85800" y="4206240"/>
            <a:ext cx="1463040" cy="201168"/>
          </a:xfrm>
          <a:prstGeom prst="rect">
            <a:avLst/>
          </a:prstGeom>
          <a:noFill/>
        </p:spPr>
        <p:txBody>
          <a:bodyPr wrap="square" lIns="0" tIns="0" rIns="0" bIns="0" anchor="t">
            <a:spAutoFit/>
          </a:bodyPr>
          <a:lstStyle/>
          <a:p>
            <a:pPr algn="ctr"/>
            <a:r>
              <a:rPr sz="950" b="0" spc="100">
                <a:solidFill>
                  <a:srgbClr val="6B7B8C"/>
                </a:solidFill>
                <a:latin typeface="JetBrains Mono"/>
              </a:rPr>
              <a:t>INPUT LAYER</a:t>
            </a:r>
          </a:p>
        </p:txBody>
      </p:sp>
      <p:sp>
        <p:nvSpPr>
          <p:cNvPr id="82" name="TextBox 81"/>
          <p:cNvSpPr txBox="1"/>
          <p:nvPr/>
        </p:nvSpPr>
        <p:spPr>
          <a:xfrm>
            <a:off x="2148840" y="4206240"/>
            <a:ext cx="1828800" cy="201168"/>
          </a:xfrm>
          <a:prstGeom prst="rect">
            <a:avLst/>
          </a:prstGeom>
          <a:noFill/>
        </p:spPr>
        <p:txBody>
          <a:bodyPr wrap="square" lIns="0" tIns="0" rIns="0" bIns="0" anchor="t">
            <a:spAutoFit/>
          </a:bodyPr>
          <a:lstStyle/>
          <a:p>
            <a:pPr algn="ctr"/>
            <a:r>
              <a:rPr sz="950" b="0" spc="100">
                <a:solidFill>
                  <a:srgbClr val="6B7B8C"/>
                </a:solidFill>
                <a:latin typeface="JetBrains Mono"/>
              </a:rPr>
              <a:t>HIDDEN LAYERS</a:t>
            </a:r>
          </a:p>
        </p:txBody>
      </p:sp>
      <p:sp>
        <p:nvSpPr>
          <p:cNvPr id="83" name="TextBox 82"/>
          <p:cNvSpPr txBox="1"/>
          <p:nvPr/>
        </p:nvSpPr>
        <p:spPr>
          <a:xfrm>
            <a:off x="3977640" y="4206240"/>
            <a:ext cx="1463040" cy="201168"/>
          </a:xfrm>
          <a:prstGeom prst="rect">
            <a:avLst/>
          </a:prstGeom>
          <a:noFill/>
        </p:spPr>
        <p:txBody>
          <a:bodyPr wrap="square" lIns="0" tIns="0" rIns="0" bIns="0" anchor="t">
            <a:spAutoFit/>
          </a:bodyPr>
          <a:lstStyle/>
          <a:p>
            <a:pPr algn="ctr"/>
            <a:r>
              <a:rPr sz="950" b="0" spc="100">
                <a:solidFill>
                  <a:srgbClr val="6B7B8C"/>
                </a:solidFill>
                <a:latin typeface="JetBrains Mono"/>
              </a:rPr>
              <a:t>OUTPUT LAYER</a:t>
            </a:r>
          </a:p>
        </p:txBody>
      </p:sp>
      <p:sp>
        <p:nvSpPr>
          <p:cNvPr id="84" name="Rounded Rectangle 83"/>
          <p:cNvSpPr/>
          <p:nvPr/>
        </p:nvSpPr>
        <p:spPr>
          <a:xfrm>
            <a:off x="658368" y="2660903"/>
            <a:ext cx="54864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The</a:t>
            </a:r>
          </a:p>
        </p:txBody>
      </p:sp>
      <p:cxnSp>
        <p:nvCxnSpPr>
          <p:cNvPr id="85" name="Connector 84"/>
          <p:cNvCxnSpPr/>
          <p:nvPr/>
        </p:nvCxnSpPr>
        <p:spPr>
          <a:xfrm>
            <a:off x="1225296" y="2788920"/>
            <a:ext cx="18288" cy="0"/>
          </a:xfrm>
          <a:prstGeom prst="line">
            <a:avLst/>
          </a:prstGeom>
          <a:ln w="9525">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Rounded Rectangle 85"/>
          <p:cNvSpPr/>
          <p:nvPr/>
        </p:nvSpPr>
        <p:spPr>
          <a:xfrm>
            <a:off x="658368" y="3118103"/>
            <a:ext cx="54864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cat</a:t>
            </a:r>
          </a:p>
        </p:txBody>
      </p:sp>
      <p:cxnSp>
        <p:nvCxnSpPr>
          <p:cNvPr id="87" name="Connector 86"/>
          <p:cNvCxnSpPr/>
          <p:nvPr/>
        </p:nvCxnSpPr>
        <p:spPr>
          <a:xfrm>
            <a:off x="1225296" y="3246120"/>
            <a:ext cx="18288" cy="0"/>
          </a:xfrm>
          <a:prstGeom prst="line">
            <a:avLst/>
          </a:prstGeom>
          <a:ln w="9525">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Rounded Rectangle 87"/>
          <p:cNvSpPr/>
          <p:nvPr/>
        </p:nvSpPr>
        <p:spPr>
          <a:xfrm>
            <a:off x="658368" y="3575303"/>
            <a:ext cx="54864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sat</a:t>
            </a:r>
          </a:p>
        </p:txBody>
      </p:sp>
      <p:cxnSp>
        <p:nvCxnSpPr>
          <p:cNvPr id="89" name="Connector 88"/>
          <p:cNvCxnSpPr/>
          <p:nvPr/>
        </p:nvCxnSpPr>
        <p:spPr>
          <a:xfrm>
            <a:off x="1225296" y="3703320"/>
            <a:ext cx="18288" cy="0"/>
          </a:xfrm>
          <a:prstGeom prst="line">
            <a:avLst/>
          </a:prstGeom>
          <a:ln w="9525">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4882896" y="3063240"/>
            <a:ext cx="192024" cy="0"/>
          </a:xfrm>
          <a:prstGeom prst="line">
            <a:avLst/>
          </a:prstGeom>
          <a:ln w="9525">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 name="Rounded Rectangle 90"/>
          <p:cNvSpPr/>
          <p:nvPr/>
        </p:nvSpPr>
        <p:spPr>
          <a:xfrm>
            <a:off x="5120640" y="2935224"/>
            <a:ext cx="356616"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on</a:t>
            </a:r>
          </a:p>
        </p:txBody>
      </p:sp>
      <p:sp>
        <p:nvSpPr>
          <p:cNvPr id="92" name="TextBox 91"/>
          <p:cNvSpPr txBox="1"/>
          <p:nvPr/>
        </p:nvSpPr>
        <p:spPr>
          <a:xfrm>
            <a:off x="5522976" y="2999232"/>
            <a:ext cx="274320" cy="123444"/>
          </a:xfrm>
          <a:prstGeom prst="rect">
            <a:avLst/>
          </a:prstGeom>
          <a:noFill/>
        </p:spPr>
        <p:txBody>
          <a:bodyPr wrap="square" lIns="0" tIns="0" rIns="0" bIns="0" anchor="ctr">
            <a:spAutoFit/>
          </a:bodyPr>
          <a:lstStyle/>
          <a:p>
            <a:pPr algn="l"/>
            <a:r>
              <a:rPr sz="800" b="0">
                <a:solidFill>
                  <a:srgbClr val="0D1B2A"/>
                </a:solidFill>
                <a:latin typeface="JetBrains Mono"/>
              </a:rPr>
              <a:t>45 %</a:t>
            </a:r>
          </a:p>
        </p:txBody>
      </p:sp>
      <p:cxnSp>
        <p:nvCxnSpPr>
          <p:cNvPr id="93" name="Connector 92"/>
          <p:cNvCxnSpPr/>
          <p:nvPr/>
        </p:nvCxnSpPr>
        <p:spPr>
          <a:xfrm>
            <a:off x="4882896" y="3520440"/>
            <a:ext cx="192024" cy="0"/>
          </a:xfrm>
          <a:prstGeom prst="line">
            <a:avLst/>
          </a:prstGeom>
          <a:ln w="9525">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4" name="Rounded Rectangle 93"/>
          <p:cNvSpPr/>
          <p:nvPr/>
        </p:nvSpPr>
        <p:spPr>
          <a:xfrm>
            <a:off x="5120640" y="3392424"/>
            <a:ext cx="356616"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down</a:t>
            </a:r>
          </a:p>
        </p:txBody>
      </p:sp>
      <p:sp>
        <p:nvSpPr>
          <p:cNvPr id="95" name="TextBox 94"/>
          <p:cNvSpPr txBox="1"/>
          <p:nvPr/>
        </p:nvSpPr>
        <p:spPr>
          <a:xfrm>
            <a:off x="5522976" y="3456432"/>
            <a:ext cx="274320" cy="123444"/>
          </a:xfrm>
          <a:prstGeom prst="rect">
            <a:avLst/>
          </a:prstGeom>
          <a:noFill/>
        </p:spPr>
        <p:txBody>
          <a:bodyPr wrap="square" lIns="0" tIns="0" rIns="0" bIns="0" anchor="ctr">
            <a:spAutoFit/>
          </a:bodyPr>
          <a:lstStyle/>
          <a:p>
            <a:pPr algn="l"/>
            <a:r>
              <a:rPr sz="800" b="0">
                <a:solidFill>
                  <a:srgbClr val="0D1B2A"/>
                </a:solidFill>
                <a:latin typeface="JetBrains Mono"/>
              </a:rPr>
              <a:t>18 %</a:t>
            </a:r>
          </a:p>
        </p:txBody>
      </p:sp>
      <p:sp>
        <p:nvSpPr>
          <p:cNvPr id="96" name="Rectangle 95"/>
          <p:cNvSpPr/>
          <p:nvPr/>
        </p:nvSpPr>
        <p:spPr>
          <a:xfrm>
            <a:off x="5971032" y="1783080"/>
            <a:ext cx="2871216" cy="105156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5971032" y="1783080"/>
            <a:ext cx="45720" cy="105156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6144768" y="1874519"/>
            <a:ext cx="2194560" cy="155448"/>
          </a:xfrm>
          <a:prstGeom prst="rect">
            <a:avLst/>
          </a:prstGeom>
          <a:noFill/>
        </p:spPr>
        <p:txBody>
          <a:bodyPr wrap="square" lIns="0" tIns="0" rIns="0" bIns="0" anchor="t">
            <a:spAutoFit/>
          </a:bodyPr>
          <a:lstStyle/>
          <a:p>
            <a:pPr algn="l"/>
            <a:r>
              <a:rPr sz="950" b="0" spc="100">
                <a:solidFill>
                  <a:srgbClr val="06D6A0"/>
                </a:solidFill>
                <a:latin typeface="JetBrains Mono"/>
              </a:rPr>
              <a:t>WHAT THE MODEL LEARNS</a:t>
            </a:r>
          </a:p>
        </p:txBody>
      </p:sp>
      <p:sp>
        <p:nvSpPr>
          <p:cNvPr id="99" name="TextBox 98"/>
          <p:cNvSpPr txBox="1"/>
          <p:nvPr/>
        </p:nvSpPr>
        <p:spPr>
          <a:xfrm>
            <a:off x="6153912" y="2075688"/>
            <a:ext cx="2514600" cy="685799"/>
          </a:xfrm>
          <a:prstGeom prst="rect">
            <a:avLst/>
          </a:prstGeom>
          <a:noFill/>
        </p:spPr>
        <p:txBody>
          <a:bodyPr wrap="square" lIns="0" tIns="0" rIns="0" bIns="0" anchor="t">
            <a:spAutoFit/>
          </a:bodyPr>
          <a:lstStyle/>
          <a:p>
            <a:pPr algn="l"/>
            <a:r>
              <a:rPr sz="1000" b="0">
                <a:solidFill>
                  <a:srgbClr val="14293D"/>
                </a:solidFill>
                <a:latin typeface="Roboto"/>
              </a:rPr>
              <a:t>Training adjusts the weights on every connection — millions to billions of numbers. Those weights are the model's knowledge; nothing else is stored.</a:t>
            </a:r>
          </a:p>
        </p:txBody>
      </p:sp>
      <p:sp>
        <p:nvSpPr>
          <p:cNvPr id="100" name="Rectangle 99"/>
          <p:cNvSpPr/>
          <p:nvPr/>
        </p:nvSpPr>
        <p:spPr>
          <a:xfrm>
            <a:off x="5971032" y="2916936"/>
            <a:ext cx="2871216" cy="65836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5971032" y="2916936"/>
            <a:ext cx="45720" cy="658368"/>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6144768" y="3008376"/>
            <a:ext cx="2194560" cy="155448"/>
          </a:xfrm>
          <a:prstGeom prst="rect">
            <a:avLst/>
          </a:prstGeom>
          <a:noFill/>
        </p:spPr>
        <p:txBody>
          <a:bodyPr wrap="square" lIns="0" tIns="0" rIns="0" bIns="0" anchor="t">
            <a:spAutoFit/>
          </a:bodyPr>
          <a:lstStyle/>
          <a:p>
            <a:pPr algn="l"/>
            <a:r>
              <a:rPr sz="950" b="0" spc="100">
                <a:solidFill>
                  <a:srgbClr val="0D1B2A"/>
                </a:solidFill>
                <a:latin typeface="JetBrains Mono"/>
              </a:rPr>
              <a:t>INPUTS AND OUTPUTS</a:t>
            </a:r>
          </a:p>
        </p:txBody>
      </p:sp>
      <p:sp>
        <p:nvSpPr>
          <p:cNvPr id="103" name="TextBox 102"/>
          <p:cNvSpPr txBox="1"/>
          <p:nvPr/>
        </p:nvSpPr>
        <p:spPr>
          <a:xfrm>
            <a:off x="6153912" y="3209544"/>
            <a:ext cx="2514600" cy="292607"/>
          </a:xfrm>
          <a:prstGeom prst="rect">
            <a:avLst/>
          </a:prstGeom>
          <a:noFill/>
        </p:spPr>
        <p:txBody>
          <a:bodyPr wrap="square" lIns="0" tIns="0" rIns="0" bIns="0" anchor="t">
            <a:spAutoFit/>
          </a:bodyPr>
          <a:lstStyle/>
          <a:p>
            <a:pPr algn="l"/>
            <a:r>
              <a:rPr sz="1000" b="0">
                <a:solidFill>
                  <a:srgbClr val="14293D"/>
                </a:solidFill>
                <a:latin typeface="Roboto"/>
              </a:rPr>
              <a:t>In a language model, what goes in and comes out are tokens.</a:t>
            </a:r>
          </a:p>
        </p:txBody>
      </p:sp>
      <p:sp>
        <p:nvSpPr>
          <p:cNvPr id="104" name="Rectangle 103"/>
          <p:cNvSpPr/>
          <p:nvPr/>
        </p:nvSpPr>
        <p:spPr>
          <a:xfrm>
            <a:off x="5971032" y="3657600"/>
            <a:ext cx="2871216" cy="86868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5971032" y="3657600"/>
            <a:ext cx="45720" cy="8686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6144768" y="3749039"/>
            <a:ext cx="2194560" cy="155448"/>
          </a:xfrm>
          <a:prstGeom prst="rect">
            <a:avLst/>
          </a:prstGeom>
          <a:noFill/>
        </p:spPr>
        <p:txBody>
          <a:bodyPr wrap="square" lIns="0" tIns="0" rIns="0" bIns="0" anchor="t">
            <a:spAutoFit/>
          </a:bodyPr>
          <a:lstStyle/>
          <a:p>
            <a:pPr algn="l"/>
            <a:r>
              <a:rPr sz="950" b="0" spc="100">
                <a:solidFill>
                  <a:srgbClr val="1B9AAA"/>
                </a:solidFill>
                <a:latin typeface="JetBrains Mono"/>
              </a:rPr>
              <a:t>SIMPLIFIED ON PURPOSE</a:t>
            </a:r>
          </a:p>
        </p:txBody>
      </p:sp>
      <p:sp>
        <p:nvSpPr>
          <p:cNvPr id="107" name="TextBox 106"/>
          <p:cNvSpPr txBox="1"/>
          <p:nvPr/>
        </p:nvSpPr>
        <p:spPr>
          <a:xfrm>
            <a:off x="6126480" y="3913632"/>
            <a:ext cx="2606040" cy="146304"/>
          </a:xfrm>
          <a:prstGeom prst="rect">
            <a:avLst/>
          </a:prstGeom>
          <a:noFill/>
        </p:spPr>
        <p:txBody>
          <a:bodyPr wrap="square" lIns="0" tIns="0" rIns="0" bIns="0" anchor="t">
            <a:spAutoFit/>
          </a:bodyPr>
          <a:lstStyle/>
          <a:p>
            <a:pPr algn="l"/>
            <a:r>
              <a:rPr sz="900" b="0">
                <a:solidFill>
                  <a:srgbClr val="14293D"/>
                </a:solidFill>
                <a:latin typeface="Roboto"/>
              </a:rPr>
              <a:t>· One token = many numbers</a:t>
            </a:r>
          </a:p>
        </p:txBody>
      </p:sp>
      <p:sp>
        <p:nvSpPr>
          <p:cNvPr id="108" name="TextBox 107"/>
          <p:cNvSpPr txBox="1"/>
          <p:nvPr/>
        </p:nvSpPr>
        <p:spPr>
          <a:xfrm>
            <a:off x="6126480" y="4059936"/>
            <a:ext cx="2606040" cy="146304"/>
          </a:xfrm>
          <a:prstGeom prst="rect">
            <a:avLst/>
          </a:prstGeom>
          <a:noFill/>
        </p:spPr>
        <p:txBody>
          <a:bodyPr wrap="square" lIns="0" tIns="0" rIns="0" bIns="0" anchor="t">
            <a:spAutoFit/>
          </a:bodyPr>
          <a:lstStyle/>
          <a:p>
            <a:pPr algn="l"/>
            <a:r>
              <a:rPr sz="900" b="0">
                <a:solidFill>
                  <a:srgbClr val="14293D"/>
                </a:solidFill>
                <a:latin typeface="Roboto"/>
              </a:rPr>
              <a:t>· Output is calculated across the whole vocabulary</a:t>
            </a:r>
          </a:p>
        </p:txBody>
      </p:sp>
      <p:sp>
        <p:nvSpPr>
          <p:cNvPr id="109" name="TextBox 108"/>
          <p:cNvSpPr txBox="1"/>
          <p:nvPr/>
        </p:nvSpPr>
        <p:spPr>
          <a:xfrm>
            <a:off x="6126480" y="4206240"/>
            <a:ext cx="2606040" cy="146304"/>
          </a:xfrm>
          <a:prstGeom prst="rect">
            <a:avLst/>
          </a:prstGeom>
          <a:noFill/>
        </p:spPr>
        <p:txBody>
          <a:bodyPr wrap="square" lIns="0" tIns="0" rIns="0" bIns="0" anchor="t">
            <a:spAutoFit/>
          </a:bodyPr>
          <a:lstStyle/>
          <a:p>
            <a:pPr algn="l"/>
            <a:r>
              <a:rPr sz="900" b="0">
                <a:solidFill>
                  <a:srgbClr val="14293D"/>
                </a:solidFill>
                <a:latin typeface="Roboto"/>
              </a:rPr>
              <a:t>· Each neuron also has a bias</a:t>
            </a:r>
          </a:p>
        </p:txBody>
      </p:sp>
      <p:sp>
        <p:nvSpPr>
          <p:cNvPr id="110" name="TextBox 109"/>
          <p:cNvSpPr txBox="1"/>
          <p:nvPr/>
        </p:nvSpPr>
        <p:spPr>
          <a:xfrm>
            <a:off x="6126480" y="4352544"/>
            <a:ext cx="2606040" cy="146304"/>
          </a:xfrm>
          <a:prstGeom prst="rect">
            <a:avLst/>
          </a:prstGeom>
          <a:noFill/>
        </p:spPr>
        <p:txBody>
          <a:bodyPr wrap="square" lIns="0" tIns="0" rIns="0" bIns="0" anchor="t">
            <a:spAutoFit/>
          </a:bodyPr>
          <a:lstStyle/>
          <a:p>
            <a:pPr algn="l"/>
            <a:r>
              <a:rPr sz="900" b="0">
                <a:solidFill>
                  <a:srgbClr val="14293D"/>
                </a:solidFill>
                <a:latin typeface="Roboto"/>
              </a:rPr>
              <a:t>· A real LLM is a Transformer</a:t>
            </a:r>
          </a:p>
        </p:txBody>
      </p:sp>
      <p:sp>
        <p:nvSpPr>
          <p:cNvPr id="111" name="Rectangle 110"/>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Deep learning is a method within machine learning, not a synonym for all AI.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FFFFFF"/>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FFFFFF"/>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FFFFFF"/>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0D1B2A"/>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PART 4 OF 5 · SINCE 2018</a:t>
            </a:r>
          </a:p>
        </p:txBody>
      </p:sp>
      <p:sp>
        <p:nvSpPr>
          <p:cNvPr id="47" name="section-genai"/>
          <p:cNvSpPr txBox="1"/>
          <p:nvPr/>
        </p:nvSpPr>
        <p:spPr>
          <a:xfrm>
            <a:off x="731520" y="1234440"/>
            <a:ext cx="3657600" cy="1554480"/>
          </a:xfrm>
          <a:prstGeom prst="rect">
            <a:avLst/>
          </a:prstGeom>
          <a:noFill/>
        </p:spPr>
        <p:txBody>
          <a:bodyPr wrap="square" lIns="0" tIns="0" rIns="0" bIns="0" anchor="t">
            <a:spAutoFit/>
          </a:bodyPr>
          <a:lstStyle/>
          <a:p>
            <a:pPr algn="l"/>
            <a:r>
              <a:rPr sz="4800" b="0">
                <a:solidFill>
                  <a:srgbClr val="FFFFFF"/>
                </a:solidFill>
                <a:latin typeface="Oswald"/>
              </a:rPr>
              <a:t>Generative</a:t>
            </a:r>
          </a:p>
          <a:p>
            <a:pPr algn="l"/>
            <a:r>
              <a:rPr sz="4800" b="0">
                <a:solidFill>
                  <a:srgbClr val="FFFFFF"/>
                </a:solidFill>
                <a:latin typeface="Oswald"/>
              </a:rPr>
              <a:t>AI</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AI that creates new content: text, images, audio and code.</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IN THIS PART</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LLMs · Transformer &amp; GPT · Tokens · Next‑word prediction · Pre‑training · Prompt · Context window · Hallucination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PART 4 · GENERATIVE AI</a:t>
            </a:r>
          </a:p>
        </p:txBody>
      </p:sp>
      <p:sp>
        <p:nvSpPr>
          <p:cNvPr id="4" name="slide-generative-ai"/>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From recognizing content to creating it</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dirty="0">
                <a:solidFill>
                  <a:srgbClr val="14293D"/>
                </a:solidFill>
                <a:latin typeface="Roboto"/>
              </a:rPr>
              <a:t>The same machinery, put to a new job: not naming what is there, but making something new.</a:t>
            </a:r>
          </a:p>
        </p:txBody>
      </p:sp>
      <p:sp>
        <p:nvSpPr>
          <p:cNvPr id="6" name="Rectangle 5"/>
          <p:cNvSpPr/>
          <p:nvPr/>
        </p:nvSpPr>
        <p:spPr>
          <a:xfrm>
            <a:off x="566928" y="1783080"/>
            <a:ext cx="4370832"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92807"/>
            <a:ext cx="2743200" cy="228600"/>
          </a:xfrm>
          <a:prstGeom prst="rect">
            <a:avLst/>
          </a:prstGeom>
          <a:noFill/>
        </p:spPr>
        <p:txBody>
          <a:bodyPr wrap="square" lIns="0" tIns="0" rIns="0" bIns="0" anchor="t">
            <a:spAutoFit/>
          </a:bodyPr>
          <a:lstStyle/>
          <a:p>
            <a:pPr algn="l"/>
            <a:r>
              <a:rPr sz="950" b="0" spc="100">
                <a:solidFill>
                  <a:srgbClr val="1B9AAA"/>
                </a:solidFill>
                <a:latin typeface="JetBrains Mono"/>
              </a:rPr>
              <a:t>RECOGNISE, PREDICT OR CLASSIFY</a:t>
            </a:r>
          </a:p>
        </p:txBody>
      </p:sp>
      <p:sp>
        <p:nvSpPr>
          <p:cNvPr id="9" name="Rounded Rectangle 8"/>
          <p:cNvSpPr/>
          <p:nvPr/>
        </p:nvSpPr>
        <p:spPr>
          <a:xfrm>
            <a:off x="777240" y="2176272"/>
            <a:ext cx="566928" cy="457200"/>
          </a:xfrm>
          <a:prstGeom prst="roundRect">
            <a:avLst>
              <a:gd name="adj" fmla="val 10000"/>
            </a:avLst>
          </a:prstGeom>
          <a:solidFill>
            <a:srgbClr val="D4ECE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185416"/>
            <a:ext cx="448056" cy="448056"/>
          </a:xfrm>
          <a:prstGeom prst="rect">
            <a:avLst/>
          </a:prstGeom>
        </p:spPr>
      </p:pic>
      <p:cxnSp>
        <p:nvCxnSpPr>
          <p:cNvPr id="11" name="Connector 10"/>
          <p:cNvCxnSpPr/>
          <p:nvPr/>
        </p:nvCxnSpPr>
        <p:spPr>
          <a:xfrm>
            <a:off x="1389888" y="2404872"/>
            <a:ext cx="329184" cy="0"/>
          </a:xfrm>
          <a:prstGeom prst="line">
            <a:avLst/>
          </a:prstGeom>
          <a:ln w="12700">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764792" y="2249424"/>
            <a:ext cx="777240" cy="310896"/>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FFFFFF"/>
                </a:solidFill>
                <a:latin typeface="JetBrains Mono"/>
              </a:rPr>
              <a:t>Model</a:t>
            </a:r>
          </a:p>
        </p:txBody>
      </p:sp>
      <p:cxnSp>
        <p:nvCxnSpPr>
          <p:cNvPr id="13" name="Connector 12"/>
          <p:cNvCxnSpPr/>
          <p:nvPr/>
        </p:nvCxnSpPr>
        <p:spPr>
          <a:xfrm>
            <a:off x="2587752" y="2404872"/>
            <a:ext cx="329184" cy="0"/>
          </a:xfrm>
          <a:prstGeom prst="line">
            <a:avLst/>
          </a:prstGeom>
          <a:ln w="12700">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62656" y="2249424"/>
            <a:ext cx="960120" cy="310896"/>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 · 92 %</a:t>
            </a:r>
          </a:p>
        </p:txBody>
      </p:sp>
      <p:sp>
        <p:nvSpPr>
          <p:cNvPr id="15" name="TextBox 14"/>
          <p:cNvSpPr txBox="1"/>
          <p:nvPr/>
        </p:nvSpPr>
        <p:spPr>
          <a:xfrm>
            <a:off x="2953512" y="2642616"/>
            <a:ext cx="1335024" cy="155448"/>
          </a:xfrm>
          <a:prstGeom prst="rect">
            <a:avLst/>
          </a:prstGeom>
          <a:noFill/>
        </p:spPr>
        <p:txBody>
          <a:bodyPr wrap="square" lIns="0" tIns="0" rIns="0" bIns="0" anchor="t">
            <a:spAutoFit/>
          </a:bodyPr>
          <a:lstStyle/>
          <a:p>
            <a:pPr algn="l"/>
            <a:r>
              <a:rPr sz="1000" b="0">
                <a:solidFill>
                  <a:srgbClr val="6B7B8C"/>
                </a:solidFill>
                <a:latin typeface="Roboto"/>
              </a:rPr>
              <a:t>The answer is a label.</a:t>
            </a:r>
          </a:p>
        </p:txBody>
      </p:sp>
      <p:cxnSp>
        <p:nvCxnSpPr>
          <p:cNvPr id="16" name="Connector 15"/>
          <p:cNvCxnSpPr/>
          <p:nvPr/>
        </p:nvCxnSpPr>
        <p:spPr>
          <a:xfrm>
            <a:off x="777240" y="3072384"/>
            <a:ext cx="3931920"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77240" y="3200400"/>
            <a:ext cx="2743200" cy="228600"/>
          </a:xfrm>
          <a:prstGeom prst="rect">
            <a:avLst/>
          </a:prstGeom>
          <a:noFill/>
        </p:spPr>
        <p:txBody>
          <a:bodyPr wrap="square" lIns="0" tIns="0" rIns="0" bIns="0" anchor="t">
            <a:spAutoFit/>
          </a:bodyPr>
          <a:lstStyle/>
          <a:p>
            <a:pPr algn="l"/>
            <a:r>
              <a:rPr sz="950" b="0" spc="100">
                <a:solidFill>
                  <a:srgbClr val="1B9AAA"/>
                </a:solidFill>
                <a:latin typeface="JetBrains Mono"/>
              </a:rPr>
              <a:t>GENERATE</a:t>
            </a:r>
          </a:p>
        </p:txBody>
      </p:sp>
      <p:sp>
        <p:nvSpPr>
          <p:cNvPr id="18" name="Rounded Rectangle 17"/>
          <p:cNvSpPr/>
          <p:nvPr/>
        </p:nvSpPr>
        <p:spPr>
          <a:xfrm>
            <a:off x="777240" y="3511296"/>
            <a:ext cx="1371600" cy="310896"/>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“Write a summary …”</a:t>
            </a:r>
          </a:p>
        </p:txBody>
      </p:sp>
      <p:cxnSp>
        <p:nvCxnSpPr>
          <p:cNvPr id="19" name="Connector 18"/>
          <p:cNvCxnSpPr/>
          <p:nvPr/>
        </p:nvCxnSpPr>
        <p:spPr>
          <a:xfrm>
            <a:off x="2194560" y="3666744"/>
            <a:ext cx="329184" cy="0"/>
          </a:xfrm>
          <a:prstGeom prst="line">
            <a:avLst/>
          </a:prstGeom>
          <a:ln w="12700">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569464" y="3511296"/>
            <a:ext cx="777240" cy="310896"/>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FFFFFF"/>
                </a:solidFill>
                <a:latin typeface="JetBrains Mono"/>
              </a:rPr>
              <a:t>Model</a:t>
            </a:r>
          </a:p>
        </p:txBody>
      </p:sp>
      <p:cxnSp>
        <p:nvCxnSpPr>
          <p:cNvPr id="21" name="Connector 20"/>
          <p:cNvCxnSpPr/>
          <p:nvPr/>
        </p:nvCxnSpPr>
        <p:spPr>
          <a:xfrm>
            <a:off x="3392424" y="3666744"/>
            <a:ext cx="329184" cy="0"/>
          </a:xfrm>
          <a:prstGeom prst="line">
            <a:avLst/>
          </a:prstGeom>
          <a:ln w="12700">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767328" y="3493008"/>
            <a:ext cx="914400" cy="64008"/>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767328" y="3611879"/>
            <a:ext cx="777240" cy="64008"/>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767328" y="3730752"/>
            <a:ext cx="914400" cy="64008"/>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767328" y="3849624"/>
            <a:ext cx="548640" cy="64008"/>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767328" y="3977639"/>
            <a:ext cx="1069848" cy="310896"/>
          </a:xfrm>
          <a:prstGeom prst="rect">
            <a:avLst/>
          </a:prstGeom>
          <a:noFill/>
        </p:spPr>
        <p:txBody>
          <a:bodyPr wrap="square" lIns="0" tIns="0" rIns="0" bIns="0" anchor="t">
            <a:spAutoFit/>
          </a:bodyPr>
          <a:lstStyle/>
          <a:p>
            <a:pPr algn="l"/>
            <a:r>
              <a:rPr sz="1000" b="0">
                <a:solidFill>
                  <a:srgbClr val="6B7B8C"/>
                </a:solidFill>
                <a:latin typeface="Roboto"/>
              </a:rPr>
              <a:t>The answer is new content.</a:t>
            </a:r>
          </a:p>
        </p:txBody>
      </p:sp>
      <p:sp>
        <p:nvSpPr>
          <p:cNvPr id="27" name="Rectangle 26"/>
          <p:cNvSpPr/>
          <p:nvPr/>
        </p:nvSpPr>
        <p:spPr>
          <a:xfrm>
            <a:off x="5120640" y="1783080"/>
            <a:ext cx="3584448"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120640" y="1783080"/>
            <a:ext cx="54864" cy="274320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30952" y="1892807"/>
            <a:ext cx="2743200" cy="228600"/>
          </a:xfrm>
          <a:prstGeom prst="rect">
            <a:avLst/>
          </a:prstGeom>
          <a:noFill/>
        </p:spPr>
        <p:txBody>
          <a:bodyPr wrap="square" lIns="0" tIns="0" rIns="0" bIns="0" anchor="t">
            <a:spAutoFit/>
          </a:bodyPr>
          <a:lstStyle/>
          <a:p>
            <a:pPr algn="l"/>
            <a:r>
              <a:rPr sz="950" b="0" spc="100">
                <a:solidFill>
                  <a:srgbClr val="1B9AAA"/>
                </a:solidFill>
                <a:latin typeface="JetBrains Mono"/>
              </a:rPr>
              <a:t>DIFFERENT DOMAINS OF GENERATIVE AI</a:t>
            </a:r>
          </a:p>
        </p:txBody>
      </p:sp>
      <p:sp>
        <p:nvSpPr>
          <p:cNvPr id="30" name="Rounded Rectangle 29"/>
          <p:cNvSpPr/>
          <p:nvPr/>
        </p:nvSpPr>
        <p:spPr>
          <a:xfrm>
            <a:off x="5394960" y="2834640"/>
            <a:ext cx="1325880" cy="548640"/>
          </a:xfrm>
          <a:prstGeom prst="roundRect">
            <a:avLst>
              <a:gd name="adj" fmla="val 10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94960" y="2916936"/>
            <a:ext cx="1325880" cy="411480"/>
          </a:xfrm>
          <a:prstGeom prst="rect">
            <a:avLst/>
          </a:prstGeom>
          <a:noFill/>
        </p:spPr>
        <p:txBody>
          <a:bodyPr wrap="square" lIns="0" tIns="0" rIns="0" bIns="0" anchor="t">
            <a:spAutoFit/>
          </a:bodyPr>
          <a:lstStyle/>
          <a:p>
            <a:pPr algn="ctr"/>
            <a:r>
              <a:rPr sz="1200" b="0">
                <a:solidFill>
                  <a:srgbClr val="FFFFFF"/>
                </a:solidFill>
                <a:latin typeface="Oswald"/>
              </a:rPr>
              <a:t>Generative</a:t>
            </a:r>
          </a:p>
          <a:p>
            <a:pPr algn="ctr"/>
            <a:r>
              <a:rPr sz="1200" b="0">
                <a:solidFill>
                  <a:srgbClr val="FFFFFF"/>
                </a:solidFill>
                <a:latin typeface="Oswald"/>
              </a:rPr>
              <a:t>AI</a:t>
            </a:r>
          </a:p>
        </p:txBody>
      </p:sp>
      <p:cxnSp>
        <p:nvCxnSpPr>
          <p:cNvPr id="32" name="Connector 31"/>
          <p:cNvCxnSpPr/>
          <p:nvPr/>
        </p:nvCxnSpPr>
        <p:spPr>
          <a:xfrm>
            <a:off x="6720840" y="3108960"/>
            <a:ext cx="228600" cy="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949440" y="2432304"/>
            <a:ext cx="0" cy="164592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949440" y="2432304"/>
            <a:ext cx="228600" cy="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178040" y="2240280"/>
            <a:ext cx="1371600" cy="384048"/>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Text  (LLM)</a:t>
            </a:r>
          </a:p>
        </p:txBody>
      </p:sp>
      <p:cxnSp>
        <p:nvCxnSpPr>
          <p:cNvPr id="36" name="Connector 35"/>
          <p:cNvCxnSpPr/>
          <p:nvPr/>
        </p:nvCxnSpPr>
        <p:spPr>
          <a:xfrm>
            <a:off x="6949440" y="2980944"/>
            <a:ext cx="228600" cy="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178040" y="2788920"/>
            <a:ext cx="1371600" cy="384048"/>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Images</a:t>
            </a:r>
          </a:p>
        </p:txBody>
      </p:sp>
      <p:cxnSp>
        <p:nvCxnSpPr>
          <p:cNvPr id="38" name="Connector 37"/>
          <p:cNvCxnSpPr/>
          <p:nvPr/>
        </p:nvCxnSpPr>
        <p:spPr>
          <a:xfrm>
            <a:off x="6949440" y="3529584"/>
            <a:ext cx="228600" cy="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178040" y="3337560"/>
            <a:ext cx="1371600" cy="384048"/>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Audio</a:t>
            </a:r>
          </a:p>
        </p:txBody>
      </p:sp>
      <p:cxnSp>
        <p:nvCxnSpPr>
          <p:cNvPr id="40" name="Connector 39"/>
          <p:cNvCxnSpPr/>
          <p:nvPr/>
        </p:nvCxnSpPr>
        <p:spPr>
          <a:xfrm>
            <a:off x="6949440" y="4078224"/>
            <a:ext cx="228600" cy="0"/>
          </a:xfrm>
          <a:prstGeom prst="line">
            <a:avLst/>
          </a:prstGeom>
          <a:ln w="12700">
            <a:solidFill>
              <a:srgbClr val="1B9AAA"/>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7178040" y="3886200"/>
            <a:ext cx="1371600" cy="384048"/>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Video</a:t>
            </a:r>
          </a:p>
        </p:txBody>
      </p:sp>
      <p:sp>
        <p:nvSpPr>
          <p:cNvPr id="42" name="Rectangle 41"/>
          <p:cNvSpPr/>
          <p:nvPr/>
        </p:nvSpPr>
        <p:spPr>
          <a:xfrm>
            <a:off x="566928" y="4672584"/>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13232" y="4700016"/>
            <a:ext cx="8138160" cy="169277"/>
          </a:xfrm>
          <a:prstGeom prst="rect">
            <a:avLst/>
          </a:prstGeom>
          <a:noFill/>
        </p:spPr>
        <p:txBody>
          <a:bodyPr wrap="square" lIns="0" tIns="0" rIns="0" bIns="0" anchor="t">
            <a:spAutoFit/>
          </a:bodyPr>
          <a:lstStyle/>
          <a:p>
            <a:pPr algn="l"/>
            <a:r>
              <a:rPr lang="de-DE" sz="1100" b="0" dirty="0">
                <a:solidFill>
                  <a:srgbClr val="0D1B2A"/>
                </a:solidFill>
                <a:latin typeface="Roboto"/>
              </a:rPr>
              <a:t>An </a:t>
            </a:r>
            <a:r>
              <a:rPr lang="de-DE" sz="1100" b="0" dirty="0">
                <a:solidFill>
                  <a:srgbClr val="01D1CC"/>
                </a:solidFill>
                <a:latin typeface="Roboto"/>
              </a:rPr>
              <a:t>LLM</a:t>
            </a:r>
            <a:r>
              <a:rPr lang="de-DE" sz="1100" b="0" dirty="0">
                <a:solidFill>
                  <a:srgbClr val="0D1B2A"/>
                </a:solidFill>
                <a:latin typeface="Roboto"/>
              </a:rPr>
              <a:t> </a:t>
            </a:r>
            <a:r>
              <a:rPr lang="de-DE" sz="1100" b="0" dirty="0" err="1">
                <a:solidFill>
                  <a:srgbClr val="0D1B2A"/>
                </a:solidFill>
                <a:latin typeface="Roboto"/>
              </a:rPr>
              <a:t>is</a:t>
            </a:r>
            <a:r>
              <a:rPr lang="de-DE" sz="1100" b="0" dirty="0">
                <a:solidFill>
                  <a:srgbClr val="0D1B2A"/>
                </a:solidFill>
                <a:latin typeface="Roboto"/>
              </a:rPr>
              <a:t> </a:t>
            </a:r>
            <a:r>
              <a:rPr lang="de-DE" sz="1100" b="0" dirty="0" err="1">
                <a:solidFill>
                  <a:srgbClr val="0D1B2A"/>
                </a:solidFill>
                <a:latin typeface="Roboto"/>
              </a:rPr>
              <a:t>one</a:t>
            </a:r>
            <a:r>
              <a:rPr lang="de-DE" sz="1100" b="0" dirty="0">
                <a:solidFill>
                  <a:srgbClr val="0D1B2A"/>
                </a:solidFill>
                <a:latin typeface="Roboto"/>
              </a:rPr>
              <a:t> </a:t>
            </a:r>
            <a:r>
              <a:rPr lang="de-DE" sz="1100" b="0" dirty="0" err="1">
                <a:solidFill>
                  <a:srgbClr val="0D1B2A"/>
                </a:solidFill>
                <a:latin typeface="Roboto"/>
              </a:rPr>
              <a:t>kind</a:t>
            </a:r>
            <a:r>
              <a:rPr lang="de-DE" sz="1100" b="0" dirty="0">
                <a:solidFill>
                  <a:srgbClr val="0D1B2A"/>
                </a:solidFill>
                <a:latin typeface="Roboto"/>
              </a:rPr>
              <a:t> of generative </a:t>
            </a:r>
            <a:r>
              <a:rPr lang="de-DE" sz="1100" b="0" dirty="0" err="1">
                <a:solidFill>
                  <a:srgbClr val="0D1B2A"/>
                </a:solidFill>
                <a:latin typeface="Roboto"/>
              </a:rPr>
              <a:t>model</a:t>
            </a:r>
            <a:r>
              <a:rPr lang="de-DE" sz="1100" b="0" dirty="0">
                <a:solidFill>
                  <a:srgbClr val="0D1B2A"/>
                </a:solidFill>
                <a:latin typeface="Roboto"/>
              </a:rPr>
              <a:t>. GenAI </a:t>
            </a:r>
            <a:r>
              <a:rPr lang="de-DE" sz="1100" b="0" dirty="0" err="1">
                <a:solidFill>
                  <a:srgbClr val="0D1B2A"/>
                </a:solidFill>
                <a:latin typeface="Roboto"/>
              </a:rPr>
              <a:t>is</a:t>
            </a:r>
            <a:r>
              <a:rPr lang="de-DE" sz="1100" b="0" dirty="0">
                <a:solidFill>
                  <a:srgbClr val="0D1B2A"/>
                </a:solidFill>
                <a:latin typeface="Roboto"/>
              </a:rPr>
              <a:t> </a:t>
            </a:r>
            <a:r>
              <a:rPr lang="de-DE" sz="1100" b="0" dirty="0" err="1">
                <a:solidFill>
                  <a:srgbClr val="0D1B2A"/>
                </a:solidFill>
                <a:latin typeface="Roboto"/>
              </a:rPr>
              <a:t>characterized</a:t>
            </a:r>
            <a:r>
              <a:rPr lang="de-DE" sz="1100" b="0" dirty="0">
                <a:solidFill>
                  <a:srgbClr val="0D1B2A"/>
                </a:solidFill>
                <a:latin typeface="Roboto"/>
              </a:rPr>
              <a:t> by </a:t>
            </a:r>
            <a:r>
              <a:rPr lang="de-DE" sz="1100" b="0" dirty="0" err="1">
                <a:solidFill>
                  <a:srgbClr val="0D1B2A"/>
                </a:solidFill>
                <a:latin typeface="Roboto"/>
              </a:rPr>
              <a:t>creating</a:t>
            </a:r>
            <a:r>
              <a:rPr lang="de-DE" sz="1100" b="0" dirty="0">
                <a:solidFill>
                  <a:srgbClr val="0D1B2A"/>
                </a:solidFill>
                <a:latin typeface="Roboto"/>
              </a:rPr>
              <a:t> </a:t>
            </a:r>
            <a:r>
              <a:rPr lang="de-DE" sz="1100" b="0" dirty="0" err="1">
                <a:solidFill>
                  <a:srgbClr val="0D1B2A"/>
                </a:solidFill>
                <a:latin typeface="Roboto"/>
              </a:rPr>
              <a:t>content</a:t>
            </a:r>
            <a:r>
              <a:rPr lang="de-DE" sz="1100" b="0" dirty="0">
                <a:solidFill>
                  <a:srgbClr val="0D1B2A"/>
                </a:solidFill>
                <a:latin typeface="Roboto"/>
              </a:rPr>
              <a:t> of </a:t>
            </a:r>
            <a:r>
              <a:rPr lang="de-DE" sz="1100" b="0" dirty="0" err="1">
                <a:solidFill>
                  <a:srgbClr val="0D1B2A"/>
                </a:solidFill>
                <a:latin typeface="Roboto"/>
              </a:rPr>
              <a:t>any</a:t>
            </a:r>
            <a:r>
              <a:rPr lang="de-DE" sz="1100" b="0" dirty="0">
                <a:solidFill>
                  <a:srgbClr val="0D1B2A"/>
                </a:solidFill>
                <a:latin typeface="Roboto"/>
              </a:rPr>
              <a:t> </a:t>
            </a:r>
            <a:r>
              <a:rPr lang="de-DE" sz="1100" b="0" dirty="0" err="1">
                <a:solidFill>
                  <a:srgbClr val="0D1B2A"/>
                </a:solidFill>
                <a:latin typeface="Roboto"/>
              </a:rPr>
              <a:t>kind</a:t>
            </a:r>
            <a:r>
              <a:rPr lang="de-DE" sz="1100" b="0" dirty="0">
                <a:solidFill>
                  <a:srgbClr val="0D1B2A"/>
                </a:solidFill>
                <a:latin typeface="Roboto"/>
              </a:rPr>
              <a:t>, </a:t>
            </a:r>
            <a:r>
              <a:rPr lang="de-DE" sz="1100" b="0" dirty="0" err="1">
                <a:solidFill>
                  <a:srgbClr val="0D1B2A"/>
                </a:solidFill>
                <a:latin typeface="Roboto"/>
              </a:rPr>
              <a:t>including</a:t>
            </a:r>
            <a:r>
              <a:rPr lang="de-DE" sz="1100" b="0" dirty="0">
                <a:solidFill>
                  <a:srgbClr val="0D1B2A"/>
                </a:solidFill>
                <a:latin typeface="Roboto"/>
              </a:rPr>
              <a:t> </a:t>
            </a:r>
            <a:r>
              <a:rPr lang="de-DE" sz="1100" b="0" dirty="0" err="1">
                <a:solidFill>
                  <a:srgbClr val="0D1B2A"/>
                </a:solidFill>
                <a:latin typeface="Roboto"/>
              </a:rPr>
              <a:t>images</a:t>
            </a:r>
            <a:r>
              <a:rPr lang="de-DE" sz="1100" b="0" dirty="0">
                <a:solidFill>
                  <a:srgbClr val="0D1B2A"/>
                </a:solidFill>
                <a:latin typeface="Roboto"/>
              </a:rPr>
              <a:t>, </a:t>
            </a:r>
            <a:r>
              <a:rPr lang="de-DE" sz="1100" b="0" dirty="0" err="1">
                <a:solidFill>
                  <a:srgbClr val="0D1B2A"/>
                </a:solidFill>
                <a:latin typeface="Roboto"/>
              </a:rPr>
              <a:t>audio</a:t>
            </a:r>
            <a:r>
              <a:rPr lang="de-DE" sz="1100" b="0" dirty="0">
                <a:solidFill>
                  <a:srgbClr val="0D1B2A"/>
                </a:solidFill>
                <a:latin typeface="Roboto"/>
              </a:rPr>
              <a:t> and </a:t>
            </a:r>
            <a:r>
              <a:rPr lang="de-DE" sz="1100" b="0" dirty="0" err="1">
                <a:solidFill>
                  <a:srgbClr val="0D1B2A"/>
                </a:solidFill>
                <a:latin typeface="Roboto"/>
              </a:rPr>
              <a:t>video</a:t>
            </a:r>
            <a:r>
              <a:rPr lang="de-DE" sz="1100" b="0" dirty="0">
                <a:solidFill>
                  <a:srgbClr val="0D1B2A"/>
                </a:solidFill>
                <a:latin typeface="Roboto"/>
              </a:rPr>
              <a:t>.</a:t>
            </a:r>
            <a:endParaRPr sz="1100" b="0" dirty="0">
              <a:solidFill>
                <a:srgbClr val="0D1B2A"/>
              </a:solidFill>
              <a:latin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GENERATIVE AI · 2017–2018</a:t>
            </a:r>
          </a:p>
        </p:txBody>
      </p:sp>
      <p:sp>
        <p:nvSpPr>
          <p:cNvPr id="4" name="slide-transformer"/>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The engine for every LLM: Transformer Architecture</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A 2017 published neural-network architecture from Google lead to the first GPT model in 2018.</a:t>
            </a:r>
          </a:p>
        </p:txBody>
      </p:sp>
      <p:sp>
        <p:nvSpPr>
          <p:cNvPr id="6" name="Rectangle 5"/>
          <p:cNvSpPr/>
          <p:nvPr/>
        </p:nvSpPr>
        <p:spPr>
          <a:xfrm>
            <a:off x="566928" y="1783080"/>
            <a:ext cx="4005072"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74320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2286000" cy="228600"/>
          </a:xfrm>
          <a:prstGeom prst="rect">
            <a:avLst/>
          </a:prstGeom>
          <a:noFill/>
        </p:spPr>
        <p:txBody>
          <a:bodyPr wrap="square" lIns="0" tIns="0" rIns="0" bIns="0" anchor="t">
            <a:spAutoFit/>
          </a:bodyPr>
          <a:lstStyle/>
          <a:p>
            <a:pPr algn="l"/>
            <a:r>
              <a:rPr sz="950" b="0" spc="100">
                <a:solidFill>
                  <a:srgbClr val="06D6A0"/>
                </a:solidFill>
                <a:latin typeface="JetBrains Mono"/>
              </a:rPr>
              <a:t>2017 · GOOGLE</a:t>
            </a:r>
          </a:p>
        </p:txBody>
      </p:sp>
      <p:sp>
        <p:nvSpPr>
          <p:cNvPr id="9" name="TextBox 8"/>
          <p:cNvSpPr txBox="1"/>
          <p:nvPr/>
        </p:nvSpPr>
        <p:spPr>
          <a:xfrm>
            <a:off x="777240" y="2249424"/>
            <a:ext cx="3794759" cy="155448"/>
          </a:xfrm>
          <a:prstGeom prst="rect">
            <a:avLst/>
          </a:prstGeom>
          <a:noFill/>
        </p:spPr>
        <p:txBody>
          <a:bodyPr wrap="square" lIns="0" tIns="0" rIns="0" bIns="0" anchor="t">
            <a:spAutoFit/>
          </a:bodyPr>
          <a:lstStyle/>
          <a:p>
            <a:pPr algn="l"/>
            <a:r>
              <a:rPr sz="1000" b="0">
                <a:solidFill>
                  <a:srgbClr val="14293D"/>
                </a:solidFill>
                <a:latin typeface="Roboto"/>
              </a:rPr>
              <a:t>“Attention Is All You Need” introduces Transformer Architecture.</a:t>
            </a:r>
          </a:p>
        </p:txBody>
      </p:sp>
      <p:sp>
        <p:nvSpPr>
          <p:cNvPr id="10" name="Rectangle 9"/>
          <p:cNvSpPr/>
          <p:nvPr/>
        </p:nvSpPr>
        <p:spPr>
          <a:xfrm>
            <a:off x="4700016" y="1783080"/>
            <a:ext cx="4005072"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00016" y="1783080"/>
            <a:ext cx="54864" cy="27432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10328" y="1920240"/>
            <a:ext cx="2286000" cy="228600"/>
          </a:xfrm>
          <a:prstGeom prst="rect">
            <a:avLst/>
          </a:prstGeom>
          <a:noFill/>
        </p:spPr>
        <p:txBody>
          <a:bodyPr wrap="square" lIns="0" tIns="0" rIns="0" bIns="0" anchor="t">
            <a:spAutoFit/>
          </a:bodyPr>
          <a:lstStyle/>
          <a:p>
            <a:pPr algn="l"/>
            <a:r>
              <a:rPr sz="950" b="0" spc="100">
                <a:solidFill>
                  <a:srgbClr val="0D1B2A"/>
                </a:solidFill>
                <a:latin typeface="JetBrains Mono"/>
              </a:rPr>
              <a:t>2018 · OPENAI</a:t>
            </a:r>
          </a:p>
        </p:txBody>
      </p:sp>
      <p:sp>
        <p:nvSpPr>
          <p:cNvPr id="13" name="TextBox 12"/>
          <p:cNvSpPr txBox="1"/>
          <p:nvPr/>
        </p:nvSpPr>
        <p:spPr>
          <a:xfrm>
            <a:off x="4910328" y="2249424"/>
            <a:ext cx="3794759" cy="155448"/>
          </a:xfrm>
          <a:prstGeom prst="rect">
            <a:avLst/>
          </a:prstGeom>
          <a:noFill/>
        </p:spPr>
        <p:txBody>
          <a:bodyPr wrap="square" lIns="0" tIns="0" rIns="0" bIns="0" anchor="t">
            <a:spAutoFit/>
          </a:bodyPr>
          <a:lstStyle/>
          <a:p>
            <a:pPr algn="l"/>
            <a:r>
              <a:rPr sz="1000" b="0">
                <a:solidFill>
                  <a:srgbClr val="14293D"/>
                </a:solidFill>
                <a:latin typeface="Roboto"/>
              </a:rPr>
              <a:t>GPT-1: the first Generative Pre-trained Transformer.</a:t>
            </a:r>
          </a:p>
        </p:txBody>
      </p:sp>
      <p:sp>
        <p:nvSpPr>
          <p:cNvPr id="14" name="TextBox 13"/>
          <p:cNvSpPr txBox="1"/>
          <p:nvPr/>
        </p:nvSpPr>
        <p:spPr>
          <a:xfrm>
            <a:off x="777240" y="2633472"/>
            <a:ext cx="2743200" cy="228600"/>
          </a:xfrm>
          <a:prstGeom prst="rect">
            <a:avLst/>
          </a:prstGeom>
          <a:noFill/>
        </p:spPr>
        <p:txBody>
          <a:bodyPr wrap="square" lIns="0" tIns="0" rIns="0" bIns="0" anchor="t">
            <a:spAutoFit/>
          </a:bodyPr>
          <a:lstStyle/>
          <a:p>
            <a:pPr algn="l"/>
            <a:r>
              <a:rPr sz="950" b="0" spc="100">
                <a:solidFill>
                  <a:srgbClr val="1B9AAA"/>
                </a:solidFill>
                <a:latin typeface="JetBrains Mono"/>
              </a:rPr>
              <a:t>ATTENTION: THE CORE IDEA</a:t>
            </a:r>
          </a:p>
        </p:txBody>
      </p:sp>
      <p:sp>
        <p:nvSpPr>
          <p:cNvPr id="15" name="Rounded Rectangle 14"/>
          <p:cNvSpPr/>
          <p:nvPr/>
        </p:nvSpPr>
        <p:spPr>
          <a:xfrm>
            <a:off x="777240" y="2889504"/>
            <a:ext cx="356616"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The</a:t>
            </a:r>
          </a:p>
        </p:txBody>
      </p:sp>
      <p:sp>
        <p:nvSpPr>
          <p:cNvPr id="16" name="Rounded Rectangle 15"/>
          <p:cNvSpPr/>
          <p:nvPr/>
        </p:nvSpPr>
        <p:spPr>
          <a:xfrm>
            <a:off x="1188720" y="2889504"/>
            <a:ext cx="356616" cy="274320"/>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cat</a:t>
            </a:r>
          </a:p>
        </p:txBody>
      </p:sp>
      <p:sp>
        <p:nvSpPr>
          <p:cNvPr id="17" name="Rounded Rectangle 16"/>
          <p:cNvSpPr/>
          <p:nvPr/>
        </p:nvSpPr>
        <p:spPr>
          <a:xfrm>
            <a:off x="1600200" y="2889504"/>
            <a:ext cx="356616"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sat</a:t>
            </a:r>
          </a:p>
        </p:txBody>
      </p:sp>
      <p:sp>
        <p:nvSpPr>
          <p:cNvPr id="18" name="Rounded Rectangle 17"/>
          <p:cNvSpPr/>
          <p:nvPr/>
        </p:nvSpPr>
        <p:spPr>
          <a:xfrm>
            <a:off x="2011680" y="2889504"/>
            <a:ext cx="685800"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because</a:t>
            </a:r>
          </a:p>
        </p:txBody>
      </p:sp>
      <p:sp>
        <p:nvSpPr>
          <p:cNvPr id="19" name="Rounded Rectangle 18"/>
          <p:cNvSpPr/>
          <p:nvPr/>
        </p:nvSpPr>
        <p:spPr>
          <a:xfrm>
            <a:off x="2752344" y="2889504"/>
            <a:ext cx="274320"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JetBrains Mono"/>
              </a:rPr>
              <a:t>it</a:t>
            </a:r>
          </a:p>
        </p:txBody>
      </p:sp>
      <p:sp>
        <p:nvSpPr>
          <p:cNvPr id="20" name="Rounded Rectangle 19"/>
          <p:cNvSpPr/>
          <p:nvPr/>
        </p:nvSpPr>
        <p:spPr>
          <a:xfrm>
            <a:off x="3081528" y="2889504"/>
            <a:ext cx="356616"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8FA6B2"/>
                </a:solidFill>
                <a:latin typeface="JetBrains Mono"/>
              </a:rPr>
              <a:t>was</a:t>
            </a:r>
          </a:p>
        </p:txBody>
      </p:sp>
      <p:sp>
        <p:nvSpPr>
          <p:cNvPr id="21" name="Rounded Rectangle 20"/>
          <p:cNvSpPr/>
          <p:nvPr/>
        </p:nvSpPr>
        <p:spPr>
          <a:xfrm>
            <a:off x="3493008" y="2889504"/>
            <a:ext cx="521207"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8FA6B2"/>
                </a:solidFill>
                <a:latin typeface="JetBrains Mono"/>
              </a:rPr>
              <a:t>tired</a:t>
            </a:r>
          </a:p>
        </p:txBody>
      </p:sp>
      <p:cxnSp>
        <p:nvCxnSpPr>
          <p:cNvPr id="22" name="Connector 21"/>
          <p:cNvCxnSpPr/>
          <p:nvPr/>
        </p:nvCxnSpPr>
        <p:spPr>
          <a:xfrm flipH="1" flipV="1">
            <a:off x="955547" y="3163824"/>
            <a:ext cx="699517" cy="219456"/>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367028" y="3163824"/>
            <a:ext cx="288036" cy="219456"/>
          </a:xfrm>
          <a:prstGeom prst="line">
            <a:avLst/>
          </a:prstGeom>
          <a:ln w="19050">
            <a:solidFill>
              <a:srgbClr val="06D6A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655064" y="3163824"/>
            <a:ext cx="123444" cy="219456"/>
          </a:xfrm>
          <a:prstGeom prst="line">
            <a:avLst/>
          </a:prstGeom>
          <a:ln w="9525">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655064" y="3163824"/>
            <a:ext cx="699516" cy="219456"/>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655064" y="3163824"/>
            <a:ext cx="1234440" cy="219456"/>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271016" y="3383280"/>
            <a:ext cx="768096"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FFFFFF"/>
                </a:solidFill>
                <a:latin typeface="JetBrains Mono"/>
              </a:rPr>
              <a:t>“it” = ?</a:t>
            </a:r>
          </a:p>
        </p:txBody>
      </p:sp>
      <p:sp>
        <p:nvSpPr>
          <p:cNvPr id="28" name="TextBox 27"/>
          <p:cNvSpPr txBox="1"/>
          <p:nvPr/>
        </p:nvSpPr>
        <p:spPr>
          <a:xfrm>
            <a:off x="777240" y="3767328"/>
            <a:ext cx="3593591" cy="585216"/>
          </a:xfrm>
          <a:prstGeom prst="rect">
            <a:avLst/>
          </a:prstGeom>
          <a:noFill/>
        </p:spPr>
        <p:txBody>
          <a:bodyPr wrap="square" lIns="0" tIns="0" rIns="0" bIns="0" anchor="t">
            <a:spAutoFit/>
          </a:bodyPr>
          <a:lstStyle/>
          <a:p>
            <a:pPr algn="l"/>
            <a:r>
              <a:rPr sz="950" b="0">
                <a:solidFill>
                  <a:srgbClr val="14293D"/>
                </a:solidFill>
                <a:latin typeface="Roboto"/>
              </a:rPr>
              <a:t>The model perceives “it” as a weighted combination of itself and all of the words before it. A thicker line means more attention, so the word “cat” matters most for the word “it” — the mechanism that made Transformers so good at language.</a:t>
            </a:r>
          </a:p>
        </p:txBody>
      </p:sp>
      <p:sp>
        <p:nvSpPr>
          <p:cNvPr id="29" name="Rounded Rectangle 28"/>
          <p:cNvSpPr/>
          <p:nvPr/>
        </p:nvSpPr>
        <p:spPr>
          <a:xfrm>
            <a:off x="4910328" y="2596896"/>
            <a:ext cx="3584448" cy="484632"/>
          </a:xfrm>
          <a:prstGeom prst="roundRect">
            <a:avLst>
              <a:gd name="adj" fmla="val 13207"/>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910328" y="2596896"/>
            <a:ext cx="36576" cy="48463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038344" y="2679191"/>
            <a:ext cx="320040" cy="3200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38344" y="2679191"/>
            <a:ext cx="320040" cy="301752"/>
          </a:xfrm>
          <a:prstGeom prst="rect">
            <a:avLst/>
          </a:prstGeom>
          <a:noFill/>
        </p:spPr>
        <p:txBody>
          <a:bodyPr wrap="square" lIns="0" tIns="0" rIns="0" bIns="0" anchor="ctr">
            <a:spAutoFit/>
          </a:bodyPr>
          <a:lstStyle/>
          <a:p>
            <a:pPr algn="ctr"/>
            <a:r>
              <a:rPr sz="1900" b="0">
                <a:solidFill>
                  <a:srgbClr val="1B9AAA"/>
                </a:solidFill>
                <a:latin typeface="Oswald"/>
              </a:rPr>
              <a:t>G</a:t>
            </a:r>
          </a:p>
        </p:txBody>
      </p:sp>
      <p:sp>
        <p:nvSpPr>
          <p:cNvPr id="33" name="TextBox 32"/>
          <p:cNvSpPr txBox="1"/>
          <p:nvPr/>
        </p:nvSpPr>
        <p:spPr>
          <a:xfrm>
            <a:off x="5468112" y="2660903"/>
            <a:ext cx="2194560" cy="201168"/>
          </a:xfrm>
          <a:prstGeom prst="rect">
            <a:avLst/>
          </a:prstGeom>
          <a:noFill/>
        </p:spPr>
        <p:txBody>
          <a:bodyPr wrap="none" lIns="0" tIns="0" rIns="0" bIns="0">
            <a:spAutoFit/>
          </a:bodyPr>
          <a:lstStyle/>
          <a:p>
            <a:pPr algn="l"/>
            <a:r>
              <a:rPr sz="1200">
                <a:solidFill>
                  <a:srgbClr val="0D1B2A"/>
                </a:solidFill>
                <a:latin typeface="Oswald"/>
              </a:rPr>
              <a:t>Generative</a:t>
            </a:r>
          </a:p>
        </p:txBody>
      </p:sp>
      <p:sp>
        <p:nvSpPr>
          <p:cNvPr id="34" name="TextBox 33"/>
          <p:cNvSpPr txBox="1"/>
          <p:nvPr/>
        </p:nvSpPr>
        <p:spPr>
          <a:xfrm>
            <a:off x="5468112" y="2852928"/>
            <a:ext cx="2907791" cy="182880"/>
          </a:xfrm>
          <a:prstGeom prst="rect">
            <a:avLst/>
          </a:prstGeom>
          <a:noFill/>
        </p:spPr>
        <p:txBody>
          <a:bodyPr wrap="square" lIns="0" tIns="0" rIns="0" bIns="0" anchor="t">
            <a:spAutoFit/>
          </a:bodyPr>
          <a:lstStyle/>
          <a:p>
            <a:pPr algn="l"/>
            <a:r>
              <a:rPr sz="900" b="0">
                <a:solidFill>
                  <a:srgbClr val="6B7B8C"/>
                </a:solidFill>
                <a:latin typeface="Roboto"/>
              </a:rPr>
              <a:t>Creates new text, not just labels or scores.</a:t>
            </a:r>
          </a:p>
        </p:txBody>
      </p:sp>
      <p:sp>
        <p:nvSpPr>
          <p:cNvPr id="35" name="Rounded Rectangle 34"/>
          <p:cNvSpPr/>
          <p:nvPr/>
        </p:nvSpPr>
        <p:spPr>
          <a:xfrm>
            <a:off x="4910328" y="3209544"/>
            <a:ext cx="3584448" cy="484632"/>
          </a:xfrm>
          <a:prstGeom prst="roundRect">
            <a:avLst>
              <a:gd name="adj" fmla="val 13207"/>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910328" y="3209544"/>
            <a:ext cx="36576" cy="48463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5038344" y="3291839"/>
            <a:ext cx="320040" cy="3200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38344" y="3291839"/>
            <a:ext cx="320040" cy="301752"/>
          </a:xfrm>
          <a:prstGeom prst="rect">
            <a:avLst/>
          </a:prstGeom>
          <a:noFill/>
        </p:spPr>
        <p:txBody>
          <a:bodyPr wrap="square" lIns="0" tIns="0" rIns="0" bIns="0" anchor="ctr">
            <a:spAutoFit/>
          </a:bodyPr>
          <a:lstStyle/>
          <a:p>
            <a:pPr algn="ctr"/>
            <a:r>
              <a:rPr sz="1900" b="0">
                <a:solidFill>
                  <a:srgbClr val="1B9AAA"/>
                </a:solidFill>
                <a:latin typeface="Oswald"/>
              </a:rPr>
              <a:t>P</a:t>
            </a:r>
          </a:p>
        </p:txBody>
      </p:sp>
      <p:sp>
        <p:nvSpPr>
          <p:cNvPr id="39" name="TextBox 38"/>
          <p:cNvSpPr txBox="1"/>
          <p:nvPr/>
        </p:nvSpPr>
        <p:spPr>
          <a:xfrm>
            <a:off x="5468112" y="3273551"/>
            <a:ext cx="2194560" cy="201168"/>
          </a:xfrm>
          <a:prstGeom prst="rect">
            <a:avLst/>
          </a:prstGeom>
          <a:noFill/>
        </p:spPr>
        <p:txBody>
          <a:bodyPr wrap="none" lIns="0" tIns="0" rIns="0" bIns="0">
            <a:spAutoFit/>
          </a:bodyPr>
          <a:lstStyle/>
          <a:p>
            <a:pPr algn="l"/>
            <a:r>
              <a:rPr sz="1200">
                <a:solidFill>
                  <a:srgbClr val="0D1B2A"/>
                </a:solidFill>
                <a:latin typeface="Oswald"/>
              </a:rPr>
              <a:t>Pre-trained</a:t>
            </a:r>
          </a:p>
        </p:txBody>
      </p:sp>
      <p:sp>
        <p:nvSpPr>
          <p:cNvPr id="40" name="TextBox 39"/>
          <p:cNvSpPr txBox="1"/>
          <p:nvPr/>
        </p:nvSpPr>
        <p:spPr>
          <a:xfrm>
            <a:off x="5468112" y="3465576"/>
            <a:ext cx="2907791" cy="182880"/>
          </a:xfrm>
          <a:prstGeom prst="rect">
            <a:avLst/>
          </a:prstGeom>
          <a:noFill/>
        </p:spPr>
        <p:txBody>
          <a:bodyPr wrap="square" lIns="0" tIns="0" rIns="0" bIns="0" anchor="t">
            <a:spAutoFit/>
          </a:bodyPr>
          <a:lstStyle/>
          <a:p>
            <a:pPr algn="l"/>
            <a:r>
              <a:rPr sz="900" b="0">
                <a:solidFill>
                  <a:srgbClr val="6B7B8C"/>
                </a:solidFill>
                <a:latin typeface="Roboto"/>
              </a:rPr>
              <a:t>Learn from huge amounts of text, before anyone uses it.</a:t>
            </a:r>
          </a:p>
        </p:txBody>
      </p:sp>
      <p:sp>
        <p:nvSpPr>
          <p:cNvPr id="41" name="Rounded Rectangle 40"/>
          <p:cNvSpPr/>
          <p:nvPr/>
        </p:nvSpPr>
        <p:spPr>
          <a:xfrm>
            <a:off x="4910328" y="3822191"/>
            <a:ext cx="3584448" cy="484632"/>
          </a:xfrm>
          <a:prstGeom prst="roundRect">
            <a:avLst>
              <a:gd name="adj" fmla="val 13207"/>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910328" y="3822191"/>
            <a:ext cx="36576" cy="48463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5038344" y="3904487"/>
            <a:ext cx="320040" cy="32004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38344" y="3904487"/>
            <a:ext cx="320040" cy="301752"/>
          </a:xfrm>
          <a:prstGeom prst="rect">
            <a:avLst/>
          </a:prstGeom>
          <a:noFill/>
        </p:spPr>
        <p:txBody>
          <a:bodyPr wrap="square" lIns="0" tIns="0" rIns="0" bIns="0" anchor="ctr">
            <a:spAutoFit/>
          </a:bodyPr>
          <a:lstStyle/>
          <a:p>
            <a:pPr algn="ctr"/>
            <a:r>
              <a:rPr sz="1900" b="0">
                <a:solidFill>
                  <a:srgbClr val="1B9AAA"/>
                </a:solidFill>
                <a:latin typeface="Oswald"/>
              </a:rPr>
              <a:t>T</a:t>
            </a:r>
          </a:p>
        </p:txBody>
      </p:sp>
      <p:sp>
        <p:nvSpPr>
          <p:cNvPr id="45" name="TextBox 44"/>
          <p:cNvSpPr txBox="1"/>
          <p:nvPr/>
        </p:nvSpPr>
        <p:spPr>
          <a:xfrm>
            <a:off x="5468112" y="3886200"/>
            <a:ext cx="2194560" cy="201168"/>
          </a:xfrm>
          <a:prstGeom prst="rect">
            <a:avLst/>
          </a:prstGeom>
          <a:noFill/>
        </p:spPr>
        <p:txBody>
          <a:bodyPr wrap="none" lIns="0" tIns="0" rIns="0" bIns="0">
            <a:spAutoFit/>
          </a:bodyPr>
          <a:lstStyle/>
          <a:p>
            <a:pPr algn="l"/>
            <a:r>
              <a:rPr sz="1200">
                <a:solidFill>
                  <a:srgbClr val="0D1B2A"/>
                </a:solidFill>
                <a:latin typeface="Oswald"/>
              </a:rPr>
              <a:t>Transformer</a:t>
            </a:r>
          </a:p>
        </p:txBody>
      </p:sp>
      <p:sp>
        <p:nvSpPr>
          <p:cNvPr id="46" name="TextBox 45"/>
          <p:cNvSpPr txBox="1"/>
          <p:nvPr/>
        </p:nvSpPr>
        <p:spPr>
          <a:xfrm>
            <a:off x="5468112" y="4078224"/>
            <a:ext cx="2907791" cy="182880"/>
          </a:xfrm>
          <a:prstGeom prst="rect">
            <a:avLst/>
          </a:prstGeom>
          <a:noFill/>
        </p:spPr>
        <p:txBody>
          <a:bodyPr wrap="square" lIns="0" tIns="0" rIns="0" bIns="0" anchor="t">
            <a:spAutoFit/>
          </a:bodyPr>
          <a:lstStyle/>
          <a:p>
            <a:pPr algn="l"/>
            <a:r>
              <a:rPr sz="900" b="0">
                <a:solidFill>
                  <a:srgbClr val="6B7B8C"/>
                </a:solidFill>
                <a:latin typeface="Roboto"/>
              </a:rPr>
              <a:t>Built on the transformer architecture.</a:t>
            </a:r>
          </a:p>
        </p:txBody>
      </p:sp>
      <p:cxnSp>
        <p:nvCxnSpPr>
          <p:cNvPr id="47" name="Connector 46"/>
          <p:cNvCxnSpPr/>
          <p:nvPr/>
        </p:nvCxnSpPr>
        <p:spPr>
          <a:xfrm>
            <a:off x="777240" y="2157984"/>
            <a:ext cx="7717536" cy="0"/>
          </a:xfrm>
          <a:prstGeom prst="line">
            <a:avLst/>
          </a:prstGeom>
          <a:ln w="19050">
            <a:solidFill>
              <a:srgbClr val="DDE5E9"/>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813816" y="2093976"/>
            <a:ext cx="128016" cy="128016"/>
          </a:xfrm>
          <a:prstGeom prst="ellipse">
            <a:avLst/>
          </a:prstGeom>
          <a:solidFill>
            <a:srgbClr val="06D6A0">
              <a:alpha val="100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4946904" y="2093976"/>
            <a:ext cx="128016" cy="128016"/>
          </a:xfrm>
          <a:prstGeom prst="ellipse">
            <a:avLst/>
          </a:prstGeom>
          <a:solidFill>
            <a:srgbClr val="0D1B2A">
              <a:alpha val="100000"/>
            </a:srgbClr>
          </a:solidFill>
          <a:ln w="9525">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66928" y="4636008"/>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13232" y="4617720"/>
            <a:ext cx="7991856" cy="182880"/>
          </a:xfrm>
          <a:prstGeom prst="rect">
            <a:avLst/>
          </a:prstGeom>
          <a:noFill/>
        </p:spPr>
        <p:txBody>
          <a:bodyPr wrap="square" lIns="0" tIns="0" rIns="0" bIns="0" anchor="t">
            <a:spAutoFit/>
          </a:bodyPr>
          <a:lstStyle/>
          <a:p>
            <a:pPr algn="l"/>
            <a:r>
              <a:rPr sz="1200" b="0">
                <a:solidFill>
                  <a:srgbClr val="0D1B2A"/>
                </a:solidFill>
                <a:latin typeface="Roboto"/>
              </a:rPr>
              <a:t>Nearly every language model today is built on this architecture — ChatGPT, Claude, Gemini, Llama and more.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GENERATIVE AI · TOKENS</a:t>
            </a:r>
          </a:p>
        </p:txBody>
      </p:sp>
      <p:sp>
        <p:nvSpPr>
          <p:cNvPr id="4" name="slide-token"/>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Tokens: Models read tokens, not words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Text is cut into tokens: small pieces, often a whole word, sometimes just part of one.</a:t>
            </a:r>
          </a:p>
        </p:txBody>
      </p:sp>
      <p:sp>
        <p:nvSpPr>
          <p:cNvPr id="6" name="Rectangle 5"/>
          <p:cNvSpPr/>
          <p:nvPr/>
        </p:nvSpPr>
        <p:spPr>
          <a:xfrm>
            <a:off x="566928" y="1783080"/>
            <a:ext cx="5120640"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13232" y="1874519"/>
            <a:ext cx="4846320" cy="548640"/>
          </a:xfrm>
          <a:prstGeom prst="roundRect">
            <a:avLst>
              <a:gd name="adj" fmla="val 13333"/>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13232" y="2487168"/>
            <a:ext cx="4846320" cy="548640"/>
          </a:xfrm>
          <a:prstGeom prst="roundRect">
            <a:avLst>
              <a:gd name="adj" fmla="val 13333"/>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13232" y="3099816"/>
            <a:ext cx="4846320" cy="548640"/>
          </a:xfrm>
          <a:prstGeom prst="roundRect">
            <a:avLst>
              <a:gd name="adj" fmla="val 13333"/>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13232" y="3712463"/>
            <a:ext cx="4846320" cy="548640"/>
          </a:xfrm>
          <a:prstGeom prst="roundRect">
            <a:avLst>
              <a:gd name="adj" fmla="val 13333"/>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1929384"/>
            <a:ext cx="3657600" cy="228600"/>
          </a:xfrm>
          <a:prstGeom prst="rect">
            <a:avLst/>
          </a:prstGeom>
          <a:noFill/>
        </p:spPr>
        <p:txBody>
          <a:bodyPr wrap="square" lIns="0" tIns="0" rIns="0" bIns="0" anchor="t">
            <a:spAutoFit/>
          </a:bodyPr>
          <a:lstStyle/>
          <a:p>
            <a:pPr algn="l"/>
            <a:r>
              <a:rPr sz="850" b="0" spc="100">
                <a:solidFill>
                  <a:srgbClr val="1B9AAA"/>
                </a:solidFill>
                <a:latin typeface="JetBrains Mono"/>
              </a:rPr>
              <a:t>STEP 1: YOUR TEXT</a:t>
            </a:r>
          </a:p>
        </p:txBody>
      </p:sp>
      <p:sp>
        <p:nvSpPr>
          <p:cNvPr id="13" name="TextBox 12"/>
          <p:cNvSpPr txBox="1"/>
          <p:nvPr/>
        </p:nvSpPr>
        <p:spPr>
          <a:xfrm>
            <a:off x="841248" y="2103120"/>
            <a:ext cx="4572000" cy="274320"/>
          </a:xfrm>
          <a:prstGeom prst="rect">
            <a:avLst/>
          </a:prstGeom>
          <a:noFill/>
        </p:spPr>
        <p:txBody>
          <a:bodyPr wrap="square" lIns="0" tIns="0" rIns="0" bIns="0" anchor="t">
            <a:spAutoFit/>
          </a:bodyPr>
          <a:lstStyle/>
          <a:p>
            <a:pPr algn="l"/>
            <a:r>
              <a:rPr sz="1500" b="0">
                <a:solidFill>
                  <a:srgbClr val="0D1B2A"/>
                </a:solidFill>
                <a:latin typeface="Roboto"/>
              </a:rPr>
              <a:t>AI makes pharmacovigilance easier.</a:t>
            </a:r>
          </a:p>
        </p:txBody>
      </p:sp>
      <p:sp>
        <p:nvSpPr>
          <p:cNvPr id="14" name="TextBox 13"/>
          <p:cNvSpPr txBox="1"/>
          <p:nvPr/>
        </p:nvSpPr>
        <p:spPr>
          <a:xfrm>
            <a:off x="841248" y="2542032"/>
            <a:ext cx="3657600" cy="228600"/>
          </a:xfrm>
          <a:prstGeom prst="rect">
            <a:avLst/>
          </a:prstGeom>
          <a:noFill/>
        </p:spPr>
        <p:txBody>
          <a:bodyPr wrap="square" lIns="0" tIns="0" rIns="0" bIns="0" anchor="t">
            <a:spAutoFit/>
          </a:bodyPr>
          <a:lstStyle/>
          <a:p>
            <a:pPr algn="l"/>
            <a:r>
              <a:rPr sz="850" b="0" spc="100">
                <a:solidFill>
                  <a:srgbClr val="1B9AAA"/>
                </a:solidFill>
                <a:latin typeface="JetBrains Mono"/>
              </a:rPr>
              <a:t>STEP 2: CUT INTO TOKENS</a:t>
            </a:r>
          </a:p>
        </p:txBody>
      </p:sp>
      <p:sp>
        <p:nvSpPr>
          <p:cNvPr id="15" name="TextBox 14"/>
          <p:cNvSpPr txBox="1"/>
          <p:nvPr/>
        </p:nvSpPr>
        <p:spPr>
          <a:xfrm>
            <a:off x="841248" y="3154680"/>
            <a:ext cx="3657600" cy="228600"/>
          </a:xfrm>
          <a:prstGeom prst="rect">
            <a:avLst/>
          </a:prstGeom>
          <a:noFill/>
        </p:spPr>
        <p:txBody>
          <a:bodyPr wrap="square" lIns="0" tIns="0" rIns="0" bIns="0" anchor="t">
            <a:spAutoFit/>
          </a:bodyPr>
          <a:lstStyle/>
          <a:p>
            <a:pPr algn="l"/>
            <a:r>
              <a:rPr sz="850" b="0" spc="100">
                <a:solidFill>
                  <a:srgbClr val="1B9AAA"/>
                </a:solidFill>
                <a:latin typeface="JetBrains Mono"/>
              </a:rPr>
              <a:t>STEP 3: EACH TOKEN IS TRANSLATED INTO ITS VOCABULARY ID</a:t>
            </a:r>
          </a:p>
        </p:txBody>
      </p:sp>
      <p:sp>
        <p:nvSpPr>
          <p:cNvPr id="16" name="Rounded Rectangle 15"/>
          <p:cNvSpPr/>
          <p:nvPr/>
        </p:nvSpPr>
        <p:spPr>
          <a:xfrm>
            <a:off x="841248" y="2724912"/>
            <a:ext cx="347472"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AI</a:t>
            </a:r>
          </a:p>
        </p:txBody>
      </p:sp>
      <p:sp>
        <p:nvSpPr>
          <p:cNvPr id="17" name="Rounded Rectangle 16"/>
          <p:cNvSpPr/>
          <p:nvPr/>
        </p:nvSpPr>
        <p:spPr>
          <a:xfrm>
            <a:off x="841248" y="3337560"/>
            <a:ext cx="347472"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15836</a:t>
            </a:r>
          </a:p>
        </p:txBody>
      </p:sp>
      <p:sp>
        <p:nvSpPr>
          <p:cNvPr id="18" name="Rounded Rectangle 17"/>
          <p:cNvSpPr/>
          <p:nvPr/>
        </p:nvSpPr>
        <p:spPr>
          <a:xfrm>
            <a:off x="1261872" y="2724912"/>
            <a:ext cx="594359"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makes</a:t>
            </a:r>
          </a:p>
        </p:txBody>
      </p:sp>
      <p:sp>
        <p:nvSpPr>
          <p:cNvPr id="19" name="Rounded Rectangle 18"/>
          <p:cNvSpPr/>
          <p:nvPr/>
        </p:nvSpPr>
        <p:spPr>
          <a:xfrm>
            <a:off x="1261872" y="3337560"/>
            <a:ext cx="594359"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3872</a:t>
            </a:r>
          </a:p>
        </p:txBody>
      </p:sp>
      <p:sp>
        <p:nvSpPr>
          <p:cNvPr id="20" name="Rounded Rectangle 19"/>
          <p:cNvSpPr/>
          <p:nvPr/>
        </p:nvSpPr>
        <p:spPr>
          <a:xfrm>
            <a:off x="1929384" y="2724912"/>
            <a:ext cx="758952"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pharmac</a:t>
            </a:r>
          </a:p>
        </p:txBody>
      </p:sp>
      <p:sp>
        <p:nvSpPr>
          <p:cNvPr id="21" name="Rounded Rectangle 20"/>
          <p:cNvSpPr/>
          <p:nvPr/>
        </p:nvSpPr>
        <p:spPr>
          <a:xfrm>
            <a:off x="1929384" y="3337560"/>
            <a:ext cx="758952" cy="256032"/>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27291</a:t>
            </a:r>
          </a:p>
        </p:txBody>
      </p:sp>
      <p:sp>
        <p:nvSpPr>
          <p:cNvPr id="22" name="Rounded Rectangle 21"/>
          <p:cNvSpPr/>
          <p:nvPr/>
        </p:nvSpPr>
        <p:spPr>
          <a:xfrm>
            <a:off x="2761488" y="2724912"/>
            <a:ext cx="512064"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ovig</a:t>
            </a:r>
          </a:p>
        </p:txBody>
      </p:sp>
      <p:sp>
        <p:nvSpPr>
          <p:cNvPr id="23" name="Rounded Rectangle 22"/>
          <p:cNvSpPr/>
          <p:nvPr/>
        </p:nvSpPr>
        <p:spPr>
          <a:xfrm>
            <a:off x="2761488" y="3337560"/>
            <a:ext cx="512064"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9014</a:t>
            </a:r>
          </a:p>
        </p:txBody>
      </p:sp>
      <p:sp>
        <p:nvSpPr>
          <p:cNvPr id="24" name="Rounded Rectangle 23"/>
          <p:cNvSpPr/>
          <p:nvPr/>
        </p:nvSpPr>
        <p:spPr>
          <a:xfrm>
            <a:off x="3346704" y="2724912"/>
            <a:ext cx="676656"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ilance</a:t>
            </a:r>
          </a:p>
        </p:txBody>
      </p:sp>
      <p:sp>
        <p:nvSpPr>
          <p:cNvPr id="25" name="Rounded Rectangle 24"/>
          <p:cNvSpPr/>
          <p:nvPr/>
        </p:nvSpPr>
        <p:spPr>
          <a:xfrm>
            <a:off x="3346704" y="3337560"/>
            <a:ext cx="676656"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5188</a:t>
            </a:r>
          </a:p>
        </p:txBody>
      </p:sp>
      <p:sp>
        <p:nvSpPr>
          <p:cNvPr id="26" name="Rounded Rectangle 25"/>
          <p:cNvSpPr/>
          <p:nvPr/>
        </p:nvSpPr>
        <p:spPr>
          <a:xfrm>
            <a:off x="4096512" y="2724912"/>
            <a:ext cx="676656"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easier</a:t>
            </a:r>
          </a:p>
        </p:txBody>
      </p:sp>
      <p:sp>
        <p:nvSpPr>
          <p:cNvPr id="27" name="Rounded Rectangle 26"/>
          <p:cNvSpPr/>
          <p:nvPr/>
        </p:nvSpPr>
        <p:spPr>
          <a:xfrm>
            <a:off x="4096512" y="3337560"/>
            <a:ext cx="676656"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9013</a:t>
            </a:r>
          </a:p>
        </p:txBody>
      </p:sp>
      <p:sp>
        <p:nvSpPr>
          <p:cNvPr id="28" name="Rounded Rectangle 27"/>
          <p:cNvSpPr/>
          <p:nvPr/>
        </p:nvSpPr>
        <p:spPr>
          <a:xfrm>
            <a:off x="4846320" y="2724912"/>
            <a:ext cx="265176"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a:t>
            </a:r>
          </a:p>
        </p:txBody>
      </p:sp>
      <p:sp>
        <p:nvSpPr>
          <p:cNvPr id="29" name="Rounded Rectangle 28"/>
          <p:cNvSpPr/>
          <p:nvPr/>
        </p:nvSpPr>
        <p:spPr>
          <a:xfrm>
            <a:off x="4846320" y="3337560"/>
            <a:ext cx="265176"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13</a:t>
            </a:r>
          </a:p>
        </p:txBody>
      </p:sp>
      <p:sp>
        <p:nvSpPr>
          <p:cNvPr id="30" name="TextBox 29"/>
          <p:cNvSpPr txBox="1"/>
          <p:nvPr/>
        </p:nvSpPr>
        <p:spPr>
          <a:xfrm>
            <a:off x="841248" y="3767327"/>
            <a:ext cx="3840480" cy="228600"/>
          </a:xfrm>
          <a:prstGeom prst="rect">
            <a:avLst/>
          </a:prstGeom>
          <a:noFill/>
        </p:spPr>
        <p:txBody>
          <a:bodyPr wrap="square" lIns="0" tIns="0" rIns="0" bIns="0" anchor="t">
            <a:spAutoFit/>
          </a:bodyPr>
          <a:lstStyle/>
          <a:p>
            <a:pPr algn="l"/>
            <a:r>
              <a:rPr sz="850" b="0" spc="100">
                <a:solidFill>
                  <a:srgbClr val="1B9AAA"/>
                </a:solidFill>
                <a:latin typeface="JetBrains Mono"/>
              </a:rPr>
              <a:t>STEP 4: EACH VOCABULARY ID IS TRANSLATED INTO ITS EMBEDDING</a:t>
            </a:r>
          </a:p>
        </p:txBody>
      </p:sp>
      <p:sp>
        <p:nvSpPr>
          <p:cNvPr id="31" name="Rounded Rectangle 30"/>
          <p:cNvSpPr/>
          <p:nvPr/>
        </p:nvSpPr>
        <p:spPr>
          <a:xfrm>
            <a:off x="841248" y="3950207"/>
            <a:ext cx="758952" cy="256032"/>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27291</a:t>
            </a:r>
          </a:p>
        </p:txBody>
      </p:sp>
      <p:cxnSp>
        <p:nvCxnSpPr>
          <p:cNvPr id="32" name="Connector 31"/>
          <p:cNvCxnSpPr/>
          <p:nvPr/>
        </p:nvCxnSpPr>
        <p:spPr>
          <a:xfrm>
            <a:off x="1636776" y="4078224"/>
            <a:ext cx="237743" cy="0"/>
          </a:xfrm>
          <a:prstGeom prst="line">
            <a:avLst/>
          </a:prstGeom>
          <a:ln w="1270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947672" y="3950207"/>
            <a:ext cx="475488"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0.12</a:t>
            </a:r>
          </a:p>
        </p:txBody>
      </p:sp>
      <p:sp>
        <p:nvSpPr>
          <p:cNvPr id="34" name="Rounded Rectangle 33"/>
          <p:cNvSpPr/>
          <p:nvPr/>
        </p:nvSpPr>
        <p:spPr>
          <a:xfrm>
            <a:off x="2459736" y="3950207"/>
            <a:ext cx="475488"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−0.48</a:t>
            </a:r>
          </a:p>
        </p:txBody>
      </p:sp>
      <p:sp>
        <p:nvSpPr>
          <p:cNvPr id="35" name="Rounded Rectangle 34"/>
          <p:cNvSpPr/>
          <p:nvPr/>
        </p:nvSpPr>
        <p:spPr>
          <a:xfrm>
            <a:off x="2971800" y="3950207"/>
            <a:ext cx="475488"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0.91</a:t>
            </a:r>
          </a:p>
        </p:txBody>
      </p:sp>
      <p:sp>
        <p:nvSpPr>
          <p:cNvPr id="36" name="Rounded Rectangle 35"/>
          <p:cNvSpPr/>
          <p:nvPr/>
        </p:nvSpPr>
        <p:spPr>
          <a:xfrm>
            <a:off x="3483864" y="3950207"/>
            <a:ext cx="475488"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0.05</a:t>
            </a:r>
          </a:p>
        </p:txBody>
      </p:sp>
      <p:sp>
        <p:nvSpPr>
          <p:cNvPr id="37" name="TextBox 36"/>
          <p:cNvSpPr txBox="1"/>
          <p:nvPr/>
        </p:nvSpPr>
        <p:spPr>
          <a:xfrm>
            <a:off x="4032504" y="3995927"/>
            <a:ext cx="1188720" cy="201168"/>
          </a:xfrm>
          <a:prstGeom prst="rect">
            <a:avLst/>
          </a:prstGeom>
          <a:noFill/>
        </p:spPr>
        <p:txBody>
          <a:bodyPr wrap="square" lIns="0" tIns="0" rIns="0" bIns="0" anchor="t">
            <a:spAutoFit/>
          </a:bodyPr>
          <a:lstStyle/>
          <a:p>
            <a:pPr algn="l"/>
            <a:r>
              <a:rPr sz="900" b="0" dirty="0">
                <a:solidFill>
                  <a:srgbClr val="6B7B8C"/>
                </a:solidFill>
                <a:latin typeface="Roboto"/>
              </a:rPr>
              <a:t>… hundreds more</a:t>
            </a:r>
          </a:p>
        </p:txBody>
      </p:sp>
      <p:sp>
        <p:nvSpPr>
          <p:cNvPr id="38" name="TextBox 37"/>
          <p:cNvSpPr txBox="1"/>
          <p:nvPr/>
        </p:nvSpPr>
        <p:spPr>
          <a:xfrm>
            <a:off x="713232" y="4319147"/>
            <a:ext cx="5010912" cy="138499"/>
          </a:xfrm>
          <a:prstGeom prst="rect">
            <a:avLst/>
          </a:prstGeom>
          <a:noFill/>
        </p:spPr>
        <p:txBody>
          <a:bodyPr wrap="square" lIns="0" tIns="0" rIns="0" bIns="0" anchor="t">
            <a:spAutoFit/>
          </a:bodyPr>
          <a:lstStyle/>
          <a:p>
            <a:pPr algn="l"/>
            <a:r>
              <a:rPr sz="900" b="0" dirty="0">
                <a:solidFill>
                  <a:srgbClr val="6B7B8C"/>
                </a:solidFill>
                <a:latin typeface="Roboto"/>
              </a:rPr>
              <a:t>Embedding = Numbers the model actually computes with (what we feed into the neural network).</a:t>
            </a:r>
          </a:p>
        </p:txBody>
      </p:sp>
      <p:sp>
        <p:nvSpPr>
          <p:cNvPr id="39" name="Rectangle 38"/>
          <p:cNvSpPr/>
          <p:nvPr/>
        </p:nvSpPr>
        <p:spPr>
          <a:xfrm>
            <a:off x="5897880" y="1783080"/>
            <a:ext cx="2807208"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897880" y="1783080"/>
            <a:ext cx="54864" cy="12984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26480" y="1901952"/>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RULE OF THUMB</a:t>
            </a:r>
          </a:p>
        </p:txBody>
      </p:sp>
      <p:sp>
        <p:nvSpPr>
          <p:cNvPr id="42" name="TextBox 41"/>
          <p:cNvSpPr txBox="1"/>
          <p:nvPr/>
        </p:nvSpPr>
        <p:spPr>
          <a:xfrm>
            <a:off x="6126480" y="2148840"/>
            <a:ext cx="2441448" cy="365760"/>
          </a:xfrm>
          <a:prstGeom prst="rect">
            <a:avLst/>
          </a:prstGeom>
          <a:noFill/>
        </p:spPr>
        <p:txBody>
          <a:bodyPr wrap="square" lIns="0" tIns="0" rIns="0" bIns="0" anchor="t">
            <a:spAutoFit/>
          </a:bodyPr>
          <a:lstStyle/>
          <a:p>
            <a:pPr algn="l"/>
            <a:r>
              <a:rPr sz="2000" b="0">
                <a:solidFill>
                  <a:srgbClr val="0D1B2A"/>
                </a:solidFill>
                <a:latin typeface="Oswald"/>
              </a:rPr>
              <a:t>1 token ≈ ¾ of a word</a:t>
            </a:r>
          </a:p>
        </p:txBody>
      </p:sp>
      <p:sp>
        <p:nvSpPr>
          <p:cNvPr id="43" name="TextBox 42"/>
          <p:cNvSpPr txBox="1"/>
          <p:nvPr/>
        </p:nvSpPr>
        <p:spPr>
          <a:xfrm>
            <a:off x="6126480" y="2651760"/>
            <a:ext cx="2441448" cy="274320"/>
          </a:xfrm>
          <a:prstGeom prst="rect">
            <a:avLst/>
          </a:prstGeom>
          <a:noFill/>
        </p:spPr>
        <p:txBody>
          <a:bodyPr wrap="square" lIns="0" tIns="0" rIns="0" bIns="0" anchor="t">
            <a:spAutoFit/>
          </a:bodyPr>
          <a:lstStyle/>
          <a:p>
            <a:pPr algn="l"/>
            <a:r>
              <a:rPr sz="1100" b="0">
                <a:solidFill>
                  <a:srgbClr val="6B7B8C"/>
                </a:solidFill>
                <a:latin typeface="Roboto"/>
              </a:rPr>
              <a:t>100 tokens ≈ 75 English words</a:t>
            </a:r>
          </a:p>
        </p:txBody>
      </p:sp>
      <p:sp>
        <p:nvSpPr>
          <p:cNvPr id="44" name="Rectangle 43"/>
          <p:cNvSpPr/>
          <p:nvPr/>
        </p:nvSpPr>
        <p:spPr>
          <a:xfrm>
            <a:off x="5897880" y="3227832"/>
            <a:ext cx="2807208"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897880" y="3227832"/>
            <a:ext cx="54864" cy="12984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126480" y="3346704"/>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WHY IT MATTERS</a:t>
            </a:r>
          </a:p>
        </p:txBody>
      </p:sp>
      <p:sp>
        <p:nvSpPr>
          <p:cNvPr id="47" name="TextBox 46"/>
          <p:cNvSpPr txBox="1"/>
          <p:nvPr/>
        </p:nvSpPr>
        <p:spPr>
          <a:xfrm>
            <a:off x="6126480" y="3593592"/>
            <a:ext cx="2441448" cy="868680"/>
          </a:xfrm>
          <a:prstGeom prst="rect">
            <a:avLst/>
          </a:prstGeom>
          <a:noFill/>
        </p:spPr>
        <p:txBody>
          <a:bodyPr wrap="square" lIns="0" tIns="0" rIns="0" bIns="0" anchor="t">
            <a:spAutoFit/>
          </a:bodyPr>
          <a:lstStyle/>
          <a:p>
            <a:pPr algn="l"/>
            <a:r>
              <a:rPr sz="1100" b="0">
                <a:solidFill>
                  <a:srgbClr val="14293D"/>
                </a:solidFill>
                <a:latin typeface="Roboto"/>
              </a:rPr>
              <a:t>Limits, speed and prices of AI tools are counted in tokens. German text usually needs more tokens than English.</a:t>
            </a:r>
          </a:p>
        </p:txBody>
      </p:sp>
      <p:sp>
        <p:nvSpPr>
          <p:cNvPr id="48" name="Rectangle 47"/>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The model never sees letters or words, only numbers.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GENERATIVE AI · GENERATION</a:t>
            </a:r>
          </a:p>
        </p:txBody>
      </p:sp>
      <p:sp>
        <p:nvSpPr>
          <p:cNvPr id="4" name="slide-next-word"/>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Generation process: next-word prediction</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A toy example of an autoregressive language model. All probabilities are illustrative.</a:t>
            </a:r>
          </a:p>
        </p:txBody>
      </p:sp>
      <p:sp>
        <p:nvSpPr>
          <p:cNvPr id="6" name="Rectangle 5"/>
          <p:cNvSpPr/>
          <p:nvPr/>
        </p:nvSpPr>
        <p:spPr>
          <a:xfrm>
            <a:off x="566928" y="1783080"/>
            <a:ext cx="8138160" cy="132588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1325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74519"/>
            <a:ext cx="3657600" cy="228600"/>
          </a:xfrm>
          <a:prstGeom prst="rect">
            <a:avLst/>
          </a:prstGeom>
          <a:noFill/>
        </p:spPr>
        <p:txBody>
          <a:bodyPr wrap="square" lIns="0" tIns="0" rIns="0" bIns="0" anchor="t">
            <a:spAutoFit/>
          </a:bodyPr>
          <a:lstStyle/>
          <a:p>
            <a:pPr algn="l"/>
            <a:r>
              <a:rPr sz="850" b="0" spc="100">
                <a:solidFill>
                  <a:srgbClr val="1B9AAA"/>
                </a:solidFill>
                <a:latin typeface="JetBrains Mono"/>
              </a:rPr>
              <a:t>STEP 1: SCORE THE POSSIBLE NEXT TOKENS</a:t>
            </a:r>
          </a:p>
        </p:txBody>
      </p:sp>
      <p:sp>
        <p:nvSpPr>
          <p:cNvPr id="9" name="Rounded Rectangle 8"/>
          <p:cNvSpPr/>
          <p:nvPr/>
        </p:nvSpPr>
        <p:spPr>
          <a:xfrm>
            <a:off x="777240" y="213055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The</a:t>
            </a:r>
          </a:p>
        </p:txBody>
      </p:sp>
      <p:sp>
        <p:nvSpPr>
          <p:cNvPr id="10" name="Rounded Rectangle 9"/>
          <p:cNvSpPr/>
          <p:nvPr/>
        </p:nvSpPr>
        <p:spPr>
          <a:xfrm>
            <a:off x="1207008" y="213055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cat</a:t>
            </a:r>
          </a:p>
        </p:txBody>
      </p:sp>
      <p:sp>
        <p:nvSpPr>
          <p:cNvPr id="11" name="Rounded Rectangle 10"/>
          <p:cNvSpPr/>
          <p:nvPr/>
        </p:nvSpPr>
        <p:spPr>
          <a:xfrm>
            <a:off x="1636776" y="213055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sat</a:t>
            </a:r>
          </a:p>
        </p:txBody>
      </p:sp>
      <p:sp>
        <p:nvSpPr>
          <p:cNvPr id="12" name="Rounded Rectangle 11"/>
          <p:cNvSpPr/>
          <p:nvPr/>
        </p:nvSpPr>
        <p:spPr>
          <a:xfrm>
            <a:off x="2066544" y="2130552"/>
            <a:ext cx="292608"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on</a:t>
            </a:r>
          </a:p>
        </p:txBody>
      </p:sp>
      <p:sp>
        <p:nvSpPr>
          <p:cNvPr id="13" name="Rounded Rectangle 12"/>
          <p:cNvSpPr/>
          <p:nvPr/>
        </p:nvSpPr>
        <p:spPr>
          <a:xfrm>
            <a:off x="2414016" y="213055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the</a:t>
            </a:r>
          </a:p>
        </p:txBody>
      </p:sp>
      <p:sp>
        <p:nvSpPr>
          <p:cNvPr id="14" name="Rounded Rectangle 13"/>
          <p:cNvSpPr/>
          <p:nvPr/>
        </p:nvSpPr>
        <p:spPr>
          <a:xfrm>
            <a:off x="2843784" y="2130552"/>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15" name="TextBox 14"/>
          <p:cNvSpPr txBox="1"/>
          <p:nvPr/>
        </p:nvSpPr>
        <p:spPr>
          <a:xfrm>
            <a:off x="4343400" y="2093976"/>
            <a:ext cx="685800" cy="201168"/>
          </a:xfrm>
          <a:prstGeom prst="rect">
            <a:avLst/>
          </a:prstGeom>
          <a:noFill/>
        </p:spPr>
        <p:txBody>
          <a:bodyPr wrap="square" lIns="0" tIns="0" rIns="0" bIns="0" anchor="t">
            <a:spAutoFit/>
          </a:bodyPr>
          <a:lstStyle/>
          <a:p>
            <a:pPr algn="l"/>
            <a:r>
              <a:rPr sz="950" b="0">
                <a:solidFill>
                  <a:srgbClr val="0D1B2A"/>
                </a:solidFill>
                <a:latin typeface="JetBrains Mono"/>
              </a:rPr>
              <a:t>mat</a:t>
            </a:r>
          </a:p>
        </p:txBody>
      </p:sp>
      <p:sp>
        <p:nvSpPr>
          <p:cNvPr id="16" name="Rectangle 15"/>
          <p:cNvSpPr/>
          <p:nvPr/>
        </p:nvSpPr>
        <p:spPr>
          <a:xfrm>
            <a:off x="5074920" y="2148840"/>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74920" y="2148840"/>
            <a:ext cx="905256" cy="9144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51192" y="2093976"/>
            <a:ext cx="457200" cy="201168"/>
          </a:xfrm>
          <a:prstGeom prst="rect">
            <a:avLst/>
          </a:prstGeom>
          <a:noFill/>
        </p:spPr>
        <p:txBody>
          <a:bodyPr wrap="square" lIns="0" tIns="0" rIns="0" bIns="0" anchor="t">
            <a:spAutoFit/>
          </a:bodyPr>
          <a:lstStyle/>
          <a:p>
            <a:pPr algn="l"/>
            <a:r>
              <a:rPr sz="950" b="0">
                <a:solidFill>
                  <a:srgbClr val="0D1B2A"/>
                </a:solidFill>
                <a:latin typeface="JetBrains Mono"/>
              </a:rPr>
              <a:t>45%</a:t>
            </a:r>
          </a:p>
        </p:txBody>
      </p:sp>
      <p:sp>
        <p:nvSpPr>
          <p:cNvPr id="19" name="Rounded Rectangle 18"/>
          <p:cNvSpPr/>
          <p:nvPr/>
        </p:nvSpPr>
        <p:spPr>
          <a:xfrm>
            <a:off x="4261104" y="2057400"/>
            <a:ext cx="2880359" cy="274320"/>
          </a:xfrm>
          <a:prstGeom prst="roundRect">
            <a:avLst>
              <a:gd name="adj" fmla="val 20000"/>
            </a:avLst>
          </a:prstGeom>
          <a:noFill/>
          <a:ln w="1587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44968" y="2093976"/>
            <a:ext cx="640080" cy="201168"/>
          </a:xfrm>
          <a:prstGeom prst="rect">
            <a:avLst/>
          </a:prstGeom>
          <a:noFill/>
        </p:spPr>
        <p:txBody>
          <a:bodyPr wrap="square" lIns="0" tIns="0" rIns="0" bIns="0" anchor="t">
            <a:spAutoFit/>
          </a:bodyPr>
          <a:lstStyle/>
          <a:p>
            <a:pPr algn="l"/>
            <a:r>
              <a:rPr sz="800" b="0">
                <a:solidFill>
                  <a:srgbClr val="06D6A0"/>
                </a:solidFill>
                <a:latin typeface="JetBrains Mono"/>
              </a:rPr>
              <a:t>chosen</a:t>
            </a:r>
          </a:p>
        </p:txBody>
      </p:sp>
      <p:sp>
        <p:nvSpPr>
          <p:cNvPr id="21" name="TextBox 20"/>
          <p:cNvSpPr txBox="1"/>
          <p:nvPr/>
        </p:nvSpPr>
        <p:spPr>
          <a:xfrm>
            <a:off x="4343400" y="2331720"/>
            <a:ext cx="685800" cy="201168"/>
          </a:xfrm>
          <a:prstGeom prst="rect">
            <a:avLst/>
          </a:prstGeom>
          <a:noFill/>
        </p:spPr>
        <p:txBody>
          <a:bodyPr wrap="square" lIns="0" tIns="0" rIns="0" bIns="0" anchor="t">
            <a:spAutoFit/>
          </a:bodyPr>
          <a:lstStyle/>
          <a:p>
            <a:pPr algn="l"/>
            <a:r>
              <a:rPr sz="950" b="0">
                <a:solidFill>
                  <a:srgbClr val="0D1B2A"/>
                </a:solidFill>
                <a:latin typeface="JetBrains Mono"/>
              </a:rPr>
              <a:t>chair</a:t>
            </a:r>
          </a:p>
        </p:txBody>
      </p:sp>
      <p:sp>
        <p:nvSpPr>
          <p:cNvPr id="22" name="Rectangle 21"/>
          <p:cNvSpPr/>
          <p:nvPr/>
        </p:nvSpPr>
        <p:spPr>
          <a:xfrm>
            <a:off x="5074920" y="2386584"/>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74920" y="2386584"/>
            <a:ext cx="502920"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51192" y="2331720"/>
            <a:ext cx="457200" cy="201168"/>
          </a:xfrm>
          <a:prstGeom prst="rect">
            <a:avLst/>
          </a:prstGeom>
          <a:noFill/>
        </p:spPr>
        <p:txBody>
          <a:bodyPr wrap="square" lIns="0" tIns="0" rIns="0" bIns="0" anchor="t">
            <a:spAutoFit/>
          </a:bodyPr>
          <a:lstStyle/>
          <a:p>
            <a:pPr algn="l"/>
            <a:r>
              <a:rPr sz="950" b="0">
                <a:solidFill>
                  <a:srgbClr val="6B7B8C"/>
                </a:solidFill>
                <a:latin typeface="JetBrains Mono"/>
              </a:rPr>
              <a:t>25%</a:t>
            </a:r>
          </a:p>
        </p:txBody>
      </p:sp>
      <p:sp>
        <p:nvSpPr>
          <p:cNvPr id="25" name="TextBox 24"/>
          <p:cNvSpPr txBox="1"/>
          <p:nvPr/>
        </p:nvSpPr>
        <p:spPr>
          <a:xfrm>
            <a:off x="4343400" y="2569464"/>
            <a:ext cx="685800" cy="201168"/>
          </a:xfrm>
          <a:prstGeom prst="rect">
            <a:avLst/>
          </a:prstGeom>
          <a:noFill/>
        </p:spPr>
        <p:txBody>
          <a:bodyPr wrap="square" lIns="0" tIns="0" rIns="0" bIns="0" anchor="t">
            <a:spAutoFit/>
          </a:bodyPr>
          <a:lstStyle/>
          <a:p>
            <a:pPr algn="l"/>
            <a:r>
              <a:rPr sz="950" b="0">
                <a:solidFill>
                  <a:srgbClr val="0D1B2A"/>
                </a:solidFill>
                <a:latin typeface="JetBrains Mono"/>
              </a:rPr>
              <a:t>floor</a:t>
            </a:r>
          </a:p>
        </p:txBody>
      </p:sp>
      <p:sp>
        <p:nvSpPr>
          <p:cNvPr id="26" name="Rectangle 25"/>
          <p:cNvSpPr/>
          <p:nvPr/>
        </p:nvSpPr>
        <p:spPr>
          <a:xfrm>
            <a:off x="5074920" y="2624328"/>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74920" y="2624328"/>
            <a:ext cx="402336"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51192" y="2569464"/>
            <a:ext cx="457200" cy="201168"/>
          </a:xfrm>
          <a:prstGeom prst="rect">
            <a:avLst/>
          </a:prstGeom>
          <a:noFill/>
        </p:spPr>
        <p:txBody>
          <a:bodyPr wrap="square" lIns="0" tIns="0" rIns="0" bIns="0" anchor="t">
            <a:spAutoFit/>
          </a:bodyPr>
          <a:lstStyle/>
          <a:p>
            <a:pPr algn="l"/>
            <a:r>
              <a:rPr sz="950" b="0">
                <a:solidFill>
                  <a:srgbClr val="6B7B8C"/>
                </a:solidFill>
                <a:latin typeface="JetBrains Mono"/>
              </a:rPr>
              <a:t>20%</a:t>
            </a:r>
          </a:p>
        </p:txBody>
      </p:sp>
      <p:sp>
        <p:nvSpPr>
          <p:cNvPr id="29" name="TextBox 28"/>
          <p:cNvSpPr txBox="1"/>
          <p:nvPr/>
        </p:nvSpPr>
        <p:spPr>
          <a:xfrm>
            <a:off x="4343400" y="2807208"/>
            <a:ext cx="685800" cy="201168"/>
          </a:xfrm>
          <a:prstGeom prst="rect">
            <a:avLst/>
          </a:prstGeom>
          <a:noFill/>
        </p:spPr>
        <p:txBody>
          <a:bodyPr wrap="square" lIns="0" tIns="0" rIns="0" bIns="0" anchor="t">
            <a:spAutoFit/>
          </a:bodyPr>
          <a:lstStyle/>
          <a:p>
            <a:pPr algn="l"/>
            <a:r>
              <a:rPr sz="950" b="0">
                <a:solidFill>
                  <a:srgbClr val="0D1B2A"/>
                </a:solidFill>
                <a:latin typeface="JetBrains Mono"/>
              </a:rPr>
              <a:t>other</a:t>
            </a:r>
          </a:p>
        </p:txBody>
      </p:sp>
      <p:sp>
        <p:nvSpPr>
          <p:cNvPr id="30" name="Rectangle 29"/>
          <p:cNvSpPr/>
          <p:nvPr/>
        </p:nvSpPr>
        <p:spPr>
          <a:xfrm>
            <a:off x="5074920" y="2862072"/>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074920" y="2862072"/>
            <a:ext cx="201168"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51192" y="2807208"/>
            <a:ext cx="457200" cy="201168"/>
          </a:xfrm>
          <a:prstGeom prst="rect">
            <a:avLst/>
          </a:prstGeom>
          <a:noFill/>
        </p:spPr>
        <p:txBody>
          <a:bodyPr wrap="square" lIns="0" tIns="0" rIns="0" bIns="0" anchor="t">
            <a:spAutoFit/>
          </a:bodyPr>
          <a:lstStyle/>
          <a:p>
            <a:pPr algn="l"/>
            <a:r>
              <a:rPr sz="950" b="0">
                <a:solidFill>
                  <a:srgbClr val="6B7B8C"/>
                </a:solidFill>
                <a:latin typeface="JetBrains Mono"/>
              </a:rPr>
              <a:t>10%</a:t>
            </a:r>
          </a:p>
        </p:txBody>
      </p:sp>
      <p:sp>
        <p:nvSpPr>
          <p:cNvPr id="33" name="Rectangle 32"/>
          <p:cNvSpPr/>
          <p:nvPr/>
        </p:nvSpPr>
        <p:spPr>
          <a:xfrm>
            <a:off x="566928" y="3200400"/>
            <a:ext cx="8138160" cy="132588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66928" y="3200400"/>
            <a:ext cx="54864" cy="1325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3291840"/>
            <a:ext cx="3657600" cy="228600"/>
          </a:xfrm>
          <a:prstGeom prst="rect">
            <a:avLst/>
          </a:prstGeom>
          <a:noFill/>
        </p:spPr>
        <p:txBody>
          <a:bodyPr wrap="square" lIns="0" tIns="0" rIns="0" bIns="0" anchor="t">
            <a:spAutoFit/>
          </a:bodyPr>
          <a:lstStyle/>
          <a:p>
            <a:pPr algn="l"/>
            <a:r>
              <a:rPr sz="850" b="0" spc="100">
                <a:solidFill>
                  <a:srgbClr val="1B9AAA"/>
                </a:solidFill>
                <a:latin typeface="JetBrains Mono"/>
              </a:rPr>
              <a:t>STEP 2: APPEND IT AND SCORE AGAIN</a:t>
            </a:r>
          </a:p>
        </p:txBody>
      </p:sp>
      <p:sp>
        <p:nvSpPr>
          <p:cNvPr id="36" name="Rounded Rectangle 35"/>
          <p:cNvSpPr/>
          <p:nvPr/>
        </p:nvSpPr>
        <p:spPr>
          <a:xfrm>
            <a:off x="777240" y="354787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The</a:t>
            </a:r>
          </a:p>
        </p:txBody>
      </p:sp>
      <p:sp>
        <p:nvSpPr>
          <p:cNvPr id="37" name="Rounded Rectangle 36"/>
          <p:cNvSpPr/>
          <p:nvPr/>
        </p:nvSpPr>
        <p:spPr>
          <a:xfrm>
            <a:off x="1207008" y="354787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cat</a:t>
            </a:r>
          </a:p>
        </p:txBody>
      </p:sp>
      <p:sp>
        <p:nvSpPr>
          <p:cNvPr id="38" name="Rounded Rectangle 37"/>
          <p:cNvSpPr/>
          <p:nvPr/>
        </p:nvSpPr>
        <p:spPr>
          <a:xfrm>
            <a:off x="1636776" y="354787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sat</a:t>
            </a:r>
          </a:p>
        </p:txBody>
      </p:sp>
      <p:sp>
        <p:nvSpPr>
          <p:cNvPr id="39" name="Rounded Rectangle 38"/>
          <p:cNvSpPr/>
          <p:nvPr/>
        </p:nvSpPr>
        <p:spPr>
          <a:xfrm>
            <a:off x="2066544" y="3547872"/>
            <a:ext cx="292608"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on</a:t>
            </a:r>
          </a:p>
        </p:txBody>
      </p:sp>
      <p:sp>
        <p:nvSpPr>
          <p:cNvPr id="40" name="Rounded Rectangle 39"/>
          <p:cNvSpPr/>
          <p:nvPr/>
        </p:nvSpPr>
        <p:spPr>
          <a:xfrm>
            <a:off x="2414016" y="3547872"/>
            <a:ext cx="37490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the</a:t>
            </a:r>
          </a:p>
        </p:txBody>
      </p:sp>
      <p:sp>
        <p:nvSpPr>
          <p:cNvPr id="41" name="Rounded Rectangle 40"/>
          <p:cNvSpPr/>
          <p:nvPr/>
        </p:nvSpPr>
        <p:spPr>
          <a:xfrm>
            <a:off x="2843784" y="3547872"/>
            <a:ext cx="374904" cy="274320"/>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JetBrains Mono"/>
              </a:rPr>
              <a:t>mat</a:t>
            </a:r>
          </a:p>
        </p:txBody>
      </p:sp>
      <p:sp>
        <p:nvSpPr>
          <p:cNvPr id="42" name="Rounded Rectangle 41"/>
          <p:cNvSpPr/>
          <p:nvPr/>
        </p:nvSpPr>
        <p:spPr>
          <a:xfrm>
            <a:off x="3273552" y="3547872"/>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43" name="TextBox 42"/>
          <p:cNvSpPr txBox="1"/>
          <p:nvPr/>
        </p:nvSpPr>
        <p:spPr>
          <a:xfrm>
            <a:off x="4343400" y="3511296"/>
            <a:ext cx="685800" cy="201168"/>
          </a:xfrm>
          <a:prstGeom prst="rect">
            <a:avLst/>
          </a:prstGeom>
          <a:noFill/>
        </p:spPr>
        <p:txBody>
          <a:bodyPr wrap="square" lIns="0" tIns="0" rIns="0" bIns="0" anchor="t">
            <a:spAutoFit/>
          </a:bodyPr>
          <a:lstStyle/>
          <a:p>
            <a:pPr algn="l"/>
            <a:r>
              <a:rPr sz="950" b="0">
                <a:solidFill>
                  <a:srgbClr val="0D1B2A"/>
                </a:solidFill>
                <a:latin typeface="JetBrains Mono"/>
              </a:rPr>
              <a:t>.</a:t>
            </a:r>
          </a:p>
        </p:txBody>
      </p:sp>
      <p:sp>
        <p:nvSpPr>
          <p:cNvPr id="44" name="Rectangle 43"/>
          <p:cNvSpPr/>
          <p:nvPr/>
        </p:nvSpPr>
        <p:spPr>
          <a:xfrm>
            <a:off x="5074920" y="3566160"/>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074920" y="3566160"/>
            <a:ext cx="1408176"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251192" y="3511296"/>
            <a:ext cx="457200" cy="201168"/>
          </a:xfrm>
          <a:prstGeom prst="rect">
            <a:avLst/>
          </a:prstGeom>
          <a:noFill/>
        </p:spPr>
        <p:txBody>
          <a:bodyPr wrap="square" lIns="0" tIns="0" rIns="0" bIns="0" anchor="t">
            <a:spAutoFit/>
          </a:bodyPr>
          <a:lstStyle/>
          <a:p>
            <a:pPr algn="l"/>
            <a:r>
              <a:rPr sz="950" b="0">
                <a:solidFill>
                  <a:srgbClr val="6B7B8C"/>
                </a:solidFill>
                <a:latin typeface="JetBrains Mono"/>
              </a:rPr>
              <a:t>70%</a:t>
            </a:r>
          </a:p>
        </p:txBody>
      </p:sp>
      <p:sp>
        <p:nvSpPr>
          <p:cNvPr id="47" name="TextBox 46"/>
          <p:cNvSpPr txBox="1"/>
          <p:nvPr/>
        </p:nvSpPr>
        <p:spPr>
          <a:xfrm>
            <a:off x="4343400" y="3749039"/>
            <a:ext cx="685800" cy="201168"/>
          </a:xfrm>
          <a:prstGeom prst="rect">
            <a:avLst/>
          </a:prstGeom>
          <a:noFill/>
        </p:spPr>
        <p:txBody>
          <a:bodyPr wrap="square" lIns="0" tIns="0" rIns="0" bIns="0" anchor="t">
            <a:spAutoFit/>
          </a:bodyPr>
          <a:lstStyle/>
          <a:p>
            <a:pPr algn="l"/>
            <a:r>
              <a:rPr sz="950" b="0">
                <a:solidFill>
                  <a:srgbClr val="0D1B2A"/>
                </a:solidFill>
                <a:latin typeface="JetBrains Mono"/>
              </a:rPr>
              <a:t>today</a:t>
            </a:r>
          </a:p>
        </p:txBody>
      </p:sp>
      <p:sp>
        <p:nvSpPr>
          <p:cNvPr id="48" name="Rectangle 47"/>
          <p:cNvSpPr/>
          <p:nvPr/>
        </p:nvSpPr>
        <p:spPr>
          <a:xfrm>
            <a:off x="5074920" y="3803903"/>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5074920" y="3803903"/>
            <a:ext cx="301752"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251192" y="3749039"/>
            <a:ext cx="457200" cy="201168"/>
          </a:xfrm>
          <a:prstGeom prst="rect">
            <a:avLst/>
          </a:prstGeom>
          <a:noFill/>
        </p:spPr>
        <p:txBody>
          <a:bodyPr wrap="square" lIns="0" tIns="0" rIns="0" bIns="0" anchor="t">
            <a:spAutoFit/>
          </a:bodyPr>
          <a:lstStyle/>
          <a:p>
            <a:pPr algn="l"/>
            <a:r>
              <a:rPr sz="950" b="0">
                <a:solidFill>
                  <a:srgbClr val="6B7B8C"/>
                </a:solidFill>
                <a:latin typeface="JetBrains Mono"/>
              </a:rPr>
              <a:t>15%</a:t>
            </a:r>
          </a:p>
        </p:txBody>
      </p:sp>
      <p:sp>
        <p:nvSpPr>
          <p:cNvPr id="51" name="TextBox 50"/>
          <p:cNvSpPr txBox="1"/>
          <p:nvPr/>
        </p:nvSpPr>
        <p:spPr>
          <a:xfrm>
            <a:off x="4343400" y="3986783"/>
            <a:ext cx="685800" cy="201168"/>
          </a:xfrm>
          <a:prstGeom prst="rect">
            <a:avLst/>
          </a:prstGeom>
          <a:noFill/>
        </p:spPr>
        <p:txBody>
          <a:bodyPr wrap="square" lIns="0" tIns="0" rIns="0" bIns="0" anchor="t">
            <a:spAutoFit/>
          </a:bodyPr>
          <a:lstStyle/>
          <a:p>
            <a:pPr algn="l"/>
            <a:r>
              <a:rPr sz="950" b="0">
                <a:solidFill>
                  <a:srgbClr val="0D1B2A"/>
                </a:solidFill>
                <a:latin typeface="JetBrains Mono"/>
              </a:rPr>
              <a:t>quietly</a:t>
            </a:r>
          </a:p>
        </p:txBody>
      </p:sp>
      <p:sp>
        <p:nvSpPr>
          <p:cNvPr id="52" name="Rectangle 51"/>
          <p:cNvSpPr/>
          <p:nvPr/>
        </p:nvSpPr>
        <p:spPr>
          <a:xfrm>
            <a:off x="5074920" y="4041647"/>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074920" y="4041647"/>
            <a:ext cx="201168"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251192" y="3986783"/>
            <a:ext cx="457200" cy="201168"/>
          </a:xfrm>
          <a:prstGeom prst="rect">
            <a:avLst/>
          </a:prstGeom>
          <a:noFill/>
        </p:spPr>
        <p:txBody>
          <a:bodyPr wrap="square" lIns="0" tIns="0" rIns="0" bIns="0" anchor="t">
            <a:spAutoFit/>
          </a:bodyPr>
          <a:lstStyle/>
          <a:p>
            <a:pPr algn="l"/>
            <a:r>
              <a:rPr sz="950" b="0">
                <a:solidFill>
                  <a:srgbClr val="6B7B8C"/>
                </a:solidFill>
                <a:latin typeface="JetBrains Mono"/>
              </a:rPr>
              <a:t>10%</a:t>
            </a:r>
          </a:p>
        </p:txBody>
      </p:sp>
      <p:sp>
        <p:nvSpPr>
          <p:cNvPr id="55" name="TextBox 54"/>
          <p:cNvSpPr txBox="1"/>
          <p:nvPr/>
        </p:nvSpPr>
        <p:spPr>
          <a:xfrm>
            <a:off x="4343400" y="4224528"/>
            <a:ext cx="685800" cy="201168"/>
          </a:xfrm>
          <a:prstGeom prst="rect">
            <a:avLst/>
          </a:prstGeom>
          <a:noFill/>
        </p:spPr>
        <p:txBody>
          <a:bodyPr wrap="square" lIns="0" tIns="0" rIns="0" bIns="0" anchor="t">
            <a:spAutoFit/>
          </a:bodyPr>
          <a:lstStyle/>
          <a:p>
            <a:pPr algn="l"/>
            <a:r>
              <a:rPr sz="950" b="0">
                <a:solidFill>
                  <a:srgbClr val="0D1B2A"/>
                </a:solidFill>
                <a:latin typeface="JetBrains Mono"/>
              </a:rPr>
              <a:t>other</a:t>
            </a:r>
          </a:p>
        </p:txBody>
      </p:sp>
      <p:sp>
        <p:nvSpPr>
          <p:cNvPr id="56" name="Rectangle 55"/>
          <p:cNvSpPr/>
          <p:nvPr/>
        </p:nvSpPr>
        <p:spPr>
          <a:xfrm>
            <a:off x="5074920" y="4279392"/>
            <a:ext cx="2011680" cy="91440"/>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074920" y="4279392"/>
            <a:ext cx="100584"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251192" y="4224528"/>
            <a:ext cx="457200" cy="201168"/>
          </a:xfrm>
          <a:prstGeom prst="rect">
            <a:avLst/>
          </a:prstGeom>
          <a:noFill/>
        </p:spPr>
        <p:txBody>
          <a:bodyPr wrap="square" lIns="0" tIns="0" rIns="0" bIns="0" anchor="t">
            <a:spAutoFit/>
          </a:bodyPr>
          <a:lstStyle/>
          <a:p>
            <a:pPr algn="l"/>
            <a:r>
              <a:rPr sz="950" b="0">
                <a:solidFill>
                  <a:srgbClr val="6B7B8C"/>
                </a:solidFill>
                <a:latin typeface="JetBrains Mono"/>
              </a:rPr>
              <a:t>5%</a:t>
            </a:r>
          </a:p>
        </p:txBody>
      </p:sp>
      <p:cxnSp>
        <p:nvCxnSpPr>
          <p:cNvPr id="59" name="Connector 58"/>
          <p:cNvCxnSpPr/>
          <p:nvPr/>
        </p:nvCxnSpPr>
        <p:spPr>
          <a:xfrm flipH="1">
            <a:off x="4114800" y="2194560"/>
            <a:ext cx="146304" cy="0"/>
          </a:xfrm>
          <a:prstGeom prst="line">
            <a:avLst/>
          </a:prstGeom>
          <a:ln w="15875">
            <a:solidFill>
              <a:srgbClr val="06D6A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4114800" y="2194560"/>
            <a:ext cx="0" cy="960120"/>
          </a:xfrm>
          <a:prstGeom prst="line">
            <a:avLst/>
          </a:prstGeom>
          <a:ln w="15875">
            <a:solidFill>
              <a:srgbClr val="06D6A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031236" y="3154680"/>
            <a:ext cx="1083564" cy="0"/>
          </a:xfrm>
          <a:prstGeom prst="line">
            <a:avLst/>
          </a:prstGeom>
          <a:ln w="15875">
            <a:solidFill>
              <a:srgbClr val="06D6A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031236" y="3154680"/>
            <a:ext cx="0" cy="365760"/>
          </a:xfrm>
          <a:prstGeom prst="line">
            <a:avLst/>
          </a:prstGeom>
          <a:ln w="15875">
            <a:solidFill>
              <a:srgbClr val="06D6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Likely continuation does not mean verified fact. Real models predict tokens, not always words.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GENERATIVE AI · PRE-TRAINING</a:t>
            </a:r>
          </a:p>
        </p:txBody>
      </p:sp>
      <p:sp>
        <p:nvSpPr>
          <p:cNvPr id="4" name="slide-pretraining"/>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Pre-training: guess the next token, trillions of times</a:t>
            </a:r>
          </a:p>
        </p:txBody>
      </p:sp>
      <p:sp>
        <p:nvSpPr>
          <p:cNvPr id="5" name="Rectangle 4"/>
          <p:cNvSpPr/>
          <p:nvPr/>
        </p:nvSpPr>
        <p:spPr>
          <a:xfrm>
            <a:off x="566928" y="1325880"/>
            <a:ext cx="2011680"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3258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444752"/>
            <a:ext cx="1737360" cy="228600"/>
          </a:xfrm>
          <a:prstGeom prst="rect">
            <a:avLst/>
          </a:prstGeom>
          <a:noFill/>
        </p:spPr>
        <p:txBody>
          <a:bodyPr wrap="square" lIns="0" tIns="0" rIns="0" bIns="0" anchor="t">
            <a:spAutoFit/>
          </a:bodyPr>
          <a:lstStyle/>
          <a:p>
            <a:pPr algn="l"/>
            <a:r>
              <a:rPr sz="850" b="0" spc="100">
                <a:solidFill>
                  <a:srgbClr val="1B9AAA"/>
                </a:solidFill>
                <a:latin typeface="JetBrains Mono"/>
              </a:rPr>
              <a:t>STEP 1: ANY TEXT</a:t>
            </a:r>
          </a:p>
        </p:txBody>
      </p:sp>
      <p:sp>
        <p:nvSpPr>
          <p:cNvPr id="8" name="Rectangle 7"/>
          <p:cNvSpPr/>
          <p:nvPr/>
        </p:nvSpPr>
        <p:spPr>
          <a:xfrm>
            <a:off x="777240" y="1737360"/>
            <a:ext cx="1600200" cy="169164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05256" y="1901952"/>
            <a:ext cx="132588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05256" y="2103120"/>
            <a:ext cx="118872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05256" y="2304288"/>
            <a:ext cx="132588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86968" y="2450592"/>
            <a:ext cx="1371600" cy="182880"/>
          </a:xfrm>
          <a:prstGeom prst="rect">
            <a:avLst/>
          </a:prstGeom>
          <a:solidFill>
            <a:srgbClr val="CFF5EA"/>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2459736"/>
            <a:ext cx="1325880" cy="164592"/>
          </a:xfrm>
          <a:prstGeom prst="rect">
            <a:avLst/>
          </a:prstGeom>
          <a:noFill/>
        </p:spPr>
        <p:txBody>
          <a:bodyPr wrap="square" lIns="0" tIns="0" rIns="0" bIns="0" anchor="t">
            <a:spAutoFit/>
          </a:bodyPr>
          <a:lstStyle/>
          <a:p>
            <a:pPr algn="l"/>
            <a:r>
              <a:rPr sz="800" b="0">
                <a:solidFill>
                  <a:srgbClr val="0D1B2A"/>
                </a:solidFill>
                <a:latin typeface="Roboto"/>
              </a:rPr>
              <a:t>The cat sat on the mat.</a:t>
            </a:r>
          </a:p>
        </p:txBody>
      </p:sp>
      <p:sp>
        <p:nvSpPr>
          <p:cNvPr id="14" name="Rectangle 13"/>
          <p:cNvSpPr/>
          <p:nvPr/>
        </p:nvSpPr>
        <p:spPr>
          <a:xfrm>
            <a:off x="905256" y="2706624"/>
            <a:ext cx="109728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05256" y="2907792"/>
            <a:ext cx="132588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05256" y="3108960"/>
            <a:ext cx="822960" cy="5486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493008"/>
            <a:ext cx="1737360" cy="438912"/>
          </a:xfrm>
          <a:prstGeom prst="rect">
            <a:avLst/>
          </a:prstGeom>
          <a:noFill/>
        </p:spPr>
        <p:txBody>
          <a:bodyPr wrap="square" lIns="0" tIns="0" rIns="0" bIns="0" anchor="t">
            <a:spAutoFit/>
          </a:bodyPr>
          <a:lstStyle/>
          <a:p>
            <a:pPr algn="l"/>
            <a:r>
              <a:rPr sz="950" b="0">
                <a:solidFill>
                  <a:srgbClr val="6B7B8C"/>
                </a:solidFill>
                <a:latin typeface="Roboto"/>
              </a:rPr>
              <a:t>Books, articles and large parts of the public internet. No labels needed.</a:t>
            </a:r>
          </a:p>
        </p:txBody>
      </p:sp>
      <p:cxnSp>
        <p:nvCxnSpPr>
          <p:cNvPr id="18" name="Connector 17"/>
          <p:cNvCxnSpPr/>
          <p:nvPr/>
        </p:nvCxnSpPr>
        <p:spPr>
          <a:xfrm>
            <a:off x="2286000" y="2505456"/>
            <a:ext cx="548640" cy="0"/>
          </a:xfrm>
          <a:prstGeom prst="line">
            <a:avLst/>
          </a:prstGeom>
          <a:ln w="19050">
            <a:solidFill>
              <a:srgbClr val="06D6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715768" y="1325880"/>
            <a:ext cx="3657600"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15768" y="13258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926080" y="1444752"/>
            <a:ext cx="3291840" cy="228600"/>
          </a:xfrm>
          <a:prstGeom prst="rect">
            <a:avLst/>
          </a:prstGeom>
          <a:noFill/>
        </p:spPr>
        <p:txBody>
          <a:bodyPr wrap="square" lIns="0" tIns="0" rIns="0" bIns="0" anchor="t">
            <a:spAutoFit/>
          </a:bodyPr>
          <a:lstStyle/>
          <a:p>
            <a:pPr algn="l"/>
            <a:r>
              <a:rPr sz="850" b="0" spc="100">
                <a:solidFill>
                  <a:srgbClr val="1B9AAA"/>
                </a:solidFill>
                <a:latin typeface="JetBrains Mono"/>
              </a:rPr>
              <a:t>STEP 2: GUESS THE NEXT TOKEN</a:t>
            </a:r>
          </a:p>
        </p:txBody>
      </p:sp>
      <p:sp>
        <p:nvSpPr>
          <p:cNvPr id="22" name="TextBox 21"/>
          <p:cNvSpPr txBox="1"/>
          <p:nvPr/>
        </p:nvSpPr>
        <p:spPr>
          <a:xfrm>
            <a:off x="2926080" y="1700784"/>
            <a:ext cx="3657600" cy="228600"/>
          </a:xfrm>
          <a:prstGeom prst="rect">
            <a:avLst/>
          </a:prstGeom>
          <a:noFill/>
        </p:spPr>
        <p:txBody>
          <a:bodyPr wrap="square" lIns="0" tIns="0" rIns="0" bIns="0" anchor="t">
            <a:spAutoFit/>
          </a:bodyPr>
          <a:lstStyle/>
          <a:p>
            <a:pPr algn="l"/>
            <a:r>
              <a:rPr sz="800" b="0" spc="100">
                <a:solidFill>
                  <a:srgbClr val="6B7B8C"/>
                </a:solidFill>
                <a:latin typeface="JetBrains Mono"/>
              </a:rPr>
              <a:t>WHAT THE MODEL SEES</a:t>
            </a:r>
          </a:p>
        </p:txBody>
      </p:sp>
      <p:sp>
        <p:nvSpPr>
          <p:cNvPr id="23" name="TextBox 22"/>
          <p:cNvSpPr txBox="1"/>
          <p:nvPr/>
        </p:nvSpPr>
        <p:spPr>
          <a:xfrm>
            <a:off x="5102352" y="1700784"/>
            <a:ext cx="3657600" cy="228600"/>
          </a:xfrm>
          <a:prstGeom prst="rect">
            <a:avLst/>
          </a:prstGeom>
          <a:noFill/>
        </p:spPr>
        <p:txBody>
          <a:bodyPr wrap="square" lIns="0" tIns="0" rIns="0" bIns="0" anchor="t">
            <a:spAutoFit/>
          </a:bodyPr>
          <a:lstStyle/>
          <a:p>
            <a:pPr algn="l"/>
            <a:r>
              <a:rPr sz="800" b="0" spc="100">
                <a:solidFill>
                  <a:srgbClr val="6B7B8C"/>
                </a:solidFill>
                <a:latin typeface="JetBrains Mono"/>
              </a:rPr>
              <a:t>GUESS</a:t>
            </a:r>
          </a:p>
        </p:txBody>
      </p:sp>
      <p:sp>
        <p:nvSpPr>
          <p:cNvPr id="24" name="TextBox 23"/>
          <p:cNvSpPr txBox="1"/>
          <p:nvPr/>
        </p:nvSpPr>
        <p:spPr>
          <a:xfrm>
            <a:off x="5852159" y="1700784"/>
            <a:ext cx="3657600" cy="228600"/>
          </a:xfrm>
          <a:prstGeom prst="rect">
            <a:avLst/>
          </a:prstGeom>
          <a:noFill/>
        </p:spPr>
        <p:txBody>
          <a:bodyPr wrap="square" lIns="0" tIns="0" rIns="0" bIns="0" anchor="t">
            <a:spAutoFit/>
          </a:bodyPr>
          <a:lstStyle/>
          <a:p>
            <a:pPr algn="l"/>
            <a:r>
              <a:rPr sz="800" b="0" spc="100">
                <a:solidFill>
                  <a:srgbClr val="6B7B8C"/>
                </a:solidFill>
                <a:latin typeface="JetBrains Mono"/>
              </a:rPr>
              <a:t>REAL</a:t>
            </a:r>
          </a:p>
        </p:txBody>
      </p:sp>
      <p:sp>
        <p:nvSpPr>
          <p:cNvPr id="25" name="Rounded Rectangle 24"/>
          <p:cNvSpPr/>
          <p:nvPr/>
        </p:nvSpPr>
        <p:spPr>
          <a:xfrm>
            <a:off x="2926080" y="1938528"/>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26" name="Rounded Rectangle 25"/>
          <p:cNvSpPr/>
          <p:nvPr/>
        </p:nvSpPr>
        <p:spPr>
          <a:xfrm>
            <a:off x="3300984" y="1938528"/>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27" name="Rounded Rectangle 26"/>
          <p:cNvSpPr/>
          <p:nvPr/>
        </p:nvSpPr>
        <p:spPr>
          <a:xfrm>
            <a:off x="5102352" y="1938528"/>
            <a:ext cx="457200"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dog</a:t>
            </a:r>
          </a:p>
        </p:txBody>
      </p:sp>
      <p:sp>
        <p:nvSpPr>
          <p:cNvPr id="28" name="TextBox 27"/>
          <p:cNvSpPr txBox="1"/>
          <p:nvPr/>
        </p:nvSpPr>
        <p:spPr>
          <a:xfrm>
            <a:off x="5577840" y="1956816"/>
            <a:ext cx="182880" cy="256032"/>
          </a:xfrm>
          <a:prstGeom prst="rect">
            <a:avLst/>
          </a:prstGeom>
          <a:noFill/>
        </p:spPr>
        <p:txBody>
          <a:bodyPr wrap="square" lIns="0" tIns="0" rIns="0" bIns="0" anchor="t">
            <a:spAutoFit/>
          </a:bodyPr>
          <a:lstStyle/>
          <a:p>
            <a:pPr algn="ctr"/>
            <a:r>
              <a:rPr sz="1200" b="0">
                <a:solidFill>
                  <a:srgbClr val="6B7B8C"/>
                </a:solidFill>
                <a:latin typeface="Roboto"/>
              </a:rPr>
              <a:t>✗</a:t>
            </a:r>
          </a:p>
        </p:txBody>
      </p:sp>
      <p:sp>
        <p:nvSpPr>
          <p:cNvPr id="29" name="Rounded Rectangle 28"/>
          <p:cNvSpPr/>
          <p:nvPr/>
        </p:nvSpPr>
        <p:spPr>
          <a:xfrm>
            <a:off x="5806440" y="1938528"/>
            <a:ext cx="457200" cy="274320"/>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a:t>
            </a:r>
          </a:p>
        </p:txBody>
      </p:sp>
      <p:sp>
        <p:nvSpPr>
          <p:cNvPr id="30" name="Rounded Rectangle 29"/>
          <p:cNvSpPr/>
          <p:nvPr/>
        </p:nvSpPr>
        <p:spPr>
          <a:xfrm>
            <a:off x="2926080" y="2340864"/>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31" name="Rounded Rectangle 30"/>
          <p:cNvSpPr/>
          <p:nvPr/>
        </p:nvSpPr>
        <p:spPr>
          <a:xfrm>
            <a:off x="3300984" y="2340864"/>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a:t>
            </a:r>
          </a:p>
        </p:txBody>
      </p:sp>
      <p:sp>
        <p:nvSpPr>
          <p:cNvPr id="32" name="Rounded Rectangle 31"/>
          <p:cNvSpPr/>
          <p:nvPr/>
        </p:nvSpPr>
        <p:spPr>
          <a:xfrm>
            <a:off x="3675888" y="2340864"/>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33" name="Rounded Rectangle 32"/>
          <p:cNvSpPr/>
          <p:nvPr/>
        </p:nvSpPr>
        <p:spPr>
          <a:xfrm>
            <a:off x="5102352" y="2340864"/>
            <a:ext cx="457200"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sat</a:t>
            </a:r>
          </a:p>
        </p:txBody>
      </p:sp>
      <p:sp>
        <p:nvSpPr>
          <p:cNvPr id="34" name="TextBox 33"/>
          <p:cNvSpPr txBox="1"/>
          <p:nvPr/>
        </p:nvSpPr>
        <p:spPr>
          <a:xfrm>
            <a:off x="5577840" y="2359152"/>
            <a:ext cx="182880" cy="256032"/>
          </a:xfrm>
          <a:prstGeom prst="rect">
            <a:avLst/>
          </a:prstGeom>
          <a:noFill/>
        </p:spPr>
        <p:txBody>
          <a:bodyPr wrap="square" lIns="0" tIns="0" rIns="0" bIns="0" anchor="t">
            <a:spAutoFit/>
          </a:bodyPr>
          <a:lstStyle/>
          <a:p>
            <a:pPr algn="ctr"/>
            <a:r>
              <a:rPr sz="1200" b="0">
                <a:solidFill>
                  <a:srgbClr val="1B9AAA"/>
                </a:solidFill>
                <a:latin typeface="Roboto"/>
              </a:rPr>
              <a:t>✓</a:t>
            </a:r>
          </a:p>
        </p:txBody>
      </p:sp>
      <p:sp>
        <p:nvSpPr>
          <p:cNvPr id="35" name="Rounded Rectangle 34"/>
          <p:cNvSpPr/>
          <p:nvPr/>
        </p:nvSpPr>
        <p:spPr>
          <a:xfrm>
            <a:off x="2926080" y="2743200"/>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36" name="Rounded Rectangle 35"/>
          <p:cNvSpPr/>
          <p:nvPr/>
        </p:nvSpPr>
        <p:spPr>
          <a:xfrm>
            <a:off x="3300984" y="2743200"/>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a:t>
            </a:r>
          </a:p>
        </p:txBody>
      </p:sp>
      <p:sp>
        <p:nvSpPr>
          <p:cNvPr id="37" name="Rounded Rectangle 36"/>
          <p:cNvSpPr/>
          <p:nvPr/>
        </p:nvSpPr>
        <p:spPr>
          <a:xfrm>
            <a:off x="3675888" y="2743200"/>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sat</a:t>
            </a:r>
          </a:p>
        </p:txBody>
      </p:sp>
      <p:sp>
        <p:nvSpPr>
          <p:cNvPr id="38" name="Rounded Rectangle 37"/>
          <p:cNvSpPr/>
          <p:nvPr/>
        </p:nvSpPr>
        <p:spPr>
          <a:xfrm>
            <a:off x="4050792" y="2743200"/>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39" name="Rounded Rectangle 38"/>
          <p:cNvSpPr/>
          <p:nvPr/>
        </p:nvSpPr>
        <p:spPr>
          <a:xfrm>
            <a:off x="5102352" y="2743200"/>
            <a:ext cx="457200"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down</a:t>
            </a:r>
          </a:p>
        </p:txBody>
      </p:sp>
      <p:sp>
        <p:nvSpPr>
          <p:cNvPr id="40" name="TextBox 39"/>
          <p:cNvSpPr txBox="1"/>
          <p:nvPr/>
        </p:nvSpPr>
        <p:spPr>
          <a:xfrm>
            <a:off x="5577840" y="2761488"/>
            <a:ext cx="182880" cy="256032"/>
          </a:xfrm>
          <a:prstGeom prst="rect">
            <a:avLst/>
          </a:prstGeom>
          <a:noFill/>
        </p:spPr>
        <p:txBody>
          <a:bodyPr wrap="square" lIns="0" tIns="0" rIns="0" bIns="0" anchor="t">
            <a:spAutoFit/>
          </a:bodyPr>
          <a:lstStyle/>
          <a:p>
            <a:pPr algn="ctr"/>
            <a:r>
              <a:rPr sz="1200" b="0">
                <a:solidFill>
                  <a:srgbClr val="6B7B8C"/>
                </a:solidFill>
                <a:latin typeface="Roboto"/>
              </a:rPr>
              <a:t>✗</a:t>
            </a:r>
          </a:p>
        </p:txBody>
      </p:sp>
      <p:sp>
        <p:nvSpPr>
          <p:cNvPr id="41" name="Rounded Rectangle 40"/>
          <p:cNvSpPr/>
          <p:nvPr/>
        </p:nvSpPr>
        <p:spPr>
          <a:xfrm>
            <a:off x="5806440" y="2743200"/>
            <a:ext cx="457200" cy="274320"/>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on</a:t>
            </a:r>
          </a:p>
        </p:txBody>
      </p:sp>
      <p:sp>
        <p:nvSpPr>
          <p:cNvPr id="42" name="Rounded Rectangle 41"/>
          <p:cNvSpPr/>
          <p:nvPr/>
        </p:nvSpPr>
        <p:spPr>
          <a:xfrm>
            <a:off x="2926080" y="3145536"/>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43" name="Rounded Rectangle 42"/>
          <p:cNvSpPr/>
          <p:nvPr/>
        </p:nvSpPr>
        <p:spPr>
          <a:xfrm>
            <a:off x="3300984" y="3145536"/>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a:t>
            </a:r>
          </a:p>
        </p:txBody>
      </p:sp>
      <p:sp>
        <p:nvSpPr>
          <p:cNvPr id="44" name="Rounded Rectangle 43"/>
          <p:cNvSpPr/>
          <p:nvPr/>
        </p:nvSpPr>
        <p:spPr>
          <a:xfrm>
            <a:off x="3675888" y="3145536"/>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sat</a:t>
            </a:r>
          </a:p>
        </p:txBody>
      </p:sp>
      <p:sp>
        <p:nvSpPr>
          <p:cNvPr id="45" name="Rounded Rectangle 44"/>
          <p:cNvSpPr/>
          <p:nvPr/>
        </p:nvSpPr>
        <p:spPr>
          <a:xfrm>
            <a:off x="4050792" y="3145536"/>
            <a:ext cx="256032"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on</a:t>
            </a:r>
          </a:p>
        </p:txBody>
      </p:sp>
      <p:sp>
        <p:nvSpPr>
          <p:cNvPr id="46" name="Rounded Rectangle 45"/>
          <p:cNvSpPr/>
          <p:nvPr/>
        </p:nvSpPr>
        <p:spPr>
          <a:xfrm>
            <a:off x="4352544" y="3145536"/>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47" name="Rounded Rectangle 46"/>
          <p:cNvSpPr/>
          <p:nvPr/>
        </p:nvSpPr>
        <p:spPr>
          <a:xfrm>
            <a:off x="5102352" y="3145536"/>
            <a:ext cx="457200"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48" name="TextBox 47"/>
          <p:cNvSpPr txBox="1"/>
          <p:nvPr/>
        </p:nvSpPr>
        <p:spPr>
          <a:xfrm>
            <a:off x="5577840" y="3163824"/>
            <a:ext cx="182880" cy="256032"/>
          </a:xfrm>
          <a:prstGeom prst="rect">
            <a:avLst/>
          </a:prstGeom>
          <a:noFill/>
        </p:spPr>
        <p:txBody>
          <a:bodyPr wrap="square" lIns="0" tIns="0" rIns="0" bIns="0" anchor="t">
            <a:spAutoFit/>
          </a:bodyPr>
          <a:lstStyle/>
          <a:p>
            <a:pPr algn="ctr"/>
            <a:r>
              <a:rPr sz="1200" b="0">
                <a:solidFill>
                  <a:srgbClr val="1B9AAA"/>
                </a:solidFill>
                <a:latin typeface="Roboto"/>
              </a:rPr>
              <a:t>✓</a:t>
            </a:r>
          </a:p>
        </p:txBody>
      </p:sp>
      <p:sp>
        <p:nvSpPr>
          <p:cNvPr id="49" name="Rounded Rectangle 48"/>
          <p:cNvSpPr/>
          <p:nvPr/>
        </p:nvSpPr>
        <p:spPr>
          <a:xfrm>
            <a:off x="2926080" y="3547872"/>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50" name="Rounded Rectangle 49"/>
          <p:cNvSpPr/>
          <p:nvPr/>
        </p:nvSpPr>
        <p:spPr>
          <a:xfrm>
            <a:off x="3300984" y="3547872"/>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cat</a:t>
            </a:r>
          </a:p>
        </p:txBody>
      </p:sp>
      <p:sp>
        <p:nvSpPr>
          <p:cNvPr id="51" name="Rounded Rectangle 50"/>
          <p:cNvSpPr/>
          <p:nvPr/>
        </p:nvSpPr>
        <p:spPr>
          <a:xfrm>
            <a:off x="3675888" y="3547872"/>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sat</a:t>
            </a:r>
          </a:p>
        </p:txBody>
      </p:sp>
      <p:sp>
        <p:nvSpPr>
          <p:cNvPr id="52" name="Rounded Rectangle 51"/>
          <p:cNvSpPr/>
          <p:nvPr/>
        </p:nvSpPr>
        <p:spPr>
          <a:xfrm>
            <a:off x="4050792" y="3547872"/>
            <a:ext cx="256032"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on</a:t>
            </a:r>
          </a:p>
        </p:txBody>
      </p:sp>
      <p:sp>
        <p:nvSpPr>
          <p:cNvPr id="53" name="Rounded Rectangle 52"/>
          <p:cNvSpPr/>
          <p:nvPr/>
        </p:nvSpPr>
        <p:spPr>
          <a:xfrm>
            <a:off x="4352544" y="3547872"/>
            <a:ext cx="329184" cy="27432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the</a:t>
            </a:r>
          </a:p>
        </p:txBody>
      </p:sp>
      <p:sp>
        <p:nvSpPr>
          <p:cNvPr id="54" name="Rounded Rectangle 53"/>
          <p:cNvSpPr/>
          <p:nvPr/>
        </p:nvSpPr>
        <p:spPr>
          <a:xfrm>
            <a:off x="4727448" y="3547872"/>
            <a:ext cx="274320" cy="274320"/>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1B9AAA"/>
                </a:solidFill>
                <a:latin typeface="JetBrains Mono"/>
              </a:rPr>
              <a:t>?</a:t>
            </a:r>
          </a:p>
        </p:txBody>
      </p:sp>
      <p:sp>
        <p:nvSpPr>
          <p:cNvPr id="55" name="Rounded Rectangle 54"/>
          <p:cNvSpPr/>
          <p:nvPr/>
        </p:nvSpPr>
        <p:spPr>
          <a:xfrm>
            <a:off x="5102352" y="3547872"/>
            <a:ext cx="457200" cy="274320"/>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floor</a:t>
            </a:r>
          </a:p>
        </p:txBody>
      </p:sp>
      <p:sp>
        <p:nvSpPr>
          <p:cNvPr id="56" name="TextBox 55"/>
          <p:cNvSpPr txBox="1"/>
          <p:nvPr/>
        </p:nvSpPr>
        <p:spPr>
          <a:xfrm>
            <a:off x="5577840" y="3566160"/>
            <a:ext cx="182880" cy="256032"/>
          </a:xfrm>
          <a:prstGeom prst="rect">
            <a:avLst/>
          </a:prstGeom>
          <a:noFill/>
        </p:spPr>
        <p:txBody>
          <a:bodyPr wrap="square" lIns="0" tIns="0" rIns="0" bIns="0" anchor="t">
            <a:spAutoFit/>
          </a:bodyPr>
          <a:lstStyle/>
          <a:p>
            <a:pPr algn="ctr"/>
            <a:r>
              <a:rPr sz="1200" b="0">
                <a:solidFill>
                  <a:srgbClr val="6B7B8C"/>
                </a:solidFill>
                <a:latin typeface="Roboto"/>
              </a:rPr>
              <a:t>✗</a:t>
            </a:r>
          </a:p>
        </p:txBody>
      </p:sp>
      <p:sp>
        <p:nvSpPr>
          <p:cNvPr id="57" name="Rounded Rectangle 56"/>
          <p:cNvSpPr/>
          <p:nvPr/>
        </p:nvSpPr>
        <p:spPr>
          <a:xfrm>
            <a:off x="5806440" y="3547872"/>
            <a:ext cx="457200" cy="274320"/>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JetBrains Mono"/>
              </a:rPr>
              <a:t>mat</a:t>
            </a:r>
          </a:p>
        </p:txBody>
      </p:sp>
      <p:sp>
        <p:nvSpPr>
          <p:cNvPr id="58" name="Rectangle 57"/>
          <p:cNvSpPr/>
          <p:nvPr/>
        </p:nvSpPr>
        <p:spPr>
          <a:xfrm>
            <a:off x="6510528" y="1325880"/>
            <a:ext cx="2194559"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510528" y="1325880"/>
            <a:ext cx="54864" cy="274320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720840" y="1444752"/>
            <a:ext cx="1920240" cy="228600"/>
          </a:xfrm>
          <a:prstGeom prst="rect">
            <a:avLst/>
          </a:prstGeom>
          <a:noFill/>
        </p:spPr>
        <p:txBody>
          <a:bodyPr wrap="square" lIns="0" tIns="0" rIns="0" bIns="0" anchor="t">
            <a:spAutoFit/>
          </a:bodyPr>
          <a:lstStyle/>
          <a:p>
            <a:pPr algn="l"/>
            <a:r>
              <a:rPr sz="850" b="0" spc="100">
                <a:solidFill>
                  <a:srgbClr val="1B9AAA"/>
                </a:solidFill>
                <a:latin typeface="JetBrains Mono"/>
              </a:rPr>
              <a:t>STEP 3: LEARN &amp; ADJUST</a:t>
            </a:r>
          </a:p>
        </p:txBody>
      </p:sp>
      <p:sp>
        <p:nvSpPr>
          <p:cNvPr id="61" name="Rounded Rectangle 60"/>
          <p:cNvSpPr/>
          <p:nvPr/>
        </p:nvSpPr>
        <p:spPr>
          <a:xfrm>
            <a:off x="6720840" y="1737360"/>
            <a:ext cx="274320"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JetBrains Mono"/>
              </a:rPr>
              <a:t>a</a:t>
            </a:r>
          </a:p>
        </p:txBody>
      </p:sp>
      <p:cxnSp>
        <p:nvCxnSpPr>
          <p:cNvPr id="62" name="Connector 61"/>
          <p:cNvCxnSpPr/>
          <p:nvPr/>
        </p:nvCxnSpPr>
        <p:spPr>
          <a:xfrm>
            <a:off x="6858000" y="2084831"/>
            <a:ext cx="0" cy="411481"/>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059168" y="1746504"/>
            <a:ext cx="1508760" cy="256032"/>
          </a:xfrm>
          <a:prstGeom prst="rect">
            <a:avLst/>
          </a:prstGeom>
          <a:noFill/>
        </p:spPr>
        <p:txBody>
          <a:bodyPr wrap="square" lIns="0" tIns="0" rIns="0" bIns="0" anchor="t">
            <a:spAutoFit/>
          </a:bodyPr>
          <a:lstStyle/>
          <a:p>
            <a:pPr algn="l"/>
            <a:r>
              <a:rPr sz="1500" b="0">
                <a:solidFill>
                  <a:srgbClr val="0D1B2A"/>
                </a:solidFill>
                <a:latin typeface="Oswald"/>
              </a:rPr>
              <a:t>Compare</a:t>
            </a:r>
          </a:p>
        </p:txBody>
      </p:sp>
      <p:sp>
        <p:nvSpPr>
          <p:cNvPr id="64" name="TextBox 63"/>
          <p:cNvSpPr txBox="1"/>
          <p:nvPr/>
        </p:nvSpPr>
        <p:spPr>
          <a:xfrm>
            <a:off x="7059168" y="2048255"/>
            <a:ext cx="1645920" cy="292608"/>
          </a:xfrm>
          <a:prstGeom prst="rect">
            <a:avLst/>
          </a:prstGeom>
          <a:noFill/>
        </p:spPr>
        <p:txBody>
          <a:bodyPr wrap="square" lIns="0" tIns="0" rIns="0" bIns="0" anchor="t">
            <a:spAutoFit/>
          </a:bodyPr>
          <a:lstStyle/>
          <a:p>
            <a:pPr algn="l"/>
            <a:r>
              <a:rPr sz="950" b="0">
                <a:solidFill>
                  <a:srgbClr val="6B7B8C"/>
                </a:solidFill>
                <a:latin typeface="Roboto"/>
              </a:rPr>
              <a:t>How wrong was the guess?</a:t>
            </a:r>
          </a:p>
        </p:txBody>
      </p:sp>
      <p:sp>
        <p:nvSpPr>
          <p:cNvPr id="65" name="TextBox 64"/>
          <p:cNvSpPr txBox="1"/>
          <p:nvPr/>
        </p:nvSpPr>
        <p:spPr>
          <a:xfrm>
            <a:off x="7059168" y="2157984"/>
            <a:ext cx="1554480" cy="128016"/>
          </a:xfrm>
          <a:prstGeom prst="rect">
            <a:avLst/>
          </a:prstGeom>
          <a:noFill/>
        </p:spPr>
        <p:txBody>
          <a:bodyPr wrap="square" lIns="0" tIns="0" rIns="0" bIns="0" anchor="t">
            <a:spAutoFit/>
          </a:bodyPr>
          <a:lstStyle/>
          <a:p>
            <a:pPr algn="l"/>
            <a:r>
              <a:rPr sz="850" b="0">
                <a:solidFill>
                  <a:srgbClr val="1B9AAA"/>
                </a:solidFill>
                <a:latin typeface="JetBrains Mono"/>
              </a:rPr>
              <a:t>(Calculate Loss)</a:t>
            </a:r>
          </a:p>
        </p:txBody>
      </p:sp>
      <p:sp>
        <p:nvSpPr>
          <p:cNvPr id="66" name="Rounded Rectangle 65"/>
          <p:cNvSpPr/>
          <p:nvPr/>
        </p:nvSpPr>
        <p:spPr>
          <a:xfrm>
            <a:off x="6720840" y="2514600"/>
            <a:ext cx="274320"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JetBrains Mono"/>
              </a:rPr>
              <a:t>b</a:t>
            </a:r>
          </a:p>
        </p:txBody>
      </p:sp>
      <p:cxnSp>
        <p:nvCxnSpPr>
          <p:cNvPr id="67" name="Connector 66"/>
          <p:cNvCxnSpPr/>
          <p:nvPr/>
        </p:nvCxnSpPr>
        <p:spPr>
          <a:xfrm>
            <a:off x="6858000" y="2862072"/>
            <a:ext cx="0" cy="41148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059168" y="2523744"/>
            <a:ext cx="1508760" cy="256032"/>
          </a:xfrm>
          <a:prstGeom prst="rect">
            <a:avLst/>
          </a:prstGeom>
          <a:noFill/>
        </p:spPr>
        <p:txBody>
          <a:bodyPr wrap="square" lIns="0" tIns="0" rIns="0" bIns="0" anchor="t">
            <a:spAutoFit/>
          </a:bodyPr>
          <a:lstStyle/>
          <a:p>
            <a:pPr algn="l"/>
            <a:r>
              <a:rPr sz="1500" b="0">
                <a:solidFill>
                  <a:srgbClr val="0D1B2A"/>
                </a:solidFill>
                <a:latin typeface="Oswald"/>
              </a:rPr>
              <a:t>Trace back</a:t>
            </a:r>
          </a:p>
        </p:txBody>
      </p:sp>
      <p:sp>
        <p:nvSpPr>
          <p:cNvPr id="69" name="TextBox 68"/>
          <p:cNvSpPr txBox="1"/>
          <p:nvPr/>
        </p:nvSpPr>
        <p:spPr>
          <a:xfrm>
            <a:off x="7059168" y="2825496"/>
            <a:ext cx="1645920" cy="292608"/>
          </a:xfrm>
          <a:prstGeom prst="rect">
            <a:avLst/>
          </a:prstGeom>
          <a:noFill/>
        </p:spPr>
        <p:txBody>
          <a:bodyPr wrap="square" lIns="0" tIns="0" rIns="0" bIns="0" anchor="t">
            <a:spAutoFit/>
          </a:bodyPr>
          <a:lstStyle/>
          <a:p>
            <a:pPr algn="l"/>
            <a:r>
              <a:rPr sz="950" b="0">
                <a:solidFill>
                  <a:srgbClr val="6B7B8C"/>
                </a:solidFill>
                <a:latin typeface="Roboto"/>
              </a:rPr>
              <a:t>In which direction should each weight move?</a:t>
            </a:r>
          </a:p>
        </p:txBody>
      </p:sp>
      <p:sp>
        <p:nvSpPr>
          <p:cNvPr id="70" name="TextBox 69"/>
          <p:cNvSpPr txBox="1"/>
          <p:nvPr/>
        </p:nvSpPr>
        <p:spPr>
          <a:xfrm>
            <a:off x="7059168" y="3118104"/>
            <a:ext cx="1554480" cy="128016"/>
          </a:xfrm>
          <a:prstGeom prst="rect">
            <a:avLst/>
          </a:prstGeom>
          <a:noFill/>
        </p:spPr>
        <p:txBody>
          <a:bodyPr wrap="square" lIns="0" tIns="0" rIns="0" bIns="0" anchor="t">
            <a:spAutoFit/>
          </a:bodyPr>
          <a:lstStyle/>
          <a:p>
            <a:pPr algn="l"/>
            <a:r>
              <a:rPr sz="850" b="0">
                <a:solidFill>
                  <a:srgbClr val="1B9AAA"/>
                </a:solidFill>
                <a:latin typeface="JetBrains Mono"/>
              </a:rPr>
              <a:t>(Calculate Gradients)</a:t>
            </a:r>
          </a:p>
        </p:txBody>
      </p:sp>
      <p:sp>
        <p:nvSpPr>
          <p:cNvPr id="71" name="Rounded Rectangle 70"/>
          <p:cNvSpPr/>
          <p:nvPr/>
        </p:nvSpPr>
        <p:spPr>
          <a:xfrm>
            <a:off x="6720840" y="3291839"/>
            <a:ext cx="274320"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JetBrains Mono"/>
              </a:rPr>
              <a:t>c</a:t>
            </a:r>
          </a:p>
        </p:txBody>
      </p:sp>
      <p:sp>
        <p:nvSpPr>
          <p:cNvPr id="72" name="TextBox 71"/>
          <p:cNvSpPr txBox="1"/>
          <p:nvPr/>
        </p:nvSpPr>
        <p:spPr>
          <a:xfrm>
            <a:off x="7059168" y="3300983"/>
            <a:ext cx="1508760" cy="256032"/>
          </a:xfrm>
          <a:prstGeom prst="rect">
            <a:avLst/>
          </a:prstGeom>
          <a:noFill/>
        </p:spPr>
        <p:txBody>
          <a:bodyPr wrap="square" lIns="0" tIns="0" rIns="0" bIns="0" anchor="t">
            <a:spAutoFit/>
          </a:bodyPr>
          <a:lstStyle/>
          <a:p>
            <a:pPr algn="l"/>
            <a:r>
              <a:rPr sz="1500" b="0">
                <a:solidFill>
                  <a:srgbClr val="0D1B2A"/>
                </a:solidFill>
                <a:latin typeface="Oswald"/>
              </a:rPr>
              <a:t>Adjust</a:t>
            </a:r>
          </a:p>
        </p:txBody>
      </p:sp>
      <p:sp>
        <p:nvSpPr>
          <p:cNvPr id="73" name="TextBox 72"/>
          <p:cNvSpPr txBox="1"/>
          <p:nvPr/>
        </p:nvSpPr>
        <p:spPr>
          <a:xfrm>
            <a:off x="7059168" y="3602735"/>
            <a:ext cx="1645920" cy="292608"/>
          </a:xfrm>
          <a:prstGeom prst="rect">
            <a:avLst/>
          </a:prstGeom>
          <a:noFill/>
        </p:spPr>
        <p:txBody>
          <a:bodyPr wrap="square" lIns="0" tIns="0" rIns="0" bIns="0" anchor="t">
            <a:spAutoFit/>
          </a:bodyPr>
          <a:lstStyle/>
          <a:p>
            <a:pPr algn="l"/>
            <a:r>
              <a:rPr sz="950" b="0">
                <a:solidFill>
                  <a:srgbClr val="6B7B8C"/>
                </a:solidFill>
                <a:latin typeface="Roboto"/>
              </a:rPr>
              <a:t>Update the weights of the neural network a tiny bit.</a:t>
            </a:r>
          </a:p>
        </p:txBody>
      </p:sp>
      <p:sp>
        <p:nvSpPr>
          <p:cNvPr id="74" name="TextBox 73"/>
          <p:cNvSpPr txBox="1"/>
          <p:nvPr/>
        </p:nvSpPr>
        <p:spPr>
          <a:xfrm>
            <a:off x="6720840" y="3895344"/>
            <a:ext cx="1920239" cy="228600"/>
          </a:xfrm>
          <a:prstGeom prst="rect">
            <a:avLst/>
          </a:prstGeom>
          <a:noFill/>
        </p:spPr>
        <p:txBody>
          <a:bodyPr wrap="square" lIns="0" tIns="0" rIns="0" bIns="0" anchor="t">
            <a:spAutoFit/>
          </a:bodyPr>
          <a:lstStyle/>
          <a:p>
            <a:pPr algn="l"/>
            <a:r>
              <a:rPr sz="900" b="0">
                <a:solidFill>
                  <a:srgbClr val="1B9AAA"/>
                </a:solidFill>
                <a:latin typeface="JetBrains Mono"/>
              </a:rPr>
              <a:t>↻  Repeat with the next batch of text</a:t>
            </a:r>
          </a:p>
        </p:txBody>
      </p:sp>
      <p:sp>
        <p:nvSpPr>
          <p:cNvPr id="75" name="Rectangle 74"/>
          <p:cNvSpPr/>
          <p:nvPr/>
        </p:nvSpPr>
        <p:spPr>
          <a:xfrm>
            <a:off x="576072" y="4297680"/>
            <a:ext cx="54864" cy="457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94944" y="4297680"/>
            <a:ext cx="8138160" cy="457200"/>
          </a:xfrm>
          <a:prstGeom prst="rect">
            <a:avLst/>
          </a:prstGeom>
          <a:noFill/>
        </p:spPr>
        <p:txBody>
          <a:bodyPr wrap="square" lIns="0" tIns="0" rIns="0" bIns="0" anchor="t">
            <a:spAutoFit/>
          </a:bodyPr>
          <a:lstStyle/>
          <a:p>
            <a:pPr algn="l"/>
            <a:r>
              <a:rPr sz="1400" b="0">
                <a:solidFill>
                  <a:srgbClr val="14293D"/>
                </a:solidFill>
                <a:latin typeface="Roboto"/>
              </a:rPr>
              <a:t>The model reads huge amounts of text and practices predicting what comes next. Repeated over trillions of tokens, this simple game teaches the model grammar, facts and style.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92240" y="2377440"/>
            <a:ext cx="3291840" cy="3291840"/>
          </a:xfrm>
          <a:prstGeom prst="ellipse">
            <a:avLst/>
          </a:prstGeom>
          <a:solidFill>
            <a:srgbClr val="1B9AAA">
              <a:alpha val="1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863840" y="1600200"/>
            <a:ext cx="2103120" cy="2103120"/>
          </a:xfrm>
          <a:prstGeom prst="ellipse">
            <a:avLst/>
          </a:prstGeom>
          <a:solidFill>
            <a:srgbClr val="06D6A0">
              <a:alpha val="8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371600"/>
            <a:ext cx="3657600" cy="274320"/>
          </a:xfrm>
          <a:prstGeom prst="rect">
            <a:avLst/>
          </a:prstGeom>
          <a:noFill/>
        </p:spPr>
        <p:txBody>
          <a:bodyPr wrap="square" lIns="0" tIns="0" rIns="0" bIns="0" anchor="t">
            <a:spAutoFit/>
          </a:bodyPr>
          <a:lstStyle/>
          <a:p>
            <a:pPr algn="l"/>
            <a:r>
              <a:rPr sz="1100" b="0" spc="300">
                <a:solidFill>
                  <a:srgbClr val="1B9AAA"/>
                </a:solidFill>
                <a:latin typeface="JetBrains Mono"/>
              </a:rPr>
              <a:t>PART 4 · GENERATIVE AI</a:t>
            </a:r>
          </a:p>
        </p:txBody>
      </p:sp>
      <p:sp>
        <p:nvSpPr>
          <p:cNvPr id="6" name="slide-llm-terms-divider"/>
          <p:cNvSpPr txBox="1"/>
          <p:nvPr/>
        </p:nvSpPr>
        <p:spPr>
          <a:xfrm>
            <a:off x="822960" y="1691640"/>
            <a:ext cx="4937760" cy="1371600"/>
          </a:xfrm>
          <a:prstGeom prst="rect">
            <a:avLst/>
          </a:prstGeom>
          <a:noFill/>
        </p:spPr>
        <p:txBody>
          <a:bodyPr wrap="square" lIns="0" tIns="0" rIns="0" bIns="0" anchor="t">
            <a:spAutoFit/>
          </a:bodyPr>
          <a:lstStyle/>
          <a:p>
            <a:pPr algn="l"/>
            <a:r>
              <a:rPr sz="4000" b="0">
                <a:solidFill>
                  <a:srgbClr val="0D1B2A"/>
                </a:solidFill>
                <a:latin typeface="Oswald"/>
              </a:rPr>
              <a:t>Terms you meet when</a:t>
            </a:r>
          </a:p>
          <a:p>
            <a:pPr algn="l"/>
            <a:r>
              <a:rPr sz="4000" b="0">
                <a:solidFill>
                  <a:srgbClr val="0D1B2A"/>
                </a:solidFill>
                <a:latin typeface="Oswald"/>
              </a:rPr>
              <a:t>working with LLMs</a:t>
            </a:r>
          </a:p>
        </p:txBody>
      </p:sp>
      <p:sp>
        <p:nvSpPr>
          <p:cNvPr id="7" name="Rectangle 6"/>
          <p:cNvSpPr/>
          <p:nvPr/>
        </p:nvSpPr>
        <p:spPr>
          <a:xfrm>
            <a:off x="822960" y="320040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3456432"/>
            <a:ext cx="2098548" cy="32918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Vocabulary &amp; embeddings</a:t>
            </a:r>
          </a:p>
        </p:txBody>
      </p:sp>
      <p:sp>
        <p:nvSpPr>
          <p:cNvPr id="9" name="Rounded Rectangle 8"/>
          <p:cNvSpPr/>
          <p:nvPr/>
        </p:nvSpPr>
        <p:spPr>
          <a:xfrm>
            <a:off x="3031236" y="3456432"/>
            <a:ext cx="777240" cy="32918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Prompt</a:t>
            </a:r>
          </a:p>
        </p:txBody>
      </p:sp>
      <p:sp>
        <p:nvSpPr>
          <p:cNvPr id="10" name="Rounded Rectangle 9"/>
          <p:cNvSpPr/>
          <p:nvPr/>
        </p:nvSpPr>
        <p:spPr>
          <a:xfrm>
            <a:off x="3918204" y="3456432"/>
            <a:ext cx="1399032" cy="32918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Context window</a:t>
            </a:r>
          </a:p>
        </p:txBody>
      </p:sp>
      <p:sp>
        <p:nvSpPr>
          <p:cNvPr id="11" name="Rounded Rectangle 10"/>
          <p:cNvSpPr/>
          <p:nvPr/>
        </p:nvSpPr>
        <p:spPr>
          <a:xfrm>
            <a:off x="5426964" y="3456432"/>
            <a:ext cx="1321308" cy="32918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Hallucination</a:t>
            </a:r>
          </a:p>
        </p:txBody>
      </p:sp>
      <p:sp>
        <p:nvSpPr>
          <p:cNvPr id="12" name="TextBox 11"/>
          <p:cNvSpPr txBox="1"/>
          <p:nvPr/>
        </p:nvSpPr>
        <p:spPr>
          <a:xfrm>
            <a:off x="822960" y="4023360"/>
            <a:ext cx="5486400" cy="228600"/>
          </a:xfrm>
          <a:prstGeom prst="rect">
            <a:avLst/>
          </a:prstGeom>
          <a:noFill/>
        </p:spPr>
        <p:txBody>
          <a:bodyPr wrap="square" lIns="0" tIns="0" rIns="0" bIns="0" anchor="t">
            <a:spAutoFit/>
          </a:bodyPr>
          <a:lstStyle/>
          <a:p>
            <a:pPr algn="l"/>
            <a:r>
              <a:rPr sz="1100" b="0">
                <a:solidFill>
                  <a:srgbClr val="6B7B8C"/>
                </a:solidFill>
                <a:latin typeface="Roboto"/>
              </a:rPr>
              <a:t>The next few slides explain each of them in plain language.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WORKING WITH LLMS · VOCABULARY</a:t>
            </a:r>
          </a:p>
        </p:txBody>
      </p:sp>
      <p:sp>
        <p:nvSpPr>
          <p:cNvPr id="4" name="slide-vocabulary"/>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Vocabulary, token, embedding: one table, three terms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Every model carries a fixed list of tokens. Each entry has a number and a list of numbers.</a:t>
            </a:r>
          </a:p>
        </p:txBody>
      </p:sp>
      <p:sp>
        <p:nvSpPr>
          <p:cNvPr id="6" name="Rectangle 5"/>
          <p:cNvSpPr/>
          <p:nvPr/>
        </p:nvSpPr>
        <p:spPr>
          <a:xfrm>
            <a:off x="566928" y="1783080"/>
            <a:ext cx="5120640"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7432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92807"/>
            <a:ext cx="2743200" cy="228600"/>
          </a:xfrm>
          <a:prstGeom prst="rect">
            <a:avLst/>
          </a:prstGeom>
          <a:noFill/>
        </p:spPr>
        <p:txBody>
          <a:bodyPr wrap="square" lIns="0" tIns="0" rIns="0" bIns="0" anchor="t">
            <a:spAutoFit/>
          </a:bodyPr>
          <a:lstStyle/>
          <a:p>
            <a:pPr algn="l"/>
            <a:r>
              <a:rPr sz="950" b="0" spc="100">
                <a:solidFill>
                  <a:srgbClr val="1B9AAA"/>
                </a:solidFill>
                <a:latin typeface="JetBrains Mono"/>
              </a:rPr>
              <a:t>THE MODEL'S VOCABULARY</a:t>
            </a:r>
          </a:p>
        </p:txBody>
      </p:sp>
      <p:sp>
        <p:nvSpPr>
          <p:cNvPr id="9" name="TextBox 8"/>
          <p:cNvSpPr txBox="1"/>
          <p:nvPr/>
        </p:nvSpPr>
        <p:spPr>
          <a:xfrm>
            <a:off x="841248" y="2212848"/>
            <a:ext cx="777240" cy="228600"/>
          </a:xfrm>
          <a:prstGeom prst="rect">
            <a:avLst/>
          </a:prstGeom>
          <a:noFill/>
        </p:spPr>
        <p:txBody>
          <a:bodyPr wrap="square" lIns="0" tIns="0" rIns="0" bIns="0" anchor="t">
            <a:spAutoFit/>
          </a:bodyPr>
          <a:lstStyle/>
          <a:p>
            <a:pPr algn="l"/>
            <a:r>
              <a:rPr sz="800" b="0" spc="100">
                <a:solidFill>
                  <a:srgbClr val="6B7B8C"/>
                </a:solidFill>
                <a:latin typeface="JetBrains Mono"/>
              </a:rPr>
              <a:t>ID</a:t>
            </a:r>
          </a:p>
        </p:txBody>
      </p:sp>
      <p:sp>
        <p:nvSpPr>
          <p:cNvPr id="10" name="TextBox 9"/>
          <p:cNvSpPr txBox="1"/>
          <p:nvPr/>
        </p:nvSpPr>
        <p:spPr>
          <a:xfrm>
            <a:off x="1691640" y="2212848"/>
            <a:ext cx="1234440" cy="228600"/>
          </a:xfrm>
          <a:prstGeom prst="rect">
            <a:avLst/>
          </a:prstGeom>
          <a:noFill/>
        </p:spPr>
        <p:txBody>
          <a:bodyPr wrap="square" lIns="0" tIns="0" rIns="0" bIns="0" anchor="t">
            <a:spAutoFit/>
          </a:bodyPr>
          <a:lstStyle/>
          <a:p>
            <a:pPr algn="l"/>
            <a:r>
              <a:rPr sz="800" b="0" spc="100">
                <a:solidFill>
                  <a:srgbClr val="6B7B8C"/>
                </a:solidFill>
                <a:latin typeface="JetBrains Mono"/>
              </a:rPr>
              <a:t>TOKEN</a:t>
            </a:r>
          </a:p>
        </p:txBody>
      </p:sp>
      <p:sp>
        <p:nvSpPr>
          <p:cNvPr id="11" name="TextBox 10"/>
          <p:cNvSpPr txBox="1"/>
          <p:nvPr/>
        </p:nvSpPr>
        <p:spPr>
          <a:xfrm>
            <a:off x="3017520" y="2212848"/>
            <a:ext cx="2651760" cy="228600"/>
          </a:xfrm>
          <a:prstGeom prst="rect">
            <a:avLst/>
          </a:prstGeom>
          <a:noFill/>
        </p:spPr>
        <p:txBody>
          <a:bodyPr wrap="square" lIns="0" tIns="0" rIns="0" bIns="0" anchor="t">
            <a:spAutoFit/>
          </a:bodyPr>
          <a:lstStyle/>
          <a:p>
            <a:pPr algn="l"/>
            <a:r>
              <a:rPr sz="800" b="0" spc="100">
                <a:solidFill>
                  <a:srgbClr val="6B7B8C"/>
                </a:solidFill>
                <a:latin typeface="JetBrains Mono"/>
              </a:rPr>
              <a:t>EMBEDDING</a:t>
            </a:r>
          </a:p>
        </p:txBody>
      </p:sp>
      <p:cxnSp>
        <p:nvCxnSpPr>
          <p:cNvPr id="12" name="Connector 11"/>
          <p:cNvCxnSpPr/>
          <p:nvPr/>
        </p:nvCxnSpPr>
        <p:spPr>
          <a:xfrm>
            <a:off x="841248" y="2414016"/>
            <a:ext cx="4828032"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41248" y="2505456"/>
            <a:ext cx="7772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15836</a:t>
            </a:r>
          </a:p>
        </p:txBody>
      </p:sp>
      <p:sp>
        <p:nvSpPr>
          <p:cNvPr id="14" name="Rounded Rectangle 13"/>
          <p:cNvSpPr/>
          <p:nvPr/>
        </p:nvSpPr>
        <p:spPr>
          <a:xfrm>
            <a:off x="1691640" y="2505456"/>
            <a:ext cx="91440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AI</a:t>
            </a:r>
          </a:p>
        </p:txBody>
      </p:sp>
      <p:sp>
        <p:nvSpPr>
          <p:cNvPr id="15" name="TextBox 14"/>
          <p:cNvSpPr txBox="1"/>
          <p:nvPr/>
        </p:nvSpPr>
        <p:spPr>
          <a:xfrm>
            <a:off x="2926080" y="2542032"/>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16" name="TextBox 15"/>
          <p:cNvSpPr txBox="1"/>
          <p:nvPr/>
        </p:nvSpPr>
        <p:spPr>
          <a:xfrm>
            <a:off x="3090672" y="2542032"/>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0.31</a:t>
            </a:r>
          </a:p>
        </p:txBody>
      </p:sp>
      <p:sp>
        <p:nvSpPr>
          <p:cNvPr id="17" name="TextBox 16"/>
          <p:cNvSpPr txBox="1"/>
          <p:nvPr/>
        </p:nvSpPr>
        <p:spPr>
          <a:xfrm>
            <a:off x="3694176" y="2542032"/>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−0.02</a:t>
            </a:r>
          </a:p>
        </p:txBody>
      </p:sp>
      <p:sp>
        <p:nvSpPr>
          <p:cNvPr id="18" name="TextBox 17"/>
          <p:cNvSpPr txBox="1"/>
          <p:nvPr/>
        </p:nvSpPr>
        <p:spPr>
          <a:xfrm>
            <a:off x="4297680" y="2542032"/>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0.77</a:t>
            </a:r>
          </a:p>
        </p:txBody>
      </p:sp>
      <p:sp>
        <p:nvSpPr>
          <p:cNvPr id="19" name="TextBox 18"/>
          <p:cNvSpPr txBox="1"/>
          <p:nvPr/>
        </p:nvSpPr>
        <p:spPr>
          <a:xfrm>
            <a:off x="4901184" y="2542032"/>
            <a:ext cx="603504" cy="201168"/>
          </a:xfrm>
          <a:prstGeom prst="rect">
            <a:avLst/>
          </a:prstGeom>
          <a:noFill/>
        </p:spPr>
        <p:txBody>
          <a:bodyPr wrap="square" lIns="0" tIns="0" rIns="0" bIns="0" anchor="t">
            <a:spAutoFit/>
          </a:bodyPr>
          <a:lstStyle/>
          <a:p>
            <a:pPr algn="ctr"/>
            <a:r>
              <a:rPr sz="900" b="0">
                <a:solidFill>
                  <a:srgbClr val="6B7B8C"/>
                </a:solidFill>
                <a:latin typeface="JetBrains Mono"/>
              </a:rPr>
              <a:t>…</a:t>
            </a:r>
          </a:p>
        </p:txBody>
      </p:sp>
      <p:sp>
        <p:nvSpPr>
          <p:cNvPr id="20" name="TextBox 19"/>
          <p:cNvSpPr txBox="1"/>
          <p:nvPr/>
        </p:nvSpPr>
        <p:spPr>
          <a:xfrm>
            <a:off x="5559552" y="2542032"/>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21" name="Rounded Rectangle 20"/>
          <p:cNvSpPr/>
          <p:nvPr/>
        </p:nvSpPr>
        <p:spPr>
          <a:xfrm>
            <a:off x="841248" y="2834640"/>
            <a:ext cx="7772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3872</a:t>
            </a:r>
          </a:p>
        </p:txBody>
      </p:sp>
      <p:sp>
        <p:nvSpPr>
          <p:cNvPr id="22" name="Rounded Rectangle 21"/>
          <p:cNvSpPr/>
          <p:nvPr/>
        </p:nvSpPr>
        <p:spPr>
          <a:xfrm>
            <a:off x="1691640" y="2834640"/>
            <a:ext cx="91440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makes</a:t>
            </a:r>
          </a:p>
        </p:txBody>
      </p:sp>
      <p:sp>
        <p:nvSpPr>
          <p:cNvPr id="23" name="TextBox 22"/>
          <p:cNvSpPr txBox="1"/>
          <p:nvPr/>
        </p:nvSpPr>
        <p:spPr>
          <a:xfrm>
            <a:off x="2926080" y="2871216"/>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24" name="TextBox 23"/>
          <p:cNvSpPr txBox="1"/>
          <p:nvPr/>
        </p:nvSpPr>
        <p:spPr>
          <a:xfrm>
            <a:off x="3090672" y="2871216"/>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−0.14</a:t>
            </a:r>
          </a:p>
        </p:txBody>
      </p:sp>
      <p:sp>
        <p:nvSpPr>
          <p:cNvPr id="25" name="TextBox 24"/>
          <p:cNvSpPr txBox="1"/>
          <p:nvPr/>
        </p:nvSpPr>
        <p:spPr>
          <a:xfrm>
            <a:off x="3694176" y="2871216"/>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0.62</a:t>
            </a:r>
          </a:p>
        </p:txBody>
      </p:sp>
      <p:sp>
        <p:nvSpPr>
          <p:cNvPr id="26" name="TextBox 25"/>
          <p:cNvSpPr txBox="1"/>
          <p:nvPr/>
        </p:nvSpPr>
        <p:spPr>
          <a:xfrm>
            <a:off x="4297680" y="2871216"/>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0.08</a:t>
            </a:r>
          </a:p>
        </p:txBody>
      </p:sp>
      <p:sp>
        <p:nvSpPr>
          <p:cNvPr id="27" name="TextBox 26"/>
          <p:cNvSpPr txBox="1"/>
          <p:nvPr/>
        </p:nvSpPr>
        <p:spPr>
          <a:xfrm>
            <a:off x="4901184" y="2871216"/>
            <a:ext cx="603504" cy="201168"/>
          </a:xfrm>
          <a:prstGeom prst="rect">
            <a:avLst/>
          </a:prstGeom>
          <a:noFill/>
        </p:spPr>
        <p:txBody>
          <a:bodyPr wrap="square" lIns="0" tIns="0" rIns="0" bIns="0" anchor="t">
            <a:spAutoFit/>
          </a:bodyPr>
          <a:lstStyle/>
          <a:p>
            <a:pPr algn="ctr"/>
            <a:r>
              <a:rPr sz="900" b="0">
                <a:solidFill>
                  <a:srgbClr val="6B7B8C"/>
                </a:solidFill>
                <a:latin typeface="JetBrains Mono"/>
              </a:rPr>
              <a:t>…</a:t>
            </a:r>
          </a:p>
        </p:txBody>
      </p:sp>
      <p:sp>
        <p:nvSpPr>
          <p:cNvPr id="28" name="TextBox 27"/>
          <p:cNvSpPr txBox="1"/>
          <p:nvPr/>
        </p:nvSpPr>
        <p:spPr>
          <a:xfrm>
            <a:off x="5559552" y="2871216"/>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29" name="Rounded Rectangle 28"/>
          <p:cNvSpPr/>
          <p:nvPr/>
        </p:nvSpPr>
        <p:spPr>
          <a:xfrm>
            <a:off x="786384" y="3127248"/>
            <a:ext cx="4937760" cy="329184"/>
          </a:xfrm>
          <a:prstGeom prst="roundRect">
            <a:avLst>
              <a:gd name="adj" fmla="val 13888"/>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41248" y="3163824"/>
            <a:ext cx="777240" cy="256032"/>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27291</a:t>
            </a:r>
          </a:p>
        </p:txBody>
      </p:sp>
      <p:sp>
        <p:nvSpPr>
          <p:cNvPr id="31" name="Rounded Rectangle 30"/>
          <p:cNvSpPr/>
          <p:nvPr/>
        </p:nvSpPr>
        <p:spPr>
          <a:xfrm>
            <a:off x="1691640" y="3163824"/>
            <a:ext cx="914400" cy="256032"/>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pharmac</a:t>
            </a:r>
          </a:p>
        </p:txBody>
      </p:sp>
      <p:sp>
        <p:nvSpPr>
          <p:cNvPr id="32" name="TextBox 31"/>
          <p:cNvSpPr txBox="1"/>
          <p:nvPr/>
        </p:nvSpPr>
        <p:spPr>
          <a:xfrm>
            <a:off x="2926080" y="3200400"/>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33" name="TextBox 32"/>
          <p:cNvSpPr txBox="1"/>
          <p:nvPr/>
        </p:nvSpPr>
        <p:spPr>
          <a:xfrm>
            <a:off x="3090672" y="3200400"/>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0.12</a:t>
            </a:r>
          </a:p>
        </p:txBody>
      </p:sp>
      <p:sp>
        <p:nvSpPr>
          <p:cNvPr id="34" name="TextBox 33"/>
          <p:cNvSpPr txBox="1"/>
          <p:nvPr/>
        </p:nvSpPr>
        <p:spPr>
          <a:xfrm>
            <a:off x="3694176" y="3200400"/>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−0.48</a:t>
            </a:r>
          </a:p>
        </p:txBody>
      </p:sp>
      <p:sp>
        <p:nvSpPr>
          <p:cNvPr id="35" name="TextBox 34"/>
          <p:cNvSpPr txBox="1"/>
          <p:nvPr/>
        </p:nvSpPr>
        <p:spPr>
          <a:xfrm>
            <a:off x="4297680" y="3200400"/>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0.91</a:t>
            </a:r>
          </a:p>
        </p:txBody>
      </p:sp>
      <p:sp>
        <p:nvSpPr>
          <p:cNvPr id="36" name="TextBox 35"/>
          <p:cNvSpPr txBox="1"/>
          <p:nvPr/>
        </p:nvSpPr>
        <p:spPr>
          <a:xfrm>
            <a:off x="4901184" y="3200400"/>
            <a:ext cx="603504" cy="201168"/>
          </a:xfrm>
          <a:prstGeom prst="rect">
            <a:avLst/>
          </a:prstGeom>
          <a:noFill/>
        </p:spPr>
        <p:txBody>
          <a:bodyPr wrap="square" lIns="0" tIns="0" rIns="0" bIns="0" anchor="t">
            <a:spAutoFit/>
          </a:bodyPr>
          <a:lstStyle/>
          <a:p>
            <a:pPr algn="ctr"/>
            <a:r>
              <a:rPr sz="900" b="0">
                <a:solidFill>
                  <a:srgbClr val="6B7B8C"/>
                </a:solidFill>
                <a:latin typeface="JetBrains Mono"/>
              </a:rPr>
              <a:t>…</a:t>
            </a:r>
          </a:p>
        </p:txBody>
      </p:sp>
      <p:sp>
        <p:nvSpPr>
          <p:cNvPr id="37" name="TextBox 36"/>
          <p:cNvSpPr txBox="1"/>
          <p:nvPr/>
        </p:nvSpPr>
        <p:spPr>
          <a:xfrm>
            <a:off x="5559552" y="3200400"/>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38" name="Rounded Rectangle 37"/>
          <p:cNvSpPr/>
          <p:nvPr/>
        </p:nvSpPr>
        <p:spPr>
          <a:xfrm>
            <a:off x="841248" y="3493008"/>
            <a:ext cx="7772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9013</a:t>
            </a:r>
          </a:p>
        </p:txBody>
      </p:sp>
      <p:sp>
        <p:nvSpPr>
          <p:cNvPr id="39" name="Rounded Rectangle 38"/>
          <p:cNvSpPr/>
          <p:nvPr/>
        </p:nvSpPr>
        <p:spPr>
          <a:xfrm>
            <a:off x="1691640" y="3493008"/>
            <a:ext cx="91440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easier</a:t>
            </a:r>
          </a:p>
        </p:txBody>
      </p:sp>
      <p:sp>
        <p:nvSpPr>
          <p:cNvPr id="40" name="TextBox 39"/>
          <p:cNvSpPr txBox="1"/>
          <p:nvPr/>
        </p:nvSpPr>
        <p:spPr>
          <a:xfrm>
            <a:off x="2926080" y="3529584"/>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41" name="TextBox 40"/>
          <p:cNvSpPr txBox="1"/>
          <p:nvPr/>
        </p:nvSpPr>
        <p:spPr>
          <a:xfrm>
            <a:off x="3090672" y="3529584"/>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0.55</a:t>
            </a:r>
          </a:p>
        </p:txBody>
      </p:sp>
      <p:sp>
        <p:nvSpPr>
          <p:cNvPr id="42" name="TextBox 41"/>
          <p:cNvSpPr txBox="1"/>
          <p:nvPr/>
        </p:nvSpPr>
        <p:spPr>
          <a:xfrm>
            <a:off x="3694176" y="3529584"/>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0.27</a:t>
            </a:r>
          </a:p>
        </p:txBody>
      </p:sp>
      <p:sp>
        <p:nvSpPr>
          <p:cNvPr id="43" name="TextBox 42"/>
          <p:cNvSpPr txBox="1"/>
          <p:nvPr/>
        </p:nvSpPr>
        <p:spPr>
          <a:xfrm>
            <a:off x="4297680" y="3529584"/>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−0.36</a:t>
            </a:r>
          </a:p>
        </p:txBody>
      </p:sp>
      <p:sp>
        <p:nvSpPr>
          <p:cNvPr id="44" name="TextBox 43"/>
          <p:cNvSpPr txBox="1"/>
          <p:nvPr/>
        </p:nvSpPr>
        <p:spPr>
          <a:xfrm>
            <a:off x="4901184" y="3529584"/>
            <a:ext cx="603504" cy="201168"/>
          </a:xfrm>
          <a:prstGeom prst="rect">
            <a:avLst/>
          </a:prstGeom>
          <a:noFill/>
        </p:spPr>
        <p:txBody>
          <a:bodyPr wrap="square" lIns="0" tIns="0" rIns="0" bIns="0" anchor="t">
            <a:spAutoFit/>
          </a:bodyPr>
          <a:lstStyle/>
          <a:p>
            <a:pPr algn="ctr"/>
            <a:r>
              <a:rPr sz="900" b="0">
                <a:solidFill>
                  <a:srgbClr val="6B7B8C"/>
                </a:solidFill>
                <a:latin typeface="JetBrains Mono"/>
              </a:rPr>
              <a:t>…</a:t>
            </a:r>
          </a:p>
        </p:txBody>
      </p:sp>
      <p:sp>
        <p:nvSpPr>
          <p:cNvPr id="45" name="TextBox 44"/>
          <p:cNvSpPr txBox="1"/>
          <p:nvPr/>
        </p:nvSpPr>
        <p:spPr>
          <a:xfrm>
            <a:off x="5559552" y="3529584"/>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46" name="Rounded Rectangle 45"/>
          <p:cNvSpPr/>
          <p:nvPr/>
        </p:nvSpPr>
        <p:spPr>
          <a:xfrm>
            <a:off x="841248" y="3822191"/>
            <a:ext cx="77724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13</a:t>
            </a:r>
          </a:p>
        </p:txBody>
      </p:sp>
      <p:sp>
        <p:nvSpPr>
          <p:cNvPr id="47" name="Rounded Rectangle 46"/>
          <p:cNvSpPr/>
          <p:nvPr/>
        </p:nvSpPr>
        <p:spPr>
          <a:xfrm>
            <a:off x="1691640" y="3822191"/>
            <a:ext cx="91440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a:t>
            </a:r>
          </a:p>
        </p:txBody>
      </p:sp>
      <p:sp>
        <p:nvSpPr>
          <p:cNvPr id="48" name="TextBox 47"/>
          <p:cNvSpPr txBox="1"/>
          <p:nvPr/>
        </p:nvSpPr>
        <p:spPr>
          <a:xfrm>
            <a:off x="2926080" y="3858768"/>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49" name="TextBox 48"/>
          <p:cNvSpPr txBox="1"/>
          <p:nvPr/>
        </p:nvSpPr>
        <p:spPr>
          <a:xfrm>
            <a:off x="3090672" y="3858768"/>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0.04</a:t>
            </a:r>
          </a:p>
        </p:txBody>
      </p:sp>
      <p:sp>
        <p:nvSpPr>
          <p:cNvPr id="50" name="TextBox 49"/>
          <p:cNvSpPr txBox="1"/>
          <p:nvPr/>
        </p:nvSpPr>
        <p:spPr>
          <a:xfrm>
            <a:off x="3694176" y="3858768"/>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−0.11</a:t>
            </a:r>
          </a:p>
        </p:txBody>
      </p:sp>
      <p:sp>
        <p:nvSpPr>
          <p:cNvPr id="51" name="TextBox 50"/>
          <p:cNvSpPr txBox="1"/>
          <p:nvPr/>
        </p:nvSpPr>
        <p:spPr>
          <a:xfrm>
            <a:off x="4297680" y="3858768"/>
            <a:ext cx="603504" cy="201168"/>
          </a:xfrm>
          <a:prstGeom prst="rect">
            <a:avLst/>
          </a:prstGeom>
          <a:noFill/>
        </p:spPr>
        <p:txBody>
          <a:bodyPr wrap="square" lIns="0" tIns="0" rIns="0" bIns="0" anchor="t">
            <a:spAutoFit/>
          </a:bodyPr>
          <a:lstStyle/>
          <a:p>
            <a:pPr algn="ctr"/>
            <a:r>
              <a:rPr sz="900" b="0">
                <a:solidFill>
                  <a:srgbClr val="0D1B2A"/>
                </a:solidFill>
                <a:latin typeface="JetBrains Mono"/>
              </a:rPr>
              <a:t>0.19</a:t>
            </a:r>
          </a:p>
        </p:txBody>
      </p:sp>
      <p:sp>
        <p:nvSpPr>
          <p:cNvPr id="52" name="TextBox 51"/>
          <p:cNvSpPr txBox="1"/>
          <p:nvPr/>
        </p:nvSpPr>
        <p:spPr>
          <a:xfrm>
            <a:off x="4901184" y="3858768"/>
            <a:ext cx="603504" cy="201168"/>
          </a:xfrm>
          <a:prstGeom prst="rect">
            <a:avLst/>
          </a:prstGeom>
          <a:noFill/>
        </p:spPr>
        <p:txBody>
          <a:bodyPr wrap="square" lIns="0" tIns="0" rIns="0" bIns="0" anchor="t">
            <a:spAutoFit/>
          </a:bodyPr>
          <a:lstStyle/>
          <a:p>
            <a:pPr algn="ctr"/>
            <a:r>
              <a:rPr sz="900" b="0">
                <a:solidFill>
                  <a:srgbClr val="6B7B8C"/>
                </a:solidFill>
                <a:latin typeface="JetBrains Mono"/>
              </a:rPr>
              <a:t>…</a:t>
            </a:r>
          </a:p>
        </p:txBody>
      </p:sp>
      <p:sp>
        <p:nvSpPr>
          <p:cNvPr id="53" name="TextBox 52"/>
          <p:cNvSpPr txBox="1"/>
          <p:nvPr/>
        </p:nvSpPr>
        <p:spPr>
          <a:xfrm>
            <a:off x="5559552" y="3858768"/>
            <a:ext cx="182880" cy="201168"/>
          </a:xfrm>
          <a:prstGeom prst="rect">
            <a:avLst/>
          </a:prstGeom>
          <a:noFill/>
        </p:spPr>
        <p:txBody>
          <a:bodyPr wrap="square" lIns="0" tIns="0" rIns="0" bIns="0" anchor="t">
            <a:spAutoFit/>
          </a:bodyPr>
          <a:lstStyle/>
          <a:p>
            <a:pPr algn="l"/>
            <a:r>
              <a:rPr sz="900" b="0">
                <a:solidFill>
                  <a:srgbClr val="6B7B8C"/>
                </a:solidFill>
                <a:latin typeface="JetBrains Mono"/>
              </a:rPr>
              <a:t>]</a:t>
            </a:r>
          </a:p>
        </p:txBody>
      </p:sp>
      <p:sp>
        <p:nvSpPr>
          <p:cNvPr id="54" name="TextBox 53"/>
          <p:cNvSpPr txBox="1"/>
          <p:nvPr/>
        </p:nvSpPr>
        <p:spPr>
          <a:xfrm>
            <a:off x="841248" y="4206240"/>
            <a:ext cx="3200400" cy="201168"/>
          </a:xfrm>
          <a:prstGeom prst="rect">
            <a:avLst/>
          </a:prstGeom>
          <a:noFill/>
        </p:spPr>
        <p:txBody>
          <a:bodyPr wrap="square" lIns="0" tIns="0" rIns="0" bIns="0" anchor="t">
            <a:spAutoFit/>
          </a:bodyPr>
          <a:lstStyle/>
          <a:p>
            <a:pPr algn="l"/>
            <a:r>
              <a:rPr sz="950" b="0">
                <a:solidFill>
                  <a:srgbClr val="6B7B8C"/>
                </a:solidFill>
                <a:latin typeface="Roboto"/>
              </a:rPr>
              <a:t>… and roughly 100,000 more rows.</a:t>
            </a:r>
          </a:p>
        </p:txBody>
      </p:sp>
      <p:sp>
        <p:nvSpPr>
          <p:cNvPr id="55" name="Rectangle 54"/>
          <p:cNvSpPr/>
          <p:nvPr/>
        </p:nvSpPr>
        <p:spPr>
          <a:xfrm>
            <a:off x="5897880" y="1783080"/>
            <a:ext cx="2807208" cy="859536"/>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897880" y="1783080"/>
            <a:ext cx="54864" cy="85953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108192" y="1892807"/>
            <a:ext cx="2441448" cy="256032"/>
          </a:xfrm>
          <a:prstGeom prst="rect">
            <a:avLst/>
          </a:prstGeom>
          <a:noFill/>
        </p:spPr>
        <p:txBody>
          <a:bodyPr wrap="square" lIns="0" tIns="0" rIns="0" bIns="0" anchor="t">
            <a:spAutoFit/>
          </a:bodyPr>
          <a:lstStyle/>
          <a:p>
            <a:pPr algn="l"/>
            <a:r>
              <a:rPr sz="1500" b="0">
                <a:solidFill>
                  <a:srgbClr val="1B9AAA"/>
                </a:solidFill>
                <a:latin typeface="Oswald"/>
              </a:rPr>
              <a:t>Vocabulary</a:t>
            </a:r>
          </a:p>
        </p:txBody>
      </p:sp>
      <p:sp>
        <p:nvSpPr>
          <p:cNvPr id="58" name="TextBox 57"/>
          <p:cNvSpPr txBox="1"/>
          <p:nvPr/>
        </p:nvSpPr>
        <p:spPr>
          <a:xfrm>
            <a:off x="6108192" y="2167128"/>
            <a:ext cx="2441448" cy="411480"/>
          </a:xfrm>
          <a:prstGeom prst="rect">
            <a:avLst/>
          </a:prstGeom>
          <a:noFill/>
        </p:spPr>
        <p:txBody>
          <a:bodyPr wrap="square" lIns="0" tIns="0" rIns="0" bIns="0" anchor="t">
            <a:spAutoFit/>
          </a:bodyPr>
          <a:lstStyle/>
          <a:p>
            <a:pPr algn="l"/>
            <a:r>
              <a:rPr sz="1000" b="0">
                <a:solidFill>
                  <a:srgbClr val="14293D"/>
                </a:solidFill>
                <a:latin typeface="Roboto"/>
              </a:rPr>
              <a:t>The fixed list of all tokens a model knows — typically 50,000 to 200,000 entries.</a:t>
            </a:r>
          </a:p>
        </p:txBody>
      </p:sp>
      <p:sp>
        <p:nvSpPr>
          <p:cNvPr id="59" name="Rectangle 58"/>
          <p:cNvSpPr/>
          <p:nvPr/>
        </p:nvSpPr>
        <p:spPr>
          <a:xfrm>
            <a:off x="5897880" y="2734056"/>
            <a:ext cx="2807208" cy="859536"/>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897880" y="2734056"/>
            <a:ext cx="54864" cy="859536"/>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108192" y="2843784"/>
            <a:ext cx="2441448" cy="256032"/>
          </a:xfrm>
          <a:prstGeom prst="rect">
            <a:avLst/>
          </a:prstGeom>
          <a:noFill/>
        </p:spPr>
        <p:txBody>
          <a:bodyPr wrap="square" lIns="0" tIns="0" rIns="0" bIns="0" anchor="t">
            <a:spAutoFit/>
          </a:bodyPr>
          <a:lstStyle/>
          <a:p>
            <a:pPr algn="l"/>
            <a:r>
              <a:rPr sz="1500" b="0">
                <a:solidFill>
                  <a:srgbClr val="06D6A0"/>
                </a:solidFill>
                <a:latin typeface="Oswald"/>
              </a:rPr>
              <a:t>Token</a:t>
            </a:r>
          </a:p>
        </p:txBody>
      </p:sp>
      <p:sp>
        <p:nvSpPr>
          <p:cNvPr id="62" name="TextBox 61"/>
          <p:cNvSpPr txBox="1"/>
          <p:nvPr/>
        </p:nvSpPr>
        <p:spPr>
          <a:xfrm>
            <a:off x="6108192" y="3118104"/>
            <a:ext cx="2441448" cy="411480"/>
          </a:xfrm>
          <a:prstGeom prst="rect">
            <a:avLst/>
          </a:prstGeom>
          <a:noFill/>
        </p:spPr>
        <p:txBody>
          <a:bodyPr wrap="square" lIns="0" tIns="0" rIns="0" bIns="0" anchor="t">
            <a:spAutoFit/>
          </a:bodyPr>
          <a:lstStyle/>
          <a:p>
            <a:pPr algn="l"/>
            <a:r>
              <a:rPr sz="1000" b="0">
                <a:solidFill>
                  <a:srgbClr val="14293D"/>
                </a:solidFill>
                <a:latin typeface="Roboto"/>
              </a:rPr>
              <a:t>One entry in that list: a word, part of a word or a punctuation mark.</a:t>
            </a:r>
          </a:p>
        </p:txBody>
      </p:sp>
      <p:sp>
        <p:nvSpPr>
          <p:cNvPr id="63" name="Rectangle 62"/>
          <p:cNvSpPr/>
          <p:nvPr/>
        </p:nvSpPr>
        <p:spPr>
          <a:xfrm>
            <a:off x="5897880" y="3685032"/>
            <a:ext cx="2807208" cy="859536"/>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5897880" y="3685032"/>
            <a:ext cx="54864" cy="859536"/>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108192" y="3794760"/>
            <a:ext cx="2441448" cy="256032"/>
          </a:xfrm>
          <a:prstGeom prst="rect">
            <a:avLst/>
          </a:prstGeom>
          <a:noFill/>
        </p:spPr>
        <p:txBody>
          <a:bodyPr wrap="square" lIns="0" tIns="0" rIns="0" bIns="0" anchor="t">
            <a:spAutoFit/>
          </a:bodyPr>
          <a:lstStyle/>
          <a:p>
            <a:pPr algn="l"/>
            <a:r>
              <a:rPr sz="1500" b="0">
                <a:solidFill>
                  <a:srgbClr val="0D1B2A"/>
                </a:solidFill>
                <a:latin typeface="Oswald"/>
              </a:rPr>
              <a:t>Embedding</a:t>
            </a:r>
          </a:p>
        </p:txBody>
      </p:sp>
      <p:sp>
        <p:nvSpPr>
          <p:cNvPr id="66" name="TextBox 65"/>
          <p:cNvSpPr txBox="1"/>
          <p:nvPr/>
        </p:nvSpPr>
        <p:spPr>
          <a:xfrm>
            <a:off x="6108192" y="4069080"/>
            <a:ext cx="2441448" cy="411480"/>
          </a:xfrm>
          <a:prstGeom prst="rect">
            <a:avLst/>
          </a:prstGeom>
          <a:noFill/>
        </p:spPr>
        <p:txBody>
          <a:bodyPr wrap="square" lIns="0" tIns="0" rIns="0" bIns="0" anchor="t">
            <a:spAutoFit/>
          </a:bodyPr>
          <a:lstStyle/>
          <a:p>
            <a:pPr algn="l"/>
            <a:r>
              <a:rPr sz="1000" b="0">
                <a:solidFill>
                  <a:srgbClr val="14293D"/>
                </a:solidFill>
                <a:latin typeface="Roboto"/>
              </a:rPr>
              <a:t>The list of numbers stored for each entry, learned during training.</a:t>
            </a:r>
          </a:p>
        </p:txBody>
      </p:sp>
      <p:sp>
        <p:nvSpPr>
          <p:cNvPr id="67" name="Rectangle 66"/>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Same text, different model, different vocabulary — which is why token counts and prices differ.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WORKING WITH LLMS · PROMPT</a:t>
            </a:r>
          </a:p>
        </p:txBody>
      </p:sp>
      <p:sp>
        <p:nvSpPr>
          <p:cNvPr id="4" name="slide-prompt"/>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The prompt: what you give the model</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250" b="0">
                <a:solidFill>
                  <a:srgbClr val="14293D"/>
                </a:solidFill>
                <a:latin typeface="Roboto"/>
              </a:rPr>
              <a:t>A prompt is the input you provide to the model, mostly a question or instruction plus some context. A good prompt nudges the generation process of the model in the right direction. Better input means better output.</a:t>
            </a:r>
          </a:p>
        </p:txBody>
      </p:sp>
      <p:sp>
        <p:nvSpPr>
          <p:cNvPr id="6" name="Rounded Rectangle 5"/>
          <p:cNvSpPr/>
          <p:nvPr/>
        </p:nvSpPr>
        <p:spPr>
          <a:xfrm>
            <a:off x="566928" y="1874519"/>
            <a:ext cx="4114800" cy="2377440"/>
          </a:xfrm>
          <a:prstGeom prst="roundRect">
            <a:avLst>
              <a:gd name="adj" fmla="val 4615"/>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002536"/>
            <a:ext cx="1828800" cy="228600"/>
          </a:xfrm>
          <a:prstGeom prst="rect">
            <a:avLst/>
          </a:prstGeom>
          <a:noFill/>
        </p:spPr>
        <p:txBody>
          <a:bodyPr wrap="square" lIns="0" tIns="0" rIns="0" bIns="0" anchor="t">
            <a:spAutoFit/>
          </a:bodyPr>
          <a:lstStyle/>
          <a:p>
            <a:pPr algn="l"/>
            <a:r>
              <a:rPr sz="950" b="0" spc="100">
                <a:solidFill>
                  <a:srgbClr val="1B9AAA"/>
                </a:solidFill>
                <a:latin typeface="JetBrains Mono"/>
              </a:rPr>
              <a:t>CHAT INPUT</a:t>
            </a:r>
          </a:p>
        </p:txBody>
      </p:sp>
      <p:sp>
        <p:nvSpPr>
          <p:cNvPr id="8" name="Rounded Rectangle 7"/>
          <p:cNvSpPr/>
          <p:nvPr/>
        </p:nvSpPr>
        <p:spPr>
          <a:xfrm>
            <a:off x="768096" y="2295144"/>
            <a:ext cx="3712463" cy="292608"/>
          </a:xfrm>
          <a:prstGeom prst="roundRect">
            <a:avLst>
              <a:gd name="adj" fmla="val 15625"/>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350008"/>
            <a:ext cx="2971800" cy="201168"/>
          </a:xfrm>
          <a:prstGeom prst="rect">
            <a:avLst/>
          </a:prstGeom>
          <a:noFill/>
        </p:spPr>
        <p:txBody>
          <a:bodyPr wrap="square" lIns="0" tIns="0" rIns="0" bIns="0" anchor="t">
            <a:spAutoFit/>
          </a:bodyPr>
          <a:lstStyle/>
          <a:p>
            <a:pPr algn="l"/>
            <a:r>
              <a:rPr sz="1050" b="0">
                <a:solidFill>
                  <a:srgbClr val="0D1B2A"/>
                </a:solidFill>
                <a:latin typeface="Roboto"/>
              </a:rPr>
              <a:t>You are an experienced science writer.</a:t>
            </a:r>
          </a:p>
        </p:txBody>
      </p:sp>
      <p:sp>
        <p:nvSpPr>
          <p:cNvPr id="10" name="TextBox 9"/>
          <p:cNvSpPr txBox="1"/>
          <p:nvPr/>
        </p:nvSpPr>
        <p:spPr>
          <a:xfrm>
            <a:off x="3767328" y="2368296"/>
            <a:ext cx="685800" cy="164592"/>
          </a:xfrm>
          <a:prstGeom prst="rect">
            <a:avLst/>
          </a:prstGeom>
          <a:noFill/>
        </p:spPr>
        <p:txBody>
          <a:bodyPr wrap="square" lIns="0" tIns="0" rIns="0" bIns="0" anchor="t">
            <a:spAutoFit/>
          </a:bodyPr>
          <a:lstStyle/>
          <a:p>
            <a:pPr algn="r"/>
            <a:r>
              <a:rPr sz="750" b="0">
                <a:solidFill>
                  <a:srgbClr val="6B7B8C"/>
                </a:solidFill>
                <a:latin typeface="JetBrains Mono"/>
              </a:rPr>
              <a:t>ROLE</a:t>
            </a:r>
          </a:p>
        </p:txBody>
      </p:sp>
      <p:sp>
        <p:nvSpPr>
          <p:cNvPr id="11" name="Rounded Rectangle 10"/>
          <p:cNvSpPr/>
          <p:nvPr/>
        </p:nvSpPr>
        <p:spPr>
          <a:xfrm>
            <a:off x="768096" y="2642615"/>
            <a:ext cx="3712463" cy="292608"/>
          </a:xfrm>
          <a:prstGeom prst="roundRect">
            <a:avLst>
              <a:gd name="adj" fmla="val 15625"/>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697479"/>
            <a:ext cx="2971800" cy="201168"/>
          </a:xfrm>
          <a:prstGeom prst="rect">
            <a:avLst/>
          </a:prstGeom>
          <a:noFill/>
        </p:spPr>
        <p:txBody>
          <a:bodyPr wrap="square" lIns="0" tIns="0" rIns="0" bIns="0" anchor="t">
            <a:spAutoFit/>
          </a:bodyPr>
          <a:lstStyle/>
          <a:p>
            <a:pPr algn="l"/>
            <a:r>
              <a:rPr sz="1050" b="0">
                <a:solidFill>
                  <a:srgbClr val="0D1B2A"/>
                </a:solidFill>
                <a:latin typeface="Roboto"/>
              </a:rPr>
              <a:t>Summarize the attached study report</a:t>
            </a:r>
          </a:p>
        </p:txBody>
      </p:sp>
      <p:sp>
        <p:nvSpPr>
          <p:cNvPr id="13" name="TextBox 12"/>
          <p:cNvSpPr txBox="1"/>
          <p:nvPr/>
        </p:nvSpPr>
        <p:spPr>
          <a:xfrm>
            <a:off x="3767328" y="2715768"/>
            <a:ext cx="685800" cy="164592"/>
          </a:xfrm>
          <a:prstGeom prst="rect">
            <a:avLst/>
          </a:prstGeom>
          <a:noFill/>
        </p:spPr>
        <p:txBody>
          <a:bodyPr wrap="square" lIns="0" tIns="0" rIns="0" bIns="0" anchor="t">
            <a:spAutoFit/>
          </a:bodyPr>
          <a:lstStyle/>
          <a:p>
            <a:pPr algn="r"/>
            <a:r>
              <a:rPr sz="750" b="0">
                <a:solidFill>
                  <a:srgbClr val="6B7B8C"/>
                </a:solidFill>
                <a:latin typeface="JetBrains Mono"/>
              </a:rPr>
              <a:t>TASK</a:t>
            </a:r>
          </a:p>
        </p:txBody>
      </p:sp>
      <p:sp>
        <p:nvSpPr>
          <p:cNvPr id="14" name="Rounded Rectangle 13"/>
          <p:cNvSpPr/>
          <p:nvPr/>
        </p:nvSpPr>
        <p:spPr>
          <a:xfrm>
            <a:off x="768096" y="2990087"/>
            <a:ext cx="3712463" cy="292608"/>
          </a:xfrm>
          <a:prstGeom prst="roundRect">
            <a:avLst>
              <a:gd name="adj" fmla="val 15625"/>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044951"/>
            <a:ext cx="2971800" cy="201168"/>
          </a:xfrm>
          <a:prstGeom prst="rect">
            <a:avLst/>
          </a:prstGeom>
          <a:noFill/>
        </p:spPr>
        <p:txBody>
          <a:bodyPr wrap="square" lIns="0" tIns="0" rIns="0" bIns="0" anchor="t">
            <a:spAutoFit/>
          </a:bodyPr>
          <a:lstStyle/>
          <a:p>
            <a:pPr algn="l"/>
            <a:r>
              <a:rPr sz="1050" b="0">
                <a:solidFill>
                  <a:srgbClr val="0D1B2A"/>
                </a:solidFill>
                <a:latin typeface="Roboto"/>
              </a:rPr>
              <a:t>for colleagues without a medical background</a:t>
            </a:r>
          </a:p>
        </p:txBody>
      </p:sp>
      <p:sp>
        <p:nvSpPr>
          <p:cNvPr id="16" name="TextBox 15"/>
          <p:cNvSpPr txBox="1"/>
          <p:nvPr/>
        </p:nvSpPr>
        <p:spPr>
          <a:xfrm>
            <a:off x="3767328" y="3063239"/>
            <a:ext cx="685800" cy="164592"/>
          </a:xfrm>
          <a:prstGeom prst="rect">
            <a:avLst/>
          </a:prstGeom>
          <a:noFill/>
        </p:spPr>
        <p:txBody>
          <a:bodyPr wrap="square" lIns="0" tIns="0" rIns="0" bIns="0" anchor="t">
            <a:spAutoFit/>
          </a:bodyPr>
          <a:lstStyle/>
          <a:p>
            <a:pPr algn="r"/>
            <a:r>
              <a:rPr sz="750" b="0">
                <a:solidFill>
                  <a:srgbClr val="6B7B8C"/>
                </a:solidFill>
                <a:latin typeface="JetBrains Mono"/>
              </a:rPr>
              <a:t>CONTEXT</a:t>
            </a:r>
          </a:p>
        </p:txBody>
      </p:sp>
      <p:sp>
        <p:nvSpPr>
          <p:cNvPr id="17" name="Rounded Rectangle 16"/>
          <p:cNvSpPr/>
          <p:nvPr/>
        </p:nvSpPr>
        <p:spPr>
          <a:xfrm>
            <a:off x="768096" y="3337559"/>
            <a:ext cx="3712463" cy="292608"/>
          </a:xfrm>
          <a:prstGeom prst="roundRect">
            <a:avLst>
              <a:gd name="adj" fmla="val 15625"/>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3392423"/>
            <a:ext cx="2971800" cy="201168"/>
          </a:xfrm>
          <a:prstGeom prst="rect">
            <a:avLst/>
          </a:prstGeom>
          <a:noFill/>
        </p:spPr>
        <p:txBody>
          <a:bodyPr wrap="square" lIns="0" tIns="0" rIns="0" bIns="0" anchor="t">
            <a:spAutoFit/>
          </a:bodyPr>
          <a:lstStyle/>
          <a:p>
            <a:pPr algn="l"/>
            <a:r>
              <a:rPr sz="1050" b="0">
                <a:solidFill>
                  <a:srgbClr val="0D1B2A"/>
                </a:solidFill>
                <a:latin typeface="Roboto"/>
              </a:rPr>
              <a:t>in five short bullet points.</a:t>
            </a:r>
          </a:p>
        </p:txBody>
      </p:sp>
      <p:sp>
        <p:nvSpPr>
          <p:cNvPr id="19" name="TextBox 18"/>
          <p:cNvSpPr txBox="1"/>
          <p:nvPr/>
        </p:nvSpPr>
        <p:spPr>
          <a:xfrm>
            <a:off x="3767328" y="3410711"/>
            <a:ext cx="685800" cy="164592"/>
          </a:xfrm>
          <a:prstGeom prst="rect">
            <a:avLst/>
          </a:prstGeom>
          <a:noFill/>
        </p:spPr>
        <p:txBody>
          <a:bodyPr wrap="square" lIns="0" tIns="0" rIns="0" bIns="0" anchor="t">
            <a:spAutoFit/>
          </a:bodyPr>
          <a:lstStyle/>
          <a:p>
            <a:pPr algn="r"/>
            <a:r>
              <a:rPr sz="750" b="0">
                <a:solidFill>
                  <a:srgbClr val="6B7B8C"/>
                </a:solidFill>
                <a:latin typeface="JetBrains Mono"/>
              </a:rPr>
              <a:t>FORMAT</a:t>
            </a:r>
          </a:p>
        </p:txBody>
      </p:sp>
      <p:sp>
        <p:nvSpPr>
          <p:cNvPr id="20" name="Rounded Rectangle 19"/>
          <p:cNvSpPr/>
          <p:nvPr/>
        </p:nvSpPr>
        <p:spPr>
          <a:xfrm>
            <a:off x="768096" y="3840480"/>
            <a:ext cx="1600200" cy="237744"/>
          </a:xfrm>
          <a:prstGeom prst="roundRect">
            <a:avLst>
              <a:gd name="adj" fmla="val 1923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41247" y="3886200"/>
            <a:ext cx="109728" cy="146304"/>
          </a:xfrm>
          <a:prstGeom prst="rect">
            <a:avLst/>
          </a:prstGeom>
          <a:solidFill>
            <a:srgbClr val="FFFFFF"/>
          </a:solidFill>
          <a:ln w="9525">
            <a:solidFill>
              <a:srgbClr val="6B7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59536" y="3922776"/>
            <a:ext cx="73152" cy="18288"/>
          </a:xfrm>
          <a:prstGeom prst="rect">
            <a:avLst/>
          </a:prstGeom>
          <a:solidFill>
            <a:srgbClr val="6B7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59536" y="3959352"/>
            <a:ext cx="73152" cy="18288"/>
          </a:xfrm>
          <a:prstGeom prst="rect">
            <a:avLst/>
          </a:prstGeom>
          <a:solidFill>
            <a:srgbClr val="6B7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3877056"/>
            <a:ext cx="1280160" cy="182880"/>
          </a:xfrm>
          <a:prstGeom prst="rect">
            <a:avLst/>
          </a:prstGeom>
          <a:noFill/>
        </p:spPr>
        <p:txBody>
          <a:bodyPr wrap="square" lIns="0" tIns="0" rIns="0" bIns="0" anchor="t">
            <a:spAutoFit/>
          </a:bodyPr>
          <a:lstStyle/>
          <a:p>
            <a:pPr algn="l"/>
            <a:r>
              <a:rPr sz="900" b="0">
                <a:solidFill>
                  <a:srgbClr val="14293D"/>
                </a:solidFill>
                <a:latin typeface="Roboto"/>
              </a:rPr>
              <a:t>study-report.pdf</a:t>
            </a:r>
          </a:p>
        </p:txBody>
      </p:sp>
      <p:sp>
        <p:nvSpPr>
          <p:cNvPr id="25" name="Rounded Rectangle 24"/>
          <p:cNvSpPr/>
          <p:nvPr/>
        </p:nvSpPr>
        <p:spPr>
          <a:xfrm>
            <a:off x="4178808" y="3794760"/>
            <a:ext cx="310896" cy="310896"/>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a:solidFill>
                  <a:srgbClr val="FFFFFF"/>
                </a:solidFill>
                <a:latin typeface="JetBrains Mono"/>
              </a:rPr>
              <a:t>↑</a:t>
            </a:r>
          </a:p>
        </p:txBody>
      </p:sp>
      <p:cxnSp>
        <p:nvCxnSpPr>
          <p:cNvPr id="26" name="Connector 25"/>
          <p:cNvCxnSpPr/>
          <p:nvPr/>
        </p:nvCxnSpPr>
        <p:spPr>
          <a:xfrm>
            <a:off x="4754880" y="3063240"/>
            <a:ext cx="201168" cy="0"/>
          </a:xfrm>
          <a:prstGeom prst="line">
            <a:avLst/>
          </a:prstGeom>
          <a:ln w="2222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029200" y="2560320"/>
            <a:ext cx="1005840" cy="1005840"/>
          </a:xfrm>
          <a:prstGeom prst="ellipse">
            <a:avLst/>
          </a:prstGeom>
          <a:solidFill>
            <a:srgbClr val="1B9AAA">
              <a:alpha val="18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0" y="2880360"/>
            <a:ext cx="1005840" cy="365760"/>
          </a:xfrm>
          <a:prstGeom prst="rect">
            <a:avLst/>
          </a:prstGeom>
          <a:noFill/>
        </p:spPr>
        <p:txBody>
          <a:bodyPr wrap="square" lIns="0" tIns="0" rIns="0" bIns="0" anchor="t">
            <a:spAutoFit/>
          </a:bodyPr>
          <a:lstStyle/>
          <a:p>
            <a:pPr algn="ctr"/>
            <a:r>
              <a:rPr sz="1900" b="0">
                <a:solidFill>
                  <a:srgbClr val="0D1B2A"/>
                </a:solidFill>
                <a:latin typeface="Oswald"/>
              </a:rPr>
              <a:t>LLM</a:t>
            </a:r>
          </a:p>
        </p:txBody>
      </p:sp>
      <p:cxnSp>
        <p:nvCxnSpPr>
          <p:cNvPr id="29" name="Connector 28"/>
          <p:cNvCxnSpPr/>
          <p:nvPr/>
        </p:nvCxnSpPr>
        <p:spPr>
          <a:xfrm>
            <a:off x="6108192" y="3063240"/>
            <a:ext cx="246888" cy="0"/>
          </a:xfrm>
          <a:prstGeom prst="line">
            <a:avLst/>
          </a:prstGeom>
          <a:ln w="2222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428232" y="2103120"/>
            <a:ext cx="2276855" cy="1920240"/>
          </a:xfrm>
          <a:prstGeom prst="roundRect">
            <a:avLst>
              <a:gd name="adj" fmla="val 4761"/>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2240280"/>
            <a:ext cx="3657600" cy="228600"/>
          </a:xfrm>
          <a:prstGeom prst="rect">
            <a:avLst/>
          </a:prstGeom>
          <a:noFill/>
        </p:spPr>
        <p:txBody>
          <a:bodyPr wrap="square" lIns="0" tIns="0" rIns="0" bIns="0" anchor="t">
            <a:spAutoFit/>
          </a:bodyPr>
          <a:lstStyle/>
          <a:p>
            <a:pPr algn="l"/>
            <a:r>
              <a:rPr sz="950" b="0" spc="100">
                <a:solidFill>
                  <a:srgbClr val="06D6A0"/>
                </a:solidFill>
                <a:latin typeface="JetBrains Mono"/>
              </a:rPr>
              <a:t>ANSWER</a:t>
            </a:r>
          </a:p>
        </p:txBody>
      </p:sp>
      <p:sp>
        <p:nvSpPr>
          <p:cNvPr id="32" name="TextBox 31"/>
          <p:cNvSpPr txBox="1"/>
          <p:nvPr/>
        </p:nvSpPr>
        <p:spPr>
          <a:xfrm>
            <a:off x="6629400" y="2523744"/>
            <a:ext cx="1911095" cy="219456"/>
          </a:xfrm>
          <a:prstGeom prst="rect">
            <a:avLst/>
          </a:prstGeom>
          <a:noFill/>
        </p:spPr>
        <p:txBody>
          <a:bodyPr wrap="square" lIns="0" tIns="0" rIns="0" bIns="0" anchor="t">
            <a:spAutoFit/>
          </a:bodyPr>
          <a:lstStyle/>
          <a:p>
            <a:pPr algn="l"/>
            <a:r>
              <a:rPr sz="1000" b="0">
                <a:solidFill>
                  <a:srgbClr val="AFC2CE"/>
                </a:solidFill>
                <a:latin typeface="Roboto"/>
              </a:rPr>
              <a:t>• 2,400 employees surveyed</a:t>
            </a:r>
          </a:p>
        </p:txBody>
      </p:sp>
      <p:sp>
        <p:nvSpPr>
          <p:cNvPr id="33" name="TextBox 32"/>
          <p:cNvSpPr txBox="1"/>
          <p:nvPr/>
        </p:nvSpPr>
        <p:spPr>
          <a:xfrm>
            <a:off x="6629400" y="2779776"/>
            <a:ext cx="1911095" cy="219456"/>
          </a:xfrm>
          <a:prstGeom prst="rect">
            <a:avLst/>
          </a:prstGeom>
          <a:noFill/>
        </p:spPr>
        <p:txBody>
          <a:bodyPr wrap="square" lIns="0" tIns="0" rIns="0" bIns="0" anchor="t">
            <a:spAutoFit/>
          </a:bodyPr>
          <a:lstStyle/>
          <a:p>
            <a:pPr algn="l"/>
            <a:r>
              <a:rPr sz="1000" b="0">
                <a:solidFill>
                  <a:srgbClr val="AFC2CE"/>
                </a:solidFill>
                <a:latin typeface="Roboto"/>
              </a:rPr>
              <a:t>• Productivity up 13%</a:t>
            </a:r>
          </a:p>
        </p:txBody>
      </p:sp>
      <p:sp>
        <p:nvSpPr>
          <p:cNvPr id="34" name="TextBox 33"/>
          <p:cNvSpPr txBox="1"/>
          <p:nvPr/>
        </p:nvSpPr>
        <p:spPr>
          <a:xfrm>
            <a:off x="6629400" y="3035808"/>
            <a:ext cx="1911095" cy="219456"/>
          </a:xfrm>
          <a:prstGeom prst="rect">
            <a:avLst/>
          </a:prstGeom>
          <a:noFill/>
        </p:spPr>
        <p:txBody>
          <a:bodyPr wrap="square" lIns="0" tIns="0" rIns="0" bIns="0" anchor="t">
            <a:spAutoFit/>
          </a:bodyPr>
          <a:lstStyle/>
          <a:p>
            <a:pPr algn="l"/>
            <a:r>
              <a:rPr sz="1000" b="0">
                <a:solidFill>
                  <a:srgbClr val="AFC2CE"/>
                </a:solidFill>
                <a:latin typeface="Roboto"/>
              </a:rPr>
              <a:t>• Fewer sick days</a:t>
            </a:r>
          </a:p>
        </p:txBody>
      </p:sp>
      <p:sp>
        <p:nvSpPr>
          <p:cNvPr id="35" name="TextBox 34"/>
          <p:cNvSpPr txBox="1"/>
          <p:nvPr/>
        </p:nvSpPr>
        <p:spPr>
          <a:xfrm>
            <a:off x="6629400" y="3291839"/>
            <a:ext cx="1911095" cy="219456"/>
          </a:xfrm>
          <a:prstGeom prst="rect">
            <a:avLst/>
          </a:prstGeom>
          <a:noFill/>
        </p:spPr>
        <p:txBody>
          <a:bodyPr wrap="square" lIns="0" tIns="0" rIns="0" bIns="0" anchor="t">
            <a:spAutoFit/>
          </a:bodyPr>
          <a:lstStyle/>
          <a:p>
            <a:pPr algn="l"/>
            <a:r>
              <a:rPr sz="1000" b="0">
                <a:solidFill>
                  <a:srgbClr val="AFC2CE"/>
                </a:solidFill>
                <a:latin typeface="Roboto"/>
              </a:rPr>
              <a:t>• Weaker team communication</a:t>
            </a:r>
          </a:p>
        </p:txBody>
      </p:sp>
      <p:sp>
        <p:nvSpPr>
          <p:cNvPr id="36" name="TextBox 35"/>
          <p:cNvSpPr txBox="1"/>
          <p:nvPr/>
        </p:nvSpPr>
        <p:spPr>
          <a:xfrm>
            <a:off x="6629400" y="3547872"/>
            <a:ext cx="1911095" cy="219456"/>
          </a:xfrm>
          <a:prstGeom prst="rect">
            <a:avLst/>
          </a:prstGeom>
          <a:noFill/>
        </p:spPr>
        <p:txBody>
          <a:bodyPr wrap="square" lIns="0" tIns="0" rIns="0" bIns="0" anchor="t">
            <a:spAutoFit/>
          </a:bodyPr>
          <a:lstStyle/>
          <a:p>
            <a:pPr algn="l"/>
            <a:r>
              <a:rPr sz="1000" b="0">
                <a:solidFill>
                  <a:srgbClr val="AFC2CE"/>
                </a:solidFill>
                <a:latin typeface="Roboto"/>
              </a:rPr>
              <a:t>• Hybrid work recommended</a:t>
            </a:r>
          </a:p>
        </p:txBody>
      </p:sp>
      <p:sp>
        <p:nvSpPr>
          <p:cNvPr id="37" name="Rectangle 36"/>
          <p:cNvSpPr/>
          <p:nvPr/>
        </p:nvSpPr>
        <p:spPr>
          <a:xfrm>
            <a:off x="566928" y="4590288"/>
            <a:ext cx="45720" cy="34747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3232" y="4572000"/>
            <a:ext cx="7991856" cy="402336"/>
          </a:xfrm>
          <a:prstGeom prst="rect">
            <a:avLst/>
          </a:prstGeom>
          <a:noFill/>
        </p:spPr>
        <p:txBody>
          <a:bodyPr wrap="square" lIns="0" tIns="0" rIns="0" bIns="0" anchor="t">
            <a:spAutoFit/>
          </a:bodyPr>
          <a:lstStyle/>
          <a:p>
            <a:pPr algn="l"/>
            <a:r>
              <a:rPr sz="1150" b="0">
                <a:solidFill>
                  <a:srgbClr val="0D1B2A"/>
                </a:solidFill>
                <a:latin typeface="Roboto"/>
              </a:rPr>
              <a:t>Same model, different prompt, different answer. The chat tool also sends along things you never type: a system prompt, the conversation so far and attachments — together they fill the context window.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WORKING WITH LLMS · CONTEXT WINDOW</a:t>
            </a:r>
          </a:p>
        </p:txBody>
      </p:sp>
      <p:sp>
        <p:nvSpPr>
          <p:cNvPr id="4" name="slide-context-window"/>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The context window: the model's working memory</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A model can only “see” a limited amount of text at once, and everything has to fit.</a:t>
            </a:r>
          </a:p>
        </p:txBody>
      </p:sp>
      <p:sp>
        <p:nvSpPr>
          <p:cNvPr id="6" name="Rectangle 5"/>
          <p:cNvSpPr/>
          <p:nvPr/>
        </p:nvSpPr>
        <p:spPr>
          <a:xfrm>
            <a:off x="566928" y="1783080"/>
            <a:ext cx="8138160" cy="1627632"/>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162763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01952"/>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A LONG CONVERSATION</a:t>
            </a:r>
          </a:p>
        </p:txBody>
      </p:sp>
      <p:sp>
        <p:nvSpPr>
          <p:cNvPr id="9" name="Rounded Rectangle 8"/>
          <p:cNvSpPr/>
          <p:nvPr/>
        </p:nvSpPr>
        <p:spPr>
          <a:xfrm>
            <a:off x="868680" y="2286000"/>
            <a:ext cx="868680" cy="438912"/>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8FA6B2"/>
                </a:solidFill>
                <a:latin typeface="Roboto"/>
              </a:rPr>
              <a:t>Instructions</a:t>
            </a:r>
          </a:p>
        </p:txBody>
      </p:sp>
      <p:sp>
        <p:nvSpPr>
          <p:cNvPr id="10" name="Rounded Rectangle 9"/>
          <p:cNvSpPr/>
          <p:nvPr/>
        </p:nvSpPr>
        <p:spPr>
          <a:xfrm>
            <a:off x="1801368" y="2286000"/>
            <a:ext cx="1097280" cy="438912"/>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8FA6B2"/>
                </a:solidFill>
                <a:latin typeface="Roboto"/>
              </a:rPr>
              <a:t>Document</a:t>
            </a:r>
          </a:p>
        </p:txBody>
      </p:sp>
      <p:sp>
        <p:nvSpPr>
          <p:cNvPr id="11" name="Rounded Rectangle 10"/>
          <p:cNvSpPr/>
          <p:nvPr/>
        </p:nvSpPr>
        <p:spPr>
          <a:xfrm>
            <a:off x="2962656" y="2286000"/>
            <a:ext cx="822960" cy="438912"/>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8FA6B2"/>
                </a:solidFill>
                <a:latin typeface="Roboto"/>
              </a:rPr>
              <a:t>Question 1</a:t>
            </a:r>
          </a:p>
        </p:txBody>
      </p:sp>
      <p:sp>
        <p:nvSpPr>
          <p:cNvPr id="12" name="Rounded Rectangle 11"/>
          <p:cNvSpPr/>
          <p:nvPr/>
        </p:nvSpPr>
        <p:spPr>
          <a:xfrm>
            <a:off x="3849624" y="2286000"/>
            <a:ext cx="914400" cy="43891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Answer 1</a:t>
            </a:r>
          </a:p>
        </p:txBody>
      </p:sp>
      <p:sp>
        <p:nvSpPr>
          <p:cNvPr id="13" name="Rounded Rectangle 12"/>
          <p:cNvSpPr/>
          <p:nvPr/>
        </p:nvSpPr>
        <p:spPr>
          <a:xfrm>
            <a:off x="4828032" y="2286000"/>
            <a:ext cx="822960" cy="43891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Question 2</a:t>
            </a:r>
          </a:p>
        </p:txBody>
      </p:sp>
      <p:sp>
        <p:nvSpPr>
          <p:cNvPr id="14" name="Rounded Rectangle 13"/>
          <p:cNvSpPr/>
          <p:nvPr/>
        </p:nvSpPr>
        <p:spPr>
          <a:xfrm>
            <a:off x="5715000" y="2286000"/>
            <a:ext cx="914400" cy="43891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Answer 2</a:t>
            </a:r>
          </a:p>
        </p:txBody>
      </p:sp>
      <p:sp>
        <p:nvSpPr>
          <p:cNvPr id="15" name="Rounded Rectangle 14"/>
          <p:cNvSpPr/>
          <p:nvPr/>
        </p:nvSpPr>
        <p:spPr>
          <a:xfrm>
            <a:off x="6693408" y="2286000"/>
            <a:ext cx="822960" cy="43891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0D1B2A"/>
                </a:solidFill>
                <a:latin typeface="Roboto"/>
              </a:rPr>
              <a:t>Question 3</a:t>
            </a:r>
          </a:p>
        </p:txBody>
      </p:sp>
      <p:sp>
        <p:nvSpPr>
          <p:cNvPr id="16" name="Rounded Rectangle 15"/>
          <p:cNvSpPr/>
          <p:nvPr/>
        </p:nvSpPr>
        <p:spPr>
          <a:xfrm>
            <a:off x="7580376" y="2286000"/>
            <a:ext cx="914400" cy="43891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Roboto"/>
              </a:rPr>
              <a:t>New answer</a:t>
            </a:r>
          </a:p>
        </p:txBody>
      </p:sp>
      <p:sp>
        <p:nvSpPr>
          <p:cNvPr id="17" name="Rounded Rectangle 16"/>
          <p:cNvSpPr/>
          <p:nvPr/>
        </p:nvSpPr>
        <p:spPr>
          <a:xfrm>
            <a:off x="3776472" y="2194560"/>
            <a:ext cx="4791456" cy="621792"/>
          </a:xfrm>
          <a:prstGeom prst="roundRect">
            <a:avLst>
              <a:gd name="adj" fmla="val 18000"/>
            </a:avLst>
          </a:prstGeom>
          <a:noFill/>
          <a:ln w="2857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76472" y="2002536"/>
            <a:ext cx="4928616" cy="137160"/>
          </a:xfrm>
          <a:prstGeom prst="rect">
            <a:avLst/>
          </a:prstGeom>
          <a:noFill/>
        </p:spPr>
        <p:txBody>
          <a:bodyPr wrap="square" lIns="0" tIns="0" rIns="0" bIns="0" anchor="t">
            <a:spAutoFit/>
          </a:bodyPr>
          <a:lstStyle/>
          <a:p>
            <a:pPr algn="l"/>
            <a:r>
              <a:rPr sz="900" b="0" spc="100">
                <a:solidFill>
                  <a:srgbClr val="0D1B2A"/>
                </a:solidFill>
                <a:latin typeface="JetBrains Mono"/>
              </a:rPr>
              <a:t>CONTEXT WINDOW = HOW MUCH THE MODEL CAN TAKE INTO ACCOUNT AT ONCE</a:t>
            </a:r>
          </a:p>
        </p:txBody>
      </p:sp>
      <p:cxnSp>
        <p:nvCxnSpPr>
          <p:cNvPr id="19" name="Connector 18"/>
          <p:cNvCxnSpPr/>
          <p:nvPr/>
        </p:nvCxnSpPr>
        <p:spPr>
          <a:xfrm>
            <a:off x="868680" y="2907792"/>
            <a:ext cx="7717536" cy="0"/>
          </a:xfrm>
          <a:prstGeom prst="line">
            <a:avLst/>
          </a:prstGeom>
          <a:ln w="12700">
            <a:solidFill>
              <a:srgbClr val="8FA6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 y="2862072"/>
            <a:ext cx="0" cy="91440"/>
          </a:xfrm>
          <a:prstGeom prst="line">
            <a:avLst/>
          </a:prstGeom>
          <a:ln w="12700">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586216" y="2862072"/>
            <a:ext cx="0" cy="91440"/>
          </a:xfrm>
          <a:prstGeom prst="line">
            <a:avLst/>
          </a:prstGeom>
          <a:ln w="12700">
            <a:solidFill>
              <a:srgbClr val="8FA6B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68680" y="2999232"/>
            <a:ext cx="685800" cy="274320"/>
          </a:xfrm>
          <a:prstGeom prst="rect">
            <a:avLst/>
          </a:prstGeom>
          <a:noFill/>
        </p:spPr>
        <p:txBody>
          <a:bodyPr wrap="square" lIns="0" tIns="0" rIns="0" bIns="0" anchor="t">
            <a:spAutoFit/>
          </a:bodyPr>
          <a:lstStyle/>
          <a:p>
            <a:pPr algn="l"/>
            <a:r>
              <a:rPr sz="900" b="0">
                <a:solidFill>
                  <a:srgbClr val="6B7B8C"/>
                </a:solidFill>
                <a:latin typeface="Roboto"/>
              </a:rPr>
              <a:t>start of the conversation</a:t>
            </a:r>
          </a:p>
        </p:txBody>
      </p:sp>
      <p:sp>
        <p:nvSpPr>
          <p:cNvPr id="23" name="TextBox 22"/>
          <p:cNvSpPr txBox="1"/>
          <p:nvPr/>
        </p:nvSpPr>
        <p:spPr>
          <a:xfrm>
            <a:off x="7854696" y="2999232"/>
            <a:ext cx="731520" cy="182880"/>
          </a:xfrm>
          <a:prstGeom prst="rect">
            <a:avLst/>
          </a:prstGeom>
          <a:noFill/>
        </p:spPr>
        <p:txBody>
          <a:bodyPr wrap="square" lIns="0" tIns="0" rIns="0" bIns="0" anchor="t">
            <a:spAutoFit/>
          </a:bodyPr>
          <a:lstStyle/>
          <a:p>
            <a:pPr algn="r"/>
            <a:r>
              <a:rPr sz="900" b="0">
                <a:solidFill>
                  <a:srgbClr val="6B7B8C"/>
                </a:solidFill>
                <a:latin typeface="Roboto"/>
              </a:rPr>
              <a:t>now</a:t>
            </a:r>
          </a:p>
        </p:txBody>
      </p:sp>
      <p:sp>
        <p:nvSpPr>
          <p:cNvPr id="24" name="TextBox 23"/>
          <p:cNvSpPr txBox="1"/>
          <p:nvPr/>
        </p:nvSpPr>
        <p:spPr>
          <a:xfrm>
            <a:off x="2350008" y="3182112"/>
            <a:ext cx="4572000" cy="274320"/>
          </a:xfrm>
          <a:prstGeom prst="rect">
            <a:avLst/>
          </a:prstGeom>
          <a:noFill/>
        </p:spPr>
        <p:txBody>
          <a:bodyPr wrap="square" lIns="0" tIns="0" rIns="0" bIns="0" anchor="t">
            <a:spAutoFit/>
          </a:bodyPr>
          <a:lstStyle/>
          <a:p>
            <a:pPr algn="l"/>
            <a:r>
              <a:rPr sz="1050" b="0">
                <a:solidFill>
                  <a:srgbClr val="6B7B8C"/>
                </a:solidFill>
                <a:latin typeface="Roboto"/>
              </a:rPr>
              <a:t>When the window is full, the oldest parts are dropped or shortened.</a:t>
            </a:r>
          </a:p>
        </p:txBody>
      </p:sp>
      <p:sp>
        <p:nvSpPr>
          <p:cNvPr id="25" name="Rectangle 24"/>
          <p:cNvSpPr/>
          <p:nvPr/>
        </p:nvSpPr>
        <p:spPr>
          <a:xfrm>
            <a:off x="566928" y="3493008"/>
            <a:ext cx="8138160" cy="1042415"/>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66928" y="3493008"/>
            <a:ext cx="54864" cy="1042415"/>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3593592"/>
            <a:ext cx="5486400" cy="228600"/>
          </a:xfrm>
          <a:prstGeom prst="rect">
            <a:avLst/>
          </a:prstGeom>
          <a:noFill/>
        </p:spPr>
        <p:txBody>
          <a:bodyPr wrap="square" lIns="0" tIns="0" rIns="0" bIns="0" anchor="t">
            <a:spAutoFit/>
          </a:bodyPr>
          <a:lstStyle/>
          <a:p>
            <a:pPr algn="l"/>
            <a:r>
              <a:rPr sz="950" b="0" spc="100">
                <a:solidFill>
                  <a:srgbClr val="1B9AAA"/>
                </a:solidFill>
                <a:latin typeface="JetBrains Mono"/>
              </a:rPr>
              <a:t>HOW MUCH FITS? (APPROXIMATE, BARS NOT TO SCALE)</a:t>
            </a:r>
          </a:p>
        </p:txBody>
      </p:sp>
      <p:sp>
        <p:nvSpPr>
          <p:cNvPr id="28" name="TextBox 27"/>
          <p:cNvSpPr txBox="1"/>
          <p:nvPr/>
        </p:nvSpPr>
        <p:spPr>
          <a:xfrm>
            <a:off x="777240" y="3858768"/>
            <a:ext cx="457200" cy="182880"/>
          </a:xfrm>
          <a:prstGeom prst="rect">
            <a:avLst/>
          </a:prstGeom>
          <a:noFill/>
        </p:spPr>
        <p:txBody>
          <a:bodyPr wrap="square" lIns="0" tIns="0" rIns="0" bIns="0" anchor="t">
            <a:spAutoFit/>
          </a:bodyPr>
          <a:lstStyle/>
          <a:p>
            <a:pPr algn="l"/>
            <a:r>
              <a:rPr sz="1000" b="0">
                <a:solidFill>
                  <a:srgbClr val="6B7B8C"/>
                </a:solidFill>
                <a:latin typeface="JetBrains Mono"/>
              </a:rPr>
              <a:t>2022</a:t>
            </a:r>
          </a:p>
        </p:txBody>
      </p:sp>
      <p:sp>
        <p:nvSpPr>
          <p:cNvPr id="29" name="Rectangle 28"/>
          <p:cNvSpPr/>
          <p:nvPr/>
        </p:nvSpPr>
        <p:spPr>
          <a:xfrm>
            <a:off x="1325880" y="3895344"/>
            <a:ext cx="228600" cy="11887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691639" y="3858768"/>
            <a:ext cx="4114800" cy="182880"/>
          </a:xfrm>
          <a:prstGeom prst="rect">
            <a:avLst/>
          </a:prstGeom>
          <a:noFill/>
        </p:spPr>
        <p:txBody>
          <a:bodyPr wrap="square" lIns="0" tIns="0" rIns="0" bIns="0" anchor="t">
            <a:spAutoFit/>
          </a:bodyPr>
          <a:lstStyle/>
          <a:p>
            <a:pPr algn="l"/>
            <a:r>
              <a:rPr sz="1050" b="0">
                <a:solidFill>
                  <a:srgbClr val="0D1B2A"/>
                </a:solidFill>
                <a:latin typeface="Roboto"/>
              </a:rPr>
              <a:t>~4,000 tokens  ≈  6 pages</a:t>
            </a:r>
          </a:p>
        </p:txBody>
      </p:sp>
      <p:sp>
        <p:nvSpPr>
          <p:cNvPr id="31" name="TextBox 30"/>
          <p:cNvSpPr txBox="1"/>
          <p:nvPr/>
        </p:nvSpPr>
        <p:spPr>
          <a:xfrm>
            <a:off x="777240" y="4078224"/>
            <a:ext cx="457200" cy="182880"/>
          </a:xfrm>
          <a:prstGeom prst="rect">
            <a:avLst/>
          </a:prstGeom>
          <a:noFill/>
        </p:spPr>
        <p:txBody>
          <a:bodyPr wrap="square" lIns="0" tIns="0" rIns="0" bIns="0" anchor="t">
            <a:spAutoFit/>
          </a:bodyPr>
          <a:lstStyle/>
          <a:p>
            <a:pPr algn="l"/>
            <a:r>
              <a:rPr sz="1000" b="0">
                <a:solidFill>
                  <a:srgbClr val="6B7B8C"/>
                </a:solidFill>
                <a:latin typeface="JetBrains Mono"/>
              </a:rPr>
              <a:t>2023</a:t>
            </a:r>
          </a:p>
        </p:txBody>
      </p:sp>
      <p:sp>
        <p:nvSpPr>
          <p:cNvPr id="32" name="Rectangle 31"/>
          <p:cNvSpPr/>
          <p:nvPr/>
        </p:nvSpPr>
        <p:spPr>
          <a:xfrm>
            <a:off x="1325880" y="4114800"/>
            <a:ext cx="1188720" cy="11887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651760" y="4078224"/>
            <a:ext cx="4114800" cy="182880"/>
          </a:xfrm>
          <a:prstGeom prst="rect">
            <a:avLst/>
          </a:prstGeom>
          <a:noFill/>
        </p:spPr>
        <p:txBody>
          <a:bodyPr wrap="square" lIns="0" tIns="0" rIns="0" bIns="0" anchor="t">
            <a:spAutoFit/>
          </a:bodyPr>
          <a:lstStyle/>
          <a:p>
            <a:pPr algn="l"/>
            <a:r>
              <a:rPr sz="1050" b="0">
                <a:solidFill>
                  <a:srgbClr val="0D1B2A"/>
                </a:solidFill>
                <a:latin typeface="Roboto"/>
              </a:rPr>
              <a:t>~128,000 tokens  ≈  a 200-page book</a:t>
            </a:r>
          </a:p>
        </p:txBody>
      </p:sp>
      <p:sp>
        <p:nvSpPr>
          <p:cNvPr id="34" name="TextBox 33"/>
          <p:cNvSpPr txBox="1"/>
          <p:nvPr/>
        </p:nvSpPr>
        <p:spPr>
          <a:xfrm>
            <a:off x="777240" y="4297679"/>
            <a:ext cx="457200" cy="182880"/>
          </a:xfrm>
          <a:prstGeom prst="rect">
            <a:avLst/>
          </a:prstGeom>
          <a:noFill/>
        </p:spPr>
        <p:txBody>
          <a:bodyPr wrap="square" lIns="0" tIns="0" rIns="0" bIns="0" anchor="t">
            <a:spAutoFit/>
          </a:bodyPr>
          <a:lstStyle/>
          <a:p>
            <a:pPr algn="l"/>
            <a:r>
              <a:rPr sz="1000" b="0">
                <a:solidFill>
                  <a:srgbClr val="6B7B8C"/>
                </a:solidFill>
                <a:latin typeface="JetBrains Mono"/>
              </a:rPr>
              <a:t>2024</a:t>
            </a:r>
          </a:p>
        </p:txBody>
      </p:sp>
      <p:sp>
        <p:nvSpPr>
          <p:cNvPr id="35" name="Rectangle 34"/>
          <p:cNvSpPr/>
          <p:nvPr/>
        </p:nvSpPr>
        <p:spPr>
          <a:xfrm>
            <a:off x="1325880" y="4334255"/>
            <a:ext cx="2743200" cy="118872"/>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06240" y="4297679"/>
            <a:ext cx="4114800" cy="182880"/>
          </a:xfrm>
          <a:prstGeom prst="rect">
            <a:avLst/>
          </a:prstGeom>
          <a:noFill/>
        </p:spPr>
        <p:txBody>
          <a:bodyPr wrap="square" lIns="0" tIns="0" rIns="0" bIns="0" anchor="t">
            <a:spAutoFit/>
          </a:bodyPr>
          <a:lstStyle/>
          <a:p>
            <a:pPr algn="l"/>
            <a:r>
              <a:rPr sz="1050" b="0">
                <a:solidFill>
                  <a:srgbClr val="0D1B2A"/>
                </a:solidFill>
                <a:latin typeface="Roboto"/>
              </a:rPr>
              <a:t>1,000,000+ tokens  ≈  1,500 pages</a:t>
            </a:r>
          </a:p>
        </p:txBody>
      </p:sp>
      <p:sp>
        <p:nvSpPr>
          <p:cNvPr id="37" name="Rectangle 36"/>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Bigger windows help, but details buried deep in very long inputs can still be overlooked.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6" name="Rectangle 5"/>
          <p:cNvSpPr/>
          <p:nvPr/>
        </p:nvSpPr>
        <p:spPr>
          <a:xfrm>
            <a:off x="569159" y="1776467"/>
            <a:ext cx="5238253" cy="27432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799" y="1874519"/>
            <a:ext cx="5020353" cy="1965960"/>
          </a:xfrm>
          <a:prstGeom prst="roundRect">
            <a:avLst>
              <a:gd name="adj" fmla="val 5581"/>
            </a:avLst>
          </a:prstGeom>
          <a:solidFill>
            <a:srgbClr val="FFFFFF"/>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Ecken des Rechtecks auf der gleichen Seite abrunden 48">
            <a:extLst>
              <a:ext uri="{FF2B5EF4-FFF2-40B4-BE49-F238E27FC236}">
                <a16:creationId xmlns:a16="http://schemas.microsoft.com/office/drawing/2014/main" id="{21A54982-BF7C-BD28-AFB7-160DF9437E9E}"/>
              </a:ext>
            </a:extLst>
          </p:cNvPr>
          <p:cNvSpPr/>
          <p:nvPr/>
        </p:nvSpPr>
        <p:spPr>
          <a:xfrm>
            <a:off x="685800" y="1874519"/>
            <a:ext cx="5020352" cy="339611"/>
          </a:xfrm>
          <a:prstGeom prst="round2SameRect">
            <a:avLst>
              <a:gd name="adj1" fmla="val 31392"/>
              <a:gd name="adj2" fmla="val 0"/>
            </a:avLst>
          </a:prstGeom>
          <a:solidFill>
            <a:srgbClr val="F4F7F8"/>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extBox 12"/>
          <p:cNvSpPr txBox="1"/>
          <p:nvPr/>
        </p:nvSpPr>
        <p:spPr>
          <a:xfrm>
            <a:off x="1106424" y="1965960"/>
            <a:ext cx="1828800" cy="201168"/>
          </a:xfrm>
          <a:prstGeom prst="rect">
            <a:avLst/>
          </a:prstGeom>
          <a:noFill/>
        </p:spPr>
        <p:txBody>
          <a:bodyPr wrap="square" lIns="0" tIns="0" rIns="0" bIns="0" anchor="t">
            <a:spAutoFit/>
          </a:bodyPr>
          <a:lstStyle/>
          <a:p>
            <a:pPr algn="l"/>
            <a:r>
              <a:rPr sz="1100" b="0" dirty="0">
                <a:solidFill>
                  <a:srgbClr val="0D1B2A"/>
                </a:solidFill>
                <a:latin typeface="Oswald"/>
              </a:rPr>
              <a:t>AI assistant</a:t>
            </a:r>
          </a:p>
        </p:txBody>
      </p:sp>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WORKING WITH LLMS · HALLUCINATION</a:t>
            </a:r>
          </a:p>
        </p:txBody>
      </p:sp>
      <p:sp>
        <p:nvSpPr>
          <p:cNvPr id="4" name="slide-hallucination"/>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Hallucination: fluent, confident and wrong</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An LLM writes likely-sounding text, not checked facts. When it doesn't know, it may make things up.</a:t>
            </a:r>
          </a:p>
        </p:txBody>
      </p:sp>
      <p:sp>
        <p:nvSpPr>
          <p:cNvPr id="11" name="Oval 10"/>
          <p:cNvSpPr/>
          <p:nvPr/>
        </p:nvSpPr>
        <p:spPr>
          <a:xfrm>
            <a:off x="813816" y="1947672"/>
            <a:ext cx="219456" cy="219456"/>
          </a:xfrm>
          <a:prstGeom prst="ellipse">
            <a:avLst/>
          </a:prstGeom>
          <a:solidFill>
            <a:srgbClr val="1B9AAA">
              <a:alpha val="100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3816" y="1980456"/>
            <a:ext cx="219456" cy="153888"/>
          </a:xfrm>
          <a:prstGeom prst="rect">
            <a:avLst/>
          </a:prstGeom>
          <a:noFill/>
        </p:spPr>
        <p:txBody>
          <a:bodyPr wrap="square" lIns="0" tIns="0" rIns="0" bIns="0" anchor="t">
            <a:spAutoFit/>
          </a:bodyPr>
          <a:lstStyle/>
          <a:p>
            <a:pPr algn="ctr"/>
            <a:r>
              <a:rPr sz="1000" b="0" dirty="0">
                <a:solidFill>
                  <a:srgbClr val="FFFFFF"/>
                </a:solidFill>
                <a:latin typeface="JetBrains Mono"/>
              </a:rPr>
              <a:t>AI</a:t>
            </a:r>
          </a:p>
        </p:txBody>
      </p:sp>
      <p:sp>
        <p:nvSpPr>
          <p:cNvPr id="14" name="Oval 13"/>
          <p:cNvSpPr/>
          <p:nvPr/>
        </p:nvSpPr>
        <p:spPr>
          <a:xfrm>
            <a:off x="5202355" y="2020239"/>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330371" y="2020239"/>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458387" y="2020239"/>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61784" y="2852928"/>
            <a:ext cx="640080" cy="146304"/>
          </a:xfrm>
          <a:prstGeom prst="rect">
            <a:avLst/>
          </a:prstGeom>
          <a:noFill/>
        </p:spPr>
        <p:txBody>
          <a:bodyPr wrap="square" lIns="0" tIns="0" rIns="0" bIns="0" anchor="t">
            <a:spAutoFit/>
          </a:bodyPr>
          <a:lstStyle/>
          <a:p>
            <a:pPr algn="r"/>
            <a:r>
              <a:rPr sz="700" b="0" dirty="0">
                <a:solidFill>
                  <a:srgbClr val="6B7B8C"/>
                </a:solidFill>
                <a:latin typeface="JetBrains Mono"/>
              </a:rPr>
              <a:t>09:41</a:t>
            </a:r>
          </a:p>
        </p:txBody>
      </p:sp>
      <p:sp>
        <p:nvSpPr>
          <p:cNvPr id="23" name="Rounded Rectangle 22"/>
          <p:cNvSpPr/>
          <p:nvPr/>
        </p:nvSpPr>
        <p:spPr>
          <a:xfrm>
            <a:off x="1155705" y="2974136"/>
            <a:ext cx="3566160" cy="658368"/>
          </a:xfrm>
          <a:prstGeom prst="roundRect">
            <a:avLst>
              <a:gd name="adj" fmla="val 19444"/>
            </a:avLst>
          </a:prstGeom>
          <a:solidFill>
            <a:srgbClr val="D4ECEF"/>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02008" y="3029000"/>
            <a:ext cx="3291840" cy="182880"/>
          </a:xfrm>
          <a:prstGeom prst="rect">
            <a:avLst/>
          </a:prstGeom>
          <a:noFill/>
        </p:spPr>
        <p:txBody>
          <a:bodyPr wrap="square" lIns="0" tIns="0" rIns="0" bIns="0" anchor="t">
            <a:spAutoFit/>
          </a:bodyPr>
          <a:lstStyle/>
          <a:p>
            <a:pPr algn="l"/>
            <a:r>
              <a:rPr sz="900" b="0">
                <a:solidFill>
                  <a:srgbClr val="0D1B2A"/>
                </a:solidFill>
                <a:latin typeface="Roboto"/>
              </a:rPr>
              <a:t>Guideline SOP-4711 “Clinical Data Retention”,</a:t>
            </a:r>
          </a:p>
        </p:txBody>
      </p:sp>
      <p:sp>
        <p:nvSpPr>
          <p:cNvPr id="26" name="TextBox 25"/>
          <p:cNvSpPr txBox="1"/>
          <p:nvPr/>
        </p:nvSpPr>
        <p:spPr>
          <a:xfrm>
            <a:off x="1302008" y="3221024"/>
            <a:ext cx="3291840" cy="182880"/>
          </a:xfrm>
          <a:prstGeom prst="rect">
            <a:avLst/>
          </a:prstGeom>
          <a:noFill/>
        </p:spPr>
        <p:txBody>
          <a:bodyPr wrap="square" lIns="0" tIns="0" rIns="0" bIns="0" anchor="t">
            <a:spAutoFit/>
          </a:bodyPr>
          <a:lstStyle/>
          <a:p>
            <a:pPr algn="l"/>
            <a:r>
              <a:rPr sz="900" b="0">
                <a:solidFill>
                  <a:srgbClr val="0D1B2A"/>
                </a:solidFill>
                <a:latin typeface="Roboto"/>
              </a:rPr>
              <a:t>version 3.2 from March 2021, section 5.4:</a:t>
            </a:r>
          </a:p>
        </p:txBody>
      </p:sp>
      <p:sp>
        <p:nvSpPr>
          <p:cNvPr id="27" name="TextBox 26"/>
          <p:cNvSpPr txBox="1"/>
          <p:nvPr/>
        </p:nvSpPr>
        <p:spPr>
          <a:xfrm>
            <a:off x="1302008" y="3413048"/>
            <a:ext cx="3291840" cy="182880"/>
          </a:xfrm>
          <a:prstGeom prst="rect">
            <a:avLst/>
          </a:prstGeom>
          <a:noFill/>
        </p:spPr>
        <p:txBody>
          <a:bodyPr wrap="square" lIns="0" tIns="0" rIns="0" bIns="0" anchor="t">
            <a:spAutoFit/>
          </a:bodyPr>
          <a:lstStyle/>
          <a:p>
            <a:pPr algn="l"/>
            <a:r>
              <a:rPr sz="900" b="0">
                <a:solidFill>
                  <a:srgbClr val="0D1B2A"/>
                </a:solidFill>
                <a:latin typeface="Roboto"/>
              </a:rPr>
              <a:t>records are kept for 15 years after study end.</a:t>
            </a:r>
          </a:p>
        </p:txBody>
      </p:sp>
      <p:sp>
        <p:nvSpPr>
          <p:cNvPr id="28" name="TextBox 27"/>
          <p:cNvSpPr txBox="1"/>
          <p:nvPr/>
        </p:nvSpPr>
        <p:spPr>
          <a:xfrm>
            <a:off x="1247145" y="3671086"/>
            <a:ext cx="640080" cy="107722"/>
          </a:xfrm>
          <a:prstGeom prst="rect">
            <a:avLst/>
          </a:prstGeom>
          <a:noFill/>
        </p:spPr>
        <p:txBody>
          <a:bodyPr wrap="square" lIns="0" tIns="0" rIns="0" bIns="0" anchor="t">
            <a:spAutoFit/>
          </a:bodyPr>
          <a:lstStyle/>
          <a:p>
            <a:pPr algn="l"/>
            <a:r>
              <a:rPr sz="700" b="0" dirty="0">
                <a:solidFill>
                  <a:srgbClr val="6B7B8C"/>
                </a:solidFill>
                <a:latin typeface="JetBrains Mono"/>
              </a:rPr>
              <a:t>09:4</a:t>
            </a:r>
            <a:r>
              <a:rPr lang="de-DE" sz="700" b="0" dirty="0">
                <a:solidFill>
                  <a:srgbClr val="6B7B8C"/>
                </a:solidFill>
                <a:latin typeface="JetBrains Mono"/>
              </a:rPr>
              <a:t>2</a:t>
            </a:r>
            <a:endParaRPr sz="700" b="0" dirty="0">
              <a:solidFill>
                <a:srgbClr val="6B7B8C"/>
              </a:solidFill>
              <a:latin typeface="JetBrains Mono"/>
            </a:endParaRPr>
          </a:p>
        </p:txBody>
      </p:sp>
      <p:cxnSp>
        <p:nvCxnSpPr>
          <p:cNvPr id="29" name="Connector 28"/>
          <p:cNvCxnSpPr>
            <a:cxnSpLocks/>
          </p:cNvCxnSpPr>
          <p:nvPr/>
        </p:nvCxnSpPr>
        <p:spPr>
          <a:xfrm>
            <a:off x="2388583" y="3651313"/>
            <a:ext cx="0" cy="295751"/>
          </a:xfrm>
          <a:prstGeom prst="line">
            <a:avLst/>
          </a:prstGeom>
          <a:ln w="12700">
            <a:solidFill>
              <a:srgbClr val="06D6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152144" y="3952739"/>
            <a:ext cx="3566160" cy="502920"/>
          </a:xfrm>
          <a:prstGeom prst="roundRect">
            <a:avLst>
              <a:gd name="adj" fmla="val 18181"/>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52728" y="4007603"/>
            <a:ext cx="1463040" cy="146304"/>
          </a:xfrm>
          <a:prstGeom prst="rect">
            <a:avLst/>
          </a:prstGeom>
          <a:noFill/>
        </p:spPr>
        <p:txBody>
          <a:bodyPr wrap="square" lIns="0" tIns="0" rIns="0" bIns="0" anchor="t">
            <a:spAutoFit/>
          </a:bodyPr>
          <a:lstStyle/>
          <a:p>
            <a:pPr algn="l"/>
            <a:r>
              <a:rPr sz="750" b="0" spc="100">
                <a:solidFill>
                  <a:srgbClr val="06D6A0"/>
                </a:solidFill>
                <a:latin typeface="JetBrains Mono"/>
              </a:rPr>
              <a:t>REALITY CHECK</a:t>
            </a:r>
          </a:p>
        </p:txBody>
      </p:sp>
      <p:sp>
        <p:nvSpPr>
          <p:cNvPr id="32" name="TextBox 31"/>
          <p:cNvSpPr txBox="1"/>
          <p:nvPr/>
        </p:nvSpPr>
        <p:spPr>
          <a:xfrm>
            <a:off x="1252728" y="4153907"/>
            <a:ext cx="3410712" cy="261610"/>
          </a:xfrm>
          <a:prstGeom prst="rect">
            <a:avLst/>
          </a:prstGeom>
          <a:noFill/>
        </p:spPr>
        <p:txBody>
          <a:bodyPr wrap="square" lIns="0" tIns="0" rIns="0" bIns="0" anchor="t">
            <a:spAutoFit/>
          </a:bodyPr>
          <a:lstStyle/>
          <a:p>
            <a:pPr algn="l"/>
            <a:r>
              <a:rPr sz="850" b="0" dirty="0">
                <a:solidFill>
                  <a:srgbClr val="AFC2CE"/>
                </a:solidFill>
                <a:latin typeface="Roboto"/>
              </a:rPr>
              <a:t>No SOP-4711 in the document system</a:t>
            </a:r>
            <a:r>
              <a:rPr lang="de-DE" sz="850" b="0" dirty="0">
                <a:solidFill>
                  <a:srgbClr val="AFC2CE"/>
                </a:solidFill>
                <a:latin typeface="Roboto"/>
              </a:rPr>
              <a:t>. </a:t>
            </a:r>
            <a:r>
              <a:rPr sz="850" b="0" dirty="0">
                <a:solidFill>
                  <a:srgbClr val="AFC2CE"/>
                </a:solidFill>
                <a:latin typeface="Roboto"/>
              </a:rPr>
              <a:t>No version 3.2, no section 5.4</a:t>
            </a:r>
            <a:r>
              <a:rPr lang="de-DE" sz="850" b="0" dirty="0">
                <a:solidFill>
                  <a:srgbClr val="AFC2CE"/>
                </a:solidFill>
                <a:latin typeface="Roboto"/>
              </a:rPr>
              <a:t>. </a:t>
            </a:r>
            <a:r>
              <a:rPr sz="850" b="0" dirty="0">
                <a:solidFill>
                  <a:srgbClr val="AFC2CE"/>
                </a:solidFill>
                <a:latin typeface="Roboto"/>
              </a:rPr>
              <a:t>The 15 years are invented too</a:t>
            </a:r>
          </a:p>
        </p:txBody>
      </p:sp>
      <p:sp>
        <p:nvSpPr>
          <p:cNvPr id="33" name="Rectangle 32"/>
          <p:cNvSpPr/>
          <p:nvPr/>
        </p:nvSpPr>
        <p:spPr>
          <a:xfrm>
            <a:off x="5944573" y="1783080"/>
            <a:ext cx="2868687"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944573" y="1783080"/>
            <a:ext cx="54864" cy="12984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73173" y="1901952"/>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WHY IT HAPPENS</a:t>
            </a:r>
          </a:p>
        </p:txBody>
      </p:sp>
      <p:sp>
        <p:nvSpPr>
          <p:cNvPr id="36" name="TextBox 35"/>
          <p:cNvSpPr txBox="1"/>
          <p:nvPr/>
        </p:nvSpPr>
        <p:spPr>
          <a:xfrm>
            <a:off x="6173173" y="2148840"/>
            <a:ext cx="2531915" cy="507831"/>
          </a:xfrm>
          <a:prstGeom prst="rect">
            <a:avLst/>
          </a:prstGeom>
          <a:noFill/>
        </p:spPr>
        <p:txBody>
          <a:bodyPr wrap="square" lIns="0" tIns="0" rIns="0" bIns="0" anchor="t">
            <a:spAutoFit/>
          </a:bodyPr>
          <a:lstStyle/>
          <a:p>
            <a:pPr algn="l"/>
            <a:r>
              <a:rPr sz="1100" b="0" dirty="0">
                <a:solidFill>
                  <a:srgbClr val="14293D"/>
                </a:solidFill>
                <a:latin typeface="Roboto"/>
              </a:rPr>
              <a:t>The model always writes the most likely next token. It has no built-in fact check, and plausible is not the same as true.</a:t>
            </a:r>
          </a:p>
        </p:txBody>
      </p:sp>
      <p:sp>
        <p:nvSpPr>
          <p:cNvPr id="37" name="Rectangle 36"/>
          <p:cNvSpPr/>
          <p:nvPr/>
        </p:nvSpPr>
        <p:spPr>
          <a:xfrm>
            <a:off x="5944573" y="3227832"/>
            <a:ext cx="2868687" cy="12984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944573" y="3227832"/>
            <a:ext cx="54864" cy="1298448"/>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73173" y="3346704"/>
            <a:ext cx="3657600" cy="228600"/>
          </a:xfrm>
          <a:prstGeom prst="rect">
            <a:avLst/>
          </a:prstGeom>
          <a:noFill/>
        </p:spPr>
        <p:txBody>
          <a:bodyPr wrap="square" lIns="0" tIns="0" rIns="0" bIns="0" anchor="t">
            <a:spAutoFit/>
          </a:bodyPr>
          <a:lstStyle/>
          <a:p>
            <a:pPr algn="l"/>
            <a:r>
              <a:rPr sz="950" b="0" spc="100">
                <a:solidFill>
                  <a:srgbClr val="1B9AAA"/>
                </a:solidFill>
                <a:latin typeface="JetBrains Mono"/>
              </a:rPr>
              <a:t>WHAT HELPS</a:t>
            </a:r>
          </a:p>
        </p:txBody>
      </p:sp>
      <p:sp>
        <p:nvSpPr>
          <p:cNvPr id="40" name="TextBox 39"/>
          <p:cNvSpPr txBox="1"/>
          <p:nvPr/>
        </p:nvSpPr>
        <p:spPr>
          <a:xfrm>
            <a:off x="6173173" y="3593592"/>
            <a:ext cx="2401668" cy="677108"/>
          </a:xfrm>
          <a:prstGeom prst="rect">
            <a:avLst/>
          </a:prstGeom>
          <a:noFill/>
        </p:spPr>
        <p:txBody>
          <a:bodyPr wrap="square" lIns="0" tIns="0" rIns="0" bIns="0" anchor="t">
            <a:spAutoFit/>
          </a:bodyPr>
          <a:lstStyle/>
          <a:p>
            <a:pPr algn="l"/>
            <a:r>
              <a:rPr sz="1100" b="0" dirty="0">
                <a:solidFill>
                  <a:srgbClr val="14293D"/>
                </a:solidFill>
                <a:latin typeface="Roboto"/>
              </a:rPr>
              <a:t>• Give it the source documents (RAG, later in this talk)</a:t>
            </a:r>
          </a:p>
          <a:p>
            <a:pPr algn="l"/>
            <a:r>
              <a:rPr sz="1100" b="0" dirty="0">
                <a:solidFill>
                  <a:srgbClr val="14293D"/>
                </a:solidFill>
                <a:latin typeface="Roboto"/>
              </a:rPr>
              <a:t>• Ask for sources, then check them</a:t>
            </a:r>
          </a:p>
          <a:p>
            <a:pPr algn="l"/>
            <a:r>
              <a:rPr sz="1100" b="0" dirty="0">
                <a:solidFill>
                  <a:srgbClr val="14293D"/>
                </a:solidFill>
                <a:latin typeface="Roboto"/>
              </a:rPr>
              <a:t>• Treat every answer as a first draft</a:t>
            </a:r>
          </a:p>
        </p:txBody>
      </p:sp>
      <p:sp>
        <p:nvSpPr>
          <p:cNvPr id="41" name="Rectangle 40"/>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You stay responsible for the facts, especially names, numbers and sources.</a:t>
            </a:r>
          </a:p>
        </p:txBody>
      </p:sp>
      <p:sp>
        <p:nvSpPr>
          <p:cNvPr id="46" name="Rounded Rectangle 11">
            <a:extLst>
              <a:ext uri="{FF2B5EF4-FFF2-40B4-BE49-F238E27FC236}">
                <a16:creationId xmlns:a16="http://schemas.microsoft.com/office/drawing/2014/main" id="{E9002F9B-B2F5-C5D2-34A3-927785E780D4}"/>
              </a:ext>
            </a:extLst>
          </p:cNvPr>
          <p:cNvSpPr/>
          <p:nvPr/>
        </p:nvSpPr>
        <p:spPr>
          <a:xfrm>
            <a:off x="1576852" y="2377439"/>
            <a:ext cx="3611880" cy="438912"/>
          </a:xfrm>
          <a:prstGeom prst="roundRect">
            <a:avLst>
              <a:gd name="adj" fmla="val 18000"/>
            </a:avLst>
          </a:prstGeom>
          <a:solidFill>
            <a:srgbClr val="CFF5EA"/>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de-DE" sz="1000" dirty="0" err="1">
                <a:solidFill>
                  <a:srgbClr val="0D1B2A"/>
                </a:solidFill>
                <a:latin typeface="Roboto"/>
              </a:rPr>
              <a:t>Which</a:t>
            </a:r>
            <a:r>
              <a:rPr lang="de-DE" sz="1000" dirty="0">
                <a:solidFill>
                  <a:srgbClr val="0D1B2A"/>
                </a:solidFill>
                <a:latin typeface="Roboto"/>
              </a:rPr>
              <a:t> internal </a:t>
            </a:r>
            <a:r>
              <a:rPr lang="de-DE" sz="1000" dirty="0" err="1">
                <a:solidFill>
                  <a:srgbClr val="0D1B2A"/>
                </a:solidFill>
                <a:latin typeface="Roboto"/>
              </a:rPr>
              <a:t>guideline</a:t>
            </a:r>
            <a:r>
              <a:rPr lang="de-DE" sz="1000" dirty="0">
                <a:solidFill>
                  <a:srgbClr val="0D1B2A"/>
                </a:solidFill>
                <a:latin typeface="Roboto"/>
              </a:rPr>
              <a:t> </a:t>
            </a:r>
            <a:r>
              <a:rPr lang="de-DE" sz="1000" dirty="0" err="1">
                <a:solidFill>
                  <a:srgbClr val="0D1B2A"/>
                </a:solidFill>
                <a:latin typeface="Roboto"/>
              </a:rPr>
              <a:t>covers</a:t>
            </a:r>
            <a:r>
              <a:rPr lang="de-DE" sz="1000" dirty="0">
                <a:solidFill>
                  <a:srgbClr val="0D1B2A"/>
                </a:solidFill>
                <a:latin typeface="Roboto"/>
              </a:rPr>
              <a:t> </a:t>
            </a:r>
            <a:r>
              <a:rPr lang="de-DE" sz="1000" dirty="0" err="1">
                <a:solidFill>
                  <a:srgbClr val="0D1B2A"/>
                </a:solidFill>
                <a:latin typeface="Roboto"/>
              </a:rPr>
              <a:t>data</a:t>
            </a:r>
            <a:r>
              <a:rPr lang="de-DE" sz="1000" dirty="0">
                <a:solidFill>
                  <a:srgbClr val="0D1B2A"/>
                </a:solidFill>
                <a:latin typeface="Roboto"/>
              </a:rPr>
              <a:t> </a:t>
            </a:r>
            <a:r>
              <a:rPr lang="de-DE" sz="1000" dirty="0" err="1">
                <a:solidFill>
                  <a:srgbClr val="0D1B2A"/>
                </a:solidFill>
                <a:latin typeface="Roboto"/>
              </a:rPr>
              <a:t>retention</a:t>
            </a:r>
            <a:r>
              <a:rPr lang="de-DE" sz="1000" dirty="0">
                <a:solidFill>
                  <a:srgbClr val="0D1B2A"/>
                </a:solidFill>
                <a:latin typeface="Roboto"/>
              </a:rPr>
              <a:t> in </a:t>
            </a:r>
            <a:r>
              <a:rPr lang="de-DE" sz="1000" dirty="0" err="1">
                <a:solidFill>
                  <a:srgbClr val="0D1B2A"/>
                </a:solidFill>
                <a:latin typeface="Roboto"/>
              </a:rPr>
              <a:t>clinical</a:t>
            </a:r>
            <a:r>
              <a:rPr lang="de-DE" sz="1000" dirty="0">
                <a:solidFill>
                  <a:srgbClr val="0D1B2A"/>
                </a:solidFill>
                <a:latin typeface="Roboto"/>
              </a:rPr>
              <a:t> </a:t>
            </a:r>
            <a:r>
              <a:rPr lang="de-DE" sz="1000" dirty="0" err="1">
                <a:solidFill>
                  <a:srgbClr val="0D1B2A"/>
                </a:solidFill>
                <a:latin typeface="Roboto"/>
              </a:rPr>
              <a:t>trials</a:t>
            </a:r>
            <a:r>
              <a:rPr lang="de-DE" sz="1000" dirty="0">
                <a:solidFill>
                  <a:srgbClr val="0D1B2A"/>
                </a:solidFill>
                <a:latin typeface="Roboto"/>
              </a:rPr>
              <a:t>?</a:t>
            </a:r>
          </a:p>
        </p:txBody>
      </p:sp>
      <p:pic>
        <p:nvPicPr>
          <p:cNvPr id="51" name="Grafik 50" descr="Benutzer mit einfarbiger Füllung">
            <a:extLst>
              <a:ext uri="{FF2B5EF4-FFF2-40B4-BE49-F238E27FC236}">
                <a16:creationId xmlns:a16="http://schemas.microsoft.com/office/drawing/2014/main" id="{0B532170-E05E-823B-3BD0-7D3DCB04C4F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39095" y="2386475"/>
            <a:ext cx="420840" cy="420840"/>
          </a:xfrm>
          <a:prstGeom prst="rect">
            <a:avLst/>
          </a:prstGeom>
          <a:effectLst/>
        </p:spPr>
      </p:pic>
      <p:pic>
        <p:nvPicPr>
          <p:cNvPr id="54" name="Grafik 53" descr="Künstliche Intelligenz mit einfarbiger Füllung">
            <a:extLst>
              <a:ext uri="{FF2B5EF4-FFF2-40B4-BE49-F238E27FC236}">
                <a16:creationId xmlns:a16="http://schemas.microsoft.com/office/drawing/2014/main" id="{162CD648-8194-37BD-DE05-F7899400B2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6405" y="3092720"/>
            <a:ext cx="421200" cy="421200"/>
          </a:xfrm>
          <a:prstGeom prst="rect">
            <a:avLst/>
          </a:prstGeom>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4572000" y="320040"/>
            <a:ext cx="4572000" cy="4572000"/>
          </a:xfrm>
          <a:prstGeom prst="ellipse">
            <a:avLst/>
          </a:prstGeom>
          <a:solidFill>
            <a:srgbClr val="1B9AAA">
              <a:alpha val="6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6309360" y="123444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5349240" y="1485900"/>
            <a:ext cx="96012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349240" y="148590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0" y="123444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0" y="1485900"/>
            <a:ext cx="96012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269480" y="14859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69480" y="228600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583680" y="2537460"/>
            <a:ext cx="68580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0" y="253746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333756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715000" y="3589020"/>
            <a:ext cx="868680" cy="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15000" y="3589020"/>
            <a:ext cx="0" cy="251460"/>
          </a:xfrm>
          <a:prstGeom prst="line">
            <a:avLst/>
          </a:prstGeom>
          <a:ln w="9525">
            <a:solidFill>
              <a:srgbClr val="8FA6B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333756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0" y="3589020"/>
            <a:ext cx="868680" cy="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60" y="3589020"/>
            <a:ext cx="0" cy="251460"/>
          </a:xfrm>
          <a:prstGeom prst="line">
            <a:avLst/>
          </a:prstGeom>
          <a:ln w="25400">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1485900"/>
            <a:ext cx="219456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03920" y="148590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43900"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71916"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99932" y="192024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7269480" y="2537460"/>
            <a:ext cx="1234440" cy="0"/>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03920" y="2537460"/>
            <a:ext cx="0" cy="324612"/>
          </a:xfrm>
          <a:prstGeom prst="line">
            <a:avLst/>
          </a:prstGeom>
          <a:ln w="9525">
            <a:solidFill>
              <a:srgbClr val="8FA6B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43900"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71916"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9932" y="2971800"/>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09260" y="68580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09260" y="749808"/>
            <a:ext cx="1600200" cy="274320"/>
          </a:xfrm>
          <a:prstGeom prst="rect">
            <a:avLst/>
          </a:prstGeom>
          <a:noFill/>
        </p:spPr>
        <p:txBody>
          <a:bodyPr wrap="square" lIns="0" tIns="0" rIns="0" bIns="0" anchor="t">
            <a:spAutoFit/>
          </a:bodyPr>
          <a:lstStyle/>
          <a:p>
            <a:pPr algn="ctr"/>
            <a:r>
              <a:rPr sz="1300" b="0">
                <a:solidFill>
                  <a:srgbClr val="FFFFFF"/>
                </a:solidFill>
                <a:latin typeface="Oswald"/>
              </a:rPr>
              <a:t>Artificial Intelligence</a:t>
            </a:r>
          </a:p>
        </p:txBody>
      </p:sp>
      <p:sp>
        <p:nvSpPr>
          <p:cNvPr id="30" name="TextBox 29"/>
          <p:cNvSpPr txBox="1"/>
          <p:nvPr/>
        </p:nvSpPr>
        <p:spPr>
          <a:xfrm>
            <a:off x="5509260" y="101498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1955</a:t>
            </a:r>
          </a:p>
        </p:txBody>
      </p:sp>
      <p:sp>
        <p:nvSpPr>
          <p:cNvPr id="31" name="Rounded Rectangle 30"/>
          <p:cNvSpPr/>
          <p:nvPr/>
        </p:nvSpPr>
        <p:spPr>
          <a:xfrm>
            <a:off x="4549140" y="173736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49140" y="1801368"/>
            <a:ext cx="1600200" cy="274320"/>
          </a:xfrm>
          <a:prstGeom prst="rect">
            <a:avLst/>
          </a:prstGeom>
          <a:noFill/>
        </p:spPr>
        <p:txBody>
          <a:bodyPr wrap="square" lIns="0" tIns="0" rIns="0" bIns="0" anchor="t">
            <a:spAutoFit/>
          </a:bodyPr>
          <a:lstStyle/>
          <a:p>
            <a:pPr algn="ctr"/>
            <a:r>
              <a:rPr sz="1300" b="0">
                <a:solidFill>
                  <a:srgbClr val="8FA6B2"/>
                </a:solidFill>
                <a:latin typeface="Oswald"/>
              </a:rPr>
              <a:t>Rule-based AI</a:t>
            </a:r>
          </a:p>
        </p:txBody>
      </p:sp>
      <p:sp>
        <p:nvSpPr>
          <p:cNvPr id="33" name="TextBox 32"/>
          <p:cNvSpPr txBox="1"/>
          <p:nvPr/>
        </p:nvSpPr>
        <p:spPr>
          <a:xfrm>
            <a:off x="4549140" y="2066543"/>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1950s</a:t>
            </a:r>
          </a:p>
        </p:txBody>
      </p:sp>
      <p:sp>
        <p:nvSpPr>
          <p:cNvPr id="34" name="Rounded Rectangle 33"/>
          <p:cNvSpPr/>
          <p:nvPr/>
        </p:nvSpPr>
        <p:spPr>
          <a:xfrm>
            <a:off x="6469380" y="173736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69380" y="1801368"/>
            <a:ext cx="1600200" cy="274320"/>
          </a:xfrm>
          <a:prstGeom prst="rect">
            <a:avLst/>
          </a:prstGeom>
          <a:noFill/>
        </p:spPr>
        <p:txBody>
          <a:bodyPr wrap="square" lIns="0" tIns="0" rIns="0" bIns="0" anchor="t">
            <a:spAutoFit/>
          </a:bodyPr>
          <a:lstStyle/>
          <a:p>
            <a:pPr algn="ctr"/>
            <a:r>
              <a:rPr sz="1300" b="0">
                <a:solidFill>
                  <a:srgbClr val="FFFFFF"/>
                </a:solidFill>
                <a:latin typeface="Oswald"/>
              </a:rPr>
              <a:t>Machine Learning</a:t>
            </a:r>
          </a:p>
        </p:txBody>
      </p:sp>
      <p:sp>
        <p:nvSpPr>
          <p:cNvPr id="36" name="TextBox 35"/>
          <p:cNvSpPr txBox="1"/>
          <p:nvPr/>
        </p:nvSpPr>
        <p:spPr>
          <a:xfrm>
            <a:off x="6469380" y="206654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1959</a:t>
            </a:r>
          </a:p>
        </p:txBody>
      </p:sp>
      <p:sp>
        <p:nvSpPr>
          <p:cNvPr id="37" name="Rounded Rectangle 36"/>
          <p:cNvSpPr/>
          <p:nvPr/>
        </p:nvSpPr>
        <p:spPr>
          <a:xfrm>
            <a:off x="5783580" y="2788920"/>
            <a:ext cx="1600200" cy="548640"/>
          </a:xfrm>
          <a:prstGeom prst="roundRect">
            <a:avLst>
              <a:gd name="adj" fmla="val 18000"/>
            </a:avLst>
          </a:prstGeom>
          <a:solidFill>
            <a:srgbClr val="14293D"/>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783580" y="2852927"/>
            <a:ext cx="1600200" cy="274320"/>
          </a:xfrm>
          <a:prstGeom prst="rect">
            <a:avLst/>
          </a:prstGeom>
          <a:noFill/>
        </p:spPr>
        <p:txBody>
          <a:bodyPr wrap="square" lIns="0" tIns="0" rIns="0" bIns="0" anchor="t">
            <a:spAutoFit/>
          </a:bodyPr>
          <a:lstStyle/>
          <a:p>
            <a:pPr algn="ctr"/>
            <a:r>
              <a:rPr sz="1300" b="0">
                <a:solidFill>
                  <a:srgbClr val="FFFFFF"/>
                </a:solidFill>
                <a:latin typeface="Oswald"/>
              </a:rPr>
              <a:t>Deep Learning</a:t>
            </a:r>
          </a:p>
        </p:txBody>
      </p:sp>
      <p:sp>
        <p:nvSpPr>
          <p:cNvPr id="39" name="TextBox 38"/>
          <p:cNvSpPr txBox="1"/>
          <p:nvPr/>
        </p:nvSpPr>
        <p:spPr>
          <a:xfrm>
            <a:off x="5783580" y="3118103"/>
            <a:ext cx="1600200" cy="182880"/>
          </a:xfrm>
          <a:prstGeom prst="rect">
            <a:avLst/>
          </a:prstGeom>
          <a:noFill/>
        </p:spPr>
        <p:txBody>
          <a:bodyPr wrap="square" lIns="0" tIns="0" rIns="0" bIns="0" anchor="t">
            <a:spAutoFit/>
          </a:bodyPr>
          <a:lstStyle/>
          <a:p>
            <a:pPr algn="ctr"/>
            <a:r>
              <a:rPr sz="850" b="0" spc="100">
                <a:solidFill>
                  <a:srgbClr val="1B9AAA"/>
                </a:solidFill>
                <a:latin typeface="JetBrains Mono"/>
              </a:rPr>
              <a:t>2012</a:t>
            </a:r>
          </a:p>
        </p:txBody>
      </p:sp>
      <p:sp>
        <p:nvSpPr>
          <p:cNvPr id="40" name="Rounded Rectangle 39"/>
          <p:cNvSpPr/>
          <p:nvPr/>
        </p:nvSpPr>
        <p:spPr>
          <a:xfrm>
            <a:off x="4914900" y="3840480"/>
            <a:ext cx="1600200" cy="548640"/>
          </a:xfrm>
          <a:prstGeom prst="roundRect">
            <a:avLst>
              <a:gd name="adj" fmla="val 18000"/>
            </a:avLst>
          </a:prstGeom>
          <a:solidFill>
            <a:srgbClr val="0D1B2A"/>
          </a:solidFill>
          <a:ln w="9525">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4900" y="3904488"/>
            <a:ext cx="1600200" cy="274320"/>
          </a:xfrm>
          <a:prstGeom prst="rect">
            <a:avLst/>
          </a:prstGeom>
          <a:noFill/>
        </p:spPr>
        <p:txBody>
          <a:bodyPr wrap="square" lIns="0" tIns="0" rIns="0" bIns="0" anchor="t">
            <a:spAutoFit/>
          </a:bodyPr>
          <a:lstStyle/>
          <a:p>
            <a:pPr algn="ctr"/>
            <a:r>
              <a:rPr sz="1300" b="0">
                <a:solidFill>
                  <a:srgbClr val="8FA6B2"/>
                </a:solidFill>
                <a:latin typeface="Oswald"/>
              </a:rPr>
              <a:t>Generative AI</a:t>
            </a:r>
          </a:p>
        </p:txBody>
      </p:sp>
      <p:sp>
        <p:nvSpPr>
          <p:cNvPr id="42" name="TextBox 41"/>
          <p:cNvSpPr txBox="1"/>
          <p:nvPr/>
        </p:nvSpPr>
        <p:spPr>
          <a:xfrm>
            <a:off x="4914900" y="4169664"/>
            <a:ext cx="1600200" cy="182880"/>
          </a:xfrm>
          <a:prstGeom prst="rect">
            <a:avLst/>
          </a:prstGeom>
          <a:noFill/>
        </p:spPr>
        <p:txBody>
          <a:bodyPr wrap="square" lIns="0" tIns="0" rIns="0" bIns="0" anchor="t">
            <a:spAutoFit/>
          </a:bodyPr>
          <a:lstStyle/>
          <a:p>
            <a:pPr algn="ctr"/>
            <a:r>
              <a:rPr sz="850" b="0" spc="100">
                <a:solidFill>
                  <a:srgbClr val="8FA6B2"/>
                </a:solidFill>
                <a:latin typeface="JetBrains Mono"/>
              </a:rPr>
              <a:t>2018</a:t>
            </a:r>
          </a:p>
        </p:txBody>
      </p:sp>
      <p:sp>
        <p:nvSpPr>
          <p:cNvPr id="43" name="Rounded Rectangle 42"/>
          <p:cNvSpPr/>
          <p:nvPr/>
        </p:nvSpPr>
        <p:spPr>
          <a:xfrm>
            <a:off x="6652260" y="3840480"/>
            <a:ext cx="1600200" cy="548640"/>
          </a:xfrm>
          <a:prstGeom prst="roundRect">
            <a:avLst>
              <a:gd name="adj" fmla="val 18000"/>
            </a:avLst>
          </a:prstGeom>
          <a:solidFill>
            <a:srgbClr val="06D6A0"/>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52260" y="3904488"/>
            <a:ext cx="1600200" cy="274320"/>
          </a:xfrm>
          <a:prstGeom prst="rect">
            <a:avLst/>
          </a:prstGeom>
          <a:noFill/>
        </p:spPr>
        <p:txBody>
          <a:bodyPr wrap="square" lIns="0" tIns="0" rIns="0" bIns="0" anchor="t">
            <a:spAutoFit/>
          </a:bodyPr>
          <a:lstStyle/>
          <a:p>
            <a:pPr algn="ctr"/>
            <a:r>
              <a:rPr sz="1300" b="0">
                <a:solidFill>
                  <a:srgbClr val="0D1B2A"/>
                </a:solidFill>
                <a:latin typeface="Oswald"/>
              </a:rPr>
              <a:t>Agentic AI</a:t>
            </a:r>
          </a:p>
        </p:txBody>
      </p:sp>
      <p:sp>
        <p:nvSpPr>
          <p:cNvPr id="45" name="TextBox 44"/>
          <p:cNvSpPr txBox="1"/>
          <p:nvPr/>
        </p:nvSpPr>
        <p:spPr>
          <a:xfrm>
            <a:off x="6652260" y="4169664"/>
            <a:ext cx="1600200" cy="182880"/>
          </a:xfrm>
          <a:prstGeom prst="rect">
            <a:avLst/>
          </a:prstGeom>
          <a:noFill/>
        </p:spPr>
        <p:txBody>
          <a:bodyPr wrap="square" lIns="0" tIns="0" rIns="0" bIns="0" anchor="t">
            <a:spAutoFit/>
          </a:bodyPr>
          <a:lstStyle/>
          <a:p>
            <a:pPr algn="ctr"/>
            <a:r>
              <a:rPr sz="850" b="0" spc="100">
                <a:solidFill>
                  <a:srgbClr val="0D1B2A"/>
                </a:solidFill>
                <a:latin typeface="JetBrains Mono"/>
              </a:rPr>
              <a:t>2024</a:t>
            </a:r>
          </a:p>
        </p:txBody>
      </p:sp>
      <p:sp>
        <p:nvSpPr>
          <p:cNvPr id="46" name="TextBox 45"/>
          <p:cNvSpPr txBox="1"/>
          <p:nvPr/>
        </p:nvSpPr>
        <p:spPr>
          <a:xfrm>
            <a:off x="731520" y="96012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PART 5 OF 5 · SINCE 2024</a:t>
            </a:r>
          </a:p>
        </p:txBody>
      </p:sp>
      <p:sp>
        <p:nvSpPr>
          <p:cNvPr id="47" name="section-agentic"/>
          <p:cNvSpPr txBox="1"/>
          <p:nvPr/>
        </p:nvSpPr>
        <p:spPr>
          <a:xfrm>
            <a:off x="731520" y="1234440"/>
            <a:ext cx="3657600" cy="1554480"/>
          </a:xfrm>
          <a:prstGeom prst="rect">
            <a:avLst/>
          </a:prstGeom>
          <a:noFill/>
        </p:spPr>
        <p:txBody>
          <a:bodyPr wrap="square" lIns="0" tIns="0" rIns="0" bIns="0" anchor="t">
            <a:spAutoFit/>
          </a:bodyPr>
          <a:lstStyle/>
          <a:p>
            <a:pPr algn="l"/>
            <a:r>
              <a:rPr sz="4800" b="0">
                <a:solidFill>
                  <a:srgbClr val="FFFFFF"/>
                </a:solidFill>
                <a:latin typeface="Oswald"/>
              </a:rPr>
              <a:t>Agentic</a:t>
            </a:r>
          </a:p>
          <a:p>
            <a:pPr algn="l"/>
            <a:r>
              <a:rPr sz="4800" b="0">
                <a:solidFill>
                  <a:srgbClr val="FFFFFF"/>
                </a:solidFill>
                <a:latin typeface="Oswald"/>
              </a:rPr>
              <a:t>AI</a:t>
            </a:r>
          </a:p>
        </p:txBody>
      </p:sp>
      <p:sp>
        <p:nvSpPr>
          <p:cNvPr id="48" name="TextBox 47"/>
          <p:cNvSpPr txBox="1"/>
          <p:nvPr/>
        </p:nvSpPr>
        <p:spPr>
          <a:xfrm>
            <a:off x="731520" y="2834640"/>
            <a:ext cx="3566160" cy="502920"/>
          </a:xfrm>
          <a:prstGeom prst="rect">
            <a:avLst/>
          </a:prstGeom>
          <a:noFill/>
        </p:spPr>
        <p:txBody>
          <a:bodyPr wrap="square" lIns="0" tIns="0" rIns="0" bIns="0" anchor="t">
            <a:spAutoFit/>
          </a:bodyPr>
          <a:lstStyle/>
          <a:p>
            <a:pPr algn="l"/>
            <a:r>
              <a:rPr sz="1400" b="0">
                <a:solidFill>
                  <a:srgbClr val="AFC2CE"/>
                </a:solidFill>
                <a:latin typeface="Roboto"/>
              </a:rPr>
              <a:t>AI that doesn't just answer, but plans, uses tools and acts toward a goal.</a:t>
            </a:r>
          </a:p>
        </p:txBody>
      </p:sp>
      <p:sp>
        <p:nvSpPr>
          <p:cNvPr id="49" name="Rectangle 48"/>
          <p:cNvSpPr/>
          <p:nvPr/>
        </p:nvSpPr>
        <p:spPr>
          <a:xfrm>
            <a:off x="73152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 y="3675887"/>
            <a:ext cx="2743200" cy="228600"/>
          </a:xfrm>
          <a:prstGeom prst="rect">
            <a:avLst/>
          </a:prstGeom>
          <a:noFill/>
        </p:spPr>
        <p:txBody>
          <a:bodyPr wrap="square" lIns="0" tIns="0" rIns="0" bIns="0" anchor="t">
            <a:spAutoFit/>
          </a:bodyPr>
          <a:lstStyle/>
          <a:p>
            <a:pPr algn="l"/>
            <a:r>
              <a:rPr sz="900" b="0" spc="100">
                <a:solidFill>
                  <a:srgbClr val="8FA6B2"/>
                </a:solidFill>
                <a:latin typeface="JetBrains Mono"/>
              </a:rPr>
              <a:t>IN THIS PART</a:t>
            </a:r>
          </a:p>
        </p:txBody>
      </p:sp>
      <p:sp>
        <p:nvSpPr>
          <p:cNvPr id="51" name="TextBox 50"/>
          <p:cNvSpPr txBox="1"/>
          <p:nvPr/>
        </p:nvSpPr>
        <p:spPr>
          <a:xfrm>
            <a:off x="731520" y="3904487"/>
            <a:ext cx="3566160" cy="640080"/>
          </a:xfrm>
          <a:prstGeom prst="rect">
            <a:avLst/>
          </a:prstGeom>
          <a:noFill/>
        </p:spPr>
        <p:txBody>
          <a:bodyPr wrap="square" lIns="0" tIns="0" rIns="0" bIns="0" anchor="t">
            <a:spAutoFit/>
          </a:bodyPr>
          <a:lstStyle/>
          <a:p>
            <a:pPr algn="l"/>
            <a:r>
              <a:rPr sz="1100" b="0">
                <a:solidFill>
                  <a:srgbClr val="AFC2CE"/>
                </a:solidFill>
                <a:latin typeface="Roboto"/>
              </a:rPr>
              <a:t>Chatbot vs. agent · What an agent is made of · RAG · Tool use · How agents use tools · MCP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6" name="Rectangle 5"/>
          <p:cNvSpPr/>
          <p:nvPr/>
        </p:nvSpPr>
        <p:spPr>
          <a:xfrm>
            <a:off x="566928" y="1920240"/>
            <a:ext cx="4005072" cy="260604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77240" y="2312517"/>
            <a:ext cx="3584448" cy="1856231"/>
          </a:xfrm>
          <a:prstGeom prst="roundRect">
            <a:avLst>
              <a:gd name="adj" fmla="val 6172"/>
            </a:avLst>
          </a:prstGeom>
          <a:solidFill>
            <a:srgbClr val="FFFFFF"/>
          </a:solidFill>
          <a:ln w="9525">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 Same Side Corner Rectangle 12"/>
          <p:cNvSpPr/>
          <p:nvPr/>
        </p:nvSpPr>
        <p:spPr>
          <a:xfrm>
            <a:off x="777240" y="2312517"/>
            <a:ext cx="3584448" cy="292608"/>
          </a:xfrm>
          <a:prstGeom prst="round2SameRect">
            <a:avLst>
              <a:gd name="adj1" fmla="val 25934"/>
              <a:gd name="adj2" fmla="val 0"/>
            </a:avLst>
          </a:prstGeom>
          <a:solidFill>
            <a:srgbClr val="F4F7F8"/>
          </a:solidFill>
          <a:ln w="9525">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700016" y="1920240"/>
            <a:ext cx="4005072" cy="260604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910328" y="2312517"/>
            <a:ext cx="3584448" cy="1856231"/>
          </a:xfrm>
          <a:prstGeom prst="roundRect">
            <a:avLst>
              <a:gd name="adj" fmla="val 6172"/>
            </a:avLst>
          </a:prstGeom>
          <a:solidFill>
            <a:srgbClr val="FFFFFF"/>
          </a:solidFill>
          <a:ln w="9525">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 Same Side Corner Rectangle 17"/>
          <p:cNvSpPr/>
          <p:nvPr/>
        </p:nvSpPr>
        <p:spPr>
          <a:xfrm>
            <a:off x="4910328" y="2312517"/>
            <a:ext cx="3584448" cy="292608"/>
          </a:xfrm>
          <a:prstGeom prst="round2SameRect">
            <a:avLst>
              <a:gd name="adj1" fmla="val 25934"/>
              <a:gd name="adj2" fmla="val 0"/>
            </a:avLst>
          </a:prstGeom>
          <a:solidFill>
            <a:srgbClr val="F4F7F8"/>
          </a:solidFill>
          <a:ln w="9525">
            <a:solidFill>
              <a:schemeClr val="tx1">
                <a:lumMod val="95000"/>
                <a:lumOff val="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THE SHIFT</a:t>
            </a:r>
          </a:p>
        </p:txBody>
      </p:sp>
      <p:sp>
        <p:nvSpPr>
          <p:cNvPr id="4" name="slide-chatbot-vs-agent"/>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From just answering to actually doing</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150" b="0">
                <a:solidFill>
                  <a:srgbClr val="14293D"/>
                </a:solidFill>
                <a:latin typeface="Roboto"/>
              </a:rPr>
              <a:t>LLMs generate text and answer queries. AI Agents can set or interpret goals, plan and sequence actions, use tools (like web browsers, code, or APIs), make decisions based on feedback and adapt over time to complete tasks.</a:t>
            </a:r>
          </a:p>
        </p:txBody>
      </p:sp>
      <p:sp>
        <p:nvSpPr>
          <p:cNvPr id="7" name="Rectangle 6"/>
          <p:cNvSpPr/>
          <p:nvPr/>
        </p:nvSpPr>
        <p:spPr>
          <a:xfrm>
            <a:off x="566928" y="1920240"/>
            <a:ext cx="54864" cy="26060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011680"/>
            <a:ext cx="3639312" cy="274320"/>
          </a:xfrm>
          <a:prstGeom prst="rect">
            <a:avLst/>
          </a:prstGeom>
          <a:noFill/>
        </p:spPr>
        <p:txBody>
          <a:bodyPr wrap="square" lIns="0" tIns="0" rIns="0" bIns="0" anchor="t">
            <a:spAutoFit/>
          </a:bodyPr>
          <a:lstStyle/>
          <a:p>
            <a:pPr algn="l"/>
            <a:r>
              <a:rPr sz="1500" b="0">
                <a:solidFill>
                  <a:srgbClr val="0D1B2A"/>
                </a:solidFill>
                <a:latin typeface="Oswald"/>
              </a:rPr>
              <a:t>Generative AI chatbot</a:t>
            </a:r>
          </a:p>
        </p:txBody>
      </p:sp>
      <p:sp>
        <p:nvSpPr>
          <p:cNvPr id="10" name="Rectangle 9"/>
          <p:cNvSpPr/>
          <p:nvPr/>
        </p:nvSpPr>
        <p:spPr>
          <a:xfrm>
            <a:off x="4700016" y="1920240"/>
            <a:ext cx="54864" cy="260604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10328" y="2011680"/>
            <a:ext cx="3639312" cy="274320"/>
          </a:xfrm>
          <a:prstGeom prst="rect">
            <a:avLst/>
          </a:prstGeom>
          <a:noFill/>
        </p:spPr>
        <p:txBody>
          <a:bodyPr wrap="square" lIns="0" tIns="0" rIns="0" bIns="0" anchor="t">
            <a:spAutoFit/>
          </a:bodyPr>
          <a:lstStyle/>
          <a:p>
            <a:pPr algn="l"/>
            <a:r>
              <a:rPr sz="1500" b="0">
                <a:solidFill>
                  <a:srgbClr val="0D1B2A"/>
                </a:solidFill>
                <a:latin typeface="Oswald"/>
              </a:rPr>
              <a:t>Agentic AI</a:t>
            </a:r>
          </a:p>
        </p:txBody>
      </p:sp>
      <p:sp>
        <p:nvSpPr>
          <p:cNvPr id="14" name="Oval 13"/>
          <p:cNvSpPr/>
          <p:nvPr/>
        </p:nvSpPr>
        <p:spPr>
          <a:xfrm>
            <a:off x="868680" y="2377440"/>
            <a:ext cx="164592" cy="164592"/>
          </a:xfrm>
          <a:prstGeom prst="ellipse">
            <a:avLst/>
          </a:prstGeom>
          <a:solidFill>
            <a:srgbClr val="1B9AAA">
              <a:alpha val="100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2404872"/>
            <a:ext cx="164592" cy="128016"/>
          </a:xfrm>
          <a:prstGeom prst="rect">
            <a:avLst/>
          </a:prstGeom>
          <a:noFill/>
        </p:spPr>
        <p:txBody>
          <a:bodyPr wrap="square" lIns="0" tIns="0" rIns="0" bIns="0" anchor="t">
            <a:spAutoFit/>
          </a:bodyPr>
          <a:lstStyle/>
          <a:p>
            <a:pPr algn="ctr"/>
            <a:r>
              <a:rPr sz="600" b="0">
                <a:solidFill>
                  <a:srgbClr val="FFFFFF"/>
                </a:solidFill>
                <a:latin typeface="JetBrains Mono"/>
              </a:rPr>
              <a:t>AI</a:t>
            </a:r>
          </a:p>
        </p:txBody>
      </p:sp>
      <p:sp>
        <p:nvSpPr>
          <p:cNvPr id="16" name="TextBox 15"/>
          <p:cNvSpPr txBox="1"/>
          <p:nvPr/>
        </p:nvSpPr>
        <p:spPr>
          <a:xfrm>
            <a:off x="1088136" y="2386584"/>
            <a:ext cx="1463040" cy="164592"/>
          </a:xfrm>
          <a:prstGeom prst="rect">
            <a:avLst/>
          </a:prstGeom>
          <a:noFill/>
        </p:spPr>
        <p:txBody>
          <a:bodyPr wrap="square" lIns="0" tIns="0" rIns="0" bIns="0" anchor="t">
            <a:spAutoFit/>
          </a:bodyPr>
          <a:lstStyle/>
          <a:p>
            <a:pPr algn="l"/>
            <a:r>
              <a:rPr sz="900" b="0">
                <a:solidFill>
                  <a:srgbClr val="0D1B2A"/>
                </a:solidFill>
                <a:latin typeface="Oswald"/>
              </a:rPr>
              <a:t>AI assistant</a:t>
            </a:r>
          </a:p>
        </p:txBody>
      </p:sp>
      <p:sp>
        <p:nvSpPr>
          <p:cNvPr id="19" name="Oval 18"/>
          <p:cNvSpPr/>
          <p:nvPr/>
        </p:nvSpPr>
        <p:spPr>
          <a:xfrm>
            <a:off x="5001768" y="2377440"/>
            <a:ext cx="164592" cy="164592"/>
          </a:xfrm>
          <a:prstGeom prst="ellipse">
            <a:avLst/>
          </a:prstGeom>
          <a:solidFill>
            <a:srgbClr val="1B9AAA">
              <a:alpha val="100000"/>
            </a:srgbClr>
          </a:solidFill>
          <a:ln w="63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01768" y="2404872"/>
            <a:ext cx="164592" cy="128016"/>
          </a:xfrm>
          <a:prstGeom prst="rect">
            <a:avLst/>
          </a:prstGeom>
          <a:noFill/>
        </p:spPr>
        <p:txBody>
          <a:bodyPr wrap="square" lIns="0" tIns="0" rIns="0" bIns="0" anchor="t">
            <a:spAutoFit/>
          </a:bodyPr>
          <a:lstStyle/>
          <a:p>
            <a:pPr algn="ctr"/>
            <a:r>
              <a:rPr sz="600" b="0">
                <a:solidFill>
                  <a:srgbClr val="FFFFFF"/>
                </a:solidFill>
                <a:latin typeface="JetBrains Mono"/>
              </a:rPr>
              <a:t>AI</a:t>
            </a:r>
          </a:p>
        </p:txBody>
      </p:sp>
      <p:sp>
        <p:nvSpPr>
          <p:cNvPr id="21" name="TextBox 20"/>
          <p:cNvSpPr txBox="1"/>
          <p:nvPr/>
        </p:nvSpPr>
        <p:spPr>
          <a:xfrm>
            <a:off x="5221224" y="2386584"/>
            <a:ext cx="1463040" cy="164592"/>
          </a:xfrm>
          <a:prstGeom prst="rect">
            <a:avLst/>
          </a:prstGeom>
          <a:noFill/>
        </p:spPr>
        <p:txBody>
          <a:bodyPr wrap="square" lIns="0" tIns="0" rIns="0" bIns="0" anchor="t">
            <a:spAutoFit/>
          </a:bodyPr>
          <a:lstStyle/>
          <a:p>
            <a:pPr algn="l"/>
            <a:r>
              <a:rPr sz="900" b="0">
                <a:solidFill>
                  <a:srgbClr val="0D1B2A"/>
                </a:solidFill>
                <a:latin typeface="Oswald"/>
              </a:rPr>
              <a:t>AI assistant</a:t>
            </a:r>
          </a:p>
        </p:txBody>
      </p:sp>
      <p:sp>
        <p:nvSpPr>
          <p:cNvPr id="22" name="Rounded Rectangle 21"/>
          <p:cNvSpPr/>
          <p:nvPr/>
        </p:nvSpPr>
        <p:spPr>
          <a:xfrm>
            <a:off x="1344168" y="2743200"/>
            <a:ext cx="2606040" cy="292608"/>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Summarize these meeting notes.</a:t>
            </a:r>
          </a:p>
        </p:txBody>
      </p:sp>
      <p:sp>
        <p:nvSpPr>
          <p:cNvPr id="23" name="Rounded Rectangle 22"/>
          <p:cNvSpPr/>
          <p:nvPr/>
        </p:nvSpPr>
        <p:spPr>
          <a:xfrm>
            <a:off x="1179576" y="3145536"/>
            <a:ext cx="2606040" cy="292608"/>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Here are the five key points …</a:t>
            </a:r>
          </a:p>
        </p:txBody>
      </p:sp>
      <p:sp>
        <p:nvSpPr>
          <p:cNvPr id="24" name="Rounded Rectangle 23"/>
          <p:cNvSpPr/>
          <p:nvPr/>
        </p:nvSpPr>
        <p:spPr>
          <a:xfrm>
            <a:off x="1344168" y="3547872"/>
            <a:ext cx="2606040" cy="292608"/>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Now draft the text for an email from it.</a:t>
            </a:r>
          </a:p>
        </p:txBody>
      </p:sp>
      <p:sp>
        <p:nvSpPr>
          <p:cNvPr id="25" name="TextBox 24"/>
          <p:cNvSpPr txBox="1"/>
          <p:nvPr/>
        </p:nvSpPr>
        <p:spPr>
          <a:xfrm>
            <a:off x="868680" y="3931920"/>
            <a:ext cx="2286000" cy="182880"/>
          </a:xfrm>
          <a:prstGeom prst="rect">
            <a:avLst/>
          </a:prstGeom>
          <a:noFill/>
        </p:spPr>
        <p:txBody>
          <a:bodyPr wrap="square" lIns="0" tIns="0" rIns="0" bIns="0" anchor="t">
            <a:spAutoFit/>
          </a:bodyPr>
          <a:lstStyle/>
          <a:p>
            <a:pPr algn="l"/>
            <a:r>
              <a:rPr sz="900" b="0">
                <a:solidFill>
                  <a:srgbClr val="6B7B8C"/>
                </a:solidFill>
                <a:latin typeface="Roboto"/>
              </a:rPr>
              <a:t>Every step waits for you.</a:t>
            </a:r>
          </a:p>
        </p:txBody>
      </p:sp>
      <p:sp>
        <p:nvSpPr>
          <p:cNvPr id="26" name="Rounded Rectangle 25"/>
          <p:cNvSpPr/>
          <p:nvPr/>
        </p:nvSpPr>
        <p:spPr>
          <a:xfrm>
            <a:off x="5760720" y="2670048"/>
            <a:ext cx="2231136" cy="246888"/>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Turn these notes into follow-ups.</a:t>
            </a:r>
          </a:p>
        </p:txBody>
      </p:sp>
      <p:sp>
        <p:nvSpPr>
          <p:cNvPr id="27" name="Rounded Rectangle 26"/>
          <p:cNvSpPr/>
          <p:nvPr/>
        </p:nvSpPr>
        <p:spPr>
          <a:xfrm>
            <a:off x="5303520" y="2962656"/>
            <a:ext cx="3108960" cy="548640"/>
          </a:xfrm>
          <a:prstGeom prst="roundRect">
            <a:avLst>
              <a:gd name="adj" fmla="val 13333"/>
            </a:avLst>
          </a:prstGeom>
          <a:solidFill>
            <a:srgbClr val="F4F7F8"/>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58383" y="2990088"/>
            <a:ext cx="2377440" cy="118872"/>
          </a:xfrm>
          <a:prstGeom prst="rect">
            <a:avLst/>
          </a:prstGeom>
          <a:noFill/>
        </p:spPr>
        <p:txBody>
          <a:bodyPr wrap="square" lIns="0" tIns="0" rIns="0" bIns="0" anchor="t">
            <a:spAutoFit/>
          </a:bodyPr>
          <a:lstStyle/>
          <a:p>
            <a:pPr algn="l"/>
            <a:r>
              <a:rPr sz="650" b="0" spc="100">
                <a:solidFill>
                  <a:srgbClr val="1B9AAA"/>
                </a:solidFill>
                <a:latin typeface="JetBrains Mono"/>
              </a:rPr>
              <a:t>↻  the agent repeats on its own</a:t>
            </a:r>
          </a:p>
        </p:txBody>
      </p:sp>
      <p:sp>
        <p:nvSpPr>
          <p:cNvPr id="29" name="Rounded Rectangle 28"/>
          <p:cNvSpPr/>
          <p:nvPr/>
        </p:nvSpPr>
        <p:spPr>
          <a:xfrm>
            <a:off x="5358383" y="3127248"/>
            <a:ext cx="877824" cy="19202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00">
                <a:solidFill>
                  <a:srgbClr val="0D1B2A"/>
                </a:solidFill>
                <a:latin typeface="Roboto"/>
              </a:rPr>
              <a:t>Plans the steps</a:t>
            </a:r>
          </a:p>
        </p:txBody>
      </p:sp>
      <p:cxnSp>
        <p:nvCxnSpPr>
          <p:cNvPr id="30" name="Connector 29"/>
          <p:cNvCxnSpPr/>
          <p:nvPr/>
        </p:nvCxnSpPr>
        <p:spPr>
          <a:xfrm>
            <a:off x="6410378" y="3231968"/>
            <a:ext cx="109728" cy="0"/>
          </a:xfrm>
          <a:prstGeom prst="line">
            <a:avLst/>
          </a:prstGeom>
          <a:ln w="1270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400799" y="3127248"/>
            <a:ext cx="877824" cy="19202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00">
                <a:solidFill>
                  <a:srgbClr val="0D1B2A"/>
                </a:solidFill>
                <a:latin typeface="Roboto"/>
              </a:rPr>
              <a:t>Uses tools</a:t>
            </a:r>
          </a:p>
        </p:txBody>
      </p:sp>
      <p:cxnSp>
        <p:nvCxnSpPr>
          <p:cNvPr id="32" name="Connector 31"/>
          <p:cNvCxnSpPr/>
          <p:nvPr/>
        </p:nvCxnSpPr>
        <p:spPr>
          <a:xfrm>
            <a:off x="7452793" y="3231968"/>
            <a:ext cx="109728" cy="0"/>
          </a:xfrm>
          <a:prstGeom prst="line">
            <a:avLst/>
          </a:prstGeom>
          <a:ln w="12700">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443215" y="3127248"/>
            <a:ext cx="877824" cy="192024"/>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00">
                <a:solidFill>
                  <a:srgbClr val="0D1B2A"/>
                </a:solidFill>
                <a:latin typeface="Roboto"/>
              </a:rPr>
              <a:t>Checks the result</a:t>
            </a:r>
          </a:p>
        </p:txBody>
      </p:sp>
      <p:sp>
        <p:nvSpPr>
          <p:cNvPr id="34" name="Rounded Rectangle 33"/>
          <p:cNvSpPr/>
          <p:nvPr/>
        </p:nvSpPr>
        <p:spPr>
          <a:xfrm>
            <a:off x="6245786" y="3355412"/>
            <a:ext cx="365760" cy="11887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550">
                <a:solidFill>
                  <a:srgbClr val="0D1B2A"/>
                </a:solidFill>
                <a:latin typeface="Roboto"/>
              </a:rPr>
              <a:t>Outlook</a:t>
            </a:r>
          </a:p>
        </p:txBody>
      </p:sp>
      <p:sp>
        <p:nvSpPr>
          <p:cNvPr id="35" name="Rounded Rectangle 34"/>
          <p:cNvSpPr/>
          <p:nvPr/>
        </p:nvSpPr>
        <p:spPr>
          <a:xfrm>
            <a:off x="6652694" y="3355412"/>
            <a:ext cx="365760" cy="11887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550">
                <a:solidFill>
                  <a:srgbClr val="0D1B2A"/>
                </a:solidFill>
                <a:latin typeface="Roboto"/>
              </a:rPr>
              <a:t>File Sys.</a:t>
            </a:r>
          </a:p>
        </p:txBody>
      </p:sp>
      <p:sp>
        <p:nvSpPr>
          <p:cNvPr id="36" name="Rounded Rectangle 35"/>
          <p:cNvSpPr/>
          <p:nvPr/>
        </p:nvSpPr>
        <p:spPr>
          <a:xfrm>
            <a:off x="7059602" y="3355412"/>
            <a:ext cx="365760" cy="11887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00">
                <a:solidFill>
                  <a:srgbClr val="0D1B2A"/>
                </a:solidFill>
                <a:latin typeface="Roboto"/>
              </a:rPr>
              <a:t>…</a:t>
            </a:r>
          </a:p>
        </p:txBody>
      </p:sp>
      <p:sp>
        <p:nvSpPr>
          <p:cNvPr id="37" name="Rounded Rectangle 36"/>
          <p:cNvSpPr/>
          <p:nvPr/>
        </p:nvSpPr>
        <p:spPr>
          <a:xfrm>
            <a:off x="5303520" y="3566160"/>
            <a:ext cx="1764792" cy="365760"/>
          </a:xfrm>
          <a:prstGeom prst="roundRect">
            <a:avLst>
              <a:gd name="adj" fmla="val 15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340096" y="3575303"/>
            <a:ext cx="182880" cy="146304"/>
          </a:xfrm>
          <a:prstGeom prst="rect">
            <a:avLst/>
          </a:prstGeom>
          <a:noFill/>
        </p:spPr>
        <p:txBody>
          <a:bodyPr wrap="square" lIns="0" tIns="0" rIns="0" bIns="0" anchor="t">
            <a:spAutoFit/>
          </a:bodyPr>
          <a:lstStyle/>
          <a:p>
            <a:pPr algn="l"/>
            <a:r>
              <a:rPr sz="800" b="0">
                <a:solidFill>
                  <a:srgbClr val="1B9AAA"/>
                </a:solidFill>
                <a:latin typeface="Roboto"/>
              </a:rPr>
              <a:t>▾</a:t>
            </a:r>
          </a:p>
        </p:txBody>
      </p:sp>
      <p:sp>
        <p:nvSpPr>
          <p:cNvPr id="39" name="TextBox 38"/>
          <p:cNvSpPr txBox="1"/>
          <p:nvPr/>
        </p:nvSpPr>
        <p:spPr>
          <a:xfrm>
            <a:off x="5504688" y="3589020"/>
            <a:ext cx="1463040" cy="109728"/>
          </a:xfrm>
          <a:prstGeom prst="rect">
            <a:avLst/>
          </a:prstGeom>
          <a:noFill/>
        </p:spPr>
        <p:txBody>
          <a:bodyPr wrap="square" lIns="0" tIns="0" rIns="0" bIns="0" anchor="t">
            <a:spAutoFit/>
          </a:bodyPr>
          <a:lstStyle/>
          <a:p>
            <a:pPr algn="l"/>
            <a:r>
              <a:rPr sz="700" b="0" spc="100">
                <a:solidFill>
                  <a:srgbClr val="1B9AAA"/>
                </a:solidFill>
                <a:latin typeface="JetBrains Mono"/>
              </a:rPr>
              <a:t>Executed 2 tasks</a:t>
            </a:r>
          </a:p>
        </p:txBody>
      </p:sp>
      <p:cxnSp>
        <p:nvCxnSpPr>
          <p:cNvPr id="40" name="Connector 39"/>
          <p:cNvCxnSpPr/>
          <p:nvPr/>
        </p:nvCxnSpPr>
        <p:spPr>
          <a:xfrm>
            <a:off x="5303520" y="3703320"/>
            <a:ext cx="1755648"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31536" y="3730752"/>
            <a:ext cx="1554480" cy="91440"/>
          </a:xfrm>
          <a:prstGeom prst="rect">
            <a:avLst/>
          </a:prstGeom>
          <a:noFill/>
        </p:spPr>
        <p:txBody>
          <a:bodyPr wrap="square" lIns="0" tIns="0" rIns="0" bIns="0" anchor="t">
            <a:spAutoFit/>
          </a:bodyPr>
          <a:lstStyle/>
          <a:p>
            <a:pPr algn="l"/>
            <a:r>
              <a:rPr sz="600" b="0">
                <a:solidFill>
                  <a:srgbClr val="1B9AAA"/>
                </a:solidFill>
                <a:latin typeface="Roboto"/>
              </a:rPr>
              <a:t>✓  Draft email written in Outlook</a:t>
            </a:r>
          </a:p>
        </p:txBody>
      </p:sp>
      <p:sp>
        <p:nvSpPr>
          <p:cNvPr id="42" name="TextBox 41"/>
          <p:cNvSpPr txBox="1"/>
          <p:nvPr/>
        </p:nvSpPr>
        <p:spPr>
          <a:xfrm>
            <a:off x="5431536" y="3831336"/>
            <a:ext cx="1554480" cy="91440"/>
          </a:xfrm>
          <a:prstGeom prst="rect">
            <a:avLst/>
          </a:prstGeom>
          <a:noFill/>
        </p:spPr>
        <p:txBody>
          <a:bodyPr wrap="square" lIns="0" tIns="0" rIns="0" bIns="0" anchor="t">
            <a:spAutoFit/>
          </a:bodyPr>
          <a:lstStyle/>
          <a:p>
            <a:pPr algn="l"/>
            <a:r>
              <a:rPr sz="600" b="0">
                <a:solidFill>
                  <a:srgbClr val="1B9AAA"/>
                </a:solidFill>
                <a:latin typeface="Roboto"/>
              </a:rPr>
              <a:t>✓  Schedule follow-up meetings</a:t>
            </a:r>
          </a:p>
        </p:txBody>
      </p:sp>
      <p:sp>
        <p:nvSpPr>
          <p:cNvPr id="43" name="Rounded Rectangle 42"/>
          <p:cNvSpPr/>
          <p:nvPr/>
        </p:nvSpPr>
        <p:spPr>
          <a:xfrm>
            <a:off x="5303520" y="3968496"/>
            <a:ext cx="3108960" cy="16459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00">
                <a:solidFill>
                  <a:srgbClr val="0D1B2A"/>
                </a:solidFill>
                <a:latin typeface="Roboto"/>
              </a:rPr>
              <a:t>I have executed all tasks. The draft email is waiting for your approval.</a:t>
            </a:r>
          </a:p>
        </p:txBody>
      </p:sp>
      <p:cxnSp>
        <p:nvCxnSpPr>
          <p:cNvPr id="44" name="Connector 43"/>
          <p:cNvCxnSpPr/>
          <p:nvPr/>
        </p:nvCxnSpPr>
        <p:spPr>
          <a:xfrm>
            <a:off x="777240" y="4279392"/>
            <a:ext cx="3584448"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77240" y="4334256"/>
            <a:ext cx="3593592" cy="182880"/>
          </a:xfrm>
          <a:prstGeom prst="rect">
            <a:avLst/>
          </a:prstGeom>
          <a:noFill/>
        </p:spPr>
        <p:txBody>
          <a:bodyPr wrap="square" lIns="0" tIns="0" rIns="0" bIns="0" anchor="t">
            <a:spAutoFit/>
          </a:bodyPr>
          <a:lstStyle/>
          <a:p>
            <a:pPr algn="l"/>
            <a:r>
              <a:rPr sz="900" b="0">
                <a:solidFill>
                  <a:srgbClr val="14293D"/>
                </a:solidFill>
                <a:latin typeface="Roboto"/>
              </a:rPr>
              <a:t>A structured exchange that needs a human for every decision.</a:t>
            </a:r>
          </a:p>
        </p:txBody>
      </p:sp>
      <p:cxnSp>
        <p:nvCxnSpPr>
          <p:cNvPr id="46" name="Connector 45"/>
          <p:cNvCxnSpPr/>
          <p:nvPr/>
        </p:nvCxnSpPr>
        <p:spPr>
          <a:xfrm>
            <a:off x="4910328" y="4279392"/>
            <a:ext cx="3584448" cy="0"/>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910328" y="4334256"/>
            <a:ext cx="3593592" cy="182880"/>
          </a:xfrm>
          <a:prstGeom prst="rect">
            <a:avLst/>
          </a:prstGeom>
          <a:noFill/>
        </p:spPr>
        <p:txBody>
          <a:bodyPr wrap="square" lIns="0" tIns="0" rIns="0" bIns="0" anchor="t">
            <a:spAutoFit/>
          </a:bodyPr>
          <a:lstStyle/>
          <a:p>
            <a:pPr algn="l"/>
            <a:r>
              <a:rPr sz="900" b="0">
                <a:solidFill>
                  <a:srgbClr val="14293D"/>
                </a:solidFill>
                <a:latin typeface="Roboto"/>
              </a:rPr>
              <a:t>An autonomous system that pursues a goal on its own.</a:t>
            </a:r>
          </a:p>
        </p:txBody>
      </p:sp>
      <p:sp>
        <p:nvSpPr>
          <p:cNvPr id="48" name="Rectangle 47"/>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The chatbot waits for your next instruction. The agent decides the next step itself.</a:t>
            </a:r>
          </a:p>
        </p:txBody>
      </p:sp>
      <p:pic>
        <p:nvPicPr>
          <p:cNvPr id="50" name="Picture 5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215" y="2734056"/>
            <a:ext cx="310896" cy="310896"/>
          </a:xfrm>
          <a:prstGeom prst="rect">
            <a:avLst/>
          </a:prstGeom>
        </p:spPr>
      </p:pic>
      <p:pic>
        <p:nvPicPr>
          <p:cNvPr id="51" name="Picture 5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0392" y="3136392"/>
            <a:ext cx="310896" cy="310896"/>
          </a:xfrm>
          <a:prstGeom prst="rect">
            <a:avLst/>
          </a:prstGeom>
        </p:spPr>
      </p:pic>
      <p:pic>
        <p:nvPicPr>
          <p:cNvPr id="52" name="Picture 5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215" y="3538728"/>
            <a:ext cx="310896" cy="310896"/>
          </a:xfrm>
          <a:prstGeom prst="rect">
            <a:avLst/>
          </a:prstGeom>
        </p:spPr>
      </p:pic>
      <p:pic>
        <p:nvPicPr>
          <p:cNvPr id="53" name="Picture 53"/>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65008" y="2633472"/>
            <a:ext cx="310896" cy="310896"/>
          </a:xfrm>
          <a:prstGeom prst="rect">
            <a:avLst/>
          </a:prstGeom>
        </p:spPr>
      </p:pic>
      <p:pic>
        <p:nvPicPr>
          <p:cNvPr id="54" name="Picture 54"/>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5192" y="3108960"/>
            <a:ext cx="310896" cy="310896"/>
          </a:xfrm>
          <a:prstGeom prst="rect">
            <a:avLst/>
          </a:prstGeom>
        </p:spPr>
      </p:pic>
      <p:sp>
        <p:nvSpPr>
          <p:cNvPr id="55" name="Oval 54"/>
          <p:cNvSpPr/>
          <p:nvPr/>
        </p:nvSpPr>
        <p:spPr>
          <a:xfrm>
            <a:off x="3915460" y="2449677"/>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4043476" y="2449677"/>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4171492" y="2449677"/>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048548" y="2449677"/>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8176564" y="2449677"/>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8304580" y="2449677"/>
            <a:ext cx="64008" cy="64008"/>
          </a:xfrm>
          <a:prstGeom prst="ellipse">
            <a:avLst/>
          </a:prstGeom>
          <a:solidFill>
            <a:srgbClr val="8FA6B2">
              <a:alpha val="100000"/>
            </a:srgbClr>
          </a:solidFill>
          <a:ln w="6350">
            <a:solidFill>
              <a:srgbClr val="8FA6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2" name="Connector 25">
            <a:extLst>
              <a:ext uri="{FF2B5EF4-FFF2-40B4-BE49-F238E27FC236}">
                <a16:creationId xmlns:a16="http://schemas.microsoft.com/office/drawing/2014/main" id="{4D831B6B-D81E-07E5-CD72-E74867C2C652}"/>
              </a:ext>
            </a:extLst>
          </p:cNvPr>
          <p:cNvCxnSpPr>
            <a:cxnSpLocks/>
            <a:stCxn id="29" idx="3"/>
            <a:endCxn id="31" idx="1"/>
          </p:cNvCxnSpPr>
          <p:nvPr/>
        </p:nvCxnSpPr>
        <p:spPr>
          <a:xfrm>
            <a:off x="6236207" y="3223260"/>
            <a:ext cx="164592" cy="0"/>
          </a:xfrm>
          <a:prstGeom prst="line">
            <a:avLst/>
          </a:prstGeom>
          <a:ln w="2222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Connector 25">
            <a:extLst>
              <a:ext uri="{FF2B5EF4-FFF2-40B4-BE49-F238E27FC236}">
                <a16:creationId xmlns:a16="http://schemas.microsoft.com/office/drawing/2014/main" id="{CF38C6AB-82F5-73DA-3D5B-5206A60D2325}"/>
              </a:ext>
            </a:extLst>
          </p:cNvPr>
          <p:cNvCxnSpPr>
            <a:cxnSpLocks/>
            <a:stCxn id="31" idx="3"/>
            <a:endCxn id="33" idx="1"/>
          </p:cNvCxnSpPr>
          <p:nvPr/>
        </p:nvCxnSpPr>
        <p:spPr>
          <a:xfrm>
            <a:off x="7278623" y="3223260"/>
            <a:ext cx="164592" cy="0"/>
          </a:xfrm>
          <a:prstGeom prst="line">
            <a:avLst/>
          </a:prstGeom>
          <a:ln w="2222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PART 5 · ANATOMY</a:t>
            </a:r>
          </a:p>
        </p:txBody>
      </p:sp>
      <p:sp>
        <p:nvSpPr>
          <p:cNvPr id="4" name="slide-agent-anatomy"/>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What an agent is made of</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150" b="0">
                <a:solidFill>
                  <a:srgbClr val="14293D"/>
                </a:solidFill>
                <a:latin typeface="Roboto"/>
              </a:rPr>
              <a:t>“An AI application consisting of a model equipped with instructions that guide its behavior, access to tools that extend its capabilities, encapsulated in a runtime with a dynamic lifecycle.”   — OpenAI definition</a:t>
            </a:r>
          </a:p>
        </p:txBody>
      </p:sp>
      <p:sp>
        <p:nvSpPr>
          <p:cNvPr id="6" name="Rounded Rectangle 5"/>
          <p:cNvSpPr/>
          <p:nvPr/>
        </p:nvSpPr>
        <p:spPr>
          <a:xfrm>
            <a:off x="566928" y="1783080"/>
            <a:ext cx="914400" cy="384048"/>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a:solidFill>
                  <a:srgbClr val="FFFFFF"/>
                </a:solidFill>
                <a:latin typeface="Oswald"/>
              </a:rPr>
              <a:t>Agent</a:t>
            </a:r>
          </a:p>
        </p:txBody>
      </p:sp>
      <p:sp>
        <p:nvSpPr>
          <p:cNvPr id="7" name="TextBox 6"/>
          <p:cNvSpPr txBox="1"/>
          <p:nvPr/>
        </p:nvSpPr>
        <p:spPr>
          <a:xfrm>
            <a:off x="1536192" y="1828800"/>
            <a:ext cx="274320" cy="274320"/>
          </a:xfrm>
          <a:prstGeom prst="rect">
            <a:avLst/>
          </a:prstGeom>
          <a:noFill/>
        </p:spPr>
        <p:txBody>
          <a:bodyPr wrap="square" lIns="0" tIns="0" rIns="0" bIns="0" anchor="t">
            <a:spAutoFit/>
          </a:bodyPr>
          <a:lstStyle/>
          <a:p>
            <a:pPr algn="ctr"/>
            <a:r>
              <a:rPr sz="1500" b="0">
                <a:solidFill>
                  <a:srgbClr val="6B7B8C"/>
                </a:solidFill>
                <a:latin typeface="Oswald"/>
              </a:rPr>
              <a:t>=</a:t>
            </a:r>
          </a:p>
        </p:txBody>
      </p:sp>
      <p:sp>
        <p:nvSpPr>
          <p:cNvPr id="8" name="Rounded Rectangle 7"/>
          <p:cNvSpPr/>
          <p:nvPr/>
        </p:nvSpPr>
        <p:spPr>
          <a:xfrm>
            <a:off x="1865376" y="1783080"/>
            <a:ext cx="841247" cy="384048"/>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a:solidFill>
                  <a:srgbClr val="0D1B2A"/>
                </a:solidFill>
                <a:latin typeface="Oswald"/>
              </a:rPr>
              <a:t>Model</a:t>
            </a:r>
          </a:p>
        </p:txBody>
      </p:sp>
      <p:sp>
        <p:nvSpPr>
          <p:cNvPr id="9" name="TextBox 8"/>
          <p:cNvSpPr txBox="1"/>
          <p:nvPr/>
        </p:nvSpPr>
        <p:spPr>
          <a:xfrm>
            <a:off x="2761488" y="1828800"/>
            <a:ext cx="274320" cy="274320"/>
          </a:xfrm>
          <a:prstGeom prst="rect">
            <a:avLst/>
          </a:prstGeom>
          <a:noFill/>
        </p:spPr>
        <p:txBody>
          <a:bodyPr wrap="square" lIns="0" tIns="0" rIns="0" bIns="0" anchor="t">
            <a:spAutoFit/>
          </a:bodyPr>
          <a:lstStyle/>
          <a:p>
            <a:pPr algn="ctr"/>
            <a:r>
              <a:rPr sz="1500" b="0">
                <a:solidFill>
                  <a:srgbClr val="6B7B8C"/>
                </a:solidFill>
                <a:latin typeface="Oswald"/>
              </a:rPr>
              <a:t>+</a:t>
            </a:r>
          </a:p>
        </p:txBody>
      </p:sp>
      <p:sp>
        <p:nvSpPr>
          <p:cNvPr id="10" name="Rounded Rectangle 9"/>
          <p:cNvSpPr/>
          <p:nvPr/>
        </p:nvSpPr>
        <p:spPr>
          <a:xfrm>
            <a:off x="3090672" y="1783080"/>
            <a:ext cx="1481328" cy="384048"/>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a:solidFill>
                  <a:srgbClr val="0D1B2A"/>
                </a:solidFill>
                <a:latin typeface="Oswald"/>
              </a:rPr>
              <a:t>Instructions</a:t>
            </a:r>
          </a:p>
        </p:txBody>
      </p:sp>
      <p:sp>
        <p:nvSpPr>
          <p:cNvPr id="11" name="TextBox 10"/>
          <p:cNvSpPr txBox="1"/>
          <p:nvPr/>
        </p:nvSpPr>
        <p:spPr>
          <a:xfrm>
            <a:off x="4626864" y="1828800"/>
            <a:ext cx="274320" cy="274320"/>
          </a:xfrm>
          <a:prstGeom prst="rect">
            <a:avLst/>
          </a:prstGeom>
          <a:noFill/>
        </p:spPr>
        <p:txBody>
          <a:bodyPr wrap="square" lIns="0" tIns="0" rIns="0" bIns="0" anchor="t">
            <a:spAutoFit/>
          </a:bodyPr>
          <a:lstStyle/>
          <a:p>
            <a:pPr algn="ctr"/>
            <a:r>
              <a:rPr sz="1500" b="0">
                <a:solidFill>
                  <a:srgbClr val="6B7B8C"/>
                </a:solidFill>
                <a:latin typeface="Oswald"/>
              </a:rPr>
              <a:t>+</a:t>
            </a:r>
          </a:p>
        </p:txBody>
      </p:sp>
      <p:sp>
        <p:nvSpPr>
          <p:cNvPr id="12" name="Rounded Rectangle 11"/>
          <p:cNvSpPr/>
          <p:nvPr/>
        </p:nvSpPr>
        <p:spPr>
          <a:xfrm>
            <a:off x="4956048" y="1783080"/>
            <a:ext cx="841247" cy="384048"/>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a:solidFill>
                  <a:srgbClr val="0D1B2A"/>
                </a:solidFill>
                <a:latin typeface="Oswald"/>
              </a:rPr>
              <a:t>Tools</a:t>
            </a:r>
          </a:p>
        </p:txBody>
      </p:sp>
      <p:sp>
        <p:nvSpPr>
          <p:cNvPr id="13" name="TextBox 12"/>
          <p:cNvSpPr txBox="1"/>
          <p:nvPr/>
        </p:nvSpPr>
        <p:spPr>
          <a:xfrm>
            <a:off x="5852159" y="1828800"/>
            <a:ext cx="274320" cy="274320"/>
          </a:xfrm>
          <a:prstGeom prst="rect">
            <a:avLst/>
          </a:prstGeom>
          <a:noFill/>
        </p:spPr>
        <p:txBody>
          <a:bodyPr wrap="square" lIns="0" tIns="0" rIns="0" bIns="0" anchor="t">
            <a:spAutoFit/>
          </a:bodyPr>
          <a:lstStyle/>
          <a:p>
            <a:pPr algn="ctr"/>
            <a:r>
              <a:rPr sz="1500" b="0">
                <a:solidFill>
                  <a:srgbClr val="6B7B8C"/>
                </a:solidFill>
                <a:latin typeface="Oswald"/>
              </a:rPr>
              <a:t>+</a:t>
            </a:r>
          </a:p>
        </p:txBody>
      </p:sp>
      <p:sp>
        <p:nvSpPr>
          <p:cNvPr id="14" name="Rounded Rectangle 13"/>
          <p:cNvSpPr/>
          <p:nvPr/>
        </p:nvSpPr>
        <p:spPr>
          <a:xfrm>
            <a:off x="6181344" y="1783080"/>
            <a:ext cx="1024128" cy="384048"/>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a:solidFill>
                  <a:srgbClr val="0D1B2A"/>
                </a:solidFill>
                <a:latin typeface="Oswald"/>
              </a:rPr>
              <a:t>Runtime</a:t>
            </a:r>
          </a:p>
        </p:txBody>
      </p:sp>
      <p:sp>
        <p:nvSpPr>
          <p:cNvPr id="15" name="Rectangle 14"/>
          <p:cNvSpPr/>
          <p:nvPr/>
        </p:nvSpPr>
        <p:spPr>
          <a:xfrm>
            <a:off x="566928" y="2432304"/>
            <a:ext cx="4005072" cy="96926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6928" y="2432304"/>
            <a:ext cx="54864" cy="9692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2542032"/>
            <a:ext cx="3593591" cy="274320"/>
          </a:xfrm>
          <a:prstGeom prst="rect">
            <a:avLst/>
          </a:prstGeom>
          <a:noFill/>
        </p:spPr>
        <p:txBody>
          <a:bodyPr wrap="square" lIns="0" tIns="0" rIns="0" bIns="0" anchor="t">
            <a:spAutoFit/>
          </a:bodyPr>
          <a:lstStyle/>
          <a:p>
            <a:pPr algn="l"/>
            <a:r>
              <a:rPr sz="1500" b="0">
                <a:solidFill>
                  <a:srgbClr val="0D1B2A"/>
                </a:solidFill>
                <a:latin typeface="Oswald"/>
              </a:rPr>
              <a:t>Model</a:t>
            </a:r>
          </a:p>
        </p:txBody>
      </p:sp>
      <p:sp>
        <p:nvSpPr>
          <p:cNvPr id="18" name="TextBox 17"/>
          <p:cNvSpPr txBox="1"/>
          <p:nvPr/>
        </p:nvSpPr>
        <p:spPr>
          <a:xfrm>
            <a:off x="777240" y="2834640"/>
            <a:ext cx="3593591" cy="365760"/>
          </a:xfrm>
          <a:prstGeom prst="rect">
            <a:avLst/>
          </a:prstGeom>
          <a:noFill/>
        </p:spPr>
        <p:txBody>
          <a:bodyPr wrap="square" lIns="0" tIns="0" rIns="0" bIns="0" anchor="t">
            <a:spAutoFit/>
          </a:bodyPr>
          <a:lstStyle/>
          <a:p>
            <a:pPr algn="l"/>
            <a:r>
              <a:rPr sz="1000" b="0">
                <a:solidFill>
                  <a:srgbClr val="6B7B8C"/>
                </a:solidFill>
                <a:latin typeface="Roboto"/>
              </a:rPr>
              <a:t>Usually an LLM. Core capabilities: observing, understanding, planning, deciding.</a:t>
            </a:r>
          </a:p>
        </p:txBody>
      </p:sp>
      <p:sp>
        <p:nvSpPr>
          <p:cNvPr id="19" name="Rectangle 18"/>
          <p:cNvSpPr/>
          <p:nvPr/>
        </p:nvSpPr>
        <p:spPr>
          <a:xfrm>
            <a:off x="4736592" y="2432304"/>
            <a:ext cx="4005072" cy="96926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736592" y="2432304"/>
            <a:ext cx="54864" cy="969264"/>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46904" y="2542032"/>
            <a:ext cx="3593591" cy="274320"/>
          </a:xfrm>
          <a:prstGeom prst="rect">
            <a:avLst/>
          </a:prstGeom>
          <a:noFill/>
        </p:spPr>
        <p:txBody>
          <a:bodyPr wrap="square" lIns="0" tIns="0" rIns="0" bIns="0" anchor="t">
            <a:spAutoFit/>
          </a:bodyPr>
          <a:lstStyle/>
          <a:p>
            <a:pPr algn="l"/>
            <a:r>
              <a:rPr sz="1500" b="0">
                <a:solidFill>
                  <a:srgbClr val="0D1B2A"/>
                </a:solidFill>
                <a:latin typeface="Oswald"/>
              </a:rPr>
              <a:t>Instructions</a:t>
            </a:r>
          </a:p>
        </p:txBody>
      </p:sp>
      <p:sp>
        <p:nvSpPr>
          <p:cNvPr id="22" name="TextBox 21"/>
          <p:cNvSpPr txBox="1"/>
          <p:nvPr/>
        </p:nvSpPr>
        <p:spPr>
          <a:xfrm>
            <a:off x="4946904" y="2834640"/>
            <a:ext cx="3593591" cy="365760"/>
          </a:xfrm>
          <a:prstGeom prst="rect">
            <a:avLst/>
          </a:prstGeom>
          <a:noFill/>
        </p:spPr>
        <p:txBody>
          <a:bodyPr wrap="square" lIns="0" tIns="0" rIns="0" bIns="0" anchor="t">
            <a:spAutoFit/>
          </a:bodyPr>
          <a:lstStyle/>
          <a:p>
            <a:pPr algn="l"/>
            <a:r>
              <a:rPr sz="1000" b="0">
                <a:solidFill>
                  <a:srgbClr val="6B7B8C"/>
                </a:solidFill>
                <a:latin typeface="Roboto"/>
              </a:rPr>
              <a:t>Define the goals and behaviour that steer actions toward the intended outcome.</a:t>
            </a:r>
          </a:p>
        </p:txBody>
      </p:sp>
      <p:sp>
        <p:nvSpPr>
          <p:cNvPr id="23" name="Rectangle 22"/>
          <p:cNvSpPr/>
          <p:nvPr/>
        </p:nvSpPr>
        <p:spPr>
          <a:xfrm>
            <a:off x="566928" y="3566160"/>
            <a:ext cx="4005072" cy="96926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66928" y="3566160"/>
            <a:ext cx="54864" cy="9692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3675888"/>
            <a:ext cx="3593591" cy="274320"/>
          </a:xfrm>
          <a:prstGeom prst="rect">
            <a:avLst/>
          </a:prstGeom>
          <a:noFill/>
        </p:spPr>
        <p:txBody>
          <a:bodyPr wrap="square" lIns="0" tIns="0" rIns="0" bIns="0" anchor="t">
            <a:spAutoFit/>
          </a:bodyPr>
          <a:lstStyle/>
          <a:p>
            <a:pPr algn="l"/>
            <a:r>
              <a:rPr sz="1500" b="0">
                <a:solidFill>
                  <a:srgbClr val="0D1B2A"/>
                </a:solidFill>
                <a:latin typeface="Oswald"/>
              </a:rPr>
              <a:t>Tools</a:t>
            </a:r>
          </a:p>
        </p:txBody>
      </p:sp>
      <p:sp>
        <p:nvSpPr>
          <p:cNvPr id="26" name="TextBox 25"/>
          <p:cNvSpPr txBox="1"/>
          <p:nvPr/>
        </p:nvSpPr>
        <p:spPr>
          <a:xfrm>
            <a:off x="777240" y="3968496"/>
            <a:ext cx="3593591" cy="365760"/>
          </a:xfrm>
          <a:prstGeom prst="rect">
            <a:avLst/>
          </a:prstGeom>
          <a:noFill/>
        </p:spPr>
        <p:txBody>
          <a:bodyPr wrap="square" lIns="0" tIns="0" rIns="0" bIns="0" anchor="t">
            <a:spAutoFit/>
          </a:bodyPr>
          <a:lstStyle/>
          <a:p>
            <a:pPr algn="l"/>
            <a:r>
              <a:rPr sz="1000" b="0">
                <a:solidFill>
                  <a:srgbClr val="6B7B8C"/>
                </a:solidFill>
                <a:latin typeface="Roboto"/>
              </a:rPr>
              <a:t>Extend capability beyond the model: browsing, calling APIs, operating software.</a:t>
            </a:r>
          </a:p>
        </p:txBody>
      </p:sp>
      <p:sp>
        <p:nvSpPr>
          <p:cNvPr id="27" name="Rectangle 26"/>
          <p:cNvSpPr/>
          <p:nvPr/>
        </p:nvSpPr>
        <p:spPr>
          <a:xfrm>
            <a:off x="4736592" y="3566160"/>
            <a:ext cx="4005072" cy="96926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736592" y="3566160"/>
            <a:ext cx="54864" cy="969264"/>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46904" y="3675888"/>
            <a:ext cx="3593591" cy="274320"/>
          </a:xfrm>
          <a:prstGeom prst="rect">
            <a:avLst/>
          </a:prstGeom>
          <a:noFill/>
        </p:spPr>
        <p:txBody>
          <a:bodyPr wrap="square" lIns="0" tIns="0" rIns="0" bIns="0" anchor="t">
            <a:spAutoFit/>
          </a:bodyPr>
          <a:lstStyle/>
          <a:p>
            <a:pPr algn="l"/>
            <a:r>
              <a:rPr sz="1500" b="0">
                <a:solidFill>
                  <a:srgbClr val="0D1B2A"/>
                </a:solidFill>
                <a:latin typeface="Oswald"/>
              </a:rPr>
              <a:t>Runtime</a:t>
            </a:r>
          </a:p>
        </p:txBody>
      </p:sp>
      <p:sp>
        <p:nvSpPr>
          <p:cNvPr id="30" name="TextBox 29"/>
          <p:cNvSpPr txBox="1"/>
          <p:nvPr/>
        </p:nvSpPr>
        <p:spPr>
          <a:xfrm>
            <a:off x="4946904" y="3968496"/>
            <a:ext cx="3593591" cy="365760"/>
          </a:xfrm>
          <a:prstGeom prst="rect">
            <a:avLst/>
          </a:prstGeom>
          <a:noFill/>
        </p:spPr>
        <p:txBody>
          <a:bodyPr wrap="square" lIns="0" tIns="0" rIns="0" bIns="0" anchor="t">
            <a:spAutoFit/>
          </a:bodyPr>
          <a:lstStyle/>
          <a:p>
            <a:pPr algn="l"/>
            <a:r>
              <a:rPr sz="1000" b="0">
                <a:solidFill>
                  <a:srgbClr val="6B7B8C"/>
                </a:solidFill>
                <a:latin typeface="Roboto"/>
              </a:rPr>
              <a:t>Manages the execution loop — plan, act, observe, iterate toward the objective. Apps like Claude or Microsoft Copilot provide it for you.</a:t>
            </a:r>
          </a:p>
        </p:txBody>
      </p:sp>
      <p:sp>
        <p:nvSpPr>
          <p:cNvPr id="31" name="Rectangle 30"/>
          <p:cNvSpPr/>
          <p:nvPr/>
        </p:nvSpPr>
        <p:spPr>
          <a:xfrm>
            <a:off x="566928" y="4681727"/>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3232" y="4663440"/>
            <a:ext cx="7991856" cy="274320"/>
          </a:xfrm>
          <a:prstGeom prst="rect">
            <a:avLst/>
          </a:prstGeom>
          <a:noFill/>
        </p:spPr>
        <p:txBody>
          <a:bodyPr wrap="square" lIns="0" tIns="0" rIns="0" bIns="0" anchor="t">
            <a:spAutoFit/>
          </a:bodyPr>
          <a:lstStyle/>
          <a:p>
            <a:pPr algn="l"/>
            <a:r>
              <a:rPr sz="1200" b="0">
                <a:solidFill>
                  <a:srgbClr val="0D1B2A"/>
                </a:solidFill>
                <a:latin typeface="Roboto"/>
              </a:rPr>
              <a:t>A model alone is not an agent: instructions, tools and a runtime make it 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92240" y="2377440"/>
            <a:ext cx="3291840" cy="3291840"/>
          </a:xfrm>
          <a:prstGeom prst="ellipse">
            <a:avLst/>
          </a:prstGeom>
          <a:solidFill>
            <a:srgbClr val="1B9AAA">
              <a:alpha val="1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863840" y="1600200"/>
            <a:ext cx="2103120" cy="2103120"/>
          </a:xfrm>
          <a:prstGeom prst="ellipse">
            <a:avLst/>
          </a:prstGeom>
          <a:solidFill>
            <a:srgbClr val="06D6A0">
              <a:alpha val="8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143000"/>
            <a:ext cx="3657600" cy="274320"/>
          </a:xfrm>
          <a:prstGeom prst="rect">
            <a:avLst/>
          </a:prstGeom>
          <a:noFill/>
        </p:spPr>
        <p:txBody>
          <a:bodyPr wrap="square" lIns="0" tIns="0" rIns="0" bIns="0" anchor="t">
            <a:spAutoFit/>
          </a:bodyPr>
          <a:lstStyle/>
          <a:p>
            <a:pPr algn="l"/>
            <a:r>
              <a:rPr sz="1100" b="0" spc="300">
                <a:solidFill>
                  <a:srgbClr val="1B9AAA"/>
                </a:solidFill>
                <a:latin typeface="JetBrains Mono"/>
              </a:rPr>
              <a:t>PART 5 · THE QUESTION</a:t>
            </a:r>
          </a:p>
        </p:txBody>
      </p:sp>
      <p:sp>
        <p:nvSpPr>
          <p:cNvPr id="6" name="slide-bridge-question"/>
          <p:cNvSpPr txBox="1"/>
          <p:nvPr/>
        </p:nvSpPr>
        <p:spPr>
          <a:xfrm>
            <a:off x="822960" y="1463040"/>
            <a:ext cx="5669280" cy="1572768"/>
          </a:xfrm>
          <a:prstGeom prst="rect">
            <a:avLst/>
          </a:prstGeom>
          <a:noFill/>
        </p:spPr>
        <p:txBody>
          <a:bodyPr wrap="square" lIns="0" tIns="0" rIns="0" bIns="0" anchor="t">
            <a:spAutoFit/>
          </a:bodyPr>
          <a:lstStyle/>
          <a:p>
            <a:pPr algn="l"/>
            <a:r>
              <a:rPr sz="3400" b="0">
                <a:solidFill>
                  <a:srgbClr val="0D1B2A"/>
                </a:solidFill>
                <a:latin typeface="Oswald"/>
              </a:rPr>
              <a:t>Wait — how do we get from</a:t>
            </a:r>
          </a:p>
          <a:p>
            <a:pPr algn="l"/>
            <a:r>
              <a:rPr sz="3400" b="0">
                <a:solidFill>
                  <a:srgbClr val="0D1B2A"/>
                </a:solidFill>
                <a:latin typeface="Oswald"/>
              </a:rPr>
              <a:t>predicting the next token to an</a:t>
            </a:r>
          </a:p>
          <a:p>
            <a:pPr algn="l"/>
            <a:r>
              <a:rPr sz="3400" b="0">
                <a:solidFill>
                  <a:srgbClr val="0D1B2A"/>
                </a:solidFill>
                <a:latin typeface="Oswald"/>
              </a:rPr>
              <a:t>agent that operates Outlook?</a:t>
            </a:r>
          </a:p>
        </p:txBody>
      </p:sp>
      <p:sp>
        <p:nvSpPr>
          <p:cNvPr id="7" name="Rectangle 6"/>
          <p:cNvSpPr/>
          <p:nvPr/>
        </p:nvSpPr>
        <p:spPr>
          <a:xfrm>
            <a:off x="822960" y="352044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PART 5 · THE STARTING POINT</a:t>
            </a:r>
          </a:p>
        </p:txBody>
      </p:sp>
      <p:sp>
        <p:nvSpPr>
          <p:cNvPr id="4" name="slide-model-alone"/>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A model alone can only talk</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Its knowledge is learned in training and frozen in the model’s weights. All it produces is text.</a:t>
            </a:r>
          </a:p>
        </p:txBody>
      </p:sp>
      <p:sp>
        <p:nvSpPr>
          <p:cNvPr id="6" name="Rectangle 5"/>
          <p:cNvSpPr/>
          <p:nvPr/>
        </p:nvSpPr>
        <p:spPr>
          <a:xfrm>
            <a:off x="566928" y="1783080"/>
            <a:ext cx="4005072" cy="128016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128016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11095"/>
            <a:ext cx="3639312" cy="274320"/>
          </a:xfrm>
          <a:prstGeom prst="rect">
            <a:avLst/>
          </a:prstGeom>
          <a:noFill/>
        </p:spPr>
        <p:txBody>
          <a:bodyPr wrap="square" lIns="0" tIns="0" rIns="0" bIns="0" anchor="t">
            <a:spAutoFit/>
          </a:bodyPr>
          <a:lstStyle/>
          <a:p>
            <a:pPr algn="l"/>
            <a:r>
              <a:rPr sz="1500" b="0">
                <a:solidFill>
                  <a:srgbClr val="0D1B2A"/>
                </a:solidFill>
                <a:latin typeface="Oswald"/>
              </a:rPr>
              <a:t>Its facts are approximate</a:t>
            </a:r>
          </a:p>
        </p:txBody>
      </p:sp>
      <p:sp>
        <p:nvSpPr>
          <p:cNvPr id="9" name="TextBox 8"/>
          <p:cNvSpPr txBox="1"/>
          <p:nvPr/>
        </p:nvSpPr>
        <p:spPr>
          <a:xfrm>
            <a:off x="777240" y="2240280"/>
            <a:ext cx="3593591" cy="411480"/>
          </a:xfrm>
          <a:prstGeom prst="rect">
            <a:avLst/>
          </a:prstGeom>
          <a:noFill/>
        </p:spPr>
        <p:txBody>
          <a:bodyPr wrap="square" lIns="0" tIns="0" rIns="0" bIns="0" anchor="t">
            <a:spAutoFit/>
          </a:bodyPr>
          <a:lstStyle/>
          <a:p>
            <a:pPr algn="l"/>
            <a:r>
              <a:rPr sz="1050" b="0">
                <a:solidFill>
                  <a:srgbClr val="6B7B8C"/>
                </a:solidFill>
                <a:latin typeface="Roboto"/>
              </a:rPr>
              <a:t>Facts are compressed into the weights, not stored word for word. It cannot look them up or say where they came from.</a:t>
            </a:r>
          </a:p>
        </p:txBody>
      </p:sp>
      <p:sp>
        <p:nvSpPr>
          <p:cNvPr id="10" name="TextBox 9"/>
          <p:cNvSpPr txBox="1"/>
          <p:nvPr/>
        </p:nvSpPr>
        <p:spPr>
          <a:xfrm>
            <a:off x="777240" y="2743199"/>
            <a:ext cx="822960" cy="228600"/>
          </a:xfrm>
          <a:prstGeom prst="rect">
            <a:avLst/>
          </a:prstGeom>
          <a:noFill/>
        </p:spPr>
        <p:txBody>
          <a:bodyPr wrap="square" lIns="0" tIns="0" rIns="0" bIns="0" anchor="t">
            <a:spAutoFit/>
          </a:bodyPr>
          <a:lstStyle/>
          <a:p>
            <a:pPr algn="l"/>
            <a:r>
              <a:rPr sz="800" b="0" spc="100">
                <a:solidFill>
                  <a:srgbClr val="6B7B8C"/>
                </a:solidFill>
                <a:latin typeface="JetBrains Mono"/>
              </a:rPr>
              <a:t>SOLVED BY</a:t>
            </a:r>
          </a:p>
        </p:txBody>
      </p:sp>
      <p:sp>
        <p:nvSpPr>
          <p:cNvPr id="11" name="Rounded Rectangle 10"/>
          <p:cNvSpPr/>
          <p:nvPr/>
        </p:nvSpPr>
        <p:spPr>
          <a:xfrm>
            <a:off x="1572768" y="2697479"/>
            <a:ext cx="507491" cy="237744"/>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RAG</a:t>
            </a:r>
          </a:p>
        </p:txBody>
      </p:sp>
      <p:sp>
        <p:nvSpPr>
          <p:cNvPr id="12" name="Rectangle 11"/>
          <p:cNvSpPr/>
          <p:nvPr/>
        </p:nvSpPr>
        <p:spPr>
          <a:xfrm>
            <a:off x="4700016" y="1783080"/>
            <a:ext cx="4005072" cy="128016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700016" y="1783080"/>
            <a:ext cx="54864" cy="128016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0328" y="1911095"/>
            <a:ext cx="3639312" cy="274320"/>
          </a:xfrm>
          <a:prstGeom prst="rect">
            <a:avLst/>
          </a:prstGeom>
          <a:noFill/>
        </p:spPr>
        <p:txBody>
          <a:bodyPr wrap="square" lIns="0" tIns="0" rIns="0" bIns="0" anchor="t">
            <a:spAutoFit/>
          </a:bodyPr>
          <a:lstStyle/>
          <a:p>
            <a:pPr algn="l"/>
            <a:r>
              <a:rPr sz="1500" b="0">
                <a:solidFill>
                  <a:srgbClr val="0D1B2A"/>
                </a:solidFill>
                <a:latin typeface="Oswald"/>
              </a:rPr>
              <a:t>Its knowledge stops at a date</a:t>
            </a:r>
          </a:p>
        </p:txBody>
      </p:sp>
      <p:sp>
        <p:nvSpPr>
          <p:cNvPr id="15" name="TextBox 14"/>
          <p:cNvSpPr txBox="1"/>
          <p:nvPr/>
        </p:nvSpPr>
        <p:spPr>
          <a:xfrm>
            <a:off x="4910328" y="2240280"/>
            <a:ext cx="3593591" cy="411480"/>
          </a:xfrm>
          <a:prstGeom prst="rect">
            <a:avLst/>
          </a:prstGeom>
          <a:noFill/>
        </p:spPr>
        <p:txBody>
          <a:bodyPr wrap="square" lIns="0" tIns="0" rIns="0" bIns="0" anchor="t">
            <a:spAutoFit/>
          </a:bodyPr>
          <a:lstStyle/>
          <a:p>
            <a:pPr algn="l"/>
            <a:r>
              <a:rPr sz="1050" b="0">
                <a:solidFill>
                  <a:srgbClr val="6B7B8C"/>
                </a:solidFill>
                <a:latin typeface="Roboto"/>
              </a:rPr>
              <a:t>It knows nothing that happened after its training. Updating it means training it again.</a:t>
            </a:r>
          </a:p>
        </p:txBody>
      </p:sp>
      <p:sp>
        <p:nvSpPr>
          <p:cNvPr id="16" name="TextBox 15"/>
          <p:cNvSpPr txBox="1"/>
          <p:nvPr/>
        </p:nvSpPr>
        <p:spPr>
          <a:xfrm>
            <a:off x="4910328" y="2743199"/>
            <a:ext cx="822960" cy="228600"/>
          </a:xfrm>
          <a:prstGeom prst="rect">
            <a:avLst/>
          </a:prstGeom>
          <a:noFill/>
        </p:spPr>
        <p:txBody>
          <a:bodyPr wrap="square" lIns="0" tIns="0" rIns="0" bIns="0" anchor="t">
            <a:spAutoFit/>
          </a:bodyPr>
          <a:lstStyle/>
          <a:p>
            <a:pPr algn="l"/>
            <a:r>
              <a:rPr sz="800" b="0" spc="100">
                <a:solidFill>
                  <a:srgbClr val="6B7B8C"/>
                </a:solidFill>
                <a:latin typeface="JetBrains Mono"/>
              </a:rPr>
              <a:t>SOLVED BY</a:t>
            </a:r>
          </a:p>
        </p:txBody>
      </p:sp>
      <p:sp>
        <p:nvSpPr>
          <p:cNvPr id="17" name="Rounded Rectangle 16"/>
          <p:cNvSpPr/>
          <p:nvPr/>
        </p:nvSpPr>
        <p:spPr>
          <a:xfrm>
            <a:off x="5705856" y="2697479"/>
            <a:ext cx="507491" cy="237744"/>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RAG</a:t>
            </a:r>
          </a:p>
        </p:txBody>
      </p:sp>
      <p:sp>
        <p:nvSpPr>
          <p:cNvPr id="18" name="Rectangle 17"/>
          <p:cNvSpPr/>
          <p:nvPr/>
        </p:nvSpPr>
        <p:spPr>
          <a:xfrm>
            <a:off x="566928" y="3191256"/>
            <a:ext cx="4005072" cy="128016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191256"/>
            <a:ext cx="54864" cy="128016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3319272"/>
            <a:ext cx="3639312" cy="274320"/>
          </a:xfrm>
          <a:prstGeom prst="rect">
            <a:avLst/>
          </a:prstGeom>
          <a:noFill/>
        </p:spPr>
        <p:txBody>
          <a:bodyPr wrap="square" lIns="0" tIns="0" rIns="0" bIns="0" anchor="t">
            <a:spAutoFit/>
          </a:bodyPr>
          <a:lstStyle/>
          <a:p>
            <a:pPr algn="l"/>
            <a:r>
              <a:rPr sz="1500" b="0">
                <a:solidFill>
                  <a:srgbClr val="0D1B2A"/>
                </a:solidFill>
                <a:latin typeface="Oswald"/>
              </a:rPr>
              <a:t>It has never seen proprietary data</a:t>
            </a:r>
          </a:p>
        </p:txBody>
      </p:sp>
      <p:sp>
        <p:nvSpPr>
          <p:cNvPr id="21" name="TextBox 20"/>
          <p:cNvSpPr txBox="1"/>
          <p:nvPr/>
        </p:nvSpPr>
        <p:spPr>
          <a:xfrm>
            <a:off x="777240" y="3648456"/>
            <a:ext cx="3593591" cy="411480"/>
          </a:xfrm>
          <a:prstGeom prst="rect">
            <a:avLst/>
          </a:prstGeom>
          <a:noFill/>
        </p:spPr>
        <p:txBody>
          <a:bodyPr wrap="square" lIns="0" tIns="0" rIns="0" bIns="0" anchor="t">
            <a:spAutoFit/>
          </a:bodyPr>
          <a:lstStyle/>
          <a:p>
            <a:pPr algn="l"/>
            <a:r>
              <a:rPr sz="1050" b="0">
                <a:solidFill>
                  <a:srgbClr val="6B7B8C"/>
                </a:solidFill>
                <a:latin typeface="Roboto"/>
              </a:rPr>
              <a:t>Internal documents, policies and systems were not part of its training text.</a:t>
            </a:r>
          </a:p>
        </p:txBody>
      </p:sp>
      <p:sp>
        <p:nvSpPr>
          <p:cNvPr id="22" name="TextBox 21"/>
          <p:cNvSpPr txBox="1"/>
          <p:nvPr/>
        </p:nvSpPr>
        <p:spPr>
          <a:xfrm>
            <a:off x="777240" y="4151376"/>
            <a:ext cx="822960" cy="228600"/>
          </a:xfrm>
          <a:prstGeom prst="rect">
            <a:avLst/>
          </a:prstGeom>
          <a:noFill/>
        </p:spPr>
        <p:txBody>
          <a:bodyPr wrap="square" lIns="0" tIns="0" rIns="0" bIns="0" anchor="t">
            <a:spAutoFit/>
          </a:bodyPr>
          <a:lstStyle/>
          <a:p>
            <a:pPr algn="l"/>
            <a:r>
              <a:rPr sz="800" b="0" spc="100">
                <a:solidFill>
                  <a:srgbClr val="6B7B8C"/>
                </a:solidFill>
                <a:latin typeface="JetBrains Mono"/>
              </a:rPr>
              <a:t>SOLVED BY</a:t>
            </a:r>
          </a:p>
        </p:txBody>
      </p:sp>
      <p:sp>
        <p:nvSpPr>
          <p:cNvPr id="23" name="Rounded Rectangle 22"/>
          <p:cNvSpPr/>
          <p:nvPr/>
        </p:nvSpPr>
        <p:spPr>
          <a:xfrm>
            <a:off x="1572768" y="4105656"/>
            <a:ext cx="1362456" cy="237744"/>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RAG · Tool use</a:t>
            </a:r>
          </a:p>
        </p:txBody>
      </p:sp>
      <p:sp>
        <p:nvSpPr>
          <p:cNvPr id="24" name="Rectangle 23"/>
          <p:cNvSpPr/>
          <p:nvPr/>
        </p:nvSpPr>
        <p:spPr>
          <a:xfrm>
            <a:off x="4700016" y="3191256"/>
            <a:ext cx="4005072" cy="128016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700016" y="3191256"/>
            <a:ext cx="54864" cy="128016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10328" y="3319272"/>
            <a:ext cx="3639312" cy="274320"/>
          </a:xfrm>
          <a:prstGeom prst="rect">
            <a:avLst/>
          </a:prstGeom>
          <a:noFill/>
        </p:spPr>
        <p:txBody>
          <a:bodyPr wrap="square" lIns="0" tIns="0" rIns="0" bIns="0" anchor="t">
            <a:spAutoFit/>
          </a:bodyPr>
          <a:lstStyle/>
          <a:p>
            <a:pPr algn="l"/>
            <a:r>
              <a:rPr sz="1500" b="0">
                <a:solidFill>
                  <a:srgbClr val="0D1B2A"/>
                </a:solidFill>
                <a:latin typeface="Oswald"/>
              </a:rPr>
              <a:t>It cannot act</a:t>
            </a:r>
          </a:p>
        </p:txBody>
      </p:sp>
      <p:sp>
        <p:nvSpPr>
          <p:cNvPr id="27" name="TextBox 26"/>
          <p:cNvSpPr txBox="1"/>
          <p:nvPr/>
        </p:nvSpPr>
        <p:spPr>
          <a:xfrm>
            <a:off x="4910328" y="3648456"/>
            <a:ext cx="3593591" cy="411480"/>
          </a:xfrm>
          <a:prstGeom prst="rect">
            <a:avLst/>
          </a:prstGeom>
          <a:noFill/>
        </p:spPr>
        <p:txBody>
          <a:bodyPr wrap="square" lIns="0" tIns="0" rIns="0" bIns="0" anchor="t">
            <a:spAutoFit/>
          </a:bodyPr>
          <a:lstStyle/>
          <a:p>
            <a:pPr algn="l"/>
            <a:r>
              <a:rPr sz="1050" b="0">
                <a:solidFill>
                  <a:srgbClr val="6B7B8C"/>
                </a:solidFill>
                <a:latin typeface="Roboto"/>
              </a:rPr>
              <a:t>Writing text never sends an email, books a room or updates a database.</a:t>
            </a:r>
          </a:p>
        </p:txBody>
      </p:sp>
      <p:sp>
        <p:nvSpPr>
          <p:cNvPr id="28" name="TextBox 27"/>
          <p:cNvSpPr txBox="1"/>
          <p:nvPr/>
        </p:nvSpPr>
        <p:spPr>
          <a:xfrm>
            <a:off x="4910328" y="4151376"/>
            <a:ext cx="822960" cy="228600"/>
          </a:xfrm>
          <a:prstGeom prst="rect">
            <a:avLst/>
          </a:prstGeom>
          <a:noFill/>
        </p:spPr>
        <p:txBody>
          <a:bodyPr wrap="square" lIns="0" tIns="0" rIns="0" bIns="0" anchor="t">
            <a:spAutoFit/>
          </a:bodyPr>
          <a:lstStyle/>
          <a:p>
            <a:pPr algn="l"/>
            <a:r>
              <a:rPr sz="800" b="0" spc="100">
                <a:solidFill>
                  <a:srgbClr val="6B7B8C"/>
                </a:solidFill>
                <a:latin typeface="JetBrains Mono"/>
              </a:rPr>
              <a:t>SOLVED BY</a:t>
            </a:r>
          </a:p>
        </p:txBody>
      </p:sp>
      <p:sp>
        <p:nvSpPr>
          <p:cNvPr id="29" name="Rounded Rectangle 28"/>
          <p:cNvSpPr/>
          <p:nvPr/>
        </p:nvSpPr>
        <p:spPr>
          <a:xfrm>
            <a:off x="5705856" y="4105656"/>
            <a:ext cx="896112" cy="237744"/>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JetBrains Mono"/>
              </a:rPr>
              <a:t>Tool use</a:t>
            </a:r>
          </a:p>
        </p:txBody>
      </p:sp>
      <p:sp>
        <p:nvSpPr>
          <p:cNvPr id="30" name="Rectangle 29"/>
          <p:cNvSpPr/>
          <p:nvPr/>
        </p:nvSpPr>
        <p:spPr>
          <a:xfrm>
            <a:off x="566928" y="4608575"/>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3232" y="4590288"/>
            <a:ext cx="7991856" cy="274320"/>
          </a:xfrm>
          <a:prstGeom prst="rect">
            <a:avLst/>
          </a:prstGeom>
          <a:noFill/>
        </p:spPr>
        <p:txBody>
          <a:bodyPr wrap="square" lIns="0" tIns="0" rIns="0" bIns="0" anchor="t">
            <a:spAutoFit/>
          </a:bodyPr>
          <a:lstStyle/>
          <a:p>
            <a:pPr algn="l"/>
            <a:r>
              <a:rPr sz="1200" b="0">
                <a:solidFill>
                  <a:srgbClr val="0D1B2A"/>
                </a:solidFill>
                <a:latin typeface="Roboto"/>
              </a:rPr>
              <a:t>The next steps in the story fill these gaps, mostly by building around the model, not by changing it.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PART 5 · 2020–2024</a:t>
            </a:r>
          </a:p>
        </p:txBody>
      </p:sp>
      <p:sp>
        <p:nvSpPr>
          <p:cNvPr id="4" name="slide-agentic-timeline"/>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From RAG to MCP: four steps to an agent</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Each step solved a problem. Together they turn a model that talks into an agent that works.</a:t>
            </a:r>
          </a:p>
        </p:txBody>
      </p:sp>
      <p:sp>
        <p:nvSpPr>
          <p:cNvPr id="6" name="Rectangle 5"/>
          <p:cNvSpPr/>
          <p:nvPr/>
        </p:nvSpPr>
        <p:spPr>
          <a:xfrm>
            <a:off x="566928" y="1783080"/>
            <a:ext cx="1938528" cy="26700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6700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1664208" cy="228600"/>
          </a:xfrm>
          <a:prstGeom prst="rect">
            <a:avLst/>
          </a:prstGeom>
          <a:noFill/>
        </p:spPr>
        <p:txBody>
          <a:bodyPr wrap="square" lIns="0" tIns="0" rIns="0" bIns="0" anchor="t">
            <a:spAutoFit/>
          </a:bodyPr>
          <a:lstStyle/>
          <a:p>
            <a:pPr algn="l"/>
            <a:r>
              <a:rPr sz="950" b="0" spc="100">
                <a:solidFill>
                  <a:srgbClr val="1B9AAA"/>
                </a:solidFill>
                <a:latin typeface="JetBrains Mono"/>
              </a:rPr>
              <a:t>2020</a:t>
            </a:r>
          </a:p>
        </p:txBody>
      </p:sp>
      <p:sp>
        <p:nvSpPr>
          <p:cNvPr id="9" name="TextBox 8"/>
          <p:cNvSpPr txBox="1"/>
          <p:nvPr/>
        </p:nvSpPr>
        <p:spPr>
          <a:xfrm>
            <a:off x="777240" y="2286000"/>
            <a:ext cx="1618488" cy="365760"/>
          </a:xfrm>
          <a:prstGeom prst="rect">
            <a:avLst/>
          </a:prstGeom>
          <a:noFill/>
        </p:spPr>
        <p:txBody>
          <a:bodyPr wrap="square" lIns="0" tIns="0" rIns="0" bIns="0" anchor="t">
            <a:spAutoFit/>
          </a:bodyPr>
          <a:lstStyle/>
          <a:p>
            <a:pPr algn="l"/>
            <a:r>
              <a:rPr sz="2200" b="0">
                <a:solidFill>
                  <a:srgbClr val="0D1B2A"/>
                </a:solidFill>
                <a:latin typeface="Oswald"/>
              </a:rPr>
              <a:t>RAG</a:t>
            </a:r>
          </a:p>
        </p:txBody>
      </p:sp>
      <p:sp>
        <p:nvSpPr>
          <p:cNvPr id="10" name="TextBox 9"/>
          <p:cNvSpPr txBox="1"/>
          <p:nvPr/>
        </p:nvSpPr>
        <p:spPr>
          <a:xfrm>
            <a:off x="777240" y="2670048"/>
            <a:ext cx="1618488" cy="182880"/>
          </a:xfrm>
          <a:prstGeom prst="rect">
            <a:avLst/>
          </a:prstGeom>
          <a:noFill/>
        </p:spPr>
        <p:txBody>
          <a:bodyPr wrap="square" lIns="0" tIns="0" rIns="0" bIns="0" anchor="t">
            <a:spAutoFit/>
          </a:bodyPr>
          <a:lstStyle/>
          <a:p>
            <a:pPr algn="l"/>
            <a:r>
              <a:rPr sz="850" b="0">
                <a:solidFill>
                  <a:srgbClr val="6B7B8C"/>
                </a:solidFill>
                <a:latin typeface="Roboto"/>
              </a:rPr>
              <a:t>Retrieval-Augmented Generation</a:t>
            </a:r>
          </a:p>
        </p:txBody>
      </p:sp>
      <p:sp>
        <p:nvSpPr>
          <p:cNvPr id="11" name="TextBox 10"/>
          <p:cNvSpPr txBox="1"/>
          <p:nvPr/>
        </p:nvSpPr>
        <p:spPr>
          <a:xfrm>
            <a:off x="777240" y="2916936"/>
            <a:ext cx="1572768" cy="548640"/>
          </a:xfrm>
          <a:prstGeom prst="rect">
            <a:avLst/>
          </a:prstGeom>
          <a:noFill/>
        </p:spPr>
        <p:txBody>
          <a:bodyPr wrap="square" lIns="0" tIns="0" rIns="0" bIns="0" anchor="t">
            <a:spAutoFit/>
          </a:bodyPr>
          <a:lstStyle/>
          <a:p>
            <a:pPr algn="l"/>
            <a:r>
              <a:rPr sz="1000" b="0">
                <a:solidFill>
                  <a:srgbClr val="14293D"/>
                </a:solidFill>
                <a:latin typeface="Roboto"/>
              </a:rPr>
              <a:t>The model looks things up in documents before it answers.</a:t>
            </a:r>
          </a:p>
        </p:txBody>
      </p:sp>
      <p:sp>
        <p:nvSpPr>
          <p:cNvPr id="12" name="TextBox 11"/>
          <p:cNvSpPr txBox="1"/>
          <p:nvPr/>
        </p:nvSpPr>
        <p:spPr>
          <a:xfrm>
            <a:off x="777240" y="3483864"/>
            <a:ext cx="914400" cy="228600"/>
          </a:xfrm>
          <a:prstGeom prst="rect">
            <a:avLst/>
          </a:prstGeom>
          <a:noFill/>
        </p:spPr>
        <p:txBody>
          <a:bodyPr wrap="square" lIns="0" tIns="0" rIns="0" bIns="0" anchor="t">
            <a:spAutoFit/>
          </a:bodyPr>
          <a:lstStyle/>
          <a:p>
            <a:pPr algn="l"/>
            <a:r>
              <a:rPr sz="750" b="0" spc="100">
                <a:solidFill>
                  <a:srgbClr val="6B7B8C"/>
                </a:solidFill>
                <a:latin typeface="JetBrains Mono"/>
              </a:rPr>
              <a:t>SOLVES</a:t>
            </a:r>
          </a:p>
        </p:txBody>
      </p:sp>
      <p:sp>
        <p:nvSpPr>
          <p:cNvPr id="13" name="Rounded Rectangle 12"/>
          <p:cNvSpPr/>
          <p:nvPr/>
        </p:nvSpPr>
        <p:spPr>
          <a:xfrm>
            <a:off x="731520" y="3657600"/>
            <a:ext cx="1645920" cy="228600"/>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50">
                <a:solidFill>
                  <a:srgbClr val="0D1B2A"/>
                </a:solidFill>
                <a:latin typeface="Roboto"/>
              </a:rPr>
              <a:t>Its facts are approximate</a:t>
            </a:r>
          </a:p>
        </p:txBody>
      </p:sp>
      <p:sp>
        <p:nvSpPr>
          <p:cNvPr id="14" name="Rounded Rectangle 13"/>
          <p:cNvSpPr/>
          <p:nvPr/>
        </p:nvSpPr>
        <p:spPr>
          <a:xfrm>
            <a:off x="731520" y="3922776"/>
            <a:ext cx="1645920" cy="228600"/>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50">
                <a:solidFill>
                  <a:srgbClr val="0D1B2A"/>
                </a:solidFill>
                <a:latin typeface="Roboto"/>
              </a:rPr>
              <a:t>Its knowledge stops at a date</a:t>
            </a:r>
          </a:p>
        </p:txBody>
      </p:sp>
      <p:sp>
        <p:nvSpPr>
          <p:cNvPr id="15" name="Rounded Rectangle 14"/>
          <p:cNvSpPr/>
          <p:nvPr/>
        </p:nvSpPr>
        <p:spPr>
          <a:xfrm>
            <a:off x="731520" y="4187952"/>
            <a:ext cx="1645920" cy="228600"/>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50">
                <a:solidFill>
                  <a:srgbClr val="0D1B2A"/>
                </a:solidFill>
                <a:latin typeface="Roboto"/>
              </a:rPr>
              <a:t>It has never seen proprietary data</a:t>
            </a:r>
          </a:p>
        </p:txBody>
      </p:sp>
      <p:sp>
        <p:nvSpPr>
          <p:cNvPr id="16" name="Rectangle 15"/>
          <p:cNvSpPr/>
          <p:nvPr/>
        </p:nvSpPr>
        <p:spPr>
          <a:xfrm>
            <a:off x="2633472" y="1783080"/>
            <a:ext cx="1938528" cy="26700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633472" y="1783080"/>
            <a:ext cx="54864" cy="26700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43784" y="1920240"/>
            <a:ext cx="1664208" cy="228600"/>
          </a:xfrm>
          <a:prstGeom prst="rect">
            <a:avLst/>
          </a:prstGeom>
          <a:noFill/>
        </p:spPr>
        <p:txBody>
          <a:bodyPr wrap="square" lIns="0" tIns="0" rIns="0" bIns="0" anchor="t">
            <a:spAutoFit/>
          </a:bodyPr>
          <a:lstStyle/>
          <a:p>
            <a:pPr algn="l"/>
            <a:r>
              <a:rPr sz="950" b="0" spc="100">
                <a:solidFill>
                  <a:srgbClr val="1B9AAA"/>
                </a:solidFill>
                <a:latin typeface="JetBrains Mono"/>
              </a:rPr>
              <a:t>2021–2023</a:t>
            </a:r>
          </a:p>
        </p:txBody>
      </p:sp>
      <p:sp>
        <p:nvSpPr>
          <p:cNvPr id="19" name="TextBox 18"/>
          <p:cNvSpPr txBox="1"/>
          <p:nvPr/>
        </p:nvSpPr>
        <p:spPr>
          <a:xfrm>
            <a:off x="2843784" y="2286000"/>
            <a:ext cx="1618488" cy="365760"/>
          </a:xfrm>
          <a:prstGeom prst="rect">
            <a:avLst/>
          </a:prstGeom>
          <a:noFill/>
        </p:spPr>
        <p:txBody>
          <a:bodyPr wrap="square" lIns="0" tIns="0" rIns="0" bIns="0" anchor="t">
            <a:spAutoFit/>
          </a:bodyPr>
          <a:lstStyle/>
          <a:p>
            <a:pPr algn="l"/>
            <a:r>
              <a:rPr sz="2200" b="0">
                <a:solidFill>
                  <a:srgbClr val="0D1B2A"/>
                </a:solidFill>
                <a:latin typeface="Oswald"/>
              </a:rPr>
              <a:t>Tool use</a:t>
            </a:r>
          </a:p>
        </p:txBody>
      </p:sp>
      <p:sp>
        <p:nvSpPr>
          <p:cNvPr id="20" name="TextBox 19"/>
          <p:cNvSpPr txBox="1"/>
          <p:nvPr/>
        </p:nvSpPr>
        <p:spPr>
          <a:xfrm>
            <a:off x="2843784" y="2670048"/>
            <a:ext cx="1618488" cy="182880"/>
          </a:xfrm>
          <a:prstGeom prst="rect">
            <a:avLst/>
          </a:prstGeom>
          <a:noFill/>
        </p:spPr>
        <p:txBody>
          <a:bodyPr wrap="square" lIns="0" tIns="0" rIns="0" bIns="0" anchor="t">
            <a:spAutoFit/>
          </a:bodyPr>
          <a:lstStyle/>
          <a:p>
            <a:pPr algn="l"/>
            <a:r>
              <a:rPr sz="850" b="0">
                <a:solidFill>
                  <a:srgbClr val="6B7B8C"/>
                </a:solidFill>
                <a:latin typeface="Roboto"/>
              </a:rPr>
              <a:t>also: tool calling, function calling</a:t>
            </a:r>
          </a:p>
        </p:txBody>
      </p:sp>
      <p:sp>
        <p:nvSpPr>
          <p:cNvPr id="21" name="TextBox 20"/>
          <p:cNvSpPr txBox="1"/>
          <p:nvPr/>
        </p:nvSpPr>
        <p:spPr>
          <a:xfrm>
            <a:off x="2843784" y="2916936"/>
            <a:ext cx="1572768" cy="548640"/>
          </a:xfrm>
          <a:prstGeom prst="rect">
            <a:avLst/>
          </a:prstGeom>
          <a:noFill/>
        </p:spPr>
        <p:txBody>
          <a:bodyPr wrap="square" lIns="0" tIns="0" rIns="0" bIns="0" anchor="t">
            <a:spAutoFit/>
          </a:bodyPr>
          <a:lstStyle/>
          <a:p>
            <a:pPr algn="l"/>
            <a:r>
              <a:rPr sz="1000" b="0">
                <a:solidFill>
                  <a:srgbClr val="14293D"/>
                </a:solidFill>
                <a:latin typeface="Roboto"/>
              </a:rPr>
              <a:t>The model decides to use a tool, e.g. search, calendar or email.</a:t>
            </a:r>
          </a:p>
        </p:txBody>
      </p:sp>
      <p:sp>
        <p:nvSpPr>
          <p:cNvPr id="22" name="TextBox 21"/>
          <p:cNvSpPr txBox="1"/>
          <p:nvPr/>
        </p:nvSpPr>
        <p:spPr>
          <a:xfrm>
            <a:off x="2843784" y="3483864"/>
            <a:ext cx="914400" cy="228600"/>
          </a:xfrm>
          <a:prstGeom prst="rect">
            <a:avLst/>
          </a:prstGeom>
          <a:noFill/>
        </p:spPr>
        <p:txBody>
          <a:bodyPr wrap="square" lIns="0" tIns="0" rIns="0" bIns="0" anchor="t">
            <a:spAutoFit/>
          </a:bodyPr>
          <a:lstStyle/>
          <a:p>
            <a:pPr algn="l"/>
            <a:r>
              <a:rPr sz="750" b="0" spc="100">
                <a:solidFill>
                  <a:srgbClr val="6B7B8C"/>
                </a:solidFill>
                <a:latin typeface="JetBrains Mono"/>
              </a:rPr>
              <a:t>SOLVES</a:t>
            </a:r>
          </a:p>
        </p:txBody>
      </p:sp>
      <p:sp>
        <p:nvSpPr>
          <p:cNvPr id="23" name="Rounded Rectangle 22"/>
          <p:cNvSpPr/>
          <p:nvPr/>
        </p:nvSpPr>
        <p:spPr>
          <a:xfrm>
            <a:off x="2798064" y="3657600"/>
            <a:ext cx="1645920" cy="228600"/>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50">
                <a:solidFill>
                  <a:srgbClr val="0D1B2A"/>
                </a:solidFill>
                <a:latin typeface="Roboto"/>
              </a:rPr>
              <a:t>It cannot act</a:t>
            </a:r>
          </a:p>
        </p:txBody>
      </p:sp>
      <p:sp>
        <p:nvSpPr>
          <p:cNvPr id="24" name="Rectangle 23"/>
          <p:cNvSpPr/>
          <p:nvPr/>
        </p:nvSpPr>
        <p:spPr>
          <a:xfrm>
            <a:off x="4700016" y="1783080"/>
            <a:ext cx="1938528" cy="26700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700016" y="1783080"/>
            <a:ext cx="54864" cy="26700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10328" y="1920240"/>
            <a:ext cx="1664208" cy="228600"/>
          </a:xfrm>
          <a:prstGeom prst="rect">
            <a:avLst/>
          </a:prstGeom>
          <a:noFill/>
        </p:spPr>
        <p:txBody>
          <a:bodyPr wrap="square" lIns="0" tIns="0" rIns="0" bIns="0" anchor="t">
            <a:spAutoFit/>
          </a:bodyPr>
          <a:lstStyle/>
          <a:p>
            <a:pPr algn="l"/>
            <a:r>
              <a:rPr sz="950" b="0" spc="100">
                <a:solidFill>
                  <a:srgbClr val="1B9AAA"/>
                </a:solidFill>
                <a:latin typeface="JetBrains Mono"/>
              </a:rPr>
              <a:t>2023–2024</a:t>
            </a:r>
          </a:p>
        </p:txBody>
      </p:sp>
      <p:sp>
        <p:nvSpPr>
          <p:cNvPr id="27" name="TextBox 26"/>
          <p:cNvSpPr txBox="1"/>
          <p:nvPr/>
        </p:nvSpPr>
        <p:spPr>
          <a:xfrm>
            <a:off x="4910328" y="2286000"/>
            <a:ext cx="1618488" cy="365760"/>
          </a:xfrm>
          <a:prstGeom prst="rect">
            <a:avLst/>
          </a:prstGeom>
          <a:noFill/>
        </p:spPr>
        <p:txBody>
          <a:bodyPr wrap="square" lIns="0" tIns="0" rIns="0" bIns="0" anchor="t">
            <a:spAutoFit/>
          </a:bodyPr>
          <a:lstStyle/>
          <a:p>
            <a:pPr algn="l"/>
            <a:r>
              <a:rPr sz="2200" b="0">
                <a:solidFill>
                  <a:srgbClr val="0D1B2A"/>
                </a:solidFill>
                <a:latin typeface="Oswald"/>
              </a:rPr>
              <a:t>Agents</a:t>
            </a:r>
          </a:p>
        </p:txBody>
      </p:sp>
      <p:sp>
        <p:nvSpPr>
          <p:cNvPr id="28" name="TextBox 27"/>
          <p:cNvSpPr txBox="1"/>
          <p:nvPr/>
        </p:nvSpPr>
        <p:spPr>
          <a:xfrm>
            <a:off x="4910328" y="2670048"/>
            <a:ext cx="1618488" cy="182880"/>
          </a:xfrm>
          <a:prstGeom prst="rect">
            <a:avLst/>
          </a:prstGeom>
          <a:noFill/>
        </p:spPr>
        <p:txBody>
          <a:bodyPr wrap="square" lIns="0" tIns="0" rIns="0" bIns="0" anchor="t">
            <a:spAutoFit/>
          </a:bodyPr>
          <a:lstStyle/>
          <a:p>
            <a:pPr algn="l"/>
            <a:r>
              <a:rPr sz="850" b="0">
                <a:solidFill>
                  <a:srgbClr val="6B7B8C"/>
                </a:solidFill>
                <a:latin typeface="Roboto"/>
              </a:rPr>
              <a:t>Agentic AI</a:t>
            </a:r>
          </a:p>
        </p:txBody>
      </p:sp>
      <p:sp>
        <p:nvSpPr>
          <p:cNvPr id="29" name="TextBox 28"/>
          <p:cNvSpPr txBox="1"/>
          <p:nvPr/>
        </p:nvSpPr>
        <p:spPr>
          <a:xfrm>
            <a:off x="4910328" y="2916936"/>
            <a:ext cx="1572768" cy="548640"/>
          </a:xfrm>
          <a:prstGeom prst="rect">
            <a:avLst/>
          </a:prstGeom>
          <a:noFill/>
        </p:spPr>
        <p:txBody>
          <a:bodyPr wrap="square" lIns="0" tIns="0" rIns="0" bIns="0" anchor="t">
            <a:spAutoFit/>
          </a:bodyPr>
          <a:lstStyle/>
          <a:p>
            <a:pPr algn="l"/>
            <a:r>
              <a:rPr sz="1000" b="0">
                <a:solidFill>
                  <a:srgbClr val="14293D"/>
                </a:solidFill>
                <a:latin typeface="Roboto"/>
              </a:rPr>
              <a:t>The model works in a loop: plan, use tools, check, repeat.</a:t>
            </a:r>
          </a:p>
        </p:txBody>
      </p:sp>
      <p:sp>
        <p:nvSpPr>
          <p:cNvPr id="30" name="TextBox 29"/>
          <p:cNvSpPr txBox="1"/>
          <p:nvPr/>
        </p:nvSpPr>
        <p:spPr>
          <a:xfrm>
            <a:off x="4910328" y="3483864"/>
            <a:ext cx="914400" cy="228600"/>
          </a:xfrm>
          <a:prstGeom prst="rect">
            <a:avLst/>
          </a:prstGeom>
          <a:noFill/>
        </p:spPr>
        <p:txBody>
          <a:bodyPr wrap="square" lIns="0" tIns="0" rIns="0" bIns="0" anchor="t">
            <a:spAutoFit/>
          </a:bodyPr>
          <a:lstStyle/>
          <a:p>
            <a:pPr algn="l"/>
            <a:r>
              <a:rPr sz="750" b="0" spc="100">
                <a:solidFill>
                  <a:srgbClr val="6B7B8C"/>
                </a:solidFill>
                <a:latin typeface="JetBrains Mono"/>
              </a:rPr>
              <a:t>SOLVES</a:t>
            </a:r>
          </a:p>
        </p:txBody>
      </p:sp>
      <p:sp>
        <p:nvSpPr>
          <p:cNvPr id="31" name="Rounded Rectangle 30"/>
          <p:cNvSpPr/>
          <p:nvPr/>
        </p:nvSpPr>
        <p:spPr>
          <a:xfrm>
            <a:off x="4864608" y="3657600"/>
            <a:ext cx="1645920" cy="228600"/>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50">
                <a:solidFill>
                  <a:srgbClr val="0D1B2A"/>
                </a:solidFill>
                <a:latin typeface="Roboto"/>
              </a:rPr>
              <a:t>It cannot do multi-step tasks</a:t>
            </a:r>
          </a:p>
        </p:txBody>
      </p:sp>
      <p:sp>
        <p:nvSpPr>
          <p:cNvPr id="32" name="Rectangle 31"/>
          <p:cNvSpPr/>
          <p:nvPr/>
        </p:nvSpPr>
        <p:spPr>
          <a:xfrm>
            <a:off x="6766560" y="1783080"/>
            <a:ext cx="1938528" cy="267004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766560" y="1783080"/>
            <a:ext cx="54864" cy="2670048"/>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76872" y="1920240"/>
            <a:ext cx="1664208" cy="228600"/>
          </a:xfrm>
          <a:prstGeom prst="rect">
            <a:avLst/>
          </a:prstGeom>
          <a:noFill/>
        </p:spPr>
        <p:txBody>
          <a:bodyPr wrap="square" lIns="0" tIns="0" rIns="0" bIns="0" anchor="t">
            <a:spAutoFit/>
          </a:bodyPr>
          <a:lstStyle/>
          <a:p>
            <a:pPr algn="l"/>
            <a:r>
              <a:rPr sz="950" b="0" spc="100">
                <a:solidFill>
                  <a:srgbClr val="06D6A0"/>
                </a:solidFill>
                <a:latin typeface="JetBrains Mono"/>
              </a:rPr>
              <a:t>NOV 2024</a:t>
            </a:r>
          </a:p>
        </p:txBody>
      </p:sp>
      <p:sp>
        <p:nvSpPr>
          <p:cNvPr id="35" name="TextBox 34"/>
          <p:cNvSpPr txBox="1"/>
          <p:nvPr/>
        </p:nvSpPr>
        <p:spPr>
          <a:xfrm>
            <a:off x="6976872" y="2286000"/>
            <a:ext cx="1618488" cy="365760"/>
          </a:xfrm>
          <a:prstGeom prst="rect">
            <a:avLst/>
          </a:prstGeom>
          <a:noFill/>
        </p:spPr>
        <p:txBody>
          <a:bodyPr wrap="square" lIns="0" tIns="0" rIns="0" bIns="0" anchor="t">
            <a:spAutoFit/>
          </a:bodyPr>
          <a:lstStyle/>
          <a:p>
            <a:pPr algn="l"/>
            <a:r>
              <a:rPr sz="2200" b="0">
                <a:solidFill>
                  <a:srgbClr val="0D1B2A"/>
                </a:solidFill>
                <a:latin typeface="Oswald"/>
              </a:rPr>
              <a:t>MCP</a:t>
            </a:r>
          </a:p>
        </p:txBody>
      </p:sp>
      <p:sp>
        <p:nvSpPr>
          <p:cNvPr id="36" name="TextBox 35"/>
          <p:cNvSpPr txBox="1"/>
          <p:nvPr/>
        </p:nvSpPr>
        <p:spPr>
          <a:xfrm>
            <a:off x="6976872" y="2670048"/>
            <a:ext cx="1618488" cy="182880"/>
          </a:xfrm>
          <a:prstGeom prst="rect">
            <a:avLst/>
          </a:prstGeom>
          <a:noFill/>
        </p:spPr>
        <p:txBody>
          <a:bodyPr wrap="square" lIns="0" tIns="0" rIns="0" bIns="0" anchor="t">
            <a:spAutoFit/>
          </a:bodyPr>
          <a:lstStyle/>
          <a:p>
            <a:pPr algn="l"/>
            <a:r>
              <a:rPr sz="850" b="0">
                <a:solidFill>
                  <a:srgbClr val="6B7B8C"/>
                </a:solidFill>
                <a:latin typeface="Roboto"/>
              </a:rPr>
              <a:t>Model Context Protocol</a:t>
            </a:r>
          </a:p>
        </p:txBody>
      </p:sp>
      <p:sp>
        <p:nvSpPr>
          <p:cNvPr id="37" name="TextBox 36"/>
          <p:cNvSpPr txBox="1"/>
          <p:nvPr/>
        </p:nvSpPr>
        <p:spPr>
          <a:xfrm>
            <a:off x="6976872" y="2916936"/>
            <a:ext cx="1572768" cy="548640"/>
          </a:xfrm>
          <a:prstGeom prst="rect">
            <a:avLst/>
          </a:prstGeom>
          <a:noFill/>
        </p:spPr>
        <p:txBody>
          <a:bodyPr wrap="square" lIns="0" tIns="0" rIns="0" bIns="0" anchor="t">
            <a:spAutoFit/>
          </a:bodyPr>
          <a:lstStyle/>
          <a:p>
            <a:pPr algn="l"/>
            <a:r>
              <a:rPr sz="1000" b="0">
                <a:solidFill>
                  <a:srgbClr val="14293D"/>
                </a:solidFill>
                <a:latin typeface="Roboto"/>
              </a:rPr>
              <a:t>One standard way to plug any tool into any AI app.</a:t>
            </a:r>
          </a:p>
        </p:txBody>
      </p:sp>
      <p:sp>
        <p:nvSpPr>
          <p:cNvPr id="38" name="TextBox 37"/>
          <p:cNvSpPr txBox="1"/>
          <p:nvPr/>
        </p:nvSpPr>
        <p:spPr>
          <a:xfrm>
            <a:off x="6976872" y="3483864"/>
            <a:ext cx="914400" cy="228600"/>
          </a:xfrm>
          <a:prstGeom prst="rect">
            <a:avLst/>
          </a:prstGeom>
          <a:noFill/>
        </p:spPr>
        <p:txBody>
          <a:bodyPr wrap="square" lIns="0" tIns="0" rIns="0" bIns="0" anchor="t">
            <a:spAutoFit/>
          </a:bodyPr>
          <a:lstStyle/>
          <a:p>
            <a:pPr algn="l"/>
            <a:r>
              <a:rPr sz="750" b="0" spc="100">
                <a:solidFill>
                  <a:srgbClr val="6B7B8C"/>
                </a:solidFill>
                <a:latin typeface="JetBrains Mono"/>
              </a:rPr>
              <a:t>SOLVES</a:t>
            </a:r>
          </a:p>
        </p:txBody>
      </p:sp>
      <p:sp>
        <p:nvSpPr>
          <p:cNvPr id="39" name="Rounded Rectangle 38"/>
          <p:cNvSpPr/>
          <p:nvPr/>
        </p:nvSpPr>
        <p:spPr>
          <a:xfrm>
            <a:off x="6931152" y="3657600"/>
            <a:ext cx="1645920" cy="228600"/>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50">
                <a:solidFill>
                  <a:srgbClr val="0D1B2A"/>
                </a:solidFill>
                <a:latin typeface="Roboto"/>
              </a:rPr>
              <a:t>Every tool needs its own connection</a:t>
            </a:r>
          </a:p>
        </p:txBody>
      </p:sp>
      <p:cxnSp>
        <p:nvCxnSpPr>
          <p:cNvPr id="40" name="Connector 39"/>
          <p:cNvCxnSpPr/>
          <p:nvPr/>
        </p:nvCxnSpPr>
        <p:spPr>
          <a:xfrm>
            <a:off x="777240" y="2194560"/>
            <a:ext cx="7717536" cy="0"/>
          </a:xfrm>
          <a:prstGeom prst="line">
            <a:avLst/>
          </a:prstGeom>
          <a:ln w="19050">
            <a:solidFill>
              <a:srgbClr val="DDE5E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777240" y="2130552"/>
            <a:ext cx="128016" cy="12801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2843784" y="2130552"/>
            <a:ext cx="128016" cy="12801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4910328" y="2130552"/>
            <a:ext cx="128016" cy="128016"/>
          </a:xfrm>
          <a:prstGeom prst="ellipse">
            <a:avLst/>
          </a:prstGeom>
          <a:solidFill>
            <a:srgbClr val="1B9AAA">
              <a:alpha val="100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976872" y="2130552"/>
            <a:ext cx="128016" cy="128016"/>
          </a:xfrm>
          <a:prstGeom prst="ellipse">
            <a:avLst/>
          </a:prstGeom>
          <a:solidFill>
            <a:srgbClr val="06D6A0">
              <a:alpha val="100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66928" y="4608575"/>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13232" y="4590288"/>
            <a:ext cx="7991856" cy="274320"/>
          </a:xfrm>
          <a:prstGeom prst="rect">
            <a:avLst/>
          </a:prstGeom>
          <a:noFill/>
        </p:spPr>
        <p:txBody>
          <a:bodyPr wrap="square" lIns="0" tIns="0" rIns="0" bIns="0" anchor="t">
            <a:spAutoFit/>
          </a:bodyPr>
          <a:lstStyle/>
          <a:p>
            <a:pPr algn="l"/>
            <a:r>
              <a:rPr sz="1200" b="0">
                <a:solidFill>
                  <a:srgbClr val="0D1B2A"/>
                </a:solidFill>
                <a:latin typeface="Roboto"/>
              </a:rPr>
              <a:t>Each step builds on the one before: an agent uses RAG and tools, and MCP connects them.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2020 · RAG</a:t>
            </a:r>
          </a:p>
        </p:txBody>
      </p:sp>
      <p:sp>
        <p:nvSpPr>
          <p:cNvPr id="4" name="slide-rag"/>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RAG: look it up before answering</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RAG (Retrieval-Augmented Generation): search the documents first, then answer from them.</a:t>
            </a:r>
          </a:p>
        </p:txBody>
      </p:sp>
      <p:sp>
        <p:nvSpPr>
          <p:cNvPr id="6" name="Rectangle 5"/>
          <p:cNvSpPr/>
          <p:nvPr/>
        </p:nvSpPr>
        <p:spPr>
          <a:xfrm>
            <a:off x="566928" y="1783080"/>
            <a:ext cx="8138160" cy="1874519"/>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1874519"/>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20240"/>
            <a:ext cx="1371600" cy="228600"/>
          </a:xfrm>
          <a:prstGeom prst="rect">
            <a:avLst/>
          </a:prstGeom>
          <a:noFill/>
        </p:spPr>
        <p:txBody>
          <a:bodyPr wrap="square" lIns="0" tIns="0" rIns="0" bIns="0" anchor="t">
            <a:spAutoFit/>
          </a:bodyPr>
          <a:lstStyle/>
          <a:p>
            <a:pPr algn="l"/>
            <a:r>
              <a:rPr sz="800" b="0" spc="100">
                <a:solidFill>
                  <a:srgbClr val="6B7B8C"/>
                </a:solidFill>
                <a:latin typeface="JetBrains Mono"/>
              </a:rPr>
              <a:t>YOUR QUESTION</a:t>
            </a:r>
          </a:p>
        </p:txBody>
      </p:sp>
      <p:sp>
        <p:nvSpPr>
          <p:cNvPr id="9" name="Rounded Rectangle 8"/>
          <p:cNvSpPr/>
          <p:nvPr/>
        </p:nvSpPr>
        <p:spPr>
          <a:xfrm>
            <a:off x="1920240" y="1874519"/>
            <a:ext cx="3291840" cy="274320"/>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Roboto"/>
              </a:rPr>
              <a:t>What does our travel policy say about train travel?</a:t>
            </a:r>
          </a:p>
        </p:txBody>
      </p:sp>
      <p:sp>
        <p:nvSpPr>
          <p:cNvPr id="10" name="Rounded Rectangle 9"/>
          <p:cNvSpPr/>
          <p:nvPr/>
        </p:nvSpPr>
        <p:spPr>
          <a:xfrm>
            <a:off x="777240" y="2267712"/>
            <a:ext cx="2304288" cy="1280160"/>
          </a:xfrm>
          <a:prstGeom prst="roundRect">
            <a:avLst>
              <a:gd name="adj" fmla="val 5714"/>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2359152"/>
            <a:ext cx="2121408" cy="228600"/>
          </a:xfrm>
          <a:prstGeom prst="rect">
            <a:avLst/>
          </a:prstGeom>
          <a:noFill/>
        </p:spPr>
        <p:txBody>
          <a:bodyPr wrap="square" lIns="0" tIns="0" rIns="0" bIns="0" anchor="t">
            <a:spAutoFit/>
          </a:bodyPr>
          <a:lstStyle/>
          <a:p>
            <a:pPr algn="l"/>
            <a:r>
              <a:rPr sz="850" b="0" spc="100">
                <a:solidFill>
                  <a:srgbClr val="1B9AAA"/>
                </a:solidFill>
                <a:latin typeface="JetBrains Mono"/>
              </a:rPr>
              <a:t>STEP 1: SEARCH</a:t>
            </a:r>
          </a:p>
        </p:txBody>
      </p:sp>
      <p:sp>
        <p:nvSpPr>
          <p:cNvPr id="12" name="TextBox 11"/>
          <p:cNvSpPr txBox="1"/>
          <p:nvPr/>
        </p:nvSpPr>
        <p:spPr>
          <a:xfrm>
            <a:off x="886968" y="3163824"/>
            <a:ext cx="2084832" cy="347472"/>
          </a:xfrm>
          <a:prstGeom prst="rect">
            <a:avLst/>
          </a:prstGeom>
          <a:noFill/>
        </p:spPr>
        <p:txBody>
          <a:bodyPr wrap="square" lIns="0" tIns="0" rIns="0" bIns="0" anchor="t">
            <a:spAutoFit/>
          </a:bodyPr>
          <a:lstStyle/>
          <a:p>
            <a:pPr algn="l"/>
            <a:r>
              <a:rPr sz="900" b="0">
                <a:solidFill>
                  <a:srgbClr val="14293D"/>
                </a:solidFill>
                <a:latin typeface="Roboto"/>
              </a:rPr>
              <a:t>Finds the passages that match best in your documents.</a:t>
            </a:r>
          </a:p>
        </p:txBody>
      </p:sp>
      <p:cxnSp>
        <p:nvCxnSpPr>
          <p:cNvPr id="13" name="Connector 12"/>
          <p:cNvCxnSpPr/>
          <p:nvPr/>
        </p:nvCxnSpPr>
        <p:spPr>
          <a:xfrm>
            <a:off x="3136392" y="2907791"/>
            <a:ext cx="292608" cy="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83864" y="2267712"/>
            <a:ext cx="2304288" cy="1280160"/>
          </a:xfrm>
          <a:prstGeom prst="roundRect">
            <a:avLst>
              <a:gd name="adj" fmla="val 5714"/>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93592" y="2359152"/>
            <a:ext cx="2121408" cy="228600"/>
          </a:xfrm>
          <a:prstGeom prst="rect">
            <a:avLst/>
          </a:prstGeom>
          <a:noFill/>
        </p:spPr>
        <p:txBody>
          <a:bodyPr wrap="square" lIns="0" tIns="0" rIns="0" bIns="0" anchor="t">
            <a:spAutoFit/>
          </a:bodyPr>
          <a:lstStyle/>
          <a:p>
            <a:pPr algn="l"/>
            <a:r>
              <a:rPr sz="850" b="0" spc="100">
                <a:solidFill>
                  <a:srgbClr val="1B9AAA"/>
                </a:solidFill>
                <a:latin typeface="JetBrains Mono"/>
              </a:rPr>
              <a:t>STEP 2: ADD TO PROMPT</a:t>
            </a:r>
          </a:p>
        </p:txBody>
      </p:sp>
      <p:sp>
        <p:nvSpPr>
          <p:cNvPr id="16" name="TextBox 15"/>
          <p:cNvSpPr txBox="1"/>
          <p:nvPr/>
        </p:nvSpPr>
        <p:spPr>
          <a:xfrm>
            <a:off x="3593592" y="3163824"/>
            <a:ext cx="2084832" cy="347472"/>
          </a:xfrm>
          <a:prstGeom prst="rect">
            <a:avLst/>
          </a:prstGeom>
          <a:noFill/>
        </p:spPr>
        <p:txBody>
          <a:bodyPr wrap="square" lIns="0" tIns="0" rIns="0" bIns="0" anchor="t">
            <a:spAutoFit/>
          </a:bodyPr>
          <a:lstStyle/>
          <a:p>
            <a:pPr algn="l"/>
            <a:r>
              <a:rPr sz="900" b="0">
                <a:solidFill>
                  <a:srgbClr val="14293D"/>
                </a:solidFill>
                <a:latin typeface="Roboto"/>
              </a:rPr>
              <a:t>Puts these passages into the prompt, next to your question.</a:t>
            </a:r>
          </a:p>
        </p:txBody>
      </p:sp>
      <p:cxnSp>
        <p:nvCxnSpPr>
          <p:cNvPr id="17" name="Connector 16"/>
          <p:cNvCxnSpPr/>
          <p:nvPr/>
        </p:nvCxnSpPr>
        <p:spPr>
          <a:xfrm>
            <a:off x="5843016" y="2907791"/>
            <a:ext cx="292608" cy="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90488" y="2267712"/>
            <a:ext cx="2304288" cy="1280160"/>
          </a:xfrm>
          <a:prstGeom prst="roundRect">
            <a:avLst>
              <a:gd name="adj" fmla="val 5714"/>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0216" y="2359152"/>
            <a:ext cx="2121408" cy="228600"/>
          </a:xfrm>
          <a:prstGeom prst="rect">
            <a:avLst/>
          </a:prstGeom>
          <a:noFill/>
        </p:spPr>
        <p:txBody>
          <a:bodyPr wrap="square" lIns="0" tIns="0" rIns="0" bIns="0" anchor="t">
            <a:spAutoFit/>
          </a:bodyPr>
          <a:lstStyle/>
          <a:p>
            <a:pPr algn="l"/>
            <a:r>
              <a:rPr sz="850" b="0" spc="100">
                <a:solidFill>
                  <a:srgbClr val="1B9AAA"/>
                </a:solidFill>
                <a:latin typeface="JetBrains Mono"/>
              </a:rPr>
              <a:t>STEP 3: ANSWER</a:t>
            </a:r>
          </a:p>
        </p:txBody>
      </p:sp>
      <p:sp>
        <p:nvSpPr>
          <p:cNvPr id="20" name="TextBox 19"/>
          <p:cNvSpPr txBox="1"/>
          <p:nvPr/>
        </p:nvSpPr>
        <p:spPr>
          <a:xfrm>
            <a:off x="6300216" y="3163824"/>
            <a:ext cx="2084832" cy="347472"/>
          </a:xfrm>
          <a:prstGeom prst="rect">
            <a:avLst/>
          </a:prstGeom>
          <a:noFill/>
        </p:spPr>
        <p:txBody>
          <a:bodyPr wrap="square" lIns="0" tIns="0" rIns="0" bIns="0" anchor="t">
            <a:spAutoFit/>
          </a:bodyPr>
          <a:lstStyle/>
          <a:p>
            <a:pPr algn="l"/>
            <a:r>
              <a:rPr sz="900" b="0">
                <a:solidFill>
                  <a:srgbClr val="14293D"/>
                </a:solidFill>
                <a:latin typeface="Roboto"/>
              </a:rPr>
              <a:t>The LLM answers from the passages and names its source.</a:t>
            </a:r>
          </a:p>
        </p:txBody>
      </p:sp>
      <p:sp>
        <p:nvSpPr>
          <p:cNvPr id="21" name="Rectangle 20"/>
          <p:cNvSpPr/>
          <p:nvPr/>
        </p:nvSpPr>
        <p:spPr>
          <a:xfrm>
            <a:off x="905256" y="2633472"/>
            <a:ext cx="329184" cy="42062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60120" y="2724912"/>
            <a:ext cx="201168"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60120" y="2816352"/>
            <a:ext cx="219456"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60120" y="2907792"/>
            <a:ext cx="146304"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325880" y="2633472"/>
            <a:ext cx="329184" cy="420624"/>
          </a:xfrm>
          <a:prstGeom prst="rect">
            <a:avLst/>
          </a:prstGeom>
          <a:solidFill>
            <a:srgbClr val="CFF5EA"/>
          </a:solidFill>
          <a:ln w="1587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380744" y="2724912"/>
            <a:ext cx="201168"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380744" y="2816352"/>
            <a:ext cx="219456"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380744" y="2907792"/>
            <a:ext cx="146304"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746504" y="2633472"/>
            <a:ext cx="329184" cy="42062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801368" y="2724912"/>
            <a:ext cx="201168"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801368" y="2816352"/>
            <a:ext cx="219456"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801368" y="2907792"/>
            <a:ext cx="146304"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167128" y="2633472"/>
            <a:ext cx="329184" cy="42062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221992" y="2724912"/>
            <a:ext cx="201168"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221992" y="2816352"/>
            <a:ext cx="219456"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221992" y="2907792"/>
            <a:ext cx="146304"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587752" y="2633472"/>
            <a:ext cx="329184" cy="42062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642616" y="2724912"/>
            <a:ext cx="201168"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642616" y="2816352"/>
            <a:ext cx="219456"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642616" y="2907792"/>
            <a:ext cx="146304" cy="32004"/>
          </a:xfrm>
          <a:prstGeom prst="rect">
            <a:avLst/>
          </a:prstGeom>
          <a:solidFill>
            <a:srgbClr val="DD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3593592" y="2596896"/>
            <a:ext cx="2084832" cy="512064"/>
          </a:xfrm>
          <a:prstGeom prst="roundRect">
            <a:avLst>
              <a:gd name="adj" fmla="val 10714"/>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3666744" y="2651760"/>
            <a:ext cx="914400" cy="182880"/>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50">
                <a:solidFill>
                  <a:srgbClr val="0D1B2A"/>
                </a:solidFill>
                <a:latin typeface="Roboto"/>
              </a:rPr>
              <a:t>Your question</a:t>
            </a:r>
          </a:p>
        </p:txBody>
      </p:sp>
      <p:sp>
        <p:nvSpPr>
          <p:cNvPr id="43" name="Rounded Rectangle 42"/>
          <p:cNvSpPr/>
          <p:nvPr/>
        </p:nvSpPr>
        <p:spPr>
          <a:xfrm>
            <a:off x="3666744" y="2871216"/>
            <a:ext cx="1737360" cy="182880"/>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50">
                <a:solidFill>
                  <a:srgbClr val="0D1B2A"/>
                </a:solidFill>
                <a:latin typeface="Roboto"/>
              </a:rPr>
              <a:t>Passage from the travel policy</a:t>
            </a:r>
          </a:p>
        </p:txBody>
      </p:sp>
      <p:sp>
        <p:nvSpPr>
          <p:cNvPr id="44" name="Rounded Rectangle 43"/>
          <p:cNvSpPr/>
          <p:nvPr/>
        </p:nvSpPr>
        <p:spPr>
          <a:xfrm>
            <a:off x="6300216" y="2724912"/>
            <a:ext cx="457200"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LLM</a:t>
            </a:r>
          </a:p>
        </p:txBody>
      </p:sp>
      <p:cxnSp>
        <p:nvCxnSpPr>
          <p:cNvPr id="45" name="Connector 44"/>
          <p:cNvCxnSpPr/>
          <p:nvPr/>
        </p:nvCxnSpPr>
        <p:spPr>
          <a:xfrm>
            <a:off x="6793992" y="2862072"/>
            <a:ext cx="219456" cy="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7050024" y="2633472"/>
            <a:ext cx="1335024" cy="457200"/>
          </a:xfrm>
          <a:prstGeom prst="roundRect">
            <a:avLst>
              <a:gd name="adj" fmla="val 12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123176" y="2679192"/>
            <a:ext cx="1188720" cy="164592"/>
          </a:xfrm>
          <a:prstGeom prst="rect">
            <a:avLst/>
          </a:prstGeom>
          <a:noFill/>
        </p:spPr>
        <p:txBody>
          <a:bodyPr wrap="square" lIns="0" tIns="0" rIns="0" bIns="0" anchor="t">
            <a:spAutoFit/>
          </a:bodyPr>
          <a:lstStyle/>
          <a:p>
            <a:pPr algn="l"/>
            <a:r>
              <a:rPr sz="850" b="0">
                <a:solidFill>
                  <a:srgbClr val="0D1B2A"/>
                </a:solidFill>
                <a:latin typeface="Roboto"/>
              </a:rPr>
              <a:t>Answer …</a:t>
            </a:r>
          </a:p>
        </p:txBody>
      </p:sp>
      <p:sp>
        <p:nvSpPr>
          <p:cNvPr id="48" name="TextBox 47"/>
          <p:cNvSpPr txBox="1"/>
          <p:nvPr/>
        </p:nvSpPr>
        <p:spPr>
          <a:xfrm>
            <a:off x="7123176" y="2871216"/>
            <a:ext cx="1225296" cy="164592"/>
          </a:xfrm>
          <a:prstGeom prst="rect">
            <a:avLst/>
          </a:prstGeom>
          <a:noFill/>
        </p:spPr>
        <p:txBody>
          <a:bodyPr wrap="square" lIns="0" tIns="0" rIns="0" bIns="0" anchor="t">
            <a:spAutoFit/>
          </a:bodyPr>
          <a:lstStyle/>
          <a:p>
            <a:pPr algn="l"/>
            <a:r>
              <a:rPr sz="750" b="0">
                <a:solidFill>
                  <a:srgbClr val="1B9AAA"/>
                </a:solidFill>
                <a:latin typeface="Roboto"/>
              </a:rPr>
              <a:t>Source: Travel policy, p. 3</a:t>
            </a:r>
          </a:p>
        </p:txBody>
      </p:sp>
      <p:sp>
        <p:nvSpPr>
          <p:cNvPr id="49" name="Rectangle 48"/>
          <p:cNvSpPr/>
          <p:nvPr/>
        </p:nvSpPr>
        <p:spPr>
          <a:xfrm>
            <a:off x="566928" y="3749039"/>
            <a:ext cx="4005072" cy="74980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66928" y="3749039"/>
            <a:ext cx="54864" cy="749808"/>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77240" y="3813048"/>
            <a:ext cx="1280160" cy="228600"/>
          </a:xfrm>
          <a:prstGeom prst="rect">
            <a:avLst/>
          </a:prstGeom>
          <a:noFill/>
        </p:spPr>
        <p:txBody>
          <a:bodyPr wrap="square" lIns="0" tIns="0" rIns="0" bIns="0" anchor="t">
            <a:spAutoFit/>
          </a:bodyPr>
          <a:lstStyle/>
          <a:p>
            <a:pPr algn="l"/>
            <a:r>
              <a:rPr sz="1300" b="0">
                <a:solidFill>
                  <a:srgbClr val="0D1B2A"/>
                </a:solidFill>
                <a:latin typeface="Oswald"/>
              </a:rPr>
              <a:t>Why it helps</a:t>
            </a:r>
          </a:p>
        </p:txBody>
      </p:sp>
      <p:sp>
        <p:nvSpPr>
          <p:cNvPr id="52" name="TextBox 51"/>
          <p:cNvSpPr txBox="1"/>
          <p:nvPr/>
        </p:nvSpPr>
        <p:spPr>
          <a:xfrm>
            <a:off x="1892807" y="3831336"/>
            <a:ext cx="2542032" cy="621792"/>
          </a:xfrm>
          <a:prstGeom prst="rect">
            <a:avLst/>
          </a:prstGeom>
          <a:noFill/>
        </p:spPr>
        <p:txBody>
          <a:bodyPr wrap="square" lIns="0" tIns="0" rIns="0" bIns="0" anchor="t">
            <a:spAutoFit/>
          </a:bodyPr>
          <a:lstStyle/>
          <a:p>
            <a:pPr algn="l"/>
            <a:r>
              <a:rPr sz="950" b="0">
                <a:solidFill>
                  <a:srgbClr val="6B7B8C"/>
                </a:solidFill>
                <a:latin typeface="Roboto"/>
              </a:rPr>
              <a:t>It stays up to date. It knows your company’s documents. It shows sources you can check. That means fewer hallucinations.</a:t>
            </a:r>
          </a:p>
        </p:txBody>
      </p:sp>
      <p:sp>
        <p:nvSpPr>
          <p:cNvPr id="53" name="Rectangle 52"/>
          <p:cNvSpPr/>
          <p:nvPr/>
        </p:nvSpPr>
        <p:spPr>
          <a:xfrm>
            <a:off x="4700016" y="3749039"/>
            <a:ext cx="4005072" cy="74980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700016" y="3749039"/>
            <a:ext cx="54864" cy="749808"/>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910328" y="3813048"/>
            <a:ext cx="1280160" cy="228600"/>
          </a:xfrm>
          <a:prstGeom prst="rect">
            <a:avLst/>
          </a:prstGeom>
          <a:noFill/>
        </p:spPr>
        <p:txBody>
          <a:bodyPr wrap="square" lIns="0" tIns="0" rIns="0" bIns="0" anchor="t">
            <a:spAutoFit/>
          </a:bodyPr>
          <a:lstStyle/>
          <a:p>
            <a:pPr algn="l"/>
            <a:r>
              <a:rPr sz="1300" b="0">
                <a:solidFill>
                  <a:srgbClr val="0D1B2A"/>
                </a:solidFill>
                <a:latin typeface="Oswald"/>
              </a:rPr>
              <a:t>Where it stops</a:t>
            </a:r>
          </a:p>
        </p:txBody>
      </p:sp>
      <p:sp>
        <p:nvSpPr>
          <p:cNvPr id="56" name="TextBox 55"/>
          <p:cNvSpPr txBox="1"/>
          <p:nvPr/>
        </p:nvSpPr>
        <p:spPr>
          <a:xfrm>
            <a:off x="6025896" y="3831336"/>
            <a:ext cx="2542032" cy="621792"/>
          </a:xfrm>
          <a:prstGeom prst="rect">
            <a:avLst/>
          </a:prstGeom>
          <a:noFill/>
        </p:spPr>
        <p:txBody>
          <a:bodyPr wrap="square" lIns="0" tIns="0" rIns="0" bIns="0" anchor="t">
            <a:spAutoFit/>
          </a:bodyPr>
          <a:lstStyle/>
          <a:p>
            <a:pPr algn="l"/>
            <a:r>
              <a:rPr sz="950" b="0">
                <a:solidFill>
                  <a:srgbClr val="6B7B8C"/>
                </a:solidFill>
                <a:latin typeface="Roboto"/>
              </a:rPr>
              <a:t>It can only read, not act. And the search always runs first, as a fixed step: the model does not decide when to look something up.</a:t>
            </a:r>
          </a:p>
        </p:txBody>
      </p:sp>
      <p:sp>
        <p:nvSpPr>
          <p:cNvPr id="57" name="Rectangle 56"/>
          <p:cNvSpPr/>
          <p:nvPr/>
        </p:nvSpPr>
        <p:spPr>
          <a:xfrm>
            <a:off x="566928" y="4608575"/>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13232" y="4590288"/>
            <a:ext cx="7991856" cy="274320"/>
          </a:xfrm>
          <a:prstGeom prst="rect">
            <a:avLst/>
          </a:prstGeom>
          <a:noFill/>
        </p:spPr>
        <p:txBody>
          <a:bodyPr wrap="square" lIns="0" tIns="0" rIns="0" bIns="0" anchor="t">
            <a:spAutoFit/>
          </a:bodyPr>
          <a:lstStyle/>
          <a:p>
            <a:pPr algn="l"/>
            <a:r>
              <a:rPr sz="1200" b="0">
                <a:solidFill>
                  <a:srgbClr val="0D1B2A"/>
                </a:solidFill>
                <a:latin typeface="Roboto"/>
              </a:rPr>
              <a:t>Like an open-book exam: instead of answering from memory, the model looks it up first.</a:t>
            </a:r>
          </a:p>
        </p:txBody>
      </p:sp>
      <p:sp>
        <p:nvSpPr>
          <p:cNvPr id="59" name="TextBox 58"/>
          <p:cNvSpPr txBox="1"/>
          <p:nvPr/>
        </p:nvSpPr>
        <p:spPr>
          <a:xfrm>
            <a:off x="566928" y="4901184"/>
            <a:ext cx="8138160" cy="146304"/>
          </a:xfrm>
          <a:prstGeom prst="rect">
            <a:avLst/>
          </a:prstGeom>
          <a:noFill/>
        </p:spPr>
        <p:txBody>
          <a:bodyPr wrap="square" lIns="0" tIns="0" rIns="0" bIns="0" anchor="t">
            <a:spAutoFit/>
          </a:bodyPr>
          <a:lstStyle/>
          <a:p>
            <a:pPr algn="l"/>
            <a:r>
              <a:rPr sz="800" b="0">
                <a:solidFill>
                  <a:srgbClr val="6B7B8C"/>
                </a:solidFill>
                <a:latin typeface="Roboto"/>
              </a:rPr>
              <a:t>Note: RAG usually doesn’t search the files directly, but a vector database that stores each passage as an embedding and finds it by meaning.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2021–2023 · TOOL USE</a:t>
            </a:r>
          </a:p>
        </p:txBody>
      </p:sp>
      <p:sp>
        <p:nvSpPr>
          <p:cNvPr id="4" name="slide-tool-use"/>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Tool use: the model gets hands</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Now the model decides by itself when to use a tool, and tools can also do things, not just read.</a:t>
            </a:r>
          </a:p>
        </p:txBody>
      </p:sp>
      <p:sp>
        <p:nvSpPr>
          <p:cNvPr id="6" name="Rectangle 5"/>
          <p:cNvSpPr/>
          <p:nvPr/>
        </p:nvSpPr>
        <p:spPr>
          <a:xfrm>
            <a:off x="566928" y="1783080"/>
            <a:ext cx="4005072" cy="193852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19385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92807"/>
            <a:ext cx="3639312" cy="274320"/>
          </a:xfrm>
          <a:prstGeom prst="rect">
            <a:avLst/>
          </a:prstGeom>
          <a:noFill/>
        </p:spPr>
        <p:txBody>
          <a:bodyPr wrap="square" lIns="0" tIns="0" rIns="0" bIns="0" anchor="t">
            <a:spAutoFit/>
          </a:bodyPr>
          <a:lstStyle/>
          <a:p>
            <a:pPr algn="l"/>
            <a:r>
              <a:rPr sz="1500" b="0">
                <a:solidFill>
                  <a:srgbClr val="0D1B2A"/>
                </a:solidFill>
                <a:latin typeface="Oswald"/>
              </a:rPr>
              <a:t>RAG: a fixed route</a:t>
            </a:r>
          </a:p>
        </p:txBody>
      </p:sp>
      <p:sp>
        <p:nvSpPr>
          <p:cNvPr id="9" name="Rectangle 8"/>
          <p:cNvSpPr/>
          <p:nvPr/>
        </p:nvSpPr>
        <p:spPr>
          <a:xfrm>
            <a:off x="4700016" y="1783080"/>
            <a:ext cx="4005072" cy="193852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700016" y="1783080"/>
            <a:ext cx="54864" cy="1938528"/>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10328" y="1892807"/>
            <a:ext cx="3639312" cy="274320"/>
          </a:xfrm>
          <a:prstGeom prst="rect">
            <a:avLst/>
          </a:prstGeom>
          <a:noFill/>
        </p:spPr>
        <p:txBody>
          <a:bodyPr wrap="square" lIns="0" tIns="0" rIns="0" bIns="0" anchor="t">
            <a:spAutoFit/>
          </a:bodyPr>
          <a:lstStyle/>
          <a:p>
            <a:pPr algn="l"/>
            <a:r>
              <a:rPr sz="1500" b="0">
                <a:solidFill>
                  <a:srgbClr val="0D1B2A"/>
                </a:solidFill>
                <a:latin typeface="Oswald"/>
              </a:rPr>
              <a:t>Tool use: the model chooses</a:t>
            </a:r>
          </a:p>
        </p:txBody>
      </p:sp>
      <p:sp>
        <p:nvSpPr>
          <p:cNvPr id="12" name="Rounded Rectangle 11"/>
          <p:cNvSpPr/>
          <p:nvPr/>
        </p:nvSpPr>
        <p:spPr>
          <a:xfrm>
            <a:off x="804672" y="2697480"/>
            <a:ext cx="713232" cy="292608"/>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Question</a:t>
            </a:r>
          </a:p>
        </p:txBody>
      </p:sp>
      <p:cxnSp>
        <p:nvCxnSpPr>
          <p:cNvPr id="13" name="Connector 12"/>
          <p:cNvCxnSpPr/>
          <p:nvPr/>
        </p:nvCxnSpPr>
        <p:spPr>
          <a:xfrm>
            <a:off x="1545336" y="2843784"/>
            <a:ext cx="201168" cy="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773936" y="2697480"/>
            <a:ext cx="713232" cy="292608"/>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Search</a:t>
            </a:r>
          </a:p>
        </p:txBody>
      </p:sp>
      <p:sp>
        <p:nvSpPr>
          <p:cNvPr id="15" name="TextBox 14"/>
          <p:cNvSpPr txBox="1"/>
          <p:nvPr/>
        </p:nvSpPr>
        <p:spPr>
          <a:xfrm>
            <a:off x="1773936" y="2468880"/>
            <a:ext cx="713232" cy="228600"/>
          </a:xfrm>
          <a:prstGeom prst="rect">
            <a:avLst/>
          </a:prstGeom>
          <a:noFill/>
        </p:spPr>
        <p:txBody>
          <a:bodyPr wrap="square" lIns="0" tIns="0" rIns="0" bIns="0" anchor="t">
            <a:spAutoFit/>
          </a:bodyPr>
          <a:lstStyle/>
          <a:p>
            <a:pPr algn="l"/>
            <a:r>
              <a:rPr sz="750" b="0" spc="100">
                <a:solidFill>
                  <a:srgbClr val="1B9AAA"/>
                </a:solidFill>
                <a:latin typeface="JetBrains Mono"/>
              </a:rPr>
              <a:t>ALWAYS</a:t>
            </a:r>
          </a:p>
        </p:txBody>
      </p:sp>
      <p:cxnSp>
        <p:nvCxnSpPr>
          <p:cNvPr id="16" name="Connector 15"/>
          <p:cNvCxnSpPr/>
          <p:nvPr/>
        </p:nvCxnSpPr>
        <p:spPr>
          <a:xfrm>
            <a:off x="2514599" y="2843784"/>
            <a:ext cx="201169" cy="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743200" y="2697480"/>
            <a:ext cx="713232" cy="292608"/>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FFFFFF"/>
                </a:solidFill>
                <a:latin typeface="JetBrains Mono"/>
              </a:rPr>
              <a:t>LLM</a:t>
            </a:r>
          </a:p>
        </p:txBody>
      </p:sp>
      <p:cxnSp>
        <p:nvCxnSpPr>
          <p:cNvPr id="18" name="Connector 17"/>
          <p:cNvCxnSpPr/>
          <p:nvPr/>
        </p:nvCxnSpPr>
        <p:spPr>
          <a:xfrm>
            <a:off x="3483864" y="2843784"/>
            <a:ext cx="201168" cy="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712464" y="2697480"/>
            <a:ext cx="713232" cy="292608"/>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Answer</a:t>
            </a:r>
          </a:p>
        </p:txBody>
      </p:sp>
      <p:sp>
        <p:nvSpPr>
          <p:cNvPr id="20" name="TextBox 19"/>
          <p:cNvSpPr txBox="1"/>
          <p:nvPr/>
        </p:nvSpPr>
        <p:spPr>
          <a:xfrm>
            <a:off x="777240" y="3310128"/>
            <a:ext cx="3593591" cy="365760"/>
          </a:xfrm>
          <a:prstGeom prst="rect">
            <a:avLst/>
          </a:prstGeom>
          <a:noFill/>
        </p:spPr>
        <p:txBody>
          <a:bodyPr wrap="square" lIns="0" tIns="0" rIns="0" bIns="0" anchor="t">
            <a:spAutoFit/>
          </a:bodyPr>
          <a:lstStyle/>
          <a:p>
            <a:pPr algn="l"/>
            <a:r>
              <a:rPr sz="950" b="0">
                <a:solidFill>
                  <a:srgbClr val="6B7B8C"/>
                </a:solidFill>
                <a:latin typeface="Roboto"/>
              </a:rPr>
              <a:t>The developers fixed the route: search always runs first, and the model can only read.</a:t>
            </a:r>
          </a:p>
        </p:txBody>
      </p:sp>
      <p:sp>
        <p:nvSpPr>
          <p:cNvPr id="21" name="Rounded Rectangle 20"/>
          <p:cNvSpPr/>
          <p:nvPr/>
        </p:nvSpPr>
        <p:spPr>
          <a:xfrm>
            <a:off x="4974336" y="2651760"/>
            <a:ext cx="640080" cy="292608"/>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FFFFFF"/>
                </a:solidFill>
                <a:latin typeface="JetBrains Mono"/>
              </a:rPr>
              <a:t>LLM</a:t>
            </a:r>
          </a:p>
        </p:txBody>
      </p:sp>
      <p:sp>
        <p:nvSpPr>
          <p:cNvPr id="22" name="TextBox 21"/>
          <p:cNvSpPr txBox="1"/>
          <p:nvPr/>
        </p:nvSpPr>
        <p:spPr>
          <a:xfrm>
            <a:off x="6437375" y="2176272"/>
            <a:ext cx="914400" cy="228600"/>
          </a:xfrm>
          <a:prstGeom prst="rect">
            <a:avLst/>
          </a:prstGeom>
          <a:noFill/>
        </p:spPr>
        <p:txBody>
          <a:bodyPr wrap="square" lIns="0" tIns="0" rIns="0" bIns="0" anchor="t">
            <a:spAutoFit/>
          </a:bodyPr>
          <a:lstStyle/>
          <a:p>
            <a:pPr algn="l"/>
            <a:r>
              <a:rPr sz="750" b="0" spc="100">
                <a:solidFill>
                  <a:srgbClr val="6B7B8C"/>
                </a:solidFill>
                <a:latin typeface="JetBrains Mono"/>
              </a:rPr>
              <a:t>TOOLS</a:t>
            </a:r>
          </a:p>
        </p:txBody>
      </p:sp>
      <p:cxnSp>
        <p:nvCxnSpPr>
          <p:cNvPr id="23" name="Connector 22"/>
          <p:cNvCxnSpPr/>
          <p:nvPr/>
        </p:nvCxnSpPr>
        <p:spPr>
          <a:xfrm flipV="1">
            <a:off x="5632703" y="2468880"/>
            <a:ext cx="777240" cy="329184"/>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437375" y="2377440"/>
            <a:ext cx="1371600" cy="182880"/>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a:solidFill>
                  <a:srgbClr val="0D1B2A"/>
                </a:solidFill>
                <a:latin typeface="Roboto"/>
              </a:rPr>
              <a:t>Search documents</a:t>
            </a:r>
          </a:p>
        </p:txBody>
      </p:sp>
      <p:cxnSp>
        <p:nvCxnSpPr>
          <p:cNvPr id="25" name="Connector 24"/>
          <p:cNvCxnSpPr/>
          <p:nvPr/>
        </p:nvCxnSpPr>
        <p:spPr>
          <a:xfrm flipV="1">
            <a:off x="5632703" y="2688336"/>
            <a:ext cx="777240" cy="109728"/>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437375" y="2596896"/>
            <a:ext cx="1371600" cy="182880"/>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a:solidFill>
                  <a:srgbClr val="0D1B2A"/>
                </a:solidFill>
                <a:latin typeface="Roboto"/>
              </a:rPr>
              <a:t>Calculator</a:t>
            </a:r>
          </a:p>
        </p:txBody>
      </p:sp>
      <p:cxnSp>
        <p:nvCxnSpPr>
          <p:cNvPr id="27" name="Connector 26"/>
          <p:cNvCxnSpPr/>
          <p:nvPr/>
        </p:nvCxnSpPr>
        <p:spPr>
          <a:xfrm>
            <a:off x="5632703" y="2798064"/>
            <a:ext cx="777240" cy="109728"/>
          </a:xfrm>
          <a:prstGeom prst="line">
            <a:avLst/>
          </a:prstGeom>
          <a:ln w="22225">
            <a:solidFill>
              <a:srgbClr val="06D6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437375" y="2816352"/>
            <a:ext cx="1371600" cy="182880"/>
          </a:xfrm>
          <a:prstGeom prst="roundRect">
            <a:avLst>
              <a:gd name="adj" fmla="val 18000"/>
            </a:avLst>
          </a:prstGeom>
          <a:solidFill>
            <a:srgbClr val="CFF5EA"/>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a:solidFill>
                  <a:srgbClr val="0D1B2A"/>
                </a:solidFill>
                <a:latin typeface="Roboto"/>
              </a:rPr>
              <a:t>Calendar</a:t>
            </a:r>
          </a:p>
        </p:txBody>
      </p:sp>
      <p:cxnSp>
        <p:nvCxnSpPr>
          <p:cNvPr id="29" name="Connector 28"/>
          <p:cNvCxnSpPr/>
          <p:nvPr/>
        </p:nvCxnSpPr>
        <p:spPr>
          <a:xfrm>
            <a:off x="5632703" y="2798064"/>
            <a:ext cx="777240" cy="329184"/>
          </a:xfrm>
          <a:prstGeom prst="line">
            <a:avLst/>
          </a:prstGeom>
          <a:ln w="9525">
            <a:solidFill>
              <a:srgbClr val="DDE5E9"/>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437375" y="3035808"/>
            <a:ext cx="1371600" cy="182880"/>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a:solidFill>
                  <a:srgbClr val="0D1B2A"/>
                </a:solidFill>
                <a:latin typeface="Roboto"/>
              </a:rPr>
              <a:t>Send email</a:t>
            </a:r>
          </a:p>
        </p:txBody>
      </p:sp>
      <p:sp>
        <p:nvSpPr>
          <p:cNvPr id="31" name="TextBox 30"/>
          <p:cNvSpPr txBox="1"/>
          <p:nvPr/>
        </p:nvSpPr>
        <p:spPr>
          <a:xfrm>
            <a:off x="4910328" y="3310128"/>
            <a:ext cx="3593591" cy="365760"/>
          </a:xfrm>
          <a:prstGeom prst="rect">
            <a:avLst/>
          </a:prstGeom>
          <a:noFill/>
        </p:spPr>
        <p:txBody>
          <a:bodyPr wrap="square" lIns="0" tIns="0" rIns="0" bIns="0" anchor="t">
            <a:spAutoFit/>
          </a:bodyPr>
          <a:lstStyle/>
          <a:p>
            <a:pPr algn="l"/>
            <a:r>
              <a:rPr sz="950" b="0">
                <a:solidFill>
                  <a:srgbClr val="6B7B8C"/>
                </a:solidFill>
                <a:latin typeface="Roboto"/>
              </a:rPr>
              <a:t>It picks the tool it needs, or none. Tools can read (search) and act (send an email). Search is now just one tool among many.</a:t>
            </a:r>
          </a:p>
        </p:txBody>
      </p:sp>
      <p:sp>
        <p:nvSpPr>
          <p:cNvPr id="32" name="Rectangle 31"/>
          <p:cNvSpPr/>
          <p:nvPr/>
        </p:nvSpPr>
        <p:spPr>
          <a:xfrm>
            <a:off x="566928" y="3840480"/>
            <a:ext cx="8138160" cy="621792"/>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7240" y="3913632"/>
            <a:ext cx="2743200" cy="228600"/>
          </a:xfrm>
          <a:prstGeom prst="rect">
            <a:avLst/>
          </a:prstGeom>
          <a:noFill/>
        </p:spPr>
        <p:txBody>
          <a:bodyPr wrap="square" lIns="0" tIns="0" rIns="0" bIns="0" anchor="t">
            <a:spAutoFit/>
          </a:bodyPr>
          <a:lstStyle/>
          <a:p>
            <a:pPr algn="l"/>
            <a:r>
              <a:rPr sz="800" b="0" spc="100">
                <a:solidFill>
                  <a:srgbClr val="6B7B8C"/>
                </a:solidFill>
                <a:latin typeface="JetBrains Mono"/>
              </a:rPr>
              <a:t>SAME IDEA, THREE NAMES</a:t>
            </a:r>
          </a:p>
        </p:txBody>
      </p:sp>
      <p:sp>
        <p:nvSpPr>
          <p:cNvPr id="34" name="Rounded Rectangle 33"/>
          <p:cNvSpPr/>
          <p:nvPr/>
        </p:nvSpPr>
        <p:spPr>
          <a:xfrm>
            <a:off x="777240" y="4114800"/>
            <a:ext cx="786384" cy="237744"/>
          </a:xfrm>
          <a:prstGeom prst="roundRect">
            <a:avLst>
              <a:gd name="adj" fmla="val 18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Roboto"/>
              </a:rPr>
              <a:t>Tool use</a:t>
            </a:r>
          </a:p>
        </p:txBody>
      </p:sp>
      <p:sp>
        <p:nvSpPr>
          <p:cNvPr id="35" name="Rounded Rectangle 34"/>
          <p:cNvSpPr/>
          <p:nvPr/>
        </p:nvSpPr>
        <p:spPr>
          <a:xfrm>
            <a:off x="1655064" y="4114800"/>
            <a:ext cx="1042416" cy="237744"/>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Tool calling</a:t>
            </a:r>
          </a:p>
        </p:txBody>
      </p:sp>
      <p:sp>
        <p:nvSpPr>
          <p:cNvPr id="36" name="Rounded Rectangle 35"/>
          <p:cNvSpPr/>
          <p:nvPr/>
        </p:nvSpPr>
        <p:spPr>
          <a:xfrm>
            <a:off x="2788920" y="4114800"/>
            <a:ext cx="1298448" cy="237744"/>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0D1B2A"/>
                </a:solidFill>
                <a:latin typeface="Roboto"/>
              </a:rPr>
              <a:t>Function calling</a:t>
            </a:r>
          </a:p>
        </p:txBody>
      </p:sp>
      <p:sp>
        <p:nvSpPr>
          <p:cNvPr id="37" name="TextBox 36"/>
          <p:cNvSpPr txBox="1"/>
          <p:nvPr/>
        </p:nvSpPr>
        <p:spPr>
          <a:xfrm>
            <a:off x="4572000" y="3977639"/>
            <a:ext cx="3977639" cy="411480"/>
          </a:xfrm>
          <a:prstGeom prst="rect">
            <a:avLst/>
          </a:prstGeom>
          <a:noFill/>
        </p:spPr>
        <p:txBody>
          <a:bodyPr wrap="square" lIns="0" tIns="0" rIns="0" bIns="0" anchor="t">
            <a:spAutoFit/>
          </a:bodyPr>
          <a:lstStyle/>
          <a:p>
            <a:pPr algn="l"/>
            <a:r>
              <a:rPr sz="950" b="0">
                <a:solidFill>
                  <a:srgbClr val="14293D"/>
                </a:solidFill>
                <a:latin typeface="Roboto"/>
              </a:rPr>
              <a:t>“Tool use” is the general term. “Function calling” is the name in some developer platforms, e.g. OpenAI’s.</a:t>
            </a:r>
          </a:p>
        </p:txBody>
      </p:sp>
      <p:sp>
        <p:nvSpPr>
          <p:cNvPr id="38" name="Rectangle 37"/>
          <p:cNvSpPr/>
          <p:nvPr/>
        </p:nvSpPr>
        <p:spPr>
          <a:xfrm>
            <a:off x="566928" y="4608575"/>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3232" y="4590288"/>
            <a:ext cx="7991856" cy="274320"/>
          </a:xfrm>
          <a:prstGeom prst="rect">
            <a:avLst/>
          </a:prstGeom>
          <a:noFill/>
        </p:spPr>
        <p:txBody>
          <a:bodyPr wrap="square" lIns="0" tIns="0" rIns="0" bIns="0" anchor="t">
            <a:spAutoFit/>
          </a:bodyPr>
          <a:lstStyle/>
          <a:p>
            <a:pPr algn="l"/>
            <a:r>
              <a:rPr sz="1200" b="0">
                <a:solidFill>
                  <a:srgbClr val="0D1B2A"/>
                </a:solidFill>
                <a:latin typeface="Roboto"/>
              </a:rPr>
              <a:t>RAG gave the model something to read. Tool use gives it something to do.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PART 5 · TOOL USE, STEP BY STEP</a:t>
            </a:r>
          </a:p>
        </p:txBody>
      </p:sp>
      <p:sp>
        <p:nvSpPr>
          <p:cNvPr id="4" name="slide-tool-calling"/>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How an agent actually uses a tool</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250" b="0">
                <a:solidFill>
                  <a:srgbClr val="14293D"/>
                </a:solidFill>
                <a:latin typeface="Roboto"/>
              </a:rPr>
              <a:t>The model (LLM) cannot press any buttons. Instead, it writes the tool call as text in a fixed format, through the usual next-token prediction, and the app (runtime) reads the tool call and acts on it.</a:t>
            </a:r>
          </a:p>
        </p:txBody>
      </p:sp>
      <p:sp>
        <p:nvSpPr>
          <p:cNvPr id="6" name="Rectangle 5"/>
          <p:cNvSpPr/>
          <p:nvPr/>
        </p:nvSpPr>
        <p:spPr>
          <a:xfrm>
            <a:off x="566928" y="1883664"/>
            <a:ext cx="8138160" cy="262432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883664"/>
            <a:ext cx="54864" cy="26243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029968"/>
            <a:ext cx="1371600" cy="228600"/>
          </a:xfrm>
          <a:prstGeom prst="rect">
            <a:avLst/>
          </a:prstGeom>
          <a:noFill/>
        </p:spPr>
        <p:txBody>
          <a:bodyPr wrap="square" lIns="0" tIns="0" rIns="0" bIns="0" anchor="t">
            <a:spAutoFit/>
          </a:bodyPr>
          <a:lstStyle/>
          <a:p>
            <a:pPr algn="l"/>
            <a:r>
              <a:rPr sz="800" b="0" spc="100">
                <a:solidFill>
                  <a:srgbClr val="6B7B8C"/>
                </a:solidFill>
                <a:latin typeface="JetBrains Mono"/>
              </a:rPr>
              <a:t>YOUR REQUEST</a:t>
            </a:r>
          </a:p>
        </p:txBody>
      </p:sp>
      <p:sp>
        <p:nvSpPr>
          <p:cNvPr id="9" name="Rounded Rectangle 8"/>
          <p:cNvSpPr/>
          <p:nvPr/>
        </p:nvSpPr>
        <p:spPr>
          <a:xfrm>
            <a:off x="1920240" y="1975104"/>
            <a:ext cx="2514600" cy="274320"/>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a:solidFill>
                  <a:srgbClr val="0D1B2A"/>
                </a:solidFill>
                <a:latin typeface="Roboto"/>
              </a:rPr>
              <a:t>Turn these notes into follow-ups.</a:t>
            </a:r>
          </a:p>
        </p:txBody>
      </p:sp>
      <p:pic>
        <p:nvPicPr>
          <p:cNvPr id="10" name="Picture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98848" y="1965960"/>
            <a:ext cx="274320" cy="274320"/>
          </a:xfrm>
          <a:prstGeom prst="rect">
            <a:avLst/>
          </a:prstGeom>
        </p:spPr>
      </p:pic>
      <p:sp>
        <p:nvSpPr>
          <p:cNvPr id="11" name="Rounded Rectangle 10"/>
          <p:cNvSpPr/>
          <p:nvPr/>
        </p:nvSpPr>
        <p:spPr>
          <a:xfrm>
            <a:off x="777240" y="2359152"/>
            <a:ext cx="1764792" cy="1645920"/>
          </a:xfrm>
          <a:prstGeom prst="roundRect">
            <a:avLst>
              <a:gd name="adj" fmla="val 4444"/>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450592"/>
            <a:ext cx="1627632" cy="228600"/>
          </a:xfrm>
          <a:prstGeom prst="rect">
            <a:avLst/>
          </a:prstGeom>
          <a:noFill/>
        </p:spPr>
        <p:txBody>
          <a:bodyPr wrap="square" lIns="0" tIns="0" rIns="0" bIns="0" anchor="t">
            <a:spAutoFit/>
          </a:bodyPr>
          <a:lstStyle/>
          <a:p>
            <a:pPr algn="l"/>
            <a:r>
              <a:rPr sz="850" b="0" spc="100">
                <a:solidFill>
                  <a:srgbClr val="1B9AAA"/>
                </a:solidFill>
                <a:latin typeface="JetBrains Mono"/>
              </a:rPr>
              <a:t>STEP 1: TOOL LIST</a:t>
            </a:r>
          </a:p>
        </p:txBody>
      </p:sp>
      <p:sp>
        <p:nvSpPr>
          <p:cNvPr id="13" name="TextBox 12"/>
          <p:cNvSpPr txBox="1"/>
          <p:nvPr/>
        </p:nvSpPr>
        <p:spPr>
          <a:xfrm>
            <a:off x="868680" y="2651760"/>
            <a:ext cx="1581912" cy="329184"/>
          </a:xfrm>
          <a:prstGeom prst="rect">
            <a:avLst/>
          </a:prstGeom>
          <a:noFill/>
        </p:spPr>
        <p:txBody>
          <a:bodyPr wrap="square" lIns="0" tIns="0" rIns="0" bIns="0" anchor="t">
            <a:spAutoFit/>
          </a:bodyPr>
          <a:lstStyle/>
          <a:p>
            <a:pPr algn="l"/>
            <a:r>
              <a:rPr sz="1100" b="0">
                <a:solidFill>
                  <a:srgbClr val="0D1B2A"/>
                </a:solidFill>
                <a:latin typeface="Oswald"/>
              </a:rPr>
              <a:t>The app (runtime) lists tools</a:t>
            </a:r>
          </a:p>
        </p:txBody>
      </p:sp>
      <p:sp>
        <p:nvSpPr>
          <p:cNvPr id="14" name="TextBox 13"/>
          <p:cNvSpPr txBox="1"/>
          <p:nvPr/>
        </p:nvSpPr>
        <p:spPr>
          <a:xfrm>
            <a:off x="868680" y="3611880"/>
            <a:ext cx="1581912" cy="420624"/>
          </a:xfrm>
          <a:prstGeom prst="rect">
            <a:avLst/>
          </a:prstGeom>
          <a:noFill/>
        </p:spPr>
        <p:txBody>
          <a:bodyPr wrap="square" lIns="0" tIns="0" rIns="0" bIns="0" anchor="t">
            <a:spAutoFit/>
          </a:bodyPr>
          <a:lstStyle/>
          <a:p>
            <a:pPr algn="l"/>
            <a:r>
              <a:rPr sz="850" b="0">
                <a:solidFill>
                  <a:srgbClr val="6B7B8C"/>
                </a:solidFill>
                <a:latin typeface="Roboto"/>
              </a:rPr>
              <a:t>Name, description and required parameters {in braces}.</a:t>
            </a:r>
          </a:p>
        </p:txBody>
      </p:sp>
      <p:cxnSp>
        <p:nvCxnSpPr>
          <p:cNvPr id="15" name="Connector 14"/>
          <p:cNvCxnSpPr/>
          <p:nvPr/>
        </p:nvCxnSpPr>
        <p:spPr>
          <a:xfrm>
            <a:off x="2578608" y="3227832"/>
            <a:ext cx="146303" cy="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761488" y="2359152"/>
            <a:ext cx="1764792" cy="1645920"/>
          </a:xfrm>
          <a:prstGeom prst="roundRect">
            <a:avLst>
              <a:gd name="adj" fmla="val 4444"/>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52928" y="2450592"/>
            <a:ext cx="1627632" cy="228600"/>
          </a:xfrm>
          <a:prstGeom prst="rect">
            <a:avLst/>
          </a:prstGeom>
          <a:noFill/>
        </p:spPr>
        <p:txBody>
          <a:bodyPr wrap="square" lIns="0" tIns="0" rIns="0" bIns="0" anchor="t">
            <a:spAutoFit/>
          </a:bodyPr>
          <a:lstStyle/>
          <a:p>
            <a:pPr algn="l"/>
            <a:r>
              <a:rPr sz="850" b="0" spc="100">
                <a:solidFill>
                  <a:srgbClr val="1B9AAA"/>
                </a:solidFill>
                <a:latin typeface="JetBrains Mono"/>
              </a:rPr>
              <a:t>STEP 2: TOOL CALL</a:t>
            </a:r>
          </a:p>
        </p:txBody>
      </p:sp>
      <p:sp>
        <p:nvSpPr>
          <p:cNvPr id="18" name="TextBox 17"/>
          <p:cNvSpPr txBox="1"/>
          <p:nvPr/>
        </p:nvSpPr>
        <p:spPr>
          <a:xfrm>
            <a:off x="2852928" y="2651760"/>
            <a:ext cx="1581912" cy="329184"/>
          </a:xfrm>
          <a:prstGeom prst="rect">
            <a:avLst/>
          </a:prstGeom>
          <a:noFill/>
        </p:spPr>
        <p:txBody>
          <a:bodyPr wrap="square" lIns="0" tIns="0" rIns="0" bIns="0" anchor="t">
            <a:spAutoFit/>
          </a:bodyPr>
          <a:lstStyle/>
          <a:p>
            <a:pPr algn="l"/>
            <a:r>
              <a:rPr sz="1100" b="0">
                <a:solidFill>
                  <a:srgbClr val="0D1B2A"/>
                </a:solidFill>
                <a:latin typeface="Oswald"/>
              </a:rPr>
              <a:t>The model writes a tool call</a:t>
            </a:r>
          </a:p>
        </p:txBody>
      </p:sp>
      <p:sp>
        <p:nvSpPr>
          <p:cNvPr id="19" name="TextBox 18"/>
          <p:cNvSpPr txBox="1"/>
          <p:nvPr/>
        </p:nvSpPr>
        <p:spPr>
          <a:xfrm>
            <a:off x="2852928" y="3611880"/>
            <a:ext cx="1581912" cy="420624"/>
          </a:xfrm>
          <a:prstGeom prst="rect">
            <a:avLst/>
          </a:prstGeom>
          <a:noFill/>
        </p:spPr>
        <p:txBody>
          <a:bodyPr wrap="square" lIns="0" tIns="0" rIns="0" bIns="0" anchor="t">
            <a:spAutoFit/>
          </a:bodyPr>
          <a:lstStyle/>
          <a:p>
            <a:pPr algn="l"/>
            <a:r>
              <a:rPr sz="850" b="0">
                <a:solidFill>
                  <a:srgbClr val="6B7B8C"/>
                </a:solidFill>
                <a:latin typeface="Roboto"/>
              </a:rPr>
              <a:t>Fills in the parameters: still next-token prediction.</a:t>
            </a:r>
          </a:p>
        </p:txBody>
      </p:sp>
      <p:cxnSp>
        <p:nvCxnSpPr>
          <p:cNvPr id="20" name="Connector 19"/>
          <p:cNvCxnSpPr/>
          <p:nvPr/>
        </p:nvCxnSpPr>
        <p:spPr>
          <a:xfrm>
            <a:off x="4562856" y="3227832"/>
            <a:ext cx="146304" cy="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745736" y="2359152"/>
            <a:ext cx="1764792" cy="1645920"/>
          </a:xfrm>
          <a:prstGeom prst="roundRect">
            <a:avLst>
              <a:gd name="adj" fmla="val 4444"/>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37175" y="2450592"/>
            <a:ext cx="1627632" cy="228600"/>
          </a:xfrm>
          <a:prstGeom prst="rect">
            <a:avLst/>
          </a:prstGeom>
          <a:noFill/>
        </p:spPr>
        <p:txBody>
          <a:bodyPr wrap="square" lIns="0" tIns="0" rIns="0" bIns="0" anchor="t">
            <a:spAutoFit/>
          </a:bodyPr>
          <a:lstStyle/>
          <a:p>
            <a:pPr algn="l"/>
            <a:r>
              <a:rPr sz="850" b="0" spc="100">
                <a:solidFill>
                  <a:srgbClr val="1B9AAA"/>
                </a:solidFill>
                <a:latin typeface="JetBrains Mono"/>
              </a:rPr>
              <a:t>STEP 3: RUN THE TOOL</a:t>
            </a:r>
          </a:p>
        </p:txBody>
      </p:sp>
      <p:sp>
        <p:nvSpPr>
          <p:cNvPr id="23" name="TextBox 22"/>
          <p:cNvSpPr txBox="1"/>
          <p:nvPr/>
        </p:nvSpPr>
        <p:spPr>
          <a:xfrm>
            <a:off x="4837175" y="2651760"/>
            <a:ext cx="1581912" cy="329184"/>
          </a:xfrm>
          <a:prstGeom prst="rect">
            <a:avLst/>
          </a:prstGeom>
          <a:noFill/>
        </p:spPr>
        <p:txBody>
          <a:bodyPr wrap="square" lIns="0" tIns="0" rIns="0" bIns="0" anchor="t">
            <a:spAutoFit/>
          </a:bodyPr>
          <a:lstStyle/>
          <a:p>
            <a:pPr algn="l"/>
            <a:r>
              <a:rPr sz="1100" b="0">
                <a:solidFill>
                  <a:srgbClr val="0D1B2A"/>
                </a:solidFill>
                <a:latin typeface="Oswald"/>
              </a:rPr>
              <a:t>The app (runtime) runs the tool</a:t>
            </a:r>
          </a:p>
        </p:txBody>
      </p:sp>
      <p:sp>
        <p:nvSpPr>
          <p:cNvPr id="24" name="TextBox 23"/>
          <p:cNvSpPr txBox="1"/>
          <p:nvPr/>
        </p:nvSpPr>
        <p:spPr>
          <a:xfrm>
            <a:off x="4837175" y="3611880"/>
            <a:ext cx="1581912" cy="420624"/>
          </a:xfrm>
          <a:prstGeom prst="rect">
            <a:avLst/>
          </a:prstGeom>
          <a:noFill/>
        </p:spPr>
        <p:txBody>
          <a:bodyPr wrap="square" lIns="0" tIns="0" rIns="0" bIns="0" anchor="t">
            <a:spAutoFit/>
          </a:bodyPr>
          <a:lstStyle/>
          <a:p>
            <a:pPr algn="l"/>
            <a:r>
              <a:rPr sz="850" b="0">
                <a:solidFill>
                  <a:srgbClr val="6B7B8C"/>
                </a:solidFill>
                <a:latin typeface="Roboto"/>
              </a:rPr>
              <a:t>It opens the file and hands the result back to the model.</a:t>
            </a:r>
          </a:p>
        </p:txBody>
      </p:sp>
      <p:cxnSp>
        <p:nvCxnSpPr>
          <p:cNvPr id="25" name="Connector 24"/>
          <p:cNvCxnSpPr/>
          <p:nvPr/>
        </p:nvCxnSpPr>
        <p:spPr>
          <a:xfrm>
            <a:off x="6547103" y="3227832"/>
            <a:ext cx="146304" cy="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729983" y="2359152"/>
            <a:ext cx="1764792" cy="1645920"/>
          </a:xfrm>
          <a:prstGeom prst="roundRect">
            <a:avLst>
              <a:gd name="adj" fmla="val 4444"/>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21423" y="2450592"/>
            <a:ext cx="1627632" cy="228600"/>
          </a:xfrm>
          <a:prstGeom prst="rect">
            <a:avLst/>
          </a:prstGeom>
          <a:noFill/>
        </p:spPr>
        <p:txBody>
          <a:bodyPr wrap="square" lIns="0" tIns="0" rIns="0" bIns="0" anchor="t">
            <a:spAutoFit/>
          </a:bodyPr>
          <a:lstStyle/>
          <a:p>
            <a:pPr algn="l"/>
            <a:r>
              <a:rPr sz="850" b="0" spc="100">
                <a:solidFill>
                  <a:srgbClr val="1B9AAA"/>
                </a:solidFill>
                <a:latin typeface="JetBrains Mono"/>
              </a:rPr>
              <a:t>STEP 4: NEXT STEP</a:t>
            </a:r>
          </a:p>
        </p:txBody>
      </p:sp>
      <p:sp>
        <p:nvSpPr>
          <p:cNvPr id="28" name="TextBox 27"/>
          <p:cNvSpPr txBox="1"/>
          <p:nvPr/>
        </p:nvSpPr>
        <p:spPr>
          <a:xfrm>
            <a:off x="6821423" y="2651760"/>
            <a:ext cx="1581912" cy="329184"/>
          </a:xfrm>
          <a:prstGeom prst="rect">
            <a:avLst/>
          </a:prstGeom>
          <a:noFill/>
        </p:spPr>
        <p:txBody>
          <a:bodyPr wrap="square" lIns="0" tIns="0" rIns="0" bIns="0" anchor="t">
            <a:spAutoFit/>
          </a:bodyPr>
          <a:lstStyle/>
          <a:p>
            <a:pPr algn="l"/>
            <a:r>
              <a:rPr sz="1100" b="0">
                <a:solidFill>
                  <a:srgbClr val="0D1B2A"/>
                </a:solidFill>
                <a:latin typeface="Oswald"/>
              </a:rPr>
              <a:t>The model decides what’s next</a:t>
            </a:r>
          </a:p>
        </p:txBody>
      </p:sp>
      <p:sp>
        <p:nvSpPr>
          <p:cNvPr id="29" name="TextBox 28"/>
          <p:cNvSpPr txBox="1"/>
          <p:nvPr/>
        </p:nvSpPr>
        <p:spPr>
          <a:xfrm>
            <a:off x="6821423" y="3611880"/>
            <a:ext cx="1581912" cy="420624"/>
          </a:xfrm>
          <a:prstGeom prst="rect">
            <a:avLst/>
          </a:prstGeom>
          <a:noFill/>
        </p:spPr>
        <p:txBody>
          <a:bodyPr wrap="square" lIns="0" tIns="0" rIns="0" bIns="0" anchor="t">
            <a:spAutoFit/>
          </a:bodyPr>
          <a:lstStyle/>
          <a:p>
            <a:pPr algn="l"/>
            <a:r>
              <a:rPr sz="850" b="0">
                <a:solidFill>
                  <a:srgbClr val="6B7B8C"/>
                </a:solidFill>
                <a:latin typeface="Roboto"/>
              </a:rPr>
              <a:t>Another tool call, or the final answer to you.</a:t>
            </a:r>
          </a:p>
        </p:txBody>
      </p:sp>
      <p:sp>
        <p:nvSpPr>
          <p:cNvPr id="30" name="Rounded Rectangle 29"/>
          <p:cNvSpPr/>
          <p:nvPr/>
        </p:nvSpPr>
        <p:spPr>
          <a:xfrm>
            <a:off x="868680" y="2980944"/>
            <a:ext cx="1581912" cy="274320"/>
          </a:xfrm>
          <a:prstGeom prst="roundRect">
            <a:avLst>
              <a:gd name="adj" fmla="val 16666"/>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23544" y="3017520"/>
            <a:ext cx="1490472" cy="109728"/>
          </a:xfrm>
          <a:prstGeom prst="rect">
            <a:avLst/>
          </a:prstGeom>
          <a:noFill/>
        </p:spPr>
        <p:txBody>
          <a:bodyPr wrap="none" lIns="0" tIns="0" rIns="0" bIns="0">
            <a:spAutoFit/>
          </a:bodyPr>
          <a:lstStyle/>
          <a:p>
            <a:pPr algn="l"/>
            <a:r>
              <a:rPr sz="650">
                <a:solidFill>
                  <a:srgbClr val="1B9AAA"/>
                </a:solidFill>
                <a:latin typeface="JetBrains Mono"/>
              </a:rPr>
              <a:t>read_file </a:t>
            </a:r>
            <a:r>
              <a:rPr sz="650">
                <a:solidFill>
                  <a:srgbClr val="0D1B2A"/>
                </a:solidFill>
                <a:latin typeface="JetBrains Mono"/>
              </a:rPr>
              <a:t>{file, folder}</a:t>
            </a:r>
          </a:p>
        </p:txBody>
      </p:sp>
      <p:sp>
        <p:nvSpPr>
          <p:cNvPr id="32" name="TextBox 31"/>
          <p:cNvSpPr txBox="1"/>
          <p:nvPr/>
        </p:nvSpPr>
        <p:spPr>
          <a:xfrm>
            <a:off x="923544" y="3127248"/>
            <a:ext cx="1490472" cy="109728"/>
          </a:xfrm>
          <a:prstGeom prst="rect">
            <a:avLst/>
          </a:prstGeom>
          <a:noFill/>
        </p:spPr>
        <p:txBody>
          <a:bodyPr wrap="square" lIns="0" tIns="0" rIns="0" bIns="0" anchor="t">
            <a:spAutoFit/>
          </a:bodyPr>
          <a:lstStyle/>
          <a:p>
            <a:pPr algn="l"/>
            <a:r>
              <a:rPr sz="650" b="0">
                <a:solidFill>
                  <a:srgbClr val="6B7B8C"/>
                </a:solidFill>
                <a:latin typeface="Roboto"/>
              </a:rPr>
              <a:t>opens a file</a:t>
            </a:r>
          </a:p>
        </p:txBody>
      </p:sp>
      <p:sp>
        <p:nvSpPr>
          <p:cNvPr id="33" name="Rounded Rectangle 32"/>
          <p:cNvSpPr/>
          <p:nvPr/>
        </p:nvSpPr>
        <p:spPr>
          <a:xfrm>
            <a:off x="868680" y="3282696"/>
            <a:ext cx="1581912" cy="274320"/>
          </a:xfrm>
          <a:prstGeom prst="roundRect">
            <a:avLst>
              <a:gd name="adj" fmla="val 16666"/>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3544" y="3319272"/>
            <a:ext cx="1490472" cy="109728"/>
          </a:xfrm>
          <a:prstGeom prst="rect">
            <a:avLst/>
          </a:prstGeom>
          <a:noFill/>
        </p:spPr>
        <p:txBody>
          <a:bodyPr wrap="none" lIns="0" tIns="0" rIns="0" bIns="0">
            <a:spAutoFit/>
          </a:bodyPr>
          <a:lstStyle/>
          <a:p>
            <a:pPr algn="l"/>
            <a:r>
              <a:rPr sz="650">
                <a:solidFill>
                  <a:srgbClr val="1B9AAA"/>
                </a:solidFill>
                <a:latin typeface="JetBrains Mono"/>
              </a:rPr>
              <a:t>draft_email </a:t>
            </a:r>
            <a:r>
              <a:rPr sz="650">
                <a:solidFill>
                  <a:srgbClr val="0D1B2A"/>
                </a:solidFill>
                <a:latin typeface="JetBrains Mono"/>
              </a:rPr>
              <a:t>{to, text}</a:t>
            </a:r>
          </a:p>
        </p:txBody>
      </p:sp>
      <p:sp>
        <p:nvSpPr>
          <p:cNvPr id="35" name="TextBox 34"/>
          <p:cNvSpPr txBox="1"/>
          <p:nvPr/>
        </p:nvSpPr>
        <p:spPr>
          <a:xfrm>
            <a:off x="923544" y="3429000"/>
            <a:ext cx="1490472" cy="109728"/>
          </a:xfrm>
          <a:prstGeom prst="rect">
            <a:avLst/>
          </a:prstGeom>
          <a:noFill/>
        </p:spPr>
        <p:txBody>
          <a:bodyPr wrap="square" lIns="0" tIns="0" rIns="0" bIns="0" anchor="t">
            <a:spAutoFit/>
          </a:bodyPr>
          <a:lstStyle/>
          <a:p>
            <a:pPr algn="l"/>
            <a:r>
              <a:rPr sz="650" b="0">
                <a:solidFill>
                  <a:srgbClr val="6B7B8C"/>
                </a:solidFill>
                <a:latin typeface="Roboto"/>
              </a:rPr>
              <a:t>writes a draft</a:t>
            </a:r>
          </a:p>
        </p:txBody>
      </p:sp>
      <p:sp>
        <p:nvSpPr>
          <p:cNvPr id="36" name="Rounded Rectangle 35"/>
          <p:cNvSpPr/>
          <p:nvPr/>
        </p:nvSpPr>
        <p:spPr>
          <a:xfrm>
            <a:off x="2852928" y="2980944"/>
            <a:ext cx="1581912" cy="576072"/>
          </a:xfrm>
          <a:prstGeom prst="roundRect">
            <a:avLst>
              <a:gd name="adj" fmla="val 7936"/>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926080" y="3026664"/>
            <a:ext cx="1490472" cy="118872"/>
          </a:xfrm>
          <a:prstGeom prst="rect">
            <a:avLst/>
          </a:prstGeom>
          <a:noFill/>
        </p:spPr>
        <p:txBody>
          <a:bodyPr wrap="none" lIns="0" tIns="0" rIns="0" bIns="0">
            <a:spAutoFit/>
          </a:bodyPr>
          <a:lstStyle/>
          <a:p>
            <a:pPr algn="l"/>
            <a:r>
              <a:rPr sz="700">
                <a:solidFill>
                  <a:srgbClr val="1B9AAA"/>
                </a:solidFill>
                <a:latin typeface="JetBrains Mono"/>
              </a:rPr>
              <a:t>read_file {</a:t>
            </a:r>
          </a:p>
        </p:txBody>
      </p:sp>
      <p:sp>
        <p:nvSpPr>
          <p:cNvPr id="38" name="TextBox 37"/>
          <p:cNvSpPr txBox="1"/>
          <p:nvPr/>
        </p:nvSpPr>
        <p:spPr>
          <a:xfrm>
            <a:off x="2926080" y="3150108"/>
            <a:ext cx="1490472" cy="118872"/>
          </a:xfrm>
          <a:prstGeom prst="rect">
            <a:avLst/>
          </a:prstGeom>
          <a:noFill/>
        </p:spPr>
        <p:txBody>
          <a:bodyPr wrap="none" lIns="0" tIns="0" rIns="0" bIns="0">
            <a:spAutoFit/>
          </a:bodyPr>
          <a:lstStyle/>
          <a:p>
            <a:pPr algn="l"/>
            <a:r>
              <a:rPr sz="700">
                <a:solidFill>
                  <a:srgbClr val="6B7B8C"/>
                </a:solidFill>
                <a:latin typeface="JetBrains Mono"/>
              </a:rPr>
              <a:t>  file: </a:t>
            </a:r>
            <a:r>
              <a:rPr sz="700">
                <a:solidFill>
                  <a:srgbClr val="0D1B2A"/>
                </a:solidFill>
                <a:latin typeface="JetBrains Mono"/>
              </a:rPr>
              <a:t>meeting-notes.docx</a:t>
            </a:r>
          </a:p>
        </p:txBody>
      </p:sp>
      <p:sp>
        <p:nvSpPr>
          <p:cNvPr id="39" name="TextBox 38"/>
          <p:cNvSpPr txBox="1"/>
          <p:nvPr/>
        </p:nvSpPr>
        <p:spPr>
          <a:xfrm>
            <a:off x="2926080" y="3273552"/>
            <a:ext cx="1490472" cy="118872"/>
          </a:xfrm>
          <a:prstGeom prst="rect">
            <a:avLst/>
          </a:prstGeom>
          <a:noFill/>
        </p:spPr>
        <p:txBody>
          <a:bodyPr wrap="none" lIns="0" tIns="0" rIns="0" bIns="0">
            <a:spAutoFit/>
          </a:bodyPr>
          <a:lstStyle/>
          <a:p>
            <a:pPr algn="l"/>
            <a:r>
              <a:rPr sz="700">
                <a:solidFill>
                  <a:srgbClr val="6B7B8C"/>
                </a:solidFill>
                <a:latin typeface="JetBrains Mono"/>
              </a:rPr>
              <a:t>  folder: </a:t>
            </a:r>
            <a:r>
              <a:rPr sz="700">
                <a:solidFill>
                  <a:srgbClr val="0D1B2A"/>
                </a:solidFill>
                <a:latin typeface="JetBrains Mono"/>
              </a:rPr>
              <a:t>Meetings</a:t>
            </a:r>
          </a:p>
        </p:txBody>
      </p:sp>
      <p:sp>
        <p:nvSpPr>
          <p:cNvPr id="40" name="TextBox 39"/>
          <p:cNvSpPr txBox="1"/>
          <p:nvPr/>
        </p:nvSpPr>
        <p:spPr>
          <a:xfrm>
            <a:off x="2926080" y="3396996"/>
            <a:ext cx="1490472" cy="118872"/>
          </a:xfrm>
          <a:prstGeom prst="rect">
            <a:avLst/>
          </a:prstGeom>
          <a:noFill/>
        </p:spPr>
        <p:txBody>
          <a:bodyPr wrap="none" lIns="0" tIns="0" rIns="0" bIns="0">
            <a:spAutoFit/>
          </a:bodyPr>
          <a:lstStyle/>
          <a:p>
            <a:pPr algn="l"/>
            <a:r>
              <a:rPr sz="700">
                <a:solidFill>
                  <a:srgbClr val="1B9AAA"/>
                </a:solidFill>
                <a:latin typeface="JetBrains Mono"/>
              </a:rPr>
              <a:t>}</a:t>
            </a:r>
          </a:p>
        </p:txBody>
      </p:sp>
      <p:sp>
        <p:nvSpPr>
          <p:cNvPr id="41" name="Rectangle 40"/>
          <p:cNvSpPr/>
          <p:nvPr/>
        </p:nvSpPr>
        <p:spPr>
          <a:xfrm>
            <a:off x="4873751" y="3035808"/>
            <a:ext cx="329184" cy="42062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928615" y="3127248"/>
            <a:ext cx="201168"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928615" y="3218688"/>
            <a:ext cx="219456"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928615" y="3310128"/>
            <a:ext cx="146304"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764023" y="3465576"/>
            <a:ext cx="548640" cy="91440"/>
          </a:xfrm>
          <a:prstGeom prst="rect">
            <a:avLst/>
          </a:prstGeom>
          <a:noFill/>
        </p:spPr>
        <p:txBody>
          <a:bodyPr wrap="square" lIns="0" tIns="0" rIns="0" bIns="0" anchor="t">
            <a:spAutoFit/>
          </a:bodyPr>
          <a:lstStyle/>
          <a:p>
            <a:pPr algn="ctr"/>
            <a:r>
              <a:rPr sz="550" b="0">
                <a:solidFill>
                  <a:srgbClr val="6B7B8C"/>
                </a:solidFill>
                <a:latin typeface="Roboto"/>
              </a:rPr>
              <a:t>meeting-notes</a:t>
            </a:r>
          </a:p>
        </p:txBody>
      </p:sp>
      <p:cxnSp>
        <p:nvCxnSpPr>
          <p:cNvPr id="46" name="Connector 45"/>
          <p:cNvCxnSpPr/>
          <p:nvPr/>
        </p:nvCxnSpPr>
        <p:spPr>
          <a:xfrm>
            <a:off x="5239512" y="3246120"/>
            <a:ext cx="91439" cy="0"/>
          </a:xfrm>
          <a:prstGeom prst="line">
            <a:avLst/>
          </a:prstGeom>
          <a:ln w="15875">
            <a:solidFill>
              <a:srgbClr val="1B9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367527" y="2980944"/>
            <a:ext cx="1051560" cy="576072"/>
          </a:xfrm>
          <a:prstGeom prst="roundRect">
            <a:avLst>
              <a:gd name="adj" fmla="val 7936"/>
            </a:avLst>
          </a:prstGeom>
          <a:solidFill>
            <a:srgbClr val="FFFFFF"/>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422391" y="3026664"/>
            <a:ext cx="987552" cy="118872"/>
          </a:xfrm>
          <a:prstGeom prst="rect">
            <a:avLst/>
          </a:prstGeom>
          <a:noFill/>
        </p:spPr>
        <p:txBody>
          <a:bodyPr wrap="none" lIns="0" tIns="0" rIns="0" bIns="0" anchor="t">
            <a:spAutoFit/>
          </a:bodyPr>
          <a:lstStyle/>
          <a:p>
            <a:pPr algn="l"/>
            <a:r>
              <a:rPr sz="650" b="0">
                <a:solidFill>
                  <a:srgbClr val="06D6A0"/>
                </a:solidFill>
                <a:latin typeface="JetBrains Mono"/>
              </a:rPr>
              <a:t>result</a:t>
            </a:r>
          </a:p>
        </p:txBody>
      </p:sp>
      <p:sp>
        <p:nvSpPr>
          <p:cNvPr id="49" name="TextBox 48"/>
          <p:cNvSpPr txBox="1"/>
          <p:nvPr/>
        </p:nvSpPr>
        <p:spPr>
          <a:xfrm>
            <a:off x="5422391" y="3150108"/>
            <a:ext cx="987552" cy="118872"/>
          </a:xfrm>
          <a:prstGeom prst="rect">
            <a:avLst/>
          </a:prstGeom>
          <a:noFill/>
        </p:spPr>
        <p:txBody>
          <a:bodyPr wrap="none" lIns="0" tIns="0" rIns="0" bIns="0" anchor="t">
            <a:spAutoFit/>
          </a:bodyPr>
          <a:lstStyle/>
          <a:p>
            <a:pPr algn="l"/>
            <a:r>
              <a:rPr sz="600" b="0">
                <a:solidFill>
                  <a:srgbClr val="0D1B2A"/>
                </a:solidFill>
                <a:latin typeface="JetBrains Mono"/>
              </a:rPr>
              <a:t>1. Send slides</a:t>
            </a:r>
          </a:p>
        </p:txBody>
      </p:sp>
      <p:sp>
        <p:nvSpPr>
          <p:cNvPr id="50" name="TextBox 49"/>
          <p:cNvSpPr txBox="1"/>
          <p:nvPr/>
        </p:nvSpPr>
        <p:spPr>
          <a:xfrm>
            <a:off x="5422391" y="3273552"/>
            <a:ext cx="987552" cy="118872"/>
          </a:xfrm>
          <a:prstGeom prst="rect">
            <a:avLst/>
          </a:prstGeom>
          <a:noFill/>
        </p:spPr>
        <p:txBody>
          <a:bodyPr wrap="none" lIns="0" tIns="0" rIns="0" bIns="0" anchor="t">
            <a:spAutoFit/>
          </a:bodyPr>
          <a:lstStyle/>
          <a:p>
            <a:pPr algn="l"/>
            <a:r>
              <a:rPr sz="600" b="0">
                <a:solidFill>
                  <a:srgbClr val="0D1B2A"/>
                </a:solidFill>
                <a:latin typeface="JetBrains Mono"/>
              </a:rPr>
              <a:t>2. Schedule follow-up</a:t>
            </a:r>
          </a:p>
        </p:txBody>
      </p:sp>
      <p:sp>
        <p:nvSpPr>
          <p:cNvPr id="51" name="TextBox 50"/>
          <p:cNvSpPr txBox="1"/>
          <p:nvPr/>
        </p:nvSpPr>
        <p:spPr>
          <a:xfrm>
            <a:off x="5422391" y="3396996"/>
            <a:ext cx="987552" cy="118872"/>
          </a:xfrm>
          <a:prstGeom prst="rect">
            <a:avLst/>
          </a:prstGeom>
          <a:noFill/>
        </p:spPr>
        <p:txBody>
          <a:bodyPr wrap="none" lIns="0" tIns="0" rIns="0" bIns="0" anchor="t">
            <a:spAutoFit/>
          </a:bodyPr>
          <a:lstStyle/>
          <a:p>
            <a:pPr algn="l"/>
            <a:r>
              <a:rPr sz="600" b="0">
                <a:solidFill>
                  <a:srgbClr val="0D1B2A"/>
                </a:solidFill>
                <a:latin typeface="JetBrains Mono"/>
              </a:rPr>
              <a:t>3. …</a:t>
            </a:r>
          </a:p>
        </p:txBody>
      </p:sp>
      <p:sp>
        <p:nvSpPr>
          <p:cNvPr id="52" name="Rounded Rectangle 51"/>
          <p:cNvSpPr/>
          <p:nvPr/>
        </p:nvSpPr>
        <p:spPr>
          <a:xfrm>
            <a:off x="6821423" y="2980944"/>
            <a:ext cx="1581912" cy="201168"/>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00">
                <a:solidFill>
                  <a:srgbClr val="1B9AAA"/>
                </a:solidFill>
                <a:latin typeface="JetBrains Mono"/>
              </a:rPr>
              <a:t>draft_email …</a:t>
            </a:r>
          </a:p>
        </p:txBody>
      </p:sp>
      <p:sp>
        <p:nvSpPr>
          <p:cNvPr id="53" name="TextBox 52"/>
          <p:cNvSpPr txBox="1"/>
          <p:nvPr/>
        </p:nvSpPr>
        <p:spPr>
          <a:xfrm>
            <a:off x="6821423" y="3214116"/>
            <a:ext cx="1581912" cy="109728"/>
          </a:xfrm>
          <a:prstGeom prst="rect">
            <a:avLst/>
          </a:prstGeom>
          <a:noFill/>
        </p:spPr>
        <p:txBody>
          <a:bodyPr wrap="square" lIns="0" tIns="0" rIns="0" bIns="0" anchor="t">
            <a:spAutoFit/>
          </a:bodyPr>
          <a:lstStyle/>
          <a:p>
            <a:pPr algn="ctr"/>
            <a:r>
              <a:rPr sz="700" b="0">
                <a:solidFill>
                  <a:srgbClr val="6B7B8C"/>
                </a:solidFill>
                <a:latin typeface="Roboto"/>
              </a:rPr>
              <a:t>or</a:t>
            </a:r>
          </a:p>
        </p:txBody>
      </p:sp>
      <p:sp>
        <p:nvSpPr>
          <p:cNvPr id="54" name="Rounded Rectangle 53"/>
          <p:cNvSpPr/>
          <p:nvPr/>
        </p:nvSpPr>
        <p:spPr>
          <a:xfrm>
            <a:off x="6821423" y="3355848"/>
            <a:ext cx="1581912" cy="201168"/>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750" dirty="0">
                <a:solidFill>
                  <a:srgbClr val="0D1B2A"/>
                </a:solidFill>
                <a:latin typeface="Roboto"/>
              </a:rPr>
              <a:t>“</a:t>
            </a:r>
            <a:r>
              <a:rPr lang="de-DE" sz="750" dirty="0" err="1">
                <a:solidFill>
                  <a:srgbClr val="0D1B2A"/>
                </a:solidFill>
                <a:latin typeface="Roboto"/>
              </a:rPr>
              <a:t>Please</a:t>
            </a:r>
            <a:r>
              <a:rPr lang="de-DE" sz="750" dirty="0">
                <a:solidFill>
                  <a:srgbClr val="0D1B2A"/>
                </a:solidFill>
                <a:latin typeface="Roboto"/>
              </a:rPr>
              <a:t> review the email draft.</a:t>
            </a:r>
            <a:r>
              <a:rPr sz="750" dirty="0">
                <a:solidFill>
                  <a:srgbClr val="0D1B2A"/>
                </a:solidFill>
                <a:latin typeface="Roboto"/>
              </a:rPr>
              <a:t>”</a:t>
            </a:r>
          </a:p>
        </p:txBody>
      </p:sp>
      <p:cxnSp>
        <p:nvCxnSpPr>
          <p:cNvPr id="55" name="Connector 54"/>
          <p:cNvCxnSpPr/>
          <p:nvPr/>
        </p:nvCxnSpPr>
        <p:spPr>
          <a:xfrm>
            <a:off x="7612379" y="4005072"/>
            <a:ext cx="0" cy="164591"/>
          </a:xfrm>
          <a:prstGeom prst="line">
            <a:avLst/>
          </a:prstGeom>
          <a:ln w="15875">
            <a:solidFill>
              <a:srgbClr val="1B9AAA"/>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3643884" y="4169663"/>
            <a:ext cx="3968495" cy="0"/>
          </a:xfrm>
          <a:prstGeom prst="line">
            <a:avLst/>
          </a:prstGeom>
          <a:ln w="15875">
            <a:solidFill>
              <a:srgbClr val="1B9AAA"/>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643884" y="4023359"/>
            <a:ext cx="0" cy="146304"/>
          </a:xfrm>
          <a:prstGeom prst="line">
            <a:avLst/>
          </a:prstGeom>
          <a:ln w="15875">
            <a:solidFill>
              <a:srgbClr val="1B9AA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4485131" y="4078224"/>
            <a:ext cx="228600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530851" y="4096511"/>
            <a:ext cx="2194560" cy="146304"/>
          </a:xfrm>
          <a:prstGeom prst="rect">
            <a:avLst/>
          </a:prstGeom>
          <a:noFill/>
        </p:spPr>
        <p:txBody>
          <a:bodyPr wrap="square" lIns="0" tIns="0" rIns="0" bIns="0" anchor="t">
            <a:spAutoFit/>
          </a:bodyPr>
          <a:lstStyle/>
          <a:p>
            <a:pPr algn="ctr"/>
            <a:r>
              <a:rPr sz="750" b="0" spc="50">
                <a:solidFill>
                  <a:srgbClr val="1B9AAA"/>
                </a:solidFill>
                <a:latin typeface="JetBrains Mono"/>
              </a:rPr>
              <a:t>↻  repeats until done: the agent loop</a:t>
            </a:r>
          </a:p>
        </p:txBody>
      </p:sp>
      <p:sp>
        <p:nvSpPr>
          <p:cNvPr id="60" name="Rectangle 59"/>
          <p:cNvSpPr/>
          <p:nvPr/>
        </p:nvSpPr>
        <p:spPr>
          <a:xfrm>
            <a:off x="566928" y="4608575"/>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13232" y="4590288"/>
            <a:ext cx="7991856" cy="274320"/>
          </a:xfrm>
          <a:prstGeom prst="rect">
            <a:avLst/>
          </a:prstGeom>
          <a:noFill/>
        </p:spPr>
        <p:txBody>
          <a:bodyPr wrap="square" lIns="0" tIns="0" rIns="0" bIns="0" anchor="t">
            <a:spAutoFit/>
          </a:bodyPr>
          <a:lstStyle/>
          <a:p>
            <a:pPr algn="l"/>
            <a:r>
              <a:rPr sz="1200" b="0">
                <a:solidFill>
                  <a:srgbClr val="0D1B2A"/>
                </a:solidFill>
                <a:latin typeface="Roboto"/>
              </a:rPr>
              <a:t>Because the app (runtime) runs every tool, it can check permissions and ask you before anything is sent.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2024 · MCP</a:t>
            </a:r>
          </a:p>
        </p:txBody>
      </p:sp>
      <p:sp>
        <p:nvSpPr>
          <p:cNvPr id="4" name="slide-mcp"/>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MCP: one common plug for every tool</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MCP (Model Context Protocol): an open standard for connecting AI apps to tools and data.</a:t>
            </a:r>
          </a:p>
        </p:txBody>
      </p:sp>
      <p:sp>
        <p:nvSpPr>
          <p:cNvPr id="6" name="Rectangle 5"/>
          <p:cNvSpPr/>
          <p:nvPr/>
        </p:nvSpPr>
        <p:spPr>
          <a:xfrm>
            <a:off x="566928" y="1783080"/>
            <a:ext cx="4005072" cy="22860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783080"/>
            <a:ext cx="54864" cy="2286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92807"/>
            <a:ext cx="3639312" cy="274320"/>
          </a:xfrm>
          <a:prstGeom prst="rect">
            <a:avLst/>
          </a:prstGeom>
          <a:noFill/>
        </p:spPr>
        <p:txBody>
          <a:bodyPr wrap="square" lIns="0" tIns="0" rIns="0" bIns="0" anchor="t">
            <a:spAutoFit/>
          </a:bodyPr>
          <a:lstStyle/>
          <a:p>
            <a:pPr algn="l"/>
            <a:r>
              <a:rPr sz="1400" b="0">
                <a:solidFill>
                  <a:srgbClr val="0D1B2A"/>
                </a:solidFill>
                <a:latin typeface="Oswald"/>
              </a:rPr>
              <a:t>Before: a custom connection for every pair</a:t>
            </a:r>
          </a:p>
        </p:txBody>
      </p:sp>
      <p:sp>
        <p:nvSpPr>
          <p:cNvPr id="9" name="TextBox 8"/>
          <p:cNvSpPr txBox="1"/>
          <p:nvPr/>
        </p:nvSpPr>
        <p:spPr>
          <a:xfrm>
            <a:off x="777240" y="3739896"/>
            <a:ext cx="3639312" cy="228600"/>
          </a:xfrm>
          <a:prstGeom prst="rect">
            <a:avLst/>
          </a:prstGeom>
          <a:noFill/>
        </p:spPr>
        <p:txBody>
          <a:bodyPr wrap="square" lIns="0" tIns="0" rIns="0" bIns="0" anchor="t">
            <a:spAutoFit/>
          </a:bodyPr>
          <a:lstStyle/>
          <a:p>
            <a:pPr algn="l"/>
            <a:r>
              <a:rPr sz="950" b="0">
                <a:solidFill>
                  <a:srgbClr val="6B7B8C"/>
                </a:solidFill>
                <a:latin typeface="Roboto"/>
              </a:rPr>
              <a:t>3 apps × 4 systems = 12 connections, each built and maintained on its own.</a:t>
            </a:r>
          </a:p>
        </p:txBody>
      </p:sp>
      <p:sp>
        <p:nvSpPr>
          <p:cNvPr id="10" name="Rectangle 9"/>
          <p:cNvSpPr/>
          <p:nvPr/>
        </p:nvSpPr>
        <p:spPr>
          <a:xfrm>
            <a:off x="4700016" y="1783080"/>
            <a:ext cx="4005072" cy="2286000"/>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00016" y="1783080"/>
            <a:ext cx="54864" cy="2286000"/>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10328" y="1892807"/>
            <a:ext cx="3639312" cy="274320"/>
          </a:xfrm>
          <a:prstGeom prst="rect">
            <a:avLst/>
          </a:prstGeom>
          <a:noFill/>
        </p:spPr>
        <p:txBody>
          <a:bodyPr wrap="square" lIns="0" tIns="0" rIns="0" bIns="0" anchor="t">
            <a:spAutoFit/>
          </a:bodyPr>
          <a:lstStyle/>
          <a:p>
            <a:pPr algn="l"/>
            <a:r>
              <a:rPr sz="1400" b="0">
                <a:solidFill>
                  <a:srgbClr val="0D1B2A"/>
                </a:solidFill>
                <a:latin typeface="Oswald"/>
              </a:rPr>
              <a:t>With MCP: everyone plugs into one standard</a:t>
            </a:r>
          </a:p>
        </p:txBody>
      </p:sp>
      <p:sp>
        <p:nvSpPr>
          <p:cNvPr id="13" name="TextBox 12"/>
          <p:cNvSpPr txBox="1"/>
          <p:nvPr/>
        </p:nvSpPr>
        <p:spPr>
          <a:xfrm>
            <a:off x="4910328" y="3739896"/>
            <a:ext cx="3639312" cy="228600"/>
          </a:xfrm>
          <a:prstGeom prst="rect">
            <a:avLst/>
          </a:prstGeom>
          <a:noFill/>
        </p:spPr>
        <p:txBody>
          <a:bodyPr wrap="square" lIns="0" tIns="0" rIns="0" bIns="0" anchor="t">
            <a:spAutoFit/>
          </a:bodyPr>
          <a:lstStyle/>
          <a:p>
            <a:pPr algn="l"/>
            <a:r>
              <a:rPr sz="950" b="0">
                <a:solidFill>
                  <a:srgbClr val="6B7B8C"/>
                </a:solidFill>
                <a:latin typeface="Roboto"/>
              </a:rPr>
              <a:t>Each app and each system connects once: 3 + 4 = 7.</a:t>
            </a:r>
          </a:p>
        </p:txBody>
      </p:sp>
      <p:sp>
        <p:nvSpPr>
          <p:cNvPr id="14" name="Rounded Rectangle 13"/>
          <p:cNvSpPr/>
          <p:nvPr/>
        </p:nvSpPr>
        <p:spPr>
          <a:xfrm>
            <a:off x="795528" y="2468880"/>
            <a:ext cx="868680"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FFFFFF"/>
                </a:solidFill>
                <a:latin typeface="JetBrains Mono"/>
              </a:rPr>
              <a:t>AI app 1</a:t>
            </a:r>
          </a:p>
        </p:txBody>
      </p:sp>
      <p:sp>
        <p:nvSpPr>
          <p:cNvPr id="15" name="Rounded Rectangle 14"/>
          <p:cNvSpPr/>
          <p:nvPr/>
        </p:nvSpPr>
        <p:spPr>
          <a:xfrm>
            <a:off x="795528" y="2834640"/>
            <a:ext cx="868680"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FFFFFF"/>
                </a:solidFill>
                <a:latin typeface="JetBrains Mono"/>
              </a:rPr>
              <a:t>AI app 2</a:t>
            </a:r>
          </a:p>
        </p:txBody>
      </p:sp>
      <p:sp>
        <p:nvSpPr>
          <p:cNvPr id="16" name="Rounded Rectangle 15"/>
          <p:cNvSpPr/>
          <p:nvPr/>
        </p:nvSpPr>
        <p:spPr>
          <a:xfrm>
            <a:off x="795528" y="3200400"/>
            <a:ext cx="868680"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FFFFFF"/>
                </a:solidFill>
                <a:latin typeface="JetBrains Mono"/>
              </a:rPr>
              <a:t>AI app 3</a:t>
            </a:r>
          </a:p>
        </p:txBody>
      </p:sp>
      <p:sp>
        <p:nvSpPr>
          <p:cNvPr id="17" name="Rounded Rectangle 16"/>
          <p:cNvSpPr/>
          <p:nvPr/>
        </p:nvSpPr>
        <p:spPr>
          <a:xfrm>
            <a:off x="3429000" y="2286000"/>
            <a:ext cx="91440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Outlook</a:t>
            </a:r>
          </a:p>
        </p:txBody>
      </p:sp>
      <p:sp>
        <p:nvSpPr>
          <p:cNvPr id="18" name="Rounded Rectangle 17"/>
          <p:cNvSpPr/>
          <p:nvPr/>
        </p:nvSpPr>
        <p:spPr>
          <a:xfrm>
            <a:off x="3429000" y="2651760"/>
            <a:ext cx="91440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SharePoint</a:t>
            </a:r>
          </a:p>
        </p:txBody>
      </p:sp>
      <p:sp>
        <p:nvSpPr>
          <p:cNvPr id="19" name="Rounded Rectangle 18"/>
          <p:cNvSpPr/>
          <p:nvPr/>
        </p:nvSpPr>
        <p:spPr>
          <a:xfrm>
            <a:off x="3429000" y="3017520"/>
            <a:ext cx="91440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Database</a:t>
            </a:r>
          </a:p>
        </p:txBody>
      </p:sp>
      <p:sp>
        <p:nvSpPr>
          <p:cNvPr id="20" name="Rounded Rectangle 19"/>
          <p:cNvSpPr/>
          <p:nvPr/>
        </p:nvSpPr>
        <p:spPr>
          <a:xfrm>
            <a:off x="3429000" y="3383280"/>
            <a:ext cx="91440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HR system</a:t>
            </a:r>
          </a:p>
        </p:txBody>
      </p:sp>
      <p:cxnSp>
        <p:nvCxnSpPr>
          <p:cNvPr id="21" name="Connector 20"/>
          <p:cNvCxnSpPr/>
          <p:nvPr/>
        </p:nvCxnSpPr>
        <p:spPr>
          <a:xfrm flipV="1">
            <a:off x="1682495" y="2414016"/>
            <a:ext cx="1728217" cy="18288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682495" y="2596896"/>
            <a:ext cx="1728217" cy="18288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682495" y="2596896"/>
            <a:ext cx="1728217" cy="54864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682495" y="2596896"/>
            <a:ext cx="1728217" cy="91440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682495" y="2414016"/>
            <a:ext cx="1728217" cy="54864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682495" y="2779776"/>
            <a:ext cx="1728217" cy="18288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682495" y="2962656"/>
            <a:ext cx="1728217" cy="18288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682495" y="2962656"/>
            <a:ext cx="1728217" cy="54864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682495" y="2414016"/>
            <a:ext cx="1728217" cy="91440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682495" y="2779776"/>
            <a:ext cx="1728217" cy="54864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682495" y="3145536"/>
            <a:ext cx="1728217" cy="18288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682495" y="3328416"/>
            <a:ext cx="1728217" cy="182880"/>
          </a:xfrm>
          <a:prstGeom prst="line">
            <a:avLst/>
          </a:prstGeom>
          <a:ln w="9525">
            <a:solidFill>
              <a:srgbClr val="6B7B8C"/>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928616" y="2468880"/>
            <a:ext cx="868680"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FFFFFF"/>
                </a:solidFill>
                <a:latin typeface="JetBrains Mono"/>
              </a:rPr>
              <a:t>AI app 1</a:t>
            </a:r>
          </a:p>
        </p:txBody>
      </p:sp>
      <p:sp>
        <p:nvSpPr>
          <p:cNvPr id="34" name="Rounded Rectangle 33"/>
          <p:cNvSpPr/>
          <p:nvPr/>
        </p:nvSpPr>
        <p:spPr>
          <a:xfrm>
            <a:off x="4928616" y="2834640"/>
            <a:ext cx="868680"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FFFFFF"/>
                </a:solidFill>
                <a:latin typeface="JetBrains Mono"/>
              </a:rPr>
              <a:t>AI app 2</a:t>
            </a:r>
          </a:p>
        </p:txBody>
      </p:sp>
      <p:sp>
        <p:nvSpPr>
          <p:cNvPr id="35" name="Rounded Rectangle 34"/>
          <p:cNvSpPr/>
          <p:nvPr/>
        </p:nvSpPr>
        <p:spPr>
          <a:xfrm>
            <a:off x="4928616" y="3200400"/>
            <a:ext cx="868680" cy="256032"/>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FFFFFF"/>
                </a:solidFill>
                <a:latin typeface="JetBrains Mono"/>
              </a:rPr>
              <a:t>AI app 3</a:t>
            </a:r>
          </a:p>
        </p:txBody>
      </p:sp>
      <p:sp>
        <p:nvSpPr>
          <p:cNvPr id="36" name="Rounded Rectangle 35"/>
          <p:cNvSpPr/>
          <p:nvPr/>
        </p:nvSpPr>
        <p:spPr>
          <a:xfrm>
            <a:off x="7562088" y="2286000"/>
            <a:ext cx="91440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Outlook</a:t>
            </a:r>
          </a:p>
        </p:txBody>
      </p:sp>
      <p:sp>
        <p:nvSpPr>
          <p:cNvPr id="37" name="Rounded Rectangle 36"/>
          <p:cNvSpPr/>
          <p:nvPr/>
        </p:nvSpPr>
        <p:spPr>
          <a:xfrm>
            <a:off x="7562088" y="2651760"/>
            <a:ext cx="91440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SharePoint</a:t>
            </a:r>
          </a:p>
        </p:txBody>
      </p:sp>
      <p:sp>
        <p:nvSpPr>
          <p:cNvPr id="38" name="Rounded Rectangle 37"/>
          <p:cNvSpPr/>
          <p:nvPr/>
        </p:nvSpPr>
        <p:spPr>
          <a:xfrm>
            <a:off x="7562088" y="3017520"/>
            <a:ext cx="91440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Database</a:t>
            </a:r>
          </a:p>
        </p:txBody>
      </p:sp>
      <p:sp>
        <p:nvSpPr>
          <p:cNvPr id="39" name="Rounded Rectangle 38"/>
          <p:cNvSpPr/>
          <p:nvPr/>
        </p:nvSpPr>
        <p:spPr>
          <a:xfrm>
            <a:off x="7562088" y="3383280"/>
            <a:ext cx="914400" cy="256032"/>
          </a:xfrm>
          <a:prstGeom prst="roundRect">
            <a:avLst>
              <a:gd name="adj" fmla="val 18000"/>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HR system</a:t>
            </a:r>
          </a:p>
        </p:txBody>
      </p:sp>
      <p:cxnSp>
        <p:nvCxnSpPr>
          <p:cNvPr id="40" name="Connector 39"/>
          <p:cNvCxnSpPr/>
          <p:nvPr/>
        </p:nvCxnSpPr>
        <p:spPr>
          <a:xfrm>
            <a:off x="5815583" y="2596896"/>
            <a:ext cx="438913" cy="265176"/>
          </a:xfrm>
          <a:prstGeom prst="line">
            <a:avLst/>
          </a:prstGeom>
          <a:ln w="15875">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815583" y="2862072"/>
            <a:ext cx="438913" cy="100584"/>
          </a:xfrm>
          <a:prstGeom prst="line">
            <a:avLst/>
          </a:prstGeom>
          <a:ln w="15875">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815583" y="2862072"/>
            <a:ext cx="438913" cy="466344"/>
          </a:xfrm>
          <a:prstGeom prst="line">
            <a:avLst/>
          </a:prstGeom>
          <a:ln w="15875">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6931151" y="2414016"/>
            <a:ext cx="612649" cy="448056"/>
          </a:xfrm>
          <a:prstGeom prst="line">
            <a:avLst/>
          </a:prstGeom>
          <a:ln w="15875">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6931151" y="2779776"/>
            <a:ext cx="612649" cy="82296"/>
          </a:xfrm>
          <a:prstGeom prst="line">
            <a:avLst/>
          </a:prstGeom>
          <a:ln w="15875">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931151" y="2862072"/>
            <a:ext cx="612649" cy="283464"/>
          </a:xfrm>
          <a:prstGeom prst="line">
            <a:avLst/>
          </a:prstGeom>
          <a:ln w="15875">
            <a:solidFill>
              <a:srgbClr val="1B9AA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931151" y="2862072"/>
            <a:ext cx="612649" cy="649224"/>
          </a:xfrm>
          <a:prstGeom prst="line">
            <a:avLst/>
          </a:prstGeom>
          <a:ln w="15875">
            <a:solidFill>
              <a:srgbClr val="1B9AAA"/>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272783" y="2670048"/>
            <a:ext cx="640080" cy="384048"/>
          </a:xfrm>
          <a:prstGeom prst="roundRect">
            <a:avLst>
              <a:gd name="adj" fmla="val 18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a:solidFill>
                  <a:srgbClr val="0D1B2A"/>
                </a:solidFill>
                <a:latin typeface="Oswald"/>
              </a:rPr>
              <a:t>MCP</a:t>
            </a:r>
          </a:p>
        </p:txBody>
      </p:sp>
      <p:sp>
        <p:nvSpPr>
          <p:cNvPr id="48" name="Rectangle 47"/>
          <p:cNvSpPr/>
          <p:nvPr/>
        </p:nvSpPr>
        <p:spPr>
          <a:xfrm>
            <a:off x="566928" y="4160520"/>
            <a:ext cx="8138160" cy="347472"/>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7240" y="4251960"/>
            <a:ext cx="7772400" cy="182880"/>
          </a:xfrm>
          <a:prstGeom prst="rect">
            <a:avLst/>
          </a:prstGeom>
          <a:noFill/>
        </p:spPr>
        <p:txBody>
          <a:bodyPr wrap="none" lIns="0" tIns="0" rIns="0" bIns="0">
            <a:spAutoFit/>
          </a:bodyPr>
          <a:lstStyle/>
          <a:p>
            <a:pPr algn="l"/>
            <a:r>
              <a:rPr sz="950">
                <a:solidFill>
                  <a:srgbClr val="0D1B2A"/>
                </a:solidFill>
                <a:latin typeface="Roboto"/>
              </a:rPr>
              <a:t>Like USB-C: </a:t>
            </a:r>
            <a:r>
              <a:rPr sz="950">
                <a:solidFill>
                  <a:srgbClr val="14293D"/>
                </a:solidFill>
                <a:latin typeface="Roboto"/>
              </a:rPr>
              <a:t>one plug shape, so any device fits any charger.   </a:t>
            </a:r>
            <a:r>
              <a:rPr sz="950">
                <a:solidFill>
                  <a:srgbClr val="6B7B8C"/>
                </a:solidFill>
                <a:latin typeface="Roboto"/>
              </a:rPr>
              <a:t>Published by Anthropic in Nov 2024, adopted by OpenAI, Google and Microsoft in 2025.</a:t>
            </a:r>
          </a:p>
        </p:txBody>
      </p:sp>
      <p:sp>
        <p:nvSpPr>
          <p:cNvPr id="50" name="Rectangle 49"/>
          <p:cNvSpPr/>
          <p:nvPr/>
        </p:nvSpPr>
        <p:spPr>
          <a:xfrm>
            <a:off x="566928" y="4608575"/>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13232" y="4590288"/>
            <a:ext cx="7991856" cy="274320"/>
          </a:xfrm>
          <a:prstGeom prst="rect">
            <a:avLst/>
          </a:prstGeom>
          <a:noFill/>
        </p:spPr>
        <p:txBody>
          <a:bodyPr wrap="square" lIns="0" tIns="0" rIns="0" bIns="0" anchor="t">
            <a:spAutoFit/>
          </a:bodyPr>
          <a:lstStyle/>
          <a:p>
            <a:pPr algn="l"/>
            <a:r>
              <a:rPr sz="1200" b="0">
                <a:solidFill>
                  <a:srgbClr val="0D1B2A"/>
                </a:solidFill>
                <a:latin typeface="Roboto"/>
              </a:rPr>
              <a:t>MCP doesn’t make the model smarter. It makes connecting it to your systems much easier.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MCP · HOW IT WORKS</a:t>
            </a:r>
          </a:p>
        </p:txBody>
      </p:sp>
      <p:sp>
        <p:nvSpPr>
          <p:cNvPr id="4" name="slide-mcp-architecture"/>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Inside MCP: host, client and server</a:t>
            </a:r>
          </a:p>
        </p:txBody>
      </p:sp>
      <p:sp>
        <p:nvSpPr>
          <p:cNvPr id="5" name="Rectangle 4"/>
          <p:cNvSpPr/>
          <p:nvPr/>
        </p:nvSpPr>
        <p:spPr>
          <a:xfrm>
            <a:off x="566928" y="1371600"/>
            <a:ext cx="8138160" cy="148132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463040"/>
            <a:ext cx="1828800" cy="228600"/>
          </a:xfrm>
          <a:prstGeom prst="rect">
            <a:avLst/>
          </a:prstGeom>
          <a:noFill/>
        </p:spPr>
        <p:txBody>
          <a:bodyPr wrap="square" lIns="0" tIns="0" rIns="0" bIns="0" anchor="t">
            <a:spAutoFit/>
          </a:bodyPr>
          <a:lstStyle/>
          <a:p>
            <a:pPr algn="l"/>
            <a:r>
              <a:rPr sz="800" b="0" spc="100">
                <a:solidFill>
                  <a:srgbClr val="6B7B8C"/>
                </a:solidFill>
                <a:latin typeface="JetBrains Mono"/>
              </a:rPr>
              <a:t>HOST</a:t>
            </a:r>
          </a:p>
        </p:txBody>
      </p:sp>
      <p:sp>
        <p:nvSpPr>
          <p:cNvPr id="7" name="TextBox 6"/>
          <p:cNvSpPr txBox="1"/>
          <p:nvPr/>
        </p:nvSpPr>
        <p:spPr>
          <a:xfrm>
            <a:off x="4526280" y="1463040"/>
            <a:ext cx="1828800" cy="228600"/>
          </a:xfrm>
          <a:prstGeom prst="rect">
            <a:avLst/>
          </a:prstGeom>
          <a:noFill/>
        </p:spPr>
        <p:txBody>
          <a:bodyPr wrap="square" lIns="0" tIns="0" rIns="0" bIns="0" anchor="t">
            <a:spAutoFit/>
          </a:bodyPr>
          <a:lstStyle/>
          <a:p>
            <a:pPr algn="l"/>
            <a:r>
              <a:rPr sz="800" b="0" spc="100">
                <a:solidFill>
                  <a:srgbClr val="6B7B8C"/>
                </a:solidFill>
                <a:latin typeface="JetBrains Mono"/>
              </a:rPr>
              <a:t>MCP SERVERS</a:t>
            </a:r>
          </a:p>
        </p:txBody>
      </p:sp>
      <p:sp>
        <p:nvSpPr>
          <p:cNvPr id="8" name="TextBox 7"/>
          <p:cNvSpPr txBox="1"/>
          <p:nvPr/>
        </p:nvSpPr>
        <p:spPr>
          <a:xfrm>
            <a:off x="6903720" y="1463040"/>
            <a:ext cx="1828800" cy="228600"/>
          </a:xfrm>
          <a:prstGeom prst="rect">
            <a:avLst/>
          </a:prstGeom>
          <a:noFill/>
        </p:spPr>
        <p:txBody>
          <a:bodyPr wrap="square" lIns="0" tIns="0" rIns="0" bIns="0" anchor="t">
            <a:spAutoFit/>
          </a:bodyPr>
          <a:lstStyle/>
          <a:p>
            <a:pPr algn="l"/>
            <a:r>
              <a:rPr sz="800" b="0" spc="100">
                <a:solidFill>
                  <a:srgbClr val="6B7B8C"/>
                </a:solidFill>
                <a:latin typeface="JetBrains Mono"/>
              </a:rPr>
              <a:t>YOUR SYSTEMS</a:t>
            </a:r>
          </a:p>
        </p:txBody>
      </p:sp>
      <p:sp>
        <p:nvSpPr>
          <p:cNvPr id="9" name="Rounded Rectangle 8"/>
          <p:cNvSpPr/>
          <p:nvPr/>
        </p:nvSpPr>
        <p:spPr>
          <a:xfrm>
            <a:off x="777240" y="1691640"/>
            <a:ext cx="2971800" cy="1024128"/>
          </a:xfrm>
          <a:prstGeom prst="roundRect">
            <a:avLst>
              <a:gd name="adj" fmla="val 7142"/>
            </a:avLst>
          </a:prstGeom>
          <a:solidFill>
            <a:srgbClr val="F4F7F8"/>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746504"/>
            <a:ext cx="1371600" cy="201168"/>
          </a:xfrm>
          <a:prstGeom prst="rect">
            <a:avLst/>
          </a:prstGeom>
          <a:noFill/>
        </p:spPr>
        <p:txBody>
          <a:bodyPr wrap="square" lIns="0" tIns="0" rIns="0" bIns="0" anchor="t">
            <a:spAutoFit/>
          </a:bodyPr>
          <a:lstStyle/>
          <a:p>
            <a:pPr algn="l"/>
            <a:r>
              <a:rPr sz="1100" b="0">
                <a:solidFill>
                  <a:srgbClr val="0D1B2A"/>
                </a:solidFill>
                <a:latin typeface="Oswald"/>
              </a:rPr>
              <a:t>The AI app</a:t>
            </a:r>
          </a:p>
        </p:txBody>
      </p:sp>
      <p:sp>
        <p:nvSpPr>
          <p:cNvPr id="11" name="Rounded Rectangle 10"/>
          <p:cNvSpPr/>
          <p:nvPr/>
        </p:nvSpPr>
        <p:spPr>
          <a:xfrm>
            <a:off x="914400" y="2148840"/>
            <a:ext cx="566928" cy="274320"/>
          </a:xfrm>
          <a:prstGeom prst="roundRect">
            <a:avLst>
              <a:gd name="adj" fmla="val 1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LLM</a:t>
            </a:r>
          </a:p>
        </p:txBody>
      </p:sp>
      <p:cxnSp>
        <p:nvCxnSpPr>
          <p:cNvPr id="12" name="Connector 11"/>
          <p:cNvCxnSpPr/>
          <p:nvPr/>
        </p:nvCxnSpPr>
        <p:spPr>
          <a:xfrm flipV="1">
            <a:off x="1499616" y="2002536"/>
            <a:ext cx="859536" cy="283464"/>
          </a:xfrm>
          <a:prstGeom prst="line">
            <a:avLst/>
          </a:prstGeom>
          <a:ln w="12700">
            <a:solidFill>
              <a:srgbClr val="DDE5E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377440" y="1874519"/>
            <a:ext cx="118872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de-DE" sz="850" dirty="0">
                <a:solidFill>
                  <a:srgbClr val="0D1B2A"/>
                </a:solidFill>
                <a:latin typeface="JetBrains Mono"/>
              </a:rPr>
              <a:t>MCP </a:t>
            </a:r>
            <a:r>
              <a:rPr sz="850" dirty="0">
                <a:solidFill>
                  <a:srgbClr val="0D1B2A"/>
                </a:solidFill>
                <a:latin typeface="JetBrains Mono"/>
              </a:rPr>
              <a:t>Client 1</a:t>
            </a:r>
          </a:p>
        </p:txBody>
      </p:sp>
      <p:cxnSp>
        <p:nvCxnSpPr>
          <p:cNvPr id="14" name="Connector 13"/>
          <p:cNvCxnSpPr/>
          <p:nvPr/>
        </p:nvCxnSpPr>
        <p:spPr>
          <a:xfrm>
            <a:off x="3584448" y="2002536"/>
            <a:ext cx="923544" cy="0"/>
          </a:xfrm>
          <a:prstGeom prst="line">
            <a:avLst/>
          </a:prstGeom>
          <a:ln w="15875">
            <a:solidFill>
              <a:srgbClr val="1B9AA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840480" y="1801367"/>
            <a:ext cx="457200" cy="128016"/>
          </a:xfrm>
          <a:prstGeom prst="rect">
            <a:avLst/>
          </a:prstGeom>
          <a:noFill/>
        </p:spPr>
        <p:txBody>
          <a:bodyPr wrap="square" lIns="0" tIns="0" rIns="0" bIns="0" anchor="t">
            <a:spAutoFit/>
          </a:bodyPr>
          <a:lstStyle/>
          <a:p>
            <a:pPr algn="ctr"/>
            <a:r>
              <a:rPr sz="700" b="0">
                <a:solidFill>
                  <a:srgbClr val="1B9AAA"/>
                </a:solidFill>
                <a:latin typeface="JetBrains Mono"/>
              </a:rPr>
              <a:t>MCP</a:t>
            </a:r>
          </a:p>
        </p:txBody>
      </p:sp>
      <p:sp>
        <p:nvSpPr>
          <p:cNvPr id="16" name="TextBox 15"/>
          <p:cNvSpPr txBox="1"/>
          <p:nvPr/>
        </p:nvSpPr>
        <p:spPr>
          <a:xfrm>
            <a:off x="4526280" y="1719073"/>
            <a:ext cx="2023607" cy="100027"/>
          </a:xfrm>
          <a:prstGeom prst="rect">
            <a:avLst/>
          </a:prstGeom>
          <a:noFill/>
        </p:spPr>
        <p:txBody>
          <a:bodyPr wrap="square" lIns="0" tIns="0" rIns="0" bIns="0" anchor="t">
            <a:spAutoFit/>
          </a:bodyPr>
          <a:lstStyle/>
          <a:p>
            <a:pPr algn="l"/>
            <a:r>
              <a:rPr sz="650" b="0" spc="100" dirty="0">
                <a:solidFill>
                  <a:srgbClr val="1B9AAA"/>
                </a:solidFill>
                <a:latin typeface="JetBrains Mono"/>
              </a:rPr>
              <a:t>RUNS </a:t>
            </a:r>
            <a:r>
              <a:rPr lang="de-DE" sz="650" b="0" spc="100" dirty="0">
                <a:solidFill>
                  <a:srgbClr val="1B9AAA"/>
                </a:solidFill>
                <a:latin typeface="JetBrains Mono"/>
              </a:rPr>
              <a:t>ON YOUR COMPUTER OR </a:t>
            </a:r>
            <a:r>
              <a:rPr sz="650" b="0" spc="100" dirty="0">
                <a:solidFill>
                  <a:srgbClr val="1B9AAA"/>
                </a:solidFill>
                <a:latin typeface="JetBrains Mono"/>
              </a:rPr>
              <a:t>IN THE CLOUD</a:t>
            </a:r>
          </a:p>
        </p:txBody>
      </p:sp>
      <p:sp>
        <p:nvSpPr>
          <p:cNvPr id="17" name="Rounded Rectangle 16"/>
          <p:cNvSpPr/>
          <p:nvPr/>
        </p:nvSpPr>
        <p:spPr>
          <a:xfrm>
            <a:off x="4526280" y="1874519"/>
            <a:ext cx="1874519" cy="256032"/>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MCP server: Outlook</a:t>
            </a:r>
          </a:p>
        </p:txBody>
      </p:sp>
      <p:cxnSp>
        <p:nvCxnSpPr>
          <p:cNvPr id="18" name="Connector 17"/>
          <p:cNvCxnSpPr/>
          <p:nvPr/>
        </p:nvCxnSpPr>
        <p:spPr>
          <a:xfrm>
            <a:off x="6419088" y="2002536"/>
            <a:ext cx="466344" cy="0"/>
          </a:xfrm>
          <a:prstGeom prst="line">
            <a:avLst/>
          </a:prstGeom>
          <a:ln w="12700">
            <a:solidFill>
              <a:srgbClr val="DDE5E9"/>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903720" y="1874519"/>
            <a:ext cx="1554480" cy="256032"/>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Mailbox &amp; calendar</a:t>
            </a:r>
          </a:p>
        </p:txBody>
      </p:sp>
      <p:cxnSp>
        <p:nvCxnSpPr>
          <p:cNvPr id="20" name="Connector 19"/>
          <p:cNvCxnSpPr/>
          <p:nvPr/>
        </p:nvCxnSpPr>
        <p:spPr>
          <a:xfrm>
            <a:off x="1499616" y="2286000"/>
            <a:ext cx="859536" cy="192024"/>
          </a:xfrm>
          <a:prstGeom prst="line">
            <a:avLst/>
          </a:prstGeom>
          <a:ln w="12700">
            <a:solidFill>
              <a:srgbClr val="DDE5E9"/>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377440" y="2350008"/>
            <a:ext cx="1188720" cy="256032"/>
          </a:xfrm>
          <a:prstGeom prst="roundRect">
            <a:avLst>
              <a:gd name="adj" fmla="val 18000"/>
            </a:avLst>
          </a:prstGeom>
          <a:solidFill>
            <a:srgbClr val="D4ECE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de-DE" sz="850" dirty="0">
                <a:solidFill>
                  <a:srgbClr val="0D1B2A"/>
                </a:solidFill>
                <a:latin typeface="JetBrains Mono"/>
              </a:rPr>
              <a:t>MCP </a:t>
            </a:r>
            <a:r>
              <a:rPr sz="850" dirty="0">
                <a:solidFill>
                  <a:srgbClr val="0D1B2A"/>
                </a:solidFill>
                <a:latin typeface="JetBrains Mono"/>
              </a:rPr>
              <a:t>Client 2</a:t>
            </a:r>
          </a:p>
        </p:txBody>
      </p:sp>
      <p:cxnSp>
        <p:nvCxnSpPr>
          <p:cNvPr id="22" name="Connector 21"/>
          <p:cNvCxnSpPr/>
          <p:nvPr/>
        </p:nvCxnSpPr>
        <p:spPr>
          <a:xfrm>
            <a:off x="3584448" y="2478024"/>
            <a:ext cx="923544" cy="0"/>
          </a:xfrm>
          <a:prstGeom prst="line">
            <a:avLst/>
          </a:prstGeom>
          <a:ln w="15875">
            <a:solidFill>
              <a:srgbClr val="1B9AA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840480" y="2276856"/>
            <a:ext cx="457200" cy="128016"/>
          </a:xfrm>
          <a:prstGeom prst="rect">
            <a:avLst/>
          </a:prstGeom>
          <a:noFill/>
        </p:spPr>
        <p:txBody>
          <a:bodyPr wrap="square" lIns="0" tIns="0" rIns="0" bIns="0" anchor="t">
            <a:spAutoFit/>
          </a:bodyPr>
          <a:lstStyle/>
          <a:p>
            <a:pPr algn="ctr"/>
            <a:r>
              <a:rPr sz="700" b="0">
                <a:solidFill>
                  <a:srgbClr val="1B9AAA"/>
                </a:solidFill>
                <a:latin typeface="JetBrains Mono"/>
              </a:rPr>
              <a:t>MCP</a:t>
            </a:r>
          </a:p>
        </p:txBody>
      </p:sp>
      <p:sp>
        <p:nvSpPr>
          <p:cNvPr id="24" name="TextBox 23"/>
          <p:cNvSpPr txBox="1"/>
          <p:nvPr/>
        </p:nvSpPr>
        <p:spPr>
          <a:xfrm>
            <a:off x="4526280" y="2194560"/>
            <a:ext cx="1874519" cy="228600"/>
          </a:xfrm>
          <a:prstGeom prst="rect">
            <a:avLst/>
          </a:prstGeom>
          <a:noFill/>
        </p:spPr>
        <p:txBody>
          <a:bodyPr wrap="square" lIns="0" tIns="0" rIns="0" bIns="0" anchor="t">
            <a:spAutoFit/>
          </a:bodyPr>
          <a:lstStyle/>
          <a:p>
            <a:pPr algn="l"/>
            <a:r>
              <a:rPr sz="650" b="0" spc="100">
                <a:solidFill>
                  <a:srgbClr val="1B9AAA"/>
                </a:solidFill>
                <a:latin typeface="JetBrains Mono"/>
              </a:rPr>
              <a:t>RUNS ON YOUR COMPUTER</a:t>
            </a:r>
          </a:p>
        </p:txBody>
      </p:sp>
      <p:sp>
        <p:nvSpPr>
          <p:cNvPr id="25" name="Rounded Rectangle 24"/>
          <p:cNvSpPr/>
          <p:nvPr/>
        </p:nvSpPr>
        <p:spPr>
          <a:xfrm>
            <a:off x="4526280" y="2350008"/>
            <a:ext cx="1874519" cy="256032"/>
          </a:xfrm>
          <a:prstGeom prst="roundRect">
            <a:avLst>
              <a:gd name="adj" fmla="val 18000"/>
            </a:avLst>
          </a:prstGeom>
          <a:solidFill>
            <a:srgbClr val="FFFFFF"/>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dirty="0">
                <a:solidFill>
                  <a:srgbClr val="0D1B2A"/>
                </a:solidFill>
                <a:latin typeface="Roboto"/>
              </a:rPr>
              <a:t>MCP server: Files</a:t>
            </a:r>
          </a:p>
        </p:txBody>
      </p:sp>
      <p:cxnSp>
        <p:nvCxnSpPr>
          <p:cNvPr id="26" name="Connector 25"/>
          <p:cNvCxnSpPr/>
          <p:nvPr/>
        </p:nvCxnSpPr>
        <p:spPr>
          <a:xfrm>
            <a:off x="6419088" y="2478024"/>
            <a:ext cx="466344" cy="0"/>
          </a:xfrm>
          <a:prstGeom prst="line">
            <a:avLst/>
          </a:prstGeom>
          <a:ln w="12700">
            <a:solidFill>
              <a:srgbClr val="DDE5E9"/>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903720" y="2350008"/>
            <a:ext cx="1554480" cy="256032"/>
          </a:xfrm>
          <a:prstGeom prst="roundRect">
            <a:avLst>
              <a:gd name="adj" fmla="val 18000"/>
            </a:avLst>
          </a:prstGeom>
          <a:solidFill>
            <a:srgbClr val="F4F7F8"/>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Files on your laptop</a:t>
            </a:r>
          </a:p>
        </p:txBody>
      </p:sp>
      <p:sp>
        <p:nvSpPr>
          <p:cNvPr id="28" name="Rectangle 27"/>
          <p:cNvSpPr/>
          <p:nvPr/>
        </p:nvSpPr>
        <p:spPr>
          <a:xfrm>
            <a:off x="566928" y="2944368"/>
            <a:ext cx="2627376" cy="1591056"/>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66928" y="2944368"/>
            <a:ext cx="54864" cy="1591056"/>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3035808"/>
            <a:ext cx="2261616" cy="256032"/>
          </a:xfrm>
          <a:prstGeom prst="rect">
            <a:avLst/>
          </a:prstGeom>
          <a:noFill/>
        </p:spPr>
        <p:txBody>
          <a:bodyPr wrap="square" lIns="0" tIns="0" rIns="0" bIns="0" anchor="t">
            <a:spAutoFit/>
          </a:bodyPr>
          <a:lstStyle/>
          <a:p>
            <a:pPr algn="l"/>
            <a:r>
              <a:rPr sz="1400" b="0">
                <a:solidFill>
                  <a:srgbClr val="0D1B2A"/>
                </a:solidFill>
                <a:latin typeface="Oswald"/>
              </a:rPr>
              <a:t>Host</a:t>
            </a:r>
          </a:p>
        </p:txBody>
      </p:sp>
      <p:sp>
        <p:nvSpPr>
          <p:cNvPr id="31" name="TextBox 30"/>
          <p:cNvSpPr txBox="1"/>
          <p:nvPr/>
        </p:nvSpPr>
        <p:spPr>
          <a:xfrm>
            <a:off x="777240" y="3328416"/>
            <a:ext cx="2261616" cy="685800"/>
          </a:xfrm>
          <a:prstGeom prst="rect">
            <a:avLst/>
          </a:prstGeom>
          <a:noFill/>
        </p:spPr>
        <p:txBody>
          <a:bodyPr wrap="square" lIns="0" tIns="0" rIns="0" bIns="0" anchor="t">
            <a:spAutoFit/>
          </a:bodyPr>
          <a:lstStyle/>
          <a:p>
            <a:pPr algn="l"/>
            <a:r>
              <a:rPr sz="950" b="0">
                <a:solidFill>
                  <a:srgbClr val="6B7B8C"/>
                </a:solidFill>
                <a:latin typeface="Roboto"/>
              </a:rPr>
              <a:t>The AI app you work with, e.g. a chat assistant or an agent. It holds the model, asks you for permission and hands each tool call to the right client.</a:t>
            </a:r>
          </a:p>
        </p:txBody>
      </p:sp>
      <p:sp>
        <p:nvSpPr>
          <p:cNvPr id="32" name="Rectangle 31"/>
          <p:cNvSpPr/>
          <p:nvPr/>
        </p:nvSpPr>
        <p:spPr>
          <a:xfrm>
            <a:off x="3322320" y="2944368"/>
            <a:ext cx="2627376" cy="1591056"/>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322320" y="2944368"/>
            <a:ext cx="54864" cy="15910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532632" y="3035808"/>
            <a:ext cx="2261616" cy="256032"/>
          </a:xfrm>
          <a:prstGeom prst="rect">
            <a:avLst/>
          </a:prstGeom>
          <a:noFill/>
        </p:spPr>
        <p:txBody>
          <a:bodyPr wrap="square" lIns="0" tIns="0" rIns="0" bIns="0" anchor="t">
            <a:spAutoFit/>
          </a:bodyPr>
          <a:lstStyle/>
          <a:p>
            <a:pPr algn="l"/>
            <a:r>
              <a:rPr sz="1400" b="0">
                <a:solidFill>
                  <a:srgbClr val="0D1B2A"/>
                </a:solidFill>
                <a:latin typeface="Oswald"/>
              </a:rPr>
              <a:t>Client</a:t>
            </a:r>
          </a:p>
        </p:txBody>
      </p:sp>
      <p:sp>
        <p:nvSpPr>
          <p:cNvPr id="35" name="TextBox 34"/>
          <p:cNvSpPr txBox="1"/>
          <p:nvPr/>
        </p:nvSpPr>
        <p:spPr>
          <a:xfrm>
            <a:off x="3532632" y="3328416"/>
            <a:ext cx="2261616" cy="685800"/>
          </a:xfrm>
          <a:prstGeom prst="rect">
            <a:avLst/>
          </a:prstGeom>
          <a:noFill/>
        </p:spPr>
        <p:txBody>
          <a:bodyPr wrap="square" lIns="0" tIns="0" rIns="0" bIns="0" anchor="t">
            <a:spAutoFit/>
          </a:bodyPr>
          <a:lstStyle/>
          <a:p>
            <a:pPr algn="l"/>
            <a:r>
              <a:rPr sz="950" b="0">
                <a:solidFill>
                  <a:srgbClr val="6B7B8C"/>
                </a:solidFill>
                <a:latin typeface="Roboto"/>
              </a:rPr>
              <a:t>The go-between, one per server. It:</a:t>
            </a:r>
          </a:p>
        </p:txBody>
      </p:sp>
      <p:sp>
        <p:nvSpPr>
          <p:cNvPr id="36" name="Rectangle 35"/>
          <p:cNvSpPr/>
          <p:nvPr/>
        </p:nvSpPr>
        <p:spPr>
          <a:xfrm>
            <a:off x="6077712" y="2944368"/>
            <a:ext cx="2627376" cy="1591056"/>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077712" y="2944368"/>
            <a:ext cx="54864" cy="1591056"/>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88024" y="3035808"/>
            <a:ext cx="2261616" cy="256032"/>
          </a:xfrm>
          <a:prstGeom prst="rect">
            <a:avLst/>
          </a:prstGeom>
          <a:noFill/>
        </p:spPr>
        <p:txBody>
          <a:bodyPr wrap="square" lIns="0" tIns="0" rIns="0" bIns="0" anchor="t">
            <a:spAutoFit/>
          </a:bodyPr>
          <a:lstStyle/>
          <a:p>
            <a:pPr algn="l"/>
            <a:r>
              <a:rPr sz="1400" b="0">
                <a:solidFill>
                  <a:srgbClr val="0D1B2A"/>
                </a:solidFill>
                <a:latin typeface="Oswald"/>
              </a:rPr>
              <a:t>Server</a:t>
            </a:r>
          </a:p>
        </p:txBody>
      </p:sp>
      <p:sp>
        <p:nvSpPr>
          <p:cNvPr id="39" name="TextBox 38"/>
          <p:cNvSpPr txBox="1"/>
          <p:nvPr/>
        </p:nvSpPr>
        <p:spPr>
          <a:xfrm>
            <a:off x="6288024" y="3328416"/>
            <a:ext cx="2261616" cy="685800"/>
          </a:xfrm>
          <a:prstGeom prst="rect">
            <a:avLst/>
          </a:prstGeom>
          <a:noFill/>
        </p:spPr>
        <p:txBody>
          <a:bodyPr wrap="square" lIns="0" tIns="0" rIns="0" bIns="0" anchor="t">
            <a:spAutoFit/>
          </a:bodyPr>
          <a:lstStyle/>
          <a:p>
            <a:pPr algn="l"/>
            <a:r>
              <a:rPr sz="950" b="0">
                <a:solidFill>
                  <a:srgbClr val="6B7B8C"/>
                </a:solidFill>
                <a:latin typeface="Roboto"/>
              </a:rPr>
              <a:t>Opens up one system to AI and offers:</a:t>
            </a:r>
          </a:p>
        </p:txBody>
      </p:sp>
      <p:sp>
        <p:nvSpPr>
          <p:cNvPr id="40" name="TextBox 39"/>
          <p:cNvSpPr txBox="1"/>
          <p:nvPr/>
        </p:nvSpPr>
        <p:spPr>
          <a:xfrm>
            <a:off x="3532632" y="3529584"/>
            <a:ext cx="2261616" cy="146304"/>
          </a:xfrm>
          <a:prstGeom prst="rect">
            <a:avLst/>
          </a:prstGeom>
          <a:noFill/>
        </p:spPr>
        <p:txBody>
          <a:bodyPr wrap="none" lIns="0" tIns="0" rIns="0" bIns="0">
            <a:spAutoFit/>
          </a:bodyPr>
          <a:lstStyle/>
          <a:p>
            <a:pPr algn="l"/>
            <a:r>
              <a:rPr sz="850">
                <a:solidFill>
                  <a:srgbClr val="14293D"/>
                </a:solidFill>
                <a:latin typeface="Roboto"/>
              </a:rPr>
              <a:t>·  connects to its server</a:t>
            </a:r>
          </a:p>
        </p:txBody>
      </p:sp>
      <p:sp>
        <p:nvSpPr>
          <p:cNvPr id="41" name="TextBox 40"/>
          <p:cNvSpPr txBox="1"/>
          <p:nvPr/>
        </p:nvSpPr>
        <p:spPr>
          <a:xfrm>
            <a:off x="3532632" y="3685032"/>
            <a:ext cx="2261616" cy="146304"/>
          </a:xfrm>
          <a:prstGeom prst="rect">
            <a:avLst/>
          </a:prstGeom>
          <a:noFill/>
        </p:spPr>
        <p:txBody>
          <a:bodyPr wrap="none" lIns="0" tIns="0" rIns="0" bIns="0">
            <a:spAutoFit/>
          </a:bodyPr>
          <a:lstStyle/>
          <a:p>
            <a:pPr algn="l"/>
            <a:r>
              <a:rPr sz="850">
                <a:solidFill>
                  <a:srgbClr val="14293D"/>
                </a:solidFill>
                <a:latin typeface="Roboto"/>
              </a:rPr>
              <a:t>·  asks what the server offers</a:t>
            </a:r>
          </a:p>
        </p:txBody>
      </p:sp>
      <p:sp>
        <p:nvSpPr>
          <p:cNvPr id="42" name="TextBox 41"/>
          <p:cNvSpPr txBox="1"/>
          <p:nvPr/>
        </p:nvSpPr>
        <p:spPr>
          <a:xfrm>
            <a:off x="3532632" y="3840480"/>
            <a:ext cx="2261616" cy="146304"/>
          </a:xfrm>
          <a:prstGeom prst="rect">
            <a:avLst/>
          </a:prstGeom>
          <a:noFill/>
        </p:spPr>
        <p:txBody>
          <a:bodyPr wrap="none" lIns="0" tIns="0" rIns="0" bIns="0">
            <a:spAutoFit/>
          </a:bodyPr>
          <a:lstStyle/>
          <a:p>
            <a:pPr algn="l"/>
            <a:r>
              <a:rPr sz="850">
                <a:solidFill>
                  <a:srgbClr val="14293D"/>
                </a:solidFill>
                <a:latin typeface="Roboto"/>
              </a:rPr>
              <a:t>·  forwards tool calls and results</a:t>
            </a:r>
          </a:p>
        </p:txBody>
      </p:sp>
      <p:sp>
        <p:nvSpPr>
          <p:cNvPr id="43" name="TextBox 42"/>
          <p:cNvSpPr txBox="1"/>
          <p:nvPr/>
        </p:nvSpPr>
        <p:spPr>
          <a:xfrm>
            <a:off x="3532632" y="3995928"/>
            <a:ext cx="2261616" cy="146304"/>
          </a:xfrm>
          <a:prstGeom prst="rect">
            <a:avLst/>
          </a:prstGeom>
          <a:noFill/>
        </p:spPr>
        <p:txBody>
          <a:bodyPr wrap="none" lIns="0" tIns="0" rIns="0" bIns="0">
            <a:spAutoFit/>
          </a:bodyPr>
          <a:lstStyle/>
          <a:p>
            <a:pPr algn="l"/>
            <a:r>
              <a:rPr sz="850">
                <a:solidFill>
                  <a:srgbClr val="14293D"/>
                </a:solidFill>
                <a:latin typeface="Roboto"/>
              </a:rPr>
              <a:t>·  keeps the line running</a:t>
            </a:r>
          </a:p>
        </p:txBody>
      </p:sp>
      <p:sp>
        <p:nvSpPr>
          <p:cNvPr id="44" name="TextBox 43"/>
          <p:cNvSpPr txBox="1"/>
          <p:nvPr/>
        </p:nvSpPr>
        <p:spPr>
          <a:xfrm>
            <a:off x="3532632" y="4187952"/>
            <a:ext cx="2261616" cy="182880"/>
          </a:xfrm>
          <a:prstGeom prst="rect">
            <a:avLst/>
          </a:prstGeom>
          <a:noFill/>
        </p:spPr>
        <p:txBody>
          <a:bodyPr wrap="square" lIns="0" tIns="0" rIns="0" bIns="0" anchor="t">
            <a:spAutoFit/>
          </a:bodyPr>
          <a:lstStyle/>
          <a:p>
            <a:pPr algn="l"/>
            <a:r>
              <a:rPr sz="850" b="0">
                <a:solidFill>
                  <a:srgbClr val="6B7B8C"/>
                </a:solidFill>
                <a:latin typeface="Roboto"/>
              </a:rPr>
              <a:t>It decides nothing and runs no tool itself.</a:t>
            </a:r>
          </a:p>
        </p:txBody>
      </p:sp>
      <p:sp>
        <p:nvSpPr>
          <p:cNvPr id="45" name="TextBox 44"/>
          <p:cNvSpPr txBox="1"/>
          <p:nvPr/>
        </p:nvSpPr>
        <p:spPr>
          <a:xfrm>
            <a:off x="6288024" y="3529584"/>
            <a:ext cx="2261616" cy="146304"/>
          </a:xfrm>
          <a:prstGeom prst="rect">
            <a:avLst/>
          </a:prstGeom>
          <a:noFill/>
        </p:spPr>
        <p:txBody>
          <a:bodyPr wrap="none" lIns="0" tIns="0" rIns="0" bIns="0">
            <a:spAutoFit/>
          </a:bodyPr>
          <a:lstStyle/>
          <a:p>
            <a:pPr algn="l"/>
            <a:r>
              <a:rPr sz="850">
                <a:solidFill>
                  <a:srgbClr val="1B9AAA"/>
                </a:solidFill>
                <a:latin typeface="Roboto"/>
              </a:rPr>
              <a:t>Tools</a:t>
            </a:r>
            <a:r>
              <a:rPr sz="850">
                <a:solidFill>
                  <a:srgbClr val="14293D"/>
                </a:solidFill>
                <a:latin typeface="Roboto"/>
              </a:rPr>
              <a:t>  actions</a:t>
            </a:r>
          </a:p>
        </p:txBody>
      </p:sp>
      <p:sp>
        <p:nvSpPr>
          <p:cNvPr id="46" name="TextBox 45"/>
          <p:cNvSpPr txBox="1"/>
          <p:nvPr/>
        </p:nvSpPr>
        <p:spPr>
          <a:xfrm>
            <a:off x="6288024" y="3685032"/>
            <a:ext cx="2261616" cy="146304"/>
          </a:xfrm>
          <a:prstGeom prst="rect">
            <a:avLst/>
          </a:prstGeom>
          <a:noFill/>
        </p:spPr>
        <p:txBody>
          <a:bodyPr wrap="none" lIns="0" tIns="0" rIns="0" bIns="0">
            <a:spAutoFit/>
          </a:bodyPr>
          <a:lstStyle/>
          <a:p>
            <a:pPr algn="l"/>
            <a:r>
              <a:rPr sz="850">
                <a:solidFill>
                  <a:srgbClr val="1B9AAA"/>
                </a:solidFill>
                <a:latin typeface="Roboto"/>
              </a:rPr>
              <a:t>Resources</a:t>
            </a:r>
            <a:r>
              <a:rPr sz="850">
                <a:solidFill>
                  <a:srgbClr val="14293D"/>
                </a:solidFill>
                <a:latin typeface="Roboto"/>
              </a:rPr>
              <a:t>  data to read</a:t>
            </a:r>
          </a:p>
        </p:txBody>
      </p:sp>
      <p:sp>
        <p:nvSpPr>
          <p:cNvPr id="47" name="TextBox 46"/>
          <p:cNvSpPr txBox="1"/>
          <p:nvPr/>
        </p:nvSpPr>
        <p:spPr>
          <a:xfrm>
            <a:off x="6288024" y="3840480"/>
            <a:ext cx="2261616" cy="146304"/>
          </a:xfrm>
          <a:prstGeom prst="rect">
            <a:avLst/>
          </a:prstGeom>
          <a:noFill/>
        </p:spPr>
        <p:txBody>
          <a:bodyPr wrap="none" lIns="0" tIns="0" rIns="0" bIns="0">
            <a:spAutoFit/>
          </a:bodyPr>
          <a:lstStyle/>
          <a:p>
            <a:pPr algn="l"/>
            <a:r>
              <a:rPr sz="850">
                <a:solidFill>
                  <a:srgbClr val="1B9AAA"/>
                </a:solidFill>
                <a:latin typeface="Roboto"/>
              </a:rPr>
              <a:t>Prompts</a:t>
            </a:r>
            <a:r>
              <a:rPr sz="850">
                <a:solidFill>
                  <a:srgbClr val="14293D"/>
                </a:solidFill>
                <a:latin typeface="Roboto"/>
              </a:rPr>
              <a:t>  ready-made instructions</a:t>
            </a:r>
          </a:p>
        </p:txBody>
      </p:sp>
      <p:sp>
        <p:nvSpPr>
          <p:cNvPr id="48" name="TextBox 47"/>
          <p:cNvSpPr txBox="1"/>
          <p:nvPr/>
        </p:nvSpPr>
        <p:spPr>
          <a:xfrm>
            <a:off x="6288024" y="4005072"/>
            <a:ext cx="1371600" cy="228600"/>
          </a:xfrm>
          <a:prstGeom prst="rect">
            <a:avLst/>
          </a:prstGeom>
          <a:noFill/>
        </p:spPr>
        <p:txBody>
          <a:bodyPr wrap="square" lIns="0" tIns="0" rIns="0" bIns="0" anchor="t">
            <a:spAutoFit/>
          </a:bodyPr>
          <a:lstStyle/>
          <a:p>
            <a:pPr algn="l"/>
            <a:r>
              <a:rPr sz="750" b="0" spc="100">
                <a:solidFill>
                  <a:srgbClr val="6B7B8C"/>
                </a:solidFill>
                <a:latin typeface="JetBrains Mono"/>
              </a:rPr>
              <a:t>RUNS EITHER</a:t>
            </a:r>
          </a:p>
        </p:txBody>
      </p:sp>
      <p:sp>
        <p:nvSpPr>
          <p:cNvPr id="49" name="TextBox 48"/>
          <p:cNvSpPr txBox="1"/>
          <p:nvPr/>
        </p:nvSpPr>
        <p:spPr>
          <a:xfrm>
            <a:off x="6288024" y="4151376"/>
            <a:ext cx="2261616" cy="146304"/>
          </a:xfrm>
          <a:prstGeom prst="rect">
            <a:avLst/>
          </a:prstGeom>
          <a:noFill/>
        </p:spPr>
        <p:txBody>
          <a:bodyPr wrap="none" lIns="0" tIns="0" rIns="0" bIns="0">
            <a:spAutoFit/>
          </a:bodyPr>
          <a:lstStyle/>
          <a:p>
            <a:pPr algn="l"/>
            <a:r>
              <a:rPr sz="850">
                <a:solidFill>
                  <a:srgbClr val="1B9AAA"/>
                </a:solidFill>
                <a:latin typeface="Roboto"/>
              </a:rPr>
              <a:t>On your computer</a:t>
            </a:r>
            <a:r>
              <a:rPr sz="850">
                <a:solidFill>
                  <a:srgbClr val="14293D"/>
                </a:solidFill>
                <a:latin typeface="Roboto"/>
              </a:rPr>
              <a:t>  a small local program</a:t>
            </a:r>
          </a:p>
        </p:txBody>
      </p:sp>
      <p:sp>
        <p:nvSpPr>
          <p:cNvPr id="50" name="TextBox 49"/>
          <p:cNvSpPr txBox="1"/>
          <p:nvPr/>
        </p:nvSpPr>
        <p:spPr>
          <a:xfrm>
            <a:off x="6288024" y="4297680"/>
            <a:ext cx="2261616" cy="146304"/>
          </a:xfrm>
          <a:prstGeom prst="rect">
            <a:avLst/>
          </a:prstGeom>
          <a:noFill/>
        </p:spPr>
        <p:txBody>
          <a:bodyPr wrap="none" lIns="0" tIns="0" rIns="0" bIns="0">
            <a:spAutoFit/>
          </a:bodyPr>
          <a:lstStyle/>
          <a:p>
            <a:pPr algn="l"/>
            <a:r>
              <a:rPr sz="850">
                <a:solidFill>
                  <a:srgbClr val="1B9AAA"/>
                </a:solidFill>
                <a:latin typeface="Roboto"/>
              </a:rPr>
              <a:t>In the cloud</a:t>
            </a:r>
            <a:r>
              <a:rPr sz="850">
                <a:solidFill>
                  <a:srgbClr val="14293D"/>
                </a:solidFill>
                <a:latin typeface="Roboto"/>
              </a:rPr>
              <a:t>  a service, e.g. run by IT</a:t>
            </a:r>
          </a:p>
        </p:txBody>
      </p:sp>
      <p:sp>
        <p:nvSpPr>
          <p:cNvPr id="51" name="Rectangle 50"/>
          <p:cNvSpPr/>
          <p:nvPr/>
        </p:nvSpPr>
        <p:spPr>
          <a:xfrm>
            <a:off x="566928" y="4608575"/>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13232" y="4590288"/>
            <a:ext cx="7991856" cy="274320"/>
          </a:xfrm>
          <a:prstGeom prst="rect">
            <a:avLst/>
          </a:prstGeom>
          <a:noFill/>
        </p:spPr>
        <p:txBody>
          <a:bodyPr wrap="square" lIns="0" tIns="0" rIns="0" bIns="0" anchor="t">
            <a:spAutoFit/>
          </a:bodyPr>
          <a:lstStyle/>
          <a:p>
            <a:pPr algn="l"/>
            <a:r>
              <a:rPr sz="1200" b="0">
                <a:solidFill>
                  <a:srgbClr val="0D1B2A"/>
                </a:solidFill>
                <a:latin typeface="Roboto"/>
              </a:rPr>
              <a:t>Build an MCP server for a system once, and every MCP-compatible AI app can use it.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PART 5 · PUTTING IT TOGETHER</a:t>
            </a:r>
          </a:p>
        </p:txBody>
      </p:sp>
      <p:sp>
        <p:nvSpPr>
          <p:cNvPr id="4" name="slide-agent-stack"/>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How the pieces fit together</a:t>
            </a:r>
          </a:p>
        </p:txBody>
      </p:sp>
      <p:sp>
        <p:nvSpPr>
          <p:cNvPr id="5" name="Rectangle 4"/>
          <p:cNvSpPr/>
          <p:nvPr/>
        </p:nvSpPr>
        <p:spPr>
          <a:xfrm>
            <a:off x="566928" y="1408176"/>
            <a:ext cx="8138160" cy="566928"/>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408176"/>
            <a:ext cx="54864" cy="566928"/>
          </a:xfrm>
          <a:prstGeom prst="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472184"/>
            <a:ext cx="1920240" cy="292608"/>
          </a:xfrm>
          <a:prstGeom prst="rect">
            <a:avLst/>
          </a:prstGeom>
          <a:noFill/>
        </p:spPr>
        <p:txBody>
          <a:bodyPr wrap="square" lIns="0" tIns="0" rIns="0" bIns="0" anchor="t">
            <a:spAutoFit/>
          </a:bodyPr>
          <a:lstStyle/>
          <a:p>
            <a:pPr algn="l"/>
            <a:r>
              <a:rPr sz="1700" b="0">
                <a:solidFill>
                  <a:srgbClr val="FFFFFF"/>
                </a:solidFill>
                <a:latin typeface="Oswald"/>
              </a:rPr>
              <a:t>Runtime</a:t>
            </a:r>
          </a:p>
        </p:txBody>
      </p:sp>
      <p:sp>
        <p:nvSpPr>
          <p:cNvPr id="8" name="TextBox 7"/>
          <p:cNvSpPr txBox="1"/>
          <p:nvPr/>
        </p:nvSpPr>
        <p:spPr>
          <a:xfrm>
            <a:off x="795528" y="1773936"/>
            <a:ext cx="1828800" cy="228600"/>
          </a:xfrm>
          <a:prstGeom prst="rect">
            <a:avLst/>
          </a:prstGeom>
          <a:noFill/>
        </p:spPr>
        <p:txBody>
          <a:bodyPr wrap="square" lIns="0" tIns="0" rIns="0" bIns="0" anchor="t">
            <a:spAutoFit/>
          </a:bodyPr>
          <a:lstStyle/>
          <a:p>
            <a:pPr algn="l"/>
            <a:r>
              <a:rPr sz="750" b="0" spc="100">
                <a:solidFill>
                  <a:srgbClr val="06D6A0"/>
                </a:solidFill>
                <a:latin typeface="JetBrains Mono"/>
              </a:rPr>
              <a:t>THE AGENT LOOP</a:t>
            </a:r>
          </a:p>
        </p:txBody>
      </p:sp>
      <p:sp>
        <p:nvSpPr>
          <p:cNvPr id="9" name="TextBox 8"/>
          <p:cNvSpPr txBox="1"/>
          <p:nvPr/>
        </p:nvSpPr>
        <p:spPr>
          <a:xfrm>
            <a:off x="2606040" y="1408176"/>
            <a:ext cx="3977639" cy="566928"/>
          </a:xfrm>
          <a:prstGeom prst="rect">
            <a:avLst/>
          </a:prstGeom>
          <a:noFill/>
        </p:spPr>
        <p:txBody>
          <a:bodyPr wrap="square" lIns="0" tIns="0" rIns="0" bIns="0" anchor="ctr">
            <a:spAutoFit/>
          </a:bodyPr>
          <a:lstStyle/>
          <a:p>
            <a:pPr algn="l"/>
            <a:r>
              <a:rPr sz="1050" b="0">
                <a:solidFill>
                  <a:srgbClr val="AFC2CE"/>
                </a:solidFill>
                <a:latin typeface="Roboto"/>
              </a:rPr>
              <a:t>Follows the instructions: plans, uses tools, checks the result and repeats until the goal is reached.</a:t>
            </a:r>
          </a:p>
        </p:txBody>
      </p:sp>
      <p:sp>
        <p:nvSpPr>
          <p:cNvPr id="10" name="Rounded Rectangle 9"/>
          <p:cNvSpPr/>
          <p:nvPr/>
        </p:nvSpPr>
        <p:spPr>
          <a:xfrm>
            <a:off x="6720840" y="1563624"/>
            <a:ext cx="1783080" cy="256032"/>
          </a:xfrm>
          <a:prstGeom prst="roundRect">
            <a:avLst>
              <a:gd name="adj" fmla="val 18000"/>
            </a:avLst>
          </a:prstGeom>
          <a:solidFill>
            <a:srgbClr val="14293D"/>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6D6A0"/>
                </a:solidFill>
                <a:latin typeface="Roboto"/>
              </a:rPr>
              <a:t>Multi-step tasks</a:t>
            </a:r>
          </a:p>
        </p:txBody>
      </p:sp>
      <p:sp>
        <p:nvSpPr>
          <p:cNvPr id="11" name="Rectangle 10"/>
          <p:cNvSpPr/>
          <p:nvPr/>
        </p:nvSpPr>
        <p:spPr>
          <a:xfrm>
            <a:off x="566928" y="2066543"/>
            <a:ext cx="8138160" cy="56692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66928" y="2066543"/>
            <a:ext cx="54864" cy="56692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5528" y="2130551"/>
            <a:ext cx="1920240" cy="292608"/>
          </a:xfrm>
          <a:prstGeom prst="rect">
            <a:avLst/>
          </a:prstGeom>
          <a:noFill/>
        </p:spPr>
        <p:txBody>
          <a:bodyPr wrap="square" lIns="0" tIns="0" rIns="0" bIns="0" anchor="t">
            <a:spAutoFit/>
          </a:bodyPr>
          <a:lstStyle/>
          <a:p>
            <a:pPr algn="l"/>
            <a:r>
              <a:rPr sz="1700" b="0">
                <a:solidFill>
                  <a:srgbClr val="0D1B2A"/>
                </a:solidFill>
                <a:latin typeface="Oswald"/>
              </a:rPr>
              <a:t>Tools</a:t>
            </a:r>
          </a:p>
        </p:txBody>
      </p:sp>
      <p:sp>
        <p:nvSpPr>
          <p:cNvPr id="14" name="TextBox 13"/>
          <p:cNvSpPr txBox="1"/>
          <p:nvPr/>
        </p:nvSpPr>
        <p:spPr>
          <a:xfrm>
            <a:off x="795528" y="2432303"/>
            <a:ext cx="1828800" cy="228600"/>
          </a:xfrm>
          <a:prstGeom prst="rect">
            <a:avLst/>
          </a:prstGeom>
          <a:noFill/>
        </p:spPr>
        <p:txBody>
          <a:bodyPr wrap="square" lIns="0" tIns="0" rIns="0" bIns="0" anchor="t">
            <a:spAutoFit/>
          </a:bodyPr>
          <a:lstStyle/>
          <a:p>
            <a:pPr algn="l"/>
            <a:r>
              <a:rPr sz="750" b="0" spc="100">
                <a:solidFill>
                  <a:srgbClr val="1B9AAA"/>
                </a:solidFill>
                <a:latin typeface="JetBrains Mono"/>
              </a:rPr>
              <a:t>RAG &amp; TOOL USE</a:t>
            </a:r>
          </a:p>
        </p:txBody>
      </p:sp>
      <p:sp>
        <p:nvSpPr>
          <p:cNvPr id="15" name="TextBox 14"/>
          <p:cNvSpPr txBox="1"/>
          <p:nvPr/>
        </p:nvSpPr>
        <p:spPr>
          <a:xfrm>
            <a:off x="2606040" y="2066543"/>
            <a:ext cx="3977639" cy="566928"/>
          </a:xfrm>
          <a:prstGeom prst="rect">
            <a:avLst/>
          </a:prstGeom>
          <a:noFill/>
        </p:spPr>
        <p:txBody>
          <a:bodyPr wrap="square" lIns="0" tIns="0" rIns="0" bIns="0" anchor="ctr">
            <a:spAutoFit/>
          </a:bodyPr>
          <a:lstStyle/>
          <a:p>
            <a:pPr algn="l"/>
            <a:r>
              <a:rPr sz="1050" b="0">
                <a:solidFill>
                  <a:srgbClr val="6B7B8C"/>
                </a:solidFill>
                <a:latin typeface="Roboto"/>
              </a:rPr>
              <a:t>The eyes and hands: read your documents, act in your systems.</a:t>
            </a:r>
          </a:p>
        </p:txBody>
      </p:sp>
      <p:sp>
        <p:nvSpPr>
          <p:cNvPr id="16" name="Rounded Rectangle 15"/>
          <p:cNvSpPr/>
          <p:nvPr/>
        </p:nvSpPr>
        <p:spPr>
          <a:xfrm>
            <a:off x="6720840" y="2221991"/>
            <a:ext cx="1783080"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Knowledge · actions</a:t>
            </a:r>
          </a:p>
        </p:txBody>
      </p:sp>
      <p:sp>
        <p:nvSpPr>
          <p:cNvPr id="17" name="Rectangle 16"/>
          <p:cNvSpPr/>
          <p:nvPr/>
        </p:nvSpPr>
        <p:spPr>
          <a:xfrm>
            <a:off x="566928" y="2724912"/>
            <a:ext cx="8138160" cy="56692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66928" y="2724912"/>
            <a:ext cx="54864" cy="566928"/>
          </a:xfrm>
          <a:prstGeom prst="rect">
            <a:avLst/>
          </a:prstGeom>
          <a:solidFill>
            <a:srgbClr val="6B7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5528" y="2788920"/>
            <a:ext cx="1920240" cy="292608"/>
          </a:xfrm>
          <a:prstGeom prst="rect">
            <a:avLst/>
          </a:prstGeom>
          <a:noFill/>
        </p:spPr>
        <p:txBody>
          <a:bodyPr wrap="square" lIns="0" tIns="0" rIns="0" bIns="0" anchor="t">
            <a:spAutoFit/>
          </a:bodyPr>
          <a:lstStyle/>
          <a:p>
            <a:pPr algn="l"/>
            <a:r>
              <a:rPr sz="1700" b="0">
                <a:solidFill>
                  <a:srgbClr val="0D1B2A"/>
                </a:solidFill>
                <a:latin typeface="Oswald"/>
              </a:rPr>
              <a:t>MCP</a:t>
            </a:r>
          </a:p>
        </p:txBody>
      </p:sp>
      <p:sp>
        <p:nvSpPr>
          <p:cNvPr id="20" name="TextBox 19"/>
          <p:cNvSpPr txBox="1"/>
          <p:nvPr/>
        </p:nvSpPr>
        <p:spPr>
          <a:xfrm>
            <a:off x="795528" y="3090672"/>
            <a:ext cx="1828800" cy="228600"/>
          </a:xfrm>
          <a:prstGeom prst="rect">
            <a:avLst/>
          </a:prstGeom>
          <a:noFill/>
        </p:spPr>
        <p:txBody>
          <a:bodyPr wrap="square" lIns="0" tIns="0" rIns="0" bIns="0" anchor="t">
            <a:spAutoFit/>
          </a:bodyPr>
          <a:lstStyle/>
          <a:p>
            <a:pPr algn="l"/>
            <a:r>
              <a:rPr sz="750" b="0" spc="100">
                <a:solidFill>
                  <a:srgbClr val="1B9AAA"/>
                </a:solidFill>
                <a:latin typeface="JetBrains Mono"/>
              </a:rPr>
              <a:t>THE COMMON PLUG</a:t>
            </a:r>
          </a:p>
        </p:txBody>
      </p:sp>
      <p:sp>
        <p:nvSpPr>
          <p:cNvPr id="21" name="TextBox 20"/>
          <p:cNvSpPr txBox="1"/>
          <p:nvPr/>
        </p:nvSpPr>
        <p:spPr>
          <a:xfrm>
            <a:off x="2606040" y="2724912"/>
            <a:ext cx="3977639" cy="566928"/>
          </a:xfrm>
          <a:prstGeom prst="rect">
            <a:avLst/>
          </a:prstGeom>
          <a:noFill/>
        </p:spPr>
        <p:txBody>
          <a:bodyPr wrap="square" lIns="0" tIns="0" rIns="0" bIns="0" anchor="ctr">
            <a:spAutoFit/>
          </a:bodyPr>
          <a:lstStyle/>
          <a:p>
            <a:pPr algn="l"/>
            <a:r>
              <a:rPr sz="1050" b="0">
                <a:solidFill>
                  <a:srgbClr val="6B7B8C"/>
                </a:solidFill>
                <a:latin typeface="Roboto"/>
              </a:rPr>
              <a:t>Connects the tools to the app in one standard way.</a:t>
            </a:r>
          </a:p>
        </p:txBody>
      </p:sp>
      <p:sp>
        <p:nvSpPr>
          <p:cNvPr id="22" name="Rounded Rectangle 21"/>
          <p:cNvSpPr/>
          <p:nvPr/>
        </p:nvSpPr>
        <p:spPr>
          <a:xfrm>
            <a:off x="6720840" y="2880360"/>
            <a:ext cx="1783080"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One standard connection</a:t>
            </a:r>
          </a:p>
        </p:txBody>
      </p:sp>
      <p:sp>
        <p:nvSpPr>
          <p:cNvPr id="23" name="Rectangle 22"/>
          <p:cNvSpPr/>
          <p:nvPr/>
        </p:nvSpPr>
        <p:spPr>
          <a:xfrm>
            <a:off x="566928" y="3383280"/>
            <a:ext cx="8138160" cy="566928"/>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66928" y="3383280"/>
            <a:ext cx="54864" cy="566928"/>
          </a:xfrm>
          <a:prstGeom prst="rect">
            <a:avLst/>
          </a:prstGeom>
          <a:solidFill>
            <a:srgbClr val="8F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5528" y="3447288"/>
            <a:ext cx="1920240" cy="292608"/>
          </a:xfrm>
          <a:prstGeom prst="rect">
            <a:avLst/>
          </a:prstGeom>
          <a:noFill/>
        </p:spPr>
        <p:txBody>
          <a:bodyPr wrap="square" lIns="0" tIns="0" rIns="0" bIns="0" anchor="t">
            <a:spAutoFit/>
          </a:bodyPr>
          <a:lstStyle/>
          <a:p>
            <a:pPr algn="l"/>
            <a:r>
              <a:rPr sz="1700" b="0">
                <a:solidFill>
                  <a:srgbClr val="0D1B2A"/>
                </a:solidFill>
                <a:latin typeface="Oswald"/>
              </a:rPr>
              <a:t>Model</a:t>
            </a:r>
          </a:p>
        </p:txBody>
      </p:sp>
      <p:sp>
        <p:nvSpPr>
          <p:cNvPr id="26" name="TextBox 25"/>
          <p:cNvSpPr txBox="1"/>
          <p:nvPr/>
        </p:nvSpPr>
        <p:spPr>
          <a:xfrm>
            <a:off x="795528" y="3749040"/>
            <a:ext cx="1828800" cy="228600"/>
          </a:xfrm>
          <a:prstGeom prst="rect">
            <a:avLst/>
          </a:prstGeom>
          <a:noFill/>
        </p:spPr>
        <p:txBody>
          <a:bodyPr wrap="square" lIns="0" tIns="0" rIns="0" bIns="0" anchor="t">
            <a:spAutoFit/>
          </a:bodyPr>
          <a:lstStyle/>
          <a:p>
            <a:pPr algn="l"/>
            <a:r>
              <a:rPr sz="750" b="0" spc="100">
                <a:solidFill>
                  <a:srgbClr val="1B9AAA"/>
                </a:solidFill>
                <a:latin typeface="JetBrains Mono"/>
              </a:rPr>
              <a:t>THE LLM</a:t>
            </a:r>
          </a:p>
        </p:txBody>
      </p:sp>
      <p:sp>
        <p:nvSpPr>
          <p:cNvPr id="27" name="TextBox 26"/>
          <p:cNvSpPr txBox="1"/>
          <p:nvPr/>
        </p:nvSpPr>
        <p:spPr>
          <a:xfrm>
            <a:off x="2606040" y="3383280"/>
            <a:ext cx="3977639" cy="566928"/>
          </a:xfrm>
          <a:prstGeom prst="rect">
            <a:avLst/>
          </a:prstGeom>
          <a:noFill/>
        </p:spPr>
        <p:txBody>
          <a:bodyPr wrap="square" lIns="0" tIns="0" rIns="0" bIns="0" anchor="ctr">
            <a:spAutoFit/>
          </a:bodyPr>
          <a:lstStyle/>
          <a:p>
            <a:pPr algn="l"/>
            <a:r>
              <a:rPr sz="1050" b="0">
                <a:solidFill>
                  <a:srgbClr val="6B7B8C"/>
                </a:solidFill>
                <a:latin typeface="Roboto"/>
              </a:rPr>
              <a:t>The base: understands your request and writes text, including tool calls.</a:t>
            </a:r>
          </a:p>
        </p:txBody>
      </p:sp>
      <p:sp>
        <p:nvSpPr>
          <p:cNvPr id="28" name="Rounded Rectangle 27"/>
          <p:cNvSpPr/>
          <p:nvPr/>
        </p:nvSpPr>
        <p:spPr>
          <a:xfrm>
            <a:off x="6720840" y="3538728"/>
            <a:ext cx="1783080" cy="256032"/>
          </a:xfrm>
          <a:prstGeom prst="roundRect">
            <a:avLst>
              <a:gd name="adj" fmla="val 18000"/>
            </a:avLst>
          </a:prstGeom>
          <a:solidFill>
            <a:srgbClr val="CFF5E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a:solidFill>
                  <a:srgbClr val="0D1B2A"/>
                </a:solidFill>
                <a:latin typeface="Roboto"/>
              </a:rPr>
              <a:t>Next-token prediction</a:t>
            </a:r>
          </a:p>
        </p:txBody>
      </p:sp>
      <p:sp>
        <p:nvSpPr>
          <p:cNvPr id="29" name="Rectangle 28"/>
          <p:cNvSpPr/>
          <p:nvPr/>
        </p:nvSpPr>
        <p:spPr>
          <a:xfrm>
            <a:off x="566928" y="4233672"/>
            <a:ext cx="45720" cy="21945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4215384"/>
            <a:ext cx="7991856" cy="274320"/>
          </a:xfrm>
          <a:prstGeom prst="rect">
            <a:avLst/>
          </a:prstGeom>
          <a:noFill/>
        </p:spPr>
        <p:txBody>
          <a:bodyPr wrap="square" lIns="0" tIns="0" rIns="0" bIns="0" anchor="t">
            <a:spAutoFit/>
          </a:bodyPr>
          <a:lstStyle/>
          <a:p>
            <a:pPr algn="l"/>
            <a:r>
              <a:rPr sz="1200" b="0">
                <a:solidFill>
                  <a:srgbClr val="0D1B2A"/>
                </a:solidFill>
                <a:latin typeface="Roboto"/>
              </a:rPr>
              <a:t>The model is the same next-token predictor as before. Everything built around it makes it an agent.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5852160" y="1280160"/>
            <a:ext cx="2834639" cy="2834639"/>
          </a:xfrm>
          <a:prstGeom prst="ellipse">
            <a:avLst/>
          </a:prstGeom>
          <a:solidFill>
            <a:srgbClr val="06D6A0">
              <a:alpha val="0"/>
            </a:srgbClr>
          </a:solidFill>
          <a:ln w="9525">
            <a:solidFill>
              <a:srgbClr val="06D6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172200" y="1600200"/>
            <a:ext cx="2194560" cy="2194560"/>
          </a:xfrm>
          <a:prstGeom prst="ellipse">
            <a:avLst/>
          </a:prstGeom>
          <a:solidFill>
            <a:srgbClr val="1B9AAA">
              <a:alpha val="18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46520" y="2514600"/>
            <a:ext cx="1645920" cy="274320"/>
          </a:xfrm>
          <a:prstGeom prst="rect">
            <a:avLst/>
          </a:prstGeom>
          <a:noFill/>
        </p:spPr>
        <p:txBody>
          <a:bodyPr wrap="square" lIns="0" tIns="0" rIns="0" bIns="0" anchor="t">
            <a:spAutoFit/>
          </a:bodyPr>
          <a:lstStyle/>
          <a:p>
            <a:pPr algn="ctr"/>
            <a:r>
              <a:rPr sz="1500" b="0">
                <a:solidFill>
                  <a:srgbClr val="FFFFFF"/>
                </a:solidFill>
                <a:latin typeface="Oswald"/>
              </a:rPr>
              <a:t>The agent loop</a:t>
            </a:r>
          </a:p>
        </p:txBody>
      </p:sp>
      <p:sp>
        <p:nvSpPr>
          <p:cNvPr id="5" name="TextBox 4"/>
          <p:cNvSpPr txBox="1"/>
          <p:nvPr/>
        </p:nvSpPr>
        <p:spPr>
          <a:xfrm>
            <a:off x="6446520" y="2788920"/>
            <a:ext cx="1645920" cy="182880"/>
          </a:xfrm>
          <a:prstGeom prst="rect">
            <a:avLst/>
          </a:prstGeom>
          <a:noFill/>
        </p:spPr>
        <p:txBody>
          <a:bodyPr wrap="square" lIns="0" tIns="0" rIns="0" bIns="0" anchor="t">
            <a:spAutoFit/>
          </a:bodyPr>
          <a:lstStyle/>
          <a:p>
            <a:pPr algn="ctr"/>
            <a:r>
              <a:rPr sz="800" b="0">
                <a:solidFill>
                  <a:srgbClr val="8FA6B2"/>
                </a:solidFill>
                <a:latin typeface="JetBrains Mono"/>
              </a:rPr>
              <a:t>runs on its own</a:t>
            </a:r>
          </a:p>
        </p:txBody>
      </p:sp>
      <p:sp>
        <p:nvSpPr>
          <p:cNvPr id="6" name="Rounded Rectangle 5"/>
          <p:cNvSpPr/>
          <p:nvPr/>
        </p:nvSpPr>
        <p:spPr>
          <a:xfrm>
            <a:off x="6949440" y="1472184"/>
            <a:ext cx="640080" cy="256032"/>
          </a:xfrm>
          <a:prstGeom prst="roundRect">
            <a:avLst>
              <a:gd name="adj" fmla="val 18000"/>
            </a:avLst>
          </a:prstGeom>
          <a:solidFill>
            <a:srgbClr val="14293D"/>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Plan</a:t>
            </a:r>
          </a:p>
        </p:txBody>
      </p:sp>
      <p:sp>
        <p:nvSpPr>
          <p:cNvPr id="7" name="Rounded Rectangle 6"/>
          <p:cNvSpPr/>
          <p:nvPr/>
        </p:nvSpPr>
        <p:spPr>
          <a:xfrm>
            <a:off x="7899712" y="3118103"/>
            <a:ext cx="640080" cy="256032"/>
          </a:xfrm>
          <a:prstGeom prst="roundRect">
            <a:avLst>
              <a:gd name="adj" fmla="val 18000"/>
            </a:avLst>
          </a:prstGeom>
          <a:solidFill>
            <a:srgbClr val="14293D"/>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Act</a:t>
            </a:r>
          </a:p>
        </p:txBody>
      </p:sp>
      <p:sp>
        <p:nvSpPr>
          <p:cNvPr id="8" name="Rounded Rectangle 7"/>
          <p:cNvSpPr/>
          <p:nvPr/>
        </p:nvSpPr>
        <p:spPr>
          <a:xfrm>
            <a:off x="5999167" y="3118103"/>
            <a:ext cx="640080" cy="256032"/>
          </a:xfrm>
          <a:prstGeom prst="roundRect">
            <a:avLst>
              <a:gd name="adj" fmla="val 18000"/>
            </a:avLst>
          </a:prstGeom>
          <a:solidFill>
            <a:srgbClr val="14293D"/>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00">
                <a:solidFill>
                  <a:srgbClr val="FFFFFF"/>
                </a:solidFill>
                <a:latin typeface="JetBrains Mono"/>
              </a:rPr>
              <a:t>Check</a:t>
            </a:r>
          </a:p>
        </p:txBody>
      </p:sp>
      <p:sp>
        <p:nvSpPr>
          <p:cNvPr id="9" name="TextBox 8"/>
          <p:cNvSpPr txBox="1"/>
          <p:nvPr/>
        </p:nvSpPr>
        <p:spPr>
          <a:xfrm>
            <a:off x="7772400" y="4178808"/>
            <a:ext cx="1097280" cy="182880"/>
          </a:xfrm>
          <a:prstGeom prst="rect">
            <a:avLst/>
          </a:prstGeom>
          <a:noFill/>
        </p:spPr>
        <p:txBody>
          <a:bodyPr wrap="square" lIns="0" tIns="0" rIns="0" bIns="0" anchor="t">
            <a:spAutoFit/>
          </a:bodyPr>
          <a:lstStyle/>
          <a:p>
            <a:pPr algn="l"/>
            <a:r>
              <a:rPr sz="800" b="0" spc="100">
                <a:solidFill>
                  <a:srgbClr val="06D6A0"/>
                </a:solidFill>
                <a:latin typeface="JetBrains Mono"/>
              </a:rPr>
              <a:t>guardrails</a:t>
            </a:r>
          </a:p>
        </p:txBody>
      </p:sp>
      <p:sp>
        <p:nvSpPr>
          <p:cNvPr id="10" name="TextBox 9"/>
          <p:cNvSpPr txBox="1"/>
          <p:nvPr/>
        </p:nvSpPr>
        <p:spPr>
          <a:xfrm>
            <a:off x="731520" y="777240"/>
            <a:ext cx="4114800" cy="274320"/>
          </a:xfrm>
          <a:prstGeom prst="rect">
            <a:avLst/>
          </a:prstGeom>
          <a:noFill/>
        </p:spPr>
        <p:txBody>
          <a:bodyPr wrap="square" lIns="0" tIns="0" rIns="0" bIns="0" anchor="t">
            <a:spAutoFit/>
          </a:bodyPr>
          <a:lstStyle/>
          <a:p>
            <a:pPr algn="l"/>
            <a:r>
              <a:rPr sz="1100" b="0" spc="300">
                <a:solidFill>
                  <a:srgbClr val="06D6A0"/>
                </a:solidFill>
                <a:latin typeface="JetBrains Mono"/>
              </a:rPr>
              <a:t>PART 5 · THE HARD PART</a:t>
            </a:r>
          </a:p>
        </p:txBody>
      </p:sp>
      <p:sp>
        <p:nvSpPr>
          <p:cNvPr id="11" name="slide-hard-part"/>
          <p:cNvSpPr txBox="1"/>
          <p:nvPr/>
        </p:nvSpPr>
        <p:spPr>
          <a:xfrm>
            <a:off x="731520" y="1051560"/>
            <a:ext cx="5212080" cy="1097280"/>
          </a:xfrm>
          <a:prstGeom prst="rect">
            <a:avLst/>
          </a:prstGeom>
          <a:noFill/>
        </p:spPr>
        <p:txBody>
          <a:bodyPr wrap="square" lIns="0" tIns="0" rIns="0" bIns="0" anchor="t">
            <a:spAutoFit/>
          </a:bodyPr>
          <a:lstStyle/>
          <a:p>
            <a:pPr algn="l"/>
            <a:r>
              <a:rPr sz="3000" b="0">
                <a:solidFill>
                  <a:srgbClr val="FFFFFF"/>
                </a:solidFill>
                <a:latin typeface="Oswald"/>
              </a:rPr>
              <a:t>Connecting a tool is easy.</a:t>
            </a:r>
          </a:p>
          <a:p>
            <a:pPr algn="l"/>
            <a:r>
              <a:rPr sz="3000" b="0">
                <a:solidFill>
                  <a:srgbClr val="FFFFFF"/>
                </a:solidFill>
                <a:latin typeface="Oswald"/>
              </a:rPr>
              <a:t>Keeping the loop in check is not.</a:t>
            </a:r>
          </a:p>
        </p:txBody>
      </p:sp>
      <p:sp>
        <p:nvSpPr>
          <p:cNvPr id="12" name="TextBox 11"/>
          <p:cNvSpPr txBox="1"/>
          <p:nvPr/>
        </p:nvSpPr>
        <p:spPr>
          <a:xfrm>
            <a:off x="731520" y="2286000"/>
            <a:ext cx="4754880" cy="274320"/>
          </a:xfrm>
          <a:prstGeom prst="rect">
            <a:avLst/>
          </a:prstGeom>
          <a:noFill/>
        </p:spPr>
        <p:txBody>
          <a:bodyPr wrap="square" lIns="0" tIns="0" rIns="0" bIns="0" anchor="t">
            <a:spAutoFit/>
          </a:bodyPr>
          <a:lstStyle/>
          <a:p>
            <a:pPr algn="l"/>
            <a:r>
              <a:rPr sz="1300" b="0">
                <a:solidFill>
                  <a:srgbClr val="AFC2CE"/>
                </a:solidFill>
                <a:latin typeface="Roboto"/>
              </a:rPr>
              <a:t>An agent acts on its own, so it needs guardrails:</a:t>
            </a:r>
          </a:p>
        </p:txBody>
      </p:sp>
      <p:sp>
        <p:nvSpPr>
          <p:cNvPr id="13" name="Rounded Rectangle 12"/>
          <p:cNvSpPr/>
          <p:nvPr/>
        </p:nvSpPr>
        <p:spPr>
          <a:xfrm>
            <a:off x="731520" y="2670048"/>
            <a:ext cx="2286000" cy="310896"/>
          </a:xfrm>
          <a:prstGeom prst="roundRect">
            <a:avLst>
              <a:gd name="adj" fmla="val 18000"/>
            </a:avLst>
          </a:prstGeom>
          <a:solidFill>
            <a:srgbClr val="14293D"/>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Roboto"/>
              </a:rPr>
              <a:t>Knows when to stop</a:t>
            </a:r>
          </a:p>
        </p:txBody>
      </p:sp>
      <p:sp>
        <p:nvSpPr>
          <p:cNvPr id="14" name="Rounded Rectangle 13"/>
          <p:cNvSpPr/>
          <p:nvPr/>
        </p:nvSpPr>
        <p:spPr>
          <a:xfrm>
            <a:off x="3127248" y="2670048"/>
            <a:ext cx="2286000" cy="310896"/>
          </a:xfrm>
          <a:prstGeom prst="roundRect">
            <a:avLst>
              <a:gd name="adj" fmla="val 18000"/>
            </a:avLst>
          </a:prstGeom>
          <a:solidFill>
            <a:srgbClr val="14293D"/>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Roboto"/>
              </a:rPr>
              <a:t>Copes with errors</a:t>
            </a:r>
          </a:p>
        </p:txBody>
      </p:sp>
      <p:sp>
        <p:nvSpPr>
          <p:cNvPr id="15" name="Rounded Rectangle 14"/>
          <p:cNvSpPr/>
          <p:nvPr/>
        </p:nvSpPr>
        <p:spPr>
          <a:xfrm>
            <a:off x="731520" y="3072384"/>
            <a:ext cx="2286000" cy="310896"/>
          </a:xfrm>
          <a:prstGeom prst="roundRect">
            <a:avLst>
              <a:gd name="adj" fmla="val 18000"/>
            </a:avLst>
          </a:prstGeom>
          <a:solidFill>
            <a:srgbClr val="14293D"/>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Roboto"/>
              </a:rPr>
              <a:t>Asks before irreversible steps</a:t>
            </a:r>
          </a:p>
        </p:txBody>
      </p:sp>
      <p:sp>
        <p:nvSpPr>
          <p:cNvPr id="16" name="Rounded Rectangle 15"/>
          <p:cNvSpPr/>
          <p:nvPr/>
        </p:nvSpPr>
        <p:spPr>
          <a:xfrm>
            <a:off x="3127248" y="3072384"/>
            <a:ext cx="2286000" cy="310896"/>
          </a:xfrm>
          <a:prstGeom prst="roundRect">
            <a:avLst>
              <a:gd name="adj" fmla="val 18000"/>
            </a:avLst>
          </a:prstGeom>
          <a:solidFill>
            <a:srgbClr val="14293D"/>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a:solidFill>
                  <a:srgbClr val="FFFFFF"/>
                </a:solidFill>
                <a:latin typeface="Roboto"/>
              </a:rPr>
              <a:t>Leaves a trail you can check</a:t>
            </a:r>
          </a:p>
        </p:txBody>
      </p:sp>
      <p:sp>
        <p:nvSpPr>
          <p:cNvPr id="17" name="Rectangle 16"/>
          <p:cNvSpPr/>
          <p:nvPr/>
        </p:nvSpPr>
        <p:spPr>
          <a:xfrm>
            <a:off x="731520" y="365760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794760"/>
            <a:ext cx="4754880" cy="457200"/>
          </a:xfrm>
          <a:prstGeom prst="rect">
            <a:avLst/>
          </a:prstGeom>
          <a:noFill/>
        </p:spPr>
        <p:txBody>
          <a:bodyPr wrap="square" lIns="0" tIns="0" rIns="0" bIns="0" anchor="t">
            <a:spAutoFit/>
          </a:bodyPr>
          <a:lstStyle/>
          <a:p>
            <a:pPr algn="l"/>
            <a:r>
              <a:rPr sz="1100" b="0">
                <a:solidFill>
                  <a:srgbClr val="8FA6B2"/>
                </a:solidFill>
                <a:latin typeface="Roboto"/>
              </a:rPr>
              <a:t>In a regulated company, each guardrail also means governance work: approvals, logs and clear responsibility.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6400800" y="-1188720"/>
            <a:ext cx="3474720" cy="3474720"/>
          </a:xfrm>
          <a:prstGeom prst="ellipse">
            <a:avLst/>
          </a:prstGeom>
          <a:solidFill>
            <a:srgbClr val="1B9AAA">
              <a:alpha val="18000"/>
            </a:srgbClr>
          </a:solidFill>
          <a:ln w="952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772400" y="548640"/>
            <a:ext cx="2194560" cy="2194560"/>
          </a:xfrm>
          <a:prstGeom prst="ellipse">
            <a:avLst/>
          </a:prstGeom>
          <a:solidFill>
            <a:srgbClr val="06D6A0">
              <a:alpha val="12000"/>
            </a:srgbClr>
          </a:solidFill>
          <a:ln w="9525">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97280"/>
            <a:ext cx="3657600" cy="274320"/>
          </a:xfrm>
          <a:prstGeom prst="rect">
            <a:avLst/>
          </a:prstGeom>
          <a:noFill/>
        </p:spPr>
        <p:txBody>
          <a:bodyPr wrap="square" lIns="0" tIns="0" rIns="0" bIns="0" anchor="t">
            <a:spAutoFit/>
          </a:bodyPr>
          <a:lstStyle/>
          <a:p>
            <a:pPr algn="l"/>
            <a:r>
              <a:rPr sz="1100" b="0" spc="300">
                <a:solidFill>
                  <a:srgbClr val="06D6A0"/>
                </a:solidFill>
                <a:latin typeface="JetBrains Mono"/>
              </a:rPr>
              <a:t>BEFORE YOU GO</a:t>
            </a:r>
          </a:p>
        </p:txBody>
      </p:sp>
      <p:sp>
        <p:nvSpPr>
          <p:cNvPr id="5" name="TextBox 4"/>
          <p:cNvSpPr txBox="1"/>
          <p:nvPr/>
        </p:nvSpPr>
        <p:spPr>
          <a:xfrm>
            <a:off x="731520" y="1495044"/>
            <a:ext cx="731520" cy="822960"/>
          </a:xfrm>
          <a:prstGeom prst="rect">
            <a:avLst/>
          </a:prstGeom>
          <a:noFill/>
        </p:spPr>
        <p:txBody>
          <a:bodyPr wrap="square" lIns="0" tIns="0" rIns="0" bIns="0" anchor="t">
            <a:spAutoFit/>
          </a:bodyPr>
          <a:lstStyle/>
          <a:p>
            <a:pPr algn="l"/>
            <a:r>
              <a:rPr sz="7200" b="0" dirty="0">
                <a:solidFill>
                  <a:srgbClr val="06D6A0"/>
                </a:solidFill>
                <a:latin typeface="Oswald"/>
              </a:rPr>
              <a:t>“</a:t>
            </a:r>
          </a:p>
        </p:txBody>
      </p:sp>
      <p:sp>
        <p:nvSpPr>
          <p:cNvPr id="6" name="slide-closing-quote"/>
          <p:cNvSpPr txBox="1"/>
          <p:nvPr/>
        </p:nvSpPr>
        <p:spPr>
          <a:xfrm>
            <a:off x="1097280" y="1769362"/>
            <a:ext cx="6035040" cy="1371600"/>
          </a:xfrm>
          <a:prstGeom prst="rect">
            <a:avLst/>
          </a:prstGeom>
          <a:noFill/>
        </p:spPr>
        <p:txBody>
          <a:bodyPr wrap="square" lIns="0" tIns="0" rIns="0" bIns="0" anchor="t">
            <a:spAutoFit/>
          </a:bodyPr>
          <a:lstStyle/>
          <a:p>
            <a:pPr algn="l"/>
            <a:r>
              <a:rPr sz="3200" b="0">
                <a:solidFill>
                  <a:srgbClr val="FFFFFF"/>
                </a:solidFill>
                <a:latin typeface="Oswald"/>
              </a:rPr>
              <a:t>I learned very early the difference between knowing the name of something and knowing something.</a:t>
            </a:r>
          </a:p>
        </p:txBody>
      </p:sp>
      <p:sp>
        <p:nvSpPr>
          <p:cNvPr id="7" name="Rectangle 6"/>
          <p:cNvSpPr/>
          <p:nvPr/>
        </p:nvSpPr>
        <p:spPr>
          <a:xfrm>
            <a:off x="731520" y="3474720"/>
            <a:ext cx="822960" cy="41148"/>
          </a:xfrm>
          <a:prstGeom prst="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639312"/>
            <a:ext cx="3657600" cy="274320"/>
          </a:xfrm>
          <a:prstGeom prst="rect">
            <a:avLst/>
          </a:prstGeom>
          <a:noFill/>
        </p:spPr>
        <p:txBody>
          <a:bodyPr wrap="square" lIns="0" tIns="0" rIns="0" bIns="0" anchor="t">
            <a:spAutoFit/>
          </a:bodyPr>
          <a:lstStyle/>
          <a:p>
            <a:pPr algn="l"/>
            <a:r>
              <a:rPr sz="1200" b="0" spc="300">
                <a:solidFill>
                  <a:srgbClr val="06D6A0"/>
                </a:solidFill>
                <a:latin typeface="JetBrains Mono"/>
              </a:rPr>
              <a:t>RICHARD FEYNMAN</a:t>
            </a:r>
          </a:p>
        </p:txBody>
      </p:sp>
      <p:sp>
        <p:nvSpPr>
          <p:cNvPr id="9" name="TextBox 4">
            <a:extLst>
              <a:ext uri="{FF2B5EF4-FFF2-40B4-BE49-F238E27FC236}">
                <a16:creationId xmlns:a16="http://schemas.microsoft.com/office/drawing/2014/main" id="{B1416C06-4405-9671-141A-D58B3FC19EF1}"/>
              </a:ext>
            </a:extLst>
          </p:cNvPr>
          <p:cNvSpPr txBox="1"/>
          <p:nvPr/>
        </p:nvSpPr>
        <p:spPr>
          <a:xfrm>
            <a:off x="4699221" y="2592320"/>
            <a:ext cx="731520" cy="822960"/>
          </a:xfrm>
          <a:prstGeom prst="rect">
            <a:avLst/>
          </a:prstGeom>
          <a:noFill/>
        </p:spPr>
        <p:txBody>
          <a:bodyPr wrap="square" lIns="0" tIns="0" rIns="0" bIns="0" anchor="t">
            <a:spAutoFit/>
          </a:bodyPr>
          <a:lstStyle/>
          <a:p>
            <a:pPr algn="l"/>
            <a:r>
              <a:rPr sz="7200" b="0">
                <a:solidFill>
                  <a:srgbClr val="06D6A0"/>
                </a:solidFill>
                <a:latin typeface="Oswald"/>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29184"/>
            <a:ext cx="8138160" cy="274320"/>
          </a:xfrm>
          <a:prstGeom prst="rect">
            <a:avLst/>
          </a:prstGeom>
          <a:noFill/>
        </p:spPr>
        <p:txBody>
          <a:bodyPr wrap="square" lIns="0" tIns="0" rIns="0" bIns="0" anchor="t">
            <a:spAutoFit/>
          </a:bodyPr>
          <a:lstStyle/>
          <a:p>
            <a:pPr algn="l"/>
            <a:r>
              <a:rPr sz="1100" b="0" spc="300">
                <a:solidFill>
                  <a:srgbClr val="1B9AAA"/>
                </a:solidFill>
                <a:latin typeface="JetBrains Mono"/>
              </a:rPr>
              <a:t>SOURCES</a:t>
            </a:r>
          </a:p>
        </p:txBody>
      </p:sp>
      <p:sp>
        <p:nvSpPr>
          <p:cNvPr id="4" name="slide-sources"/>
          <p:cNvSpPr txBox="1"/>
          <p:nvPr/>
        </p:nvSpPr>
        <p:spPr>
          <a:xfrm>
            <a:off x="566928" y="603504"/>
            <a:ext cx="8138160" cy="658368"/>
          </a:xfrm>
          <a:prstGeom prst="rect">
            <a:avLst/>
          </a:prstGeom>
          <a:noFill/>
        </p:spPr>
        <p:txBody>
          <a:bodyPr wrap="square" lIns="0" tIns="0" rIns="0" bIns="0" anchor="t">
            <a:spAutoFit/>
          </a:bodyPr>
          <a:lstStyle/>
          <a:p>
            <a:pPr algn="l"/>
            <a:r>
              <a:rPr sz="3200" b="0">
                <a:solidFill>
                  <a:srgbClr val="0D1B2A"/>
                </a:solidFill>
                <a:latin typeface="Oswald"/>
              </a:rPr>
              <a:t>Continue the conversation</a:t>
            </a:r>
          </a:p>
        </p:txBody>
      </p:sp>
      <p:sp>
        <p:nvSpPr>
          <p:cNvPr id="5" name="TextBox 4"/>
          <p:cNvSpPr txBox="1"/>
          <p:nvPr/>
        </p:nvSpPr>
        <p:spPr>
          <a:xfrm>
            <a:off x="566928" y="1298448"/>
            <a:ext cx="8138160" cy="457200"/>
          </a:xfrm>
          <a:prstGeom prst="rect">
            <a:avLst/>
          </a:prstGeom>
          <a:noFill/>
        </p:spPr>
        <p:txBody>
          <a:bodyPr wrap="square" lIns="0" tIns="0" rIns="0" bIns="0" anchor="t">
            <a:spAutoFit/>
          </a:bodyPr>
          <a:lstStyle/>
          <a:p>
            <a:pPr algn="l"/>
            <a:r>
              <a:rPr sz="1400" b="0">
                <a:solidFill>
                  <a:srgbClr val="14293D"/>
                </a:solidFill>
                <a:latin typeface="Roboto"/>
              </a:rPr>
              <a:t>Internal resources to go deeper into the terms from this talk.</a:t>
            </a:r>
          </a:p>
        </p:txBody>
      </p:sp>
      <p:sp>
        <p:nvSpPr>
          <p:cNvPr id="6" name="Rectangle 5"/>
          <p:cNvSpPr/>
          <p:nvPr/>
        </p:nvSpPr>
        <p:spPr>
          <a:xfrm>
            <a:off x="566928" y="1828800"/>
            <a:ext cx="8138160" cy="78638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928" y="1828800"/>
            <a:ext cx="54864" cy="78638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956816"/>
            <a:ext cx="4023360" cy="274320"/>
          </a:xfrm>
          <a:prstGeom prst="rect">
            <a:avLst/>
          </a:prstGeom>
          <a:noFill/>
        </p:spPr>
        <p:txBody>
          <a:bodyPr wrap="square" lIns="0" tIns="0" rIns="0" bIns="0" anchor="t">
            <a:spAutoFit/>
          </a:bodyPr>
          <a:lstStyle/>
          <a:p>
            <a:pPr algn="l"/>
            <a:r>
              <a:rPr sz="1600" b="0">
                <a:solidFill>
                  <a:srgbClr val="0D1B2A"/>
                </a:solidFill>
                <a:latin typeface="Oswald"/>
                <a:hlinkClick r:id="rId2">
                  <a:extLst>
                    <a:ext uri="{A12FA001-AC4F-418D-AE19-62706E023703}">
                      <ahyp:hlinkClr xmlns:ahyp="http://schemas.microsoft.com/office/drawing/2018/hyperlinkcolor" val="tx"/>
                    </a:ext>
                  </a:extLst>
                </a:hlinkClick>
              </a:rPr>
              <a:t>AI Glossary for LE Teams · Q4 2024</a:t>
            </a:r>
          </a:p>
        </p:txBody>
      </p:sp>
      <p:sp>
        <p:nvSpPr>
          <p:cNvPr id="9" name="TextBox 8"/>
          <p:cNvSpPr txBox="1"/>
          <p:nvPr/>
        </p:nvSpPr>
        <p:spPr>
          <a:xfrm>
            <a:off x="795528" y="2286000"/>
            <a:ext cx="4023360" cy="228600"/>
          </a:xfrm>
          <a:prstGeom prst="rect">
            <a:avLst/>
          </a:prstGeom>
          <a:noFill/>
        </p:spPr>
        <p:txBody>
          <a:bodyPr wrap="square" lIns="0" tIns="0" rIns="0" bIns="0" anchor="t">
            <a:spAutoFit/>
          </a:bodyPr>
          <a:lstStyle/>
          <a:p>
            <a:pPr algn="l"/>
            <a:r>
              <a:rPr sz="1000" b="0">
                <a:solidFill>
                  <a:srgbClr val="6B7B8C"/>
                </a:solidFill>
                <a:latin typeface="Roboto"/>
              </a:rPr>
              <a:t>Legal &amp; Compliance knowledge base · terminology and definitions</a:t>
            </a:r>
          </a:p>
        </p:txBody>
      </p:sp>
      <p:sp>
        <p:nvSpPr>
          <p:cNvPr id="10" name="TextBox 9"/>
          <p:cNvSpPr txBox="1"/>
          <p:nvPr/>
        </p:nvSpPr>
        <p:spPr>
          <a:xfrm>
            <a:off x="4846320" y="1956816"/>
            <a:ext cx="3657600" cy="566928"/>
          </a:xfrm>
          <a:prstGeom prst="rect">
            <a:avLst/>
          </a:prstGeom>
          <a:noFill/>
        </p:spPr>
        <p:txBody>
          <a:bodyPr wrap="square" lIns="0" tIns="0" rIns="0" bIns="0" anchor="ctr">
            <a:spAutoFit/>
          </a:bodyPr>
          <a:lstStyle/>
          <a:p>
            <a:pPr algn="l"/>
            <a:r>
              <a:rPr sz="700" b="0">
                <a:solidFill>
                  <a:srgbClr val="1B9AAA"/>
                </a:solidFill>
                <a:latin typeface="JetBrains Mono"/>
                <a:hlinkClick r:id="rId2">
                  <a:extLst>
                    <a:ext uri="{A12FA001-AC4F-418D-AE19-62706E023703}">
                      <ahyp:hlinkClr xmlns:ahyp="http://schemas.microsoft.com/office/drawing/2018/hyperlinkcolor" val="tx"/>
                    </a:ext>
                  </a:extLst>
                </a:hlinkClick>
              </a:rPr>
              <a:t>https://evarooms.merckgroup.com/Organization/Legal-Compliance/PublishingImages/le-knowledge-base/le-expert-groups/digital-data-economy/AI%20Glossary%20for%20LE%20Teams%20Q4%2024.pdf</a:t>
            </a:r>
          </a:p>
        </p:txBody>
      </p:sp>
      <p:sp>
        <p:nvSpPr>
          <p:cNvPr id="11" name="Rectangle 10"/>
          <p:cNvSpPr/>
          <p:nvPr/>
        </p:nvSpPr>
        <p:spPr>
          <a:xfrm>
            <a:off x="566928" y="2743200"/>
            <a:ext cx="8138160" cy="78638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66928" y="2743200"/>
            <a:ext cx="54864" cy="78638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5528" y="2871216"/>
            <a:ext cx="4023360" cy="274320"/>
          </a:xfrm>
          <a:prstGeom prst="rect">
            <a:avLst/>
          </a:prstGeom>
          <a:noFill/>
        </p:spPr>
        <p:txBody>
          <a:bodyPr wrap="square" lIns="0" tIns="0" rIns="0" bIns="0" anchor="t">
            <a:spAutoFit/>
          </a:bodyPr>
          <a:lstStyle/>
          <a:p>
            <a:pPr algn="l"/>
            <a:r>
              <a:rPr sz="1600" b="0">
                <a:solidFill>
                  <a:srgbClr val="0D1B2A"/>
                </a:solidFill>
                <a:latin typeface="Oswald"/>
                <a:hlinkClick r:id="rId3">
                  <a:extLst>
                    <a:ext uri="{A12FA001-AC4F-418D-AE19-62706E023703}">
                      <ahyp:hlinkClr xmlns:ahyp="http://schemas.microsoft.com/office/drawing/2018/hyperlinkcolor" val="tx"/>
                    </a:ext>
                  </a:extLst>
                </a:hlinkClick>
              </a:rPr>
              <a:t>AI Microlesson Series</a:t>
            </a:r>
          </a:p>
        </p:txBody>
      </p:sp>
      <p:sp>
        <p:nvSpPr>
          <p:cNvPr id="14" name="TextBox 13"/>
          <p:cNvSpPr txBox="1"/>
          <p:nvPr/>
        </p:nvSpPr>
        <p:spPr>
          <a:xfrm>
            <a:off x="795528" y="3200400"/>
            <a:ext cx="4023360" cy="228600"/>
          </a:xfrm>
          <a:prstGeom prst="rect">
            <a:avLst/>
          </a:prstGeom>
          <a:noFill/>
        </p:spPr>
        <p:txBody>
          <a:bodyPr wrap="square" lIns="0" tIns="0" rIns="0" bIns="0" anchor="t">
            <a:spAutoFit/>
          </a:bodyPr>
          <a:lstStyle/>
          <a:p>
            <a:pPr algn="l"/>
            <a:r>
              <a:rPr sz="1000" b="0">
                <a:solidFill>
                  <a:srgbClr val="6B7B8C"/>
                </a:solidFill>
                <a:latin typeface="Roboto"/>
              </a:rPr>
              <a:t>MGF Data · learning and development · practical AI concepts</a:t>
            </a:r>
          </a:p>
        </p:txBody>
      </p:sp>
      <p:sp>
        <p:nvSpPr>
          <p:cNvPr id="15" name="TextBox 14"/>
          <p:cNvSpPr txBox="1"/>
          <p:nvPr/>
        </p:nvSpPr>
        <p:spPr>
          <a:xfrm>
            <a:off x="4846320" y="2871216"/>
            <a:ext cx="3657600" cy="566928"/>
          </a:xfrm>
          <a:prstGeom prst="rect">
            <a:avLst/>
          </a:prstGeom>
          <a:noFill/>
        </p:spPr>
        <p:txBody>
          <a:bodyPr wrap="square" lIns="0" tIns="0" rIns="0" bIns="0" anchor="ctr">
            <a:spAutoFit/>
          </a:bodyPr>
          <a:lstStyle/>
          <a:p>
            <a:pPr algn="l"/>
            <a:r>
              <a:rPr sz="700" b="0">
                <a:solidFill>
                  <a:srgbClr val="1B9AAA"/>
                </a:solidFill>
                <a:latin typeface="JetBrains Mono"/>
                <a:hlinkClick r:id="rId3">
                  <a:extLst>
                    <a:ext uri="{A12FA001-AC4F-418D-AE19-62706E023703}">
                      <ahyp:hlinkClr xmlns:ahyp="http://schemas.microsoft.com/office/drawing/2018/hyperlinkcolor" val="tx"/>
                    </a:ext>
                  </a:extLst>
                </a:hlinkClick>
              </a:rPr>
              <a:t>https://evarooms.merckgroup.com/Topic/MGF-Data/learning-development/ai-microlesson-series</a:t>
            </a:r>
          </a:p>
        </p:txBody>
      </p:sp>
      <p:sp>
        <p:nvSpPr>
          <p:cNvPr id="16" name="Rectangle 15"/>
          <p:cNvSpPr/>
          <p:nvPr/>
        </p:nvSpPr>
        <p:spPr>
          <a:xfrm>
            <a:off x="566928" y="3657600"/>
            <a:ext cx="8138160" cy="786384"/>
          </a:xfrm>
          <a:prstGeom prst="rect">
            <a:avLst/>
          </a:prstGeom>
          <a:solidFill>
            <a:srgbClr val="FFFFFF"/>
          </a:solidFill>
          <a:ln w="9525">
            <a:solidFill>
              <a:srgbClr val="DDE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66928" y="3657600"/>
            <a:ext cx="54864" cy="78638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5528" y="3785615"/>
            <a:ext cx="4023360" cy="274320"/>
          </a:xfrm>
          <a:prstGeom prst="rect">
            <a:avLst/>
          </a:prstGeom>
          <a:noFill/>
        </p:spPr>
        <p:txBody>
          <a:bodyPr wrap="square" lIns="0" tIns="0" rIns="0" bIns="0" anchor="t">
            <a:spAutoFit/>
          </a:bodyPr>
          <a:lstStyle/>
          <a:p>
            <a:pPr algn="l"/>
            <a:r>
              <a:rPr sz="1600" b="0">
                <a:solidFill>
                  <a:srgbClr val="0D1B2A"/>
                </a:solidFill>
                <a:latin typeface="Oswald"/>
                <a:hlinkClick r:id="rId4">
                  <a:extLst>
                    <a:ext uri="{A12FA001-AC4F-418D-AE19-62706E023703}">
                      <ahyp:hlinkClr xmlns:ahyp="http://schemas.microsoft.com/office/drawing/2018/hyperlinkcolor" val="tx"/>
                    </a:ext>
                  </a:extLst>
                </a:hlinkClick>
              </a:rPr>
              <a:t>Merck Data and AI – Learning Hub</a:t>
            </a:r>
          </a:p>
        </p:txBody>
      </p:sp>
      <p:sp>
        <p:nvSpPr>
          <p:cNvPr id="19" name="TextBox 18"/>
          <p:cNvSpPr txBox="1"/>
          <p:nvPr/>
        </p:nvSpPr>
        <p:spPr>
          <a:xfrm>
            <a:off x="795528" y="4114800"/>
            <a:ext cx="4023360" cy="228600"/>
          </a:xfrm>
          <a:prstGeom prst="rect">
            <a:avLst/>
          </a:prstGeom>
          <a:noFill/>
        </p:spPr>
        <p:txBody>
          <a:bodyPr wrap="square" lIns="0" tIns="0" rIns="0" bIns="0" anchor="t">
            <a:spAutoFit/>
          </a:bodyPr>
          <a:lstStyle/>
          <a:p>
            <a:pPr algn="l"/>
            <a:r>
              <a:rPr sz="1000" b="0">
                <a:solidFill>
                  <a:srgbClr val="6B7B8C"/>
                </a:solidFill>
                <a:latin typeface="Roboto"/>
              </a:rPr>
              <a:t>Merck Data · learning resource</a:t>
            </a:r>
          </a:p>
        </p:txBody>
      </p:sp>
      <p:sp>
        <p:nvSpPr>
          <p:cNvPr id="20" name="TextBox 19"/>
          <p:cNvSpPr txBox="1"/>
          <p:nvPr/>
        </p:nvSpPr>
        <p:spPr>
          <a:xfrm>
            <a:off x="4846320" y="3785615"/>
            <a:ext cx="3657600" cy="566928"/>
          </a:xfrm>
          <a:prstGeom prst="rect">
            <a:avLst/>
          </a:prstGeom>
          <a:noFill/>
        </p:spPr>
        <p:txBody>
          <a:bodyPr wrap="square" lIns="0" tIns="0" rIns="0" bIns="0" anchor="ctr">
            <a:spAutoFit/>
          </a:bodyPr>
          <a:lstStyle/>
          <a:p>
            <a:pPr algn="l"/>
            <a:r>
              <a:rPr sz="700" b="0">
                <a:solidFill>
                  <a:srgbClr val="1B9AAA"/>
                </a:solidFill>
                <a:latin typeface="JetBrains Mono"/>
                <a:hlinkClick r:id="rId4">
                  <a:extLst>
                    <a:ext uri="{A12FA001-AC4F-418D-AE19-62706E023703}">
                      <ahyp:hlinkClr xmlns:ahyp="http://schemas.microsoft.com/office/drawing/2018/hyperlinkcolor" val="tx"/>
                    </a:ext>
                  </a:extLst>
                </a:hlinkClick>
              </a:rPr>
              <a:t>https://evarooms.merckgroup.com/Topic/MerckData/learn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4446</Words>
  <Application>Microsoft Macintosh PowerPoint</Application>
  <PresentationFormat>Bildschirmpräsentation (16:9)</PresentationFormat>
  <Paragraphs>861</Paragraphs>
  <Slides>37</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37</vt:i4>
      </vt:variant>
    </vt:vector>
  </HeadingPairs>
  <TitlesOfParts>
    <vt:vector size="42" baseType="lpstr">
      <vt:lpstr>Arial</vt:lpstr>
      <vt:lpstr>JetBrains Mono</vt:lpstr>
      <vt:lpstr>Oswald</vt:lpstr>
      <vt:lpstr>Roboto</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decides?</dc:title>
  <dc:subject>PptxGenJS Presentation</dc:subject>
  <dc:creator>myGPT Suite</dc:creator>
  <cp:lastModifiedBy>Lukas Rödl</cp:lastModifiedBy>
  <cp:revision>44</cp:revision>
  <dcterms:created xsi:type="dcterms:W3CDTF">2026-09-14T09:26:33Z</dcterms:created>
  <dcterms:modified xsi:type="dcterms:W3CDTF">2026-09-25T16:11:14Z</dcterms:modified>
</cp:coreProperties>
</file>